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7" r:id="rId14"/>
    <p:sldId id="268" r:id="rId15"/>
    <p:sldId id="270" r:id="rId16"/>
    <p:sldId id="269" r:id="rId17"/>
    <p:sldId id="271" r:id="rId18"/>
    <p:sldId id="273" r:id="rId19"/>
    <p:sldId id="274" r:id="rId20"/>
    <p:sldId id="272" r:id="rId21"/>
    <p:sldId id="275" r:id="rId22"/>
    <p:sldId id="276" r:id="rId23"/>
    <p:sldId id="279" r:id="rId24"/>
    <p:sldId id="280" r:id="rId25"/>
    <p:sldId id="282" r:id="rId26"/>
    <p:sldId id="284" r:id="rId27"/>
    <p:sldId id="285" r:id="rId28"/>
    <p:sldId id="281" r:id="rId29"/>
    <p:sldId id="286" r:id="rId30"/>
    <p:sldId id="287" r:id="rId31"/>
    <p:sldId id="288" r:id="rId32"/>
    <p:sldId id="283"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8D7A03E-E95D-4C0F-B588-8A645A6EABE0}"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E118E6-0D8F-483E-9205-9C65D73C5E3C}" type="slidenum">
              <a:rPr lang="en-US" smtClean="0"/>
              <a:t>‹#›</a:t>
            </a:fld>
            <a:endParaRPr lang="en-US"/>
          </a:p>
        </p:txBody>
      </p:sp>
    </p:spTree>
    <p:extLst>
      <p:ext uri="{BB962C8B-B14F-4D97-AF65-F5344CB8AC3E}">
        <p14:creationId xmlns:p14="http://schemas.microsoft.com/office/powerpoint/2010/main" val="1226449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D7A03E-E95D-4C0F-B588-8A645A6EABE0}"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E118E6-0D8F-483E-9205-9C65D73C5E3C}" type="slidenum">
              <a:rPr lang="en-US" smtClean="0"/>
              <a:t>‹#›</a:t>
            </a:fld>
            <a:endParaRPr lang="en-US"/>
          </a:p>
        </p:txBody>
      </p:sp>
    </p:spTree>
    <p:extLst>
      <p:ext uri="{BB962C8B-B14F-4D97-AF65-F5344CB8AC3E}">
        <p14:creationId xmlns:p14="http://schemas.microsoft.com/office/powerpoint/2010/main" val="1000328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D7A03E-E95D-4C0F-B588-8A645A6EABE0}"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E118E6-0D8F-483E-9205-9C65D73C5E3C}" type="slidenum">
              <a:rPr lang="en-US" smtClean="0"/>
              <a:t>‹#›</a:t>
            </a:fld>
            <a:endParaRPr lang="en-US"/>
          </a:p>
        </p:txBody>
      </p:sp>
    </p:spTree>
    <p:extLst>
      <p:ext uri="{BB962C8B-B14F-4D97-AF65-F5344CB8AC3E}">
        <p14:creationId xmlns:p14="http://schemas.microsoft.com/office/powerpoint/2010/main" val="3459567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8D7A03E-E95D-4C0F-B588-8A645A6EABE0}"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E118E6-0D8F-483E-9205-9C65D73C5E3C}" type="slidenum">
              <a:rPr lang="en-US" smtClean="0"/>
              <a:t>‹#›</a:t>
            </a:fld>
            <a:endParaRPr lang="en-US"/>
          </a:p>
        </p:txBody>
      </p:sp>
    </p:spTree>
    <p:extLst>
      <p:ext uri="{BB962C8B-B14F-4D97-AF65-F5344CB8AC3E}">
        <p14:creationId xmlns:p14="http://schemas.microsoft.com/office/powerpoint/2010/main" val="2362640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8D7A03E-E95D-4C0F-B588-8A645A6EABE0}" type="datetimeFigureOut">
              <a:rPr lang="en-US" smtClean="0"/>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E118E6-0D8F-483E-9205-9C65D73C5E3C}" type="slidenum">
              <a:rPr lang="en-US" smtClean="0"/>
              <a:t>‹#›</a:t>
            </a:fld>
            <a:endParaRPr lang="en-US"/>
          </a:p>
        </p:txBody>
      </p:sp>
    </p:spTree>
    <p:extLst>
      <p:ext uri="{BB962C8B-B14F-4D97-AF65-F5344CB8AC3E}">
        <p14:creationId xmlns:p14="http://schemas.microsoft.com/office/powerpoint/2010/main" val="337703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8D7A03E-E95D-4C0F-B588-8A645A6EABE0}" type="datetimeFigureOut">
              <a:rPr lang="en-US" smtClean="0"/>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E118E6-0D8F-483E-9205-9C65D73C5E3C}" type="slidenum">
              <a:rPr lang="en-US" smtClean="0"/>
              <a:t>‹#›</a:t>
            </a:fld>
            <a:endParaRPr lang="en-US"/>
          </a:p>
        </p:txBody>
      </p:sp>
    </p:spTree>
    <p:extLst>
      <p:ext uri="{BB962C8B-B14F-4D97-AF65-F5344CB8AC3E}">
        <p14:creationId xmlns:p14="http://schemas.microsoft.com/office/powerpoint/2010/main" val="118732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D7A03E-E95D-4C0F-B588-8A645A6EABE0}" type="datetimeFigureOut">
              <a:rPr lang="en-US" smtClean="0"/>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E118E6-0D8F-483E-9205-9C65D73C5E3C}" type="slidenum">
              <a:rPr lang="en-US" smtClean="0"/>
              <a:t>‹#›</a:t>
            </a:fld>
            <a:endParaRPr lang="en-US"/>
          </a:p>
        </p:txBody>
      </p:sp>
    </p:spTree>
    <p:extLst>
      <p:ext uri="{BB962C8B-B14F-4D97-AF65-F5344CB8AC3E}">
        <p14:creationId xmlns:p14="http://schemas.microsoft.com/office/powerpoint/2010/main" val="21375231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D7A03E-E95D-4C0F-B588-8A645A6EABE0}"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E118E6-0D8F-483E-9205-9C65D73C5E3C}" type="slidenum">
              <a:rPr lang="en-US" smtClean="0"/>
              <a:t>‹#›</a:t>
            </a:fld>
            <a:endParaRPr lang="en-US"/>
          </a:p>
        </p:txBody>
      </p:sp>
    </p:spTree>
    <p:extLst>
      <p:ext uri="{BB962C8B-B14F-4D97-AF65-F5344CB8AC3E}">
        <p14:creationId xmlns:p14="http://schemas.microsoft.com/office/powerpoint/2010/main" val="1242597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D7A03E-E95D-4C0F-B588-8A645A6EABE0}"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E118E6-0D8F-483E-9205-9C65D73C5E3C}" type="slidenum">
              <a:rPr lang="en-US" smtClean="0"/>
              <a:t>‹#›</a:t>
            </a:fld>
            <a:endParaRPr lang="en-US"/>
          </a:p>
        </p:txBody>
      </p:sp>
    </p:spTree>
    <p:extLst>
      <p:ext uri="{BB962C8B-B14F-4D97-AF65-F5344CB8AC3E}">
        <p14:creationId xmlns:p14="http://schemas.microsoft.com/office/powerpoint/2010/main" val="550764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D7A03E-E95D-4C0F-B588-8A645A6EABE0}"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E118E6-0D8F-483E-9205-9C65D73C5E3C}" type="slidenum">
              <a:rPr lang="en-US" smtClean="0"/>
              <a:t>‹#›</a:t>
            </a:fld>
            <a:endParaRPr lang="en-US"/>
          </a:p>
        </p:txBody>
      </p:sp>
    </p:spTree>
    <p:extLst>
      <p:ext uri="{BB962C8B-B14F-4D97-AF65-F5344CB8AC3E}">
        <p14:creationId xmlns:p14="http://schemas.microsoft.com/office/powerpoint/2010/main" val="2075989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D7A03E-E95D-4C0F-B588-8A645A6EABE0}"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E118E6-0D8F-483E-9205-9C65D73C5E3C}" type="slidenum">
              <a:rPr lang="en-US" smtClean="0"/>
              <a:t>‹#›</a:t>
            </a:fld>
            <a:endParaRPr lang="en-US"/>
          </a:p>
        </p:txBody>
      </p:sp>
    </p:spTree>
    <p:extLst>
      <p:ext uri="{BB962C8B-B14F-4D97-AF65-F5344CB8AC3E}">
        <p14:creationId xmlns:p14="http://schemas.microsoft.com/office/powerpoint/2010/main" val="685499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D7A03E-E95D-4C0F-B588-8A645A6EABE0}" type="datetimeFigureOut">
              <a:rPr lang="en-US" smtClean="0"/>
              <a:t>11/18/2025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E118E6-0D8F-483E-9205-9C65D73C5E3C}" type="slidenum">
              <a:rPr lang="en-US" smtClean="0"/>
              <a:t>‹#›</a:t>
            </a:fld>
            <a:endParaRPr lang="en-US"/>
          </a:p>
        </p:txBody>
      </p:sp>
    </p:spTree>
    <p:extLst>
      <p:ext uri="{BB962C8B-B14F-4D97-AF65-F5344CB8AC3E}">
        <p14:creationId xmlns:p14="http://schemas.microsoft.com/office/powerpoint/2010/main" val="25171363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Chapter 9</a:t>
            </a:r>
          </a:p>
        </p:txBody>
      </p:sp>
      <p:sp>
        <p:nvSpPr>
          <p:cNvPr id="3" name="Subtitle 2"/>
          <p:cNvSpPr>
            <a:spLocks noGrp="1"/>
          </p:cNvSpPr>
          <p:nvPr>
            <p:ph type="subTitle" idx="1"/>
          </p:nvPr>
        </p:nvSpPr>
        <p:spPr/>
        <p:txBody>
          <a:bodyPr/>
          <a:lstStyle/>
          <a:p>
            <a:r>
              <a:rPr lang="en-US" b="1" dirty="0"/>
              <a:t>Distributed operating system</a:t>
            </a:r>
          </a:p>
        </p:txBody>
      </p:sp>
    </p:spTree>
    <p:extLst>
      <p:ext uri="{BB962C8B-B14F-4D97-AF65-F5344CB8AC3E}">
        <p14:creationId xmlns:p14="http://schemas.microsoft.com/office/powerpoint/2010/main" val="3020879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a:t>
            </a:r>
          </a:p>
        </p:txBody>
      </p:sp>
      <p:sp>
        <p:nvSpPr>
          <p:cNvPr id="3" name="Content Placeholder 2"/>
          <p:cNvSpPr>
            <a:spLocks noGrp="1"/>
          </p:cNvSpPr>
          <p:nvPr>
            <p:ph idx="1"/>
          </p:nvPr>
        </p:nvSpPr>
        <p:spPr/>
        <p:txBody>
          <a:bodyPr/>
          <a:lstStyle/>
          <a:p>
            <a:pPr algn="just"/>
            <a:r>
              <a:rPr lang="en-US" dirty="0"/>
              <a:t>Distributed System is a collection of autonomous computer systems that are physically separated but connected by a centralized computer network equipped with distributed system software. </a:t>
            </a:r>
          </a:p>
          <a:p>
            <a:pPr algn="just"/>
            <a:r>
              <a:rPr lang="en-US" dirty="0"/>
              <a:t>The autonomous computers will communicate among each system by sharing resources and files and performing the tasks assigned to them.</a:t>
            </a:r>
          </a:p>
        </p:txBody>
      </p:sp>
    </p:spTree>
    <p:extLst>
      <p:ext uri="{BB962C8B-B14F-4D97-AF65-F5344CB8AC3E}">
        <p14:creationId xmlns:p14="http://schemas.microsoft.com/office/powerpoint/2010/main" val="4208909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Distributed Operating System</a:t>
            </a:r>
          </a:p>
        </p:txBody>
      </p:sp>
      <p:pic>
        <p:nvPicPr>
          <p:cNvPr id="1026" name="Picture 2" descr="Representation of Distributed Syste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38227" y="2567781"/>
            <a:ext cx="7639148" cy="2867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6776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Characteristics of Distributed System:</a:t>
            </a:r>
            <a:br>
              <a:rPr lang="en-US" b="1" dirty="0"/>
            </a:br>
            <a:endParaRPr lang="en-US" dirty="0"/>
          </a:p>
        </p:txBody>
      </p:sp>
      <p:sp>
        <p:nvSpPr>
          <p:cNvPr id="3" name="Content Placeholder 2"/>
          <p:cNvSpPr>
            <a:spLocks noGrp="1"/>
          </p:cNvSpPr>
          <p:nvPr>
            <p:ph idx="1"/>
          </p:nvPr>
        </p:nvSpPr>
        <p:spPr/>
        <p:txBody>
          <a:bodyPr>
            <a:normAutofit fontScale="70000" lnSpcReduction="20000"/>
          </a:bodyPr>
          <a:lstStyle/>
          <a:p>
            <a:pPr algn="just" fontAlgn="base"/>
            <a:r>
              <a:rPr lang="en-US" b="1" dirty="0"/>
              <a:t>Resource Sharing: </a:t>
            </a:r>
            <a:r>
              <a:rPr lang="en-US" dirty="0"/>
              <a:t>It is the ability to use any Hardware, Software, or Data anywhere in the System.</a:t>
            </a:r>
          </a:p>
          <a:p>
            <a:pPr algn="just" fontAlgn="base"/>
            <a:r>
              <a:rPr lang="en-US" b="1" dirty="0"/>
              <a:t>Openness:</a:t>
            </a:r>
            <a:r>
              <a:rPr lang="en-US" dirty="0"/>
              <a:t> It is concerned with Extensions and improvements in the system (i.e., How openly the software is developed and shared with                                others)</a:t>
            </a:r>
          </a:p>
          <a:p>
            <a:pPr algn="just" fontAlgn="base"/>
            <a:r>
              <a:rPr lang="en-US" b="1" dirty="0"/>
              <a:t>Concurrency: </a:t>
            </a:r>
            <a:r>
              <a:rPr lang="en-US" dirty="0"/>
              <a:t>It is naturally present in Distributed Systems, that deal with the same activity or functionality that can be performed by separate users who are in remote locations. Every local system has its independent Operating Systems and Resources.</a:t>
            </a:r>
          </a:p>
          <a:p>
            <a:pPr algn="just" fontAlgn="base"/>
            <a:r>
              <a:rPr lang="en-US" b="1" dirty="0"/>
              <a:t>Scalability:</a:t>
            </a:r>
            <a:r>
              <a:rPr lang="en-US" dirty="0"/>
              <a:t> It increases the scale of the system as a number of processors communicate with more users by accommodating to improve the responsiveness of the system.</a:t>
            </a:r>
          </a:p>
          <a:p>
            <a:pPr algn="just" fontAlgn="base"/>
            <a:r>
              <a:rPr lang="en-US" b="1" dirty="0"/>
              <a:t>Fault tolerance:</a:t>
            </a:r>
            <a:r>
              <a:rPr lang="en-US" dirty="0"/>
              <a:t> It cares about the reliability of the system if there is a failure in Hardware or Software, the system continues to operate properly without degrading the performance the system.</a:t>
            </a:r>
          </a:p>
          <a:p>
            <a:pPr algn="just" fontAlgn="base"/>
            <a:r>
              <a:rPr lang="en-US" b="1" dirty="0"/>
              <a:t>Transparency: </a:t>
            </a:r>
            <a:r>
              <a:rPr lang="en-US" dirty="0"/>
              <a:t>It hides the complexity of the Distributed Systems to the Users and Application programs as there should be privacy in every system.</a:t>
            </a:r>
          </a:p>
          <a:p>
            <a:pPr algn="just" fontAlgn="base"/>
            <a:r>
              <a:rPr lang="en-US" b="1" dirty="0"/>
              <a:t>Heterogeneity: </a:t>
            </a:r>
            <a:r>
              <a:rPr lang="en-US" dirty="0"/>
              <a:t>Networks, computer hardware, operating systems, programming languages, and developer implementations can all vary and differ among dispersed system components.</a:t>
            </a:r>
          </a:p>
          <a:p>
            <a:pPr algn="just"/>
            <a:endParaRPr lang="en-US" dirty="0"/>
          </a:p>
        </p:txBody>
      </p:sp>
    </p:spTree>
    <p:extLst>
      <p:ext uri="{BB962C8B-B14F-4D97-AF65-F5344CB8AC3E}">
        <p14:creationId xmlns:p14="http://schemas.microsoft.com/office/powerpoint/2010/main" val="676795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Distributed System:</a:t>
            </a:r>
            <a:br>
              <a:rPr lang="en-US" b="1" dirty="0"/>
            </a:br>
            <a:endParaRPr lang="en-US" dirty="0"/>
          </a:p>
        </p:txBody>
      </p:sp>
      <p:sp>
        <p:nvSpPr>
          <p:cNvPr id="3" name="Content Placeholder 2"/>
          <p:cNvSpPr>
            <a:spLocks noGrp="1"/>
          </p:cNvSpPr>
          <p:nvPr>
            <p:ph idx="1"/>
          </p:nvPr>
        </p:nvSpPr>
        <p:spPr/>
        <p:txBody>
          <a:bodyPr>
            <a:normAutofit fontScale="92500" lnSpcReduction="10000"/>
          </a:bodyPr>
          <a:lstStyle/>
          <a:p>
            <a:pPr marL="0" indent="0" algn="just" fontAlgn="base">
              <a:buNone/>
            </a:pPr>
            <a:endParaRPr lang="en-US" dirty="0"/>
          </a:p>
          <a:p>
            <a:pPr algn="just" fontAlgn="base"/>
            <a:r>
              <a:rPr lang="en-US" dirty="0"/>
              <a:t>Information in Distributed Systems is shared among geographically distributed users.</a:t>
            </a:r>
          </a:p>
          <a:p>
            <a:pPr algn="just" fontAlgn="base"/>
            <a:r>
              <a:rPr lang="en-US" dirty="0"/>
              <a:t>Resource Sharing (Autonomous systems can share resources from remote locations).</a:t>
            </a:r>
          </a:p>
          <a:p>
            <a:pPr algn="just" fontAlgn="base"/>
            <a:r>
              <a:rPr lang="en-US" dirty="0"/>
              <a:t>It has a better price performance ratio and flexibility.</a:t>
            </a:r>
          </a:p>
          <a:p>
            <a:pPr algn="just" fontAlgn="base"/>
            <a:r>
              <a:rPr lang="en-US" dirty="0"/>
              <a:t>It has shorter response time and higher throughput.</a:t>
            </a:r>
          </a:p>
          <a:p>
            <a:pPr algn="just" fontAlgn="base"/>
            <a:r>
              <a:rPr lang="en-US" dirty="0"/>
              <a:t>It has higher reliability and availability against component failure.</a:t>
            </a:r>
          </a:p>
          <a:p>
            <a:pPr algn="just" fontAlgn="base"/>
            <a:r>
              <a:rPr lang="en-US" dirty="0"/>
              <a:t>It has extensibility so that systems can be extended in more remote locations and also incremental growth.</a:t>
            </a:r>
          </a:p>
          <a:p>
            <a:pPr algn="just"/>
            <a:endParaRPr lang="en-US" dirty="0"/>
          </a:p>
        </p:txBody>
      </p:sp>
    </p:spTree>
    <p:extLst>
      <p:ext uri="{BB962C8B-B14F-4D97-AF65-F5344CB8AC3E}">
        <p14:creationId xmlns:p14="http://schemas.microsoft.com/office/powerpoint/2010/main" val="1276276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Disadvantages of Distributed System:</a:t>
            </a:r>
            <a:br>
              <a:rPr lang="en-US" b="1" dirty="0"/>
            </a:br>
            <a:endParaRPr lang="en-US" dirty="0"/>
          </a:p>
        </p:txBody>
      </p:sp>
      <p:sp>
        <p:nvSpPr>
          <p:cNvPr id="3" name="Content Placeholder 2"/>
          <p:cNvSpPr>
            <a:spLocks noGrp="1"/>
          </p:cNvSpPr>
          <p:nvPr>
            <p:ph idx="1"/>
          </p:nvPr>
        </p:nvSpPr>
        <p:spPr/>
        <p:txBody>
          <a:bodyPr>
            <a:normAutofit fontScale="92500"/>
          </a:bodyPr>
          <a:lstStyle/>
          <a:p>
            <a:pPr algn="just" fontAlgn="base"/>
            <a:r>
              <a:rPr lang="en-US" dirty="0"/>
              <a:t>Relevant Software for Distributed systems does not exist currently.</a:t>
            </a:r>
          </a:p>
          <a:p>
            <a:pPr algn="just" fontAlgn="base"/>
            <a:r>
              <a:rPr lang="en-US" dirty="0"/>
              <a:t>Security possess a problem due to easy access to data as the resources are shared to multiple systems.</a:t>
            </a:r>
          </a:p>
          <a:p>
            <a:pPr algn="just" fontAlgn="base"/>
            <a:r>
              <a:rPr lang="en-US" dirty="0"/>
              <a:t>Networking Saturation may cause a hurdle in data transfer i.e., if there is a lag in the network then the user will face a problem accessing data.</a:t>
            </a:r>
          </a:p>
          <a:p>
            <a:pPr algn="just" fontAlgn="base"/>
            <a:r>
              <a:rPr lang="en-US" dirty="0"/>
              <a:t>In comparison to a single user system, the database associated with distributed systems is much more complex and challenging to manage.</a:t>
            </a:r>
          </a:p>
          <a:p>
            <a:pPr algn="just" fontAlgn="base"/>
            <a:r>
              <a:rPr lang="en-US" dirty="0"/>
              <a:t>If every node in a distributed system tries to send data at once, the network may become overloaded.</a:t>
            </a:r>
          </a:p>
          <a:p>
            <a:pPr algn="just"/>
            <a:endParaRPr lang="en-US" dirty="0"/>
          </a:p>
        </p:txBody>
      </p:sp>
    </p:spTree>
    <p:extLst>
      <p:ext uri="{BB962C8B-B14F-4D97-AF65-F5344CB8AC3E}">
        <p14:creationId xmlns:p14="http://schemas.microsoft.com/office/powerpoint/2010/main" val="3698382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Network operating system(NOS)</a:t>
            </a:r>
          </a:p>
        </p:txBody>
      </p:sp>
      <p:sp>
        <p:nvSpPr>
          <p:cNvPr id="3" name="Content Placeholder 2"/>
          <p:cNvSpPr>
            <a:spLocks noGrp="1"/>
          </p:cNvSpPr>
          <p:nvPr>
            <p:ph idx="1"/>
          </p:nvPr>
        </p:nvSpPr>
        <p:spPr/>
        <p:txBody>
          <a:bodyPr>
            <a:normAutofit lnSpcReduction="10000"/>
          </a:bodyPr>
          <a:lstStyle/>
          <a:p>
            <a:pPr marL="0" indent="0" algn="just">
              <a:buNone/>
            </a:pPr>
            <a:r>
              <a:rPr lang="en-US" dirty="0"/>
              <a:t>A network operating system(NOS) is software that connects multiple devices and computers on the network and allows them to share resources on the network. </a:t>
            </a:r>
          </a:p>
          <a:p>
            <a:pPr marL="0" indent="0" algn="just">
              <a:buNone/>
            </a:pPr>
            <a:r>
              <a:rPr lang="en-US" dirty="0"/>
              <a:t>Functions of the network operating system.</a:t>
            </a:r>
          </a:p>
          <a:p>
            <a:pPr marL="514350" indent="-514350" algn="just" fontAlgn="base">
              <a:buFont typeface="+mj-lt"/>
              <a:buAutoNum type="arabicPeriod"/>
            </a:pPr>
            <a:r>
              <a:rPr lang="en-US" dirty="0"/>
              <a:t>Creating and managing user accounts on the network.</a:t>
            </a:r>
          </a:p>
          <a:p>
            <a:pPr marL="514350" indent="-514350" algn="just" fontAlgn="base">
              <a:buFont typeface="+mj-lt"/>
              <a:buAutoNum type="arabicPeriod"/>
            </a:pPr>
            <a:r>
              <a:rPr lang="en-US" dirty="0"/>
              <a:t>Controlling access to resources on the network.</a:t>
            </a:r>
          </a:p>
          <a:p>
            <a:pPr marL="514350" indent="-514350" algn="just" fontAlgn="base">
              <a:buFont typeface="+mj-lt"/>
              <a:buAutoNum type="arabicPeriod"/>
            </a:pPr>
            <a:r>
              <a:rPr lang="en-US" dirty="0"/>
              <a:t>Provide communication services between the devices on the network.</a:t>
            </a:r>
          </a:p>
          <a:p>
            <a:pPr marL="514350" indent="-514350" algn="just" fontAlgn="base">
              <a:buFont typeface="+mj-lt"/>
              <a:buAutoNum type="arabicPeriod"/>
            </a:pPr>
            <a:r>
              <a:rPr lang="en-US" dirty="0"/>
              <a:t>Monitor and troubleshoot the network.</a:t>
            </a:r>
          </a:p>
          <a:p>
            <a:pPr marL="514350" indent="-514350" algn="just" fontAlgn="base">
              <a:buFont typeface="+mj-lt"/>
              <a:buAutoNum type="arabicPeriod"/>
            </a:pPr>
            <a:r>
              <a:rPr lang="en-US" dirty="0"/>
              <a:t>Configuring and Managing the resources on the network.</a:t>
            </a:r>
          </a:p>
          <a:p>
            <a:pPr marL="0" indent="0" algn="just">
              <a:buNone/>
            </a:pPr>
            <a:endParaRPr lang="en-US" dirty="0"/>
          </a:p>
        </p:txBody>
      </p:sp>
    </p:spTree>
    <p:extLst>
      <p:ext uri="{BB962C8B-B14F-4D97-AF65-F5344CB8AC3E}">
        <p14:creationId xmlns:p14="http://schemas.microsoft.com/office/powerpoint/2010/main" val="2115758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Network operating systems</a:t>
            </a:r>
            <a:endParaRPr lang="en-US" dirty="0"/>
          </a:p>
        </p:txBody>
      </p:sp>
      <p:sp>
        <p:nvSpPr>
          <p:cNvPr id="3" name="Content Placeholder 2"/>
          <p:cNvSpPr>
            <a:spLocks noGrp="1"/>
          </p:cNvSpPr>
          <p:nvPr>
            <p:ph idx="1"/>
          </p:nvPr>
        </p:nvSpPr>
        <p:spPr/>
        <p:txBody>
          <a:bodyPr>
            <a:normAutofit fontScale="92500" lnSpcReduction="10000"/>
          </a:bodyPr>
          <a:lstStyle/>
          <a:p>
            <a:pPr marL="514350" indent="-514350" fontAlgn="base">
              <a:buAutoNum type="arabicPeriod"/>
            </a:pPr>
            <a:r>
              <a:rPr lang="en-US" b="1" dirty="0"/>
              <a:t>Peer to Peer </a:t>
            </a:r>
            <a:br>
              <a:rPr lang="en-US" dirty="0"/>
            </a:br>
            <a:r>
              <a:rPr lang="en-US" dirty="0"/>
              <a:t> </a:t>
            </a:r>
          </a:p>
          <a:p>
            <a:pPr marL="0" indent="0" fontAlgn="base">
              <a:buNone/>
            </a:pPr>
            <a:r>
              <a:rPr lang="en-US" dirty="0"/>
              <a:t>Peer-to-peer network operating systems allow sharing resources and files with small-sized networks and having fewer resources. </a:t>
            </a:r>
          </a:p>
          <a:p>
            <a:pPr marL="0" indent="0" fontAlgn="base">
              <a:buNone/>
            </a:pPr>
            <a:r>
              <a:rPr lang="en-US" dirty="0"/>
              <a:t>In general, peer-to-peer network operating systems are used on LAN.</a:t>
            </a:r>
          </a:p>
          <a:p>
            <a:pPr marL="0" indent="0" fontAlgn="base">
              <a:buNone/>
            </a:pPr>
            <a:r>
              <a:rPr lang="en-US" b="1" dirty="0"/>
              <a:t>2. Client/server </a:t>
            </a:r>
            <a:br>
              <a:rPr lang="en-US" dirty="0"/>
            </a:br>
            <a:r>
              <a:rPr lang="en-US" dirty="0"/>
              <a:t>Client-server network operating systems provide users access to resources through the central server. </a:t>
            </a:r>
          </a:p>
          <a:p>
            <a:pPr marL="0" indent="0" fontAlgn="base">
              <a:buNone/>
            </a:pPr>
            <a:r>
              <a:rPr lang="en-US" dirty="0"/>
              <a:t>This no is too expensive to implement and maintain. </a:t>
            </a:r>
          </a:p>
          <a:p>
            <a:pPr marL="0" indent="0" fontAlgn="base">
              <a:buNone/>
            </a:pPr>
            <a:r>
              <a:rPr lang="en-US" dirty="0"/>
              <a:t>This operating system is good for the big networks which provide many services.</a:t>
            </a:r>
          </a:p>
          <a:p>
            <a:endParaRPr lang="en-US" dirty="0"/>
          </a:p>
        </p:txBody>
      </p:sp>
    </p:spTree>
    <p:extLst>
      <p:ext uri="{BB962C8B-B14F-4D97-AF65-F5344CB8AC3E}">
        <p14:creationId xmlns:p14="http://schemas.microsoft.com/office/powerpoint/2010/main" val="4182759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Network operating systems :</a:t>
            </a:r>
            <a:br>
              <a:rPr lang="en-US" dirty="0"/>
            </a:br>
            <a:endParaRPr lang="en-US" dirty="0"/>
          </a:p>
        </p:txBody>
      </p:sp>
      <p:sp>
        <p:nvSpPr>
          <p:cNvPr id="3" name="Content Placeholder 2"/>
          <p:cNvSpPr>
            <a:spLocks noGrp="1"/>
          </p:cNvSpPr>
          <p:nvPr>
            <p:ph idx="1"/>
          </p:nvPr>
        </p:nvSpPr>
        <p:spPr/>
        <p:txBody>
          <a:bodyPr>
            <a:normAutofit/>
          </a:bodyPr>
          <a:lstStyle/>
          <a:p>
            <a:pPr fontAlgn="base"/>
            <a:r>
              <a:rPr lang="en-US" dirty="0"/>
              <a:t>Highly stable due to central server.</a:t>
            </a:r>
          </a:p>
          <a:p>
            <a:pPr fontAlgn="base"/>
            <a:r>
              <a:rPr lang="en-US" dirty="0"/>
              <a:t>Provide good security.</a:t>
            </a:r>
          </a:p>
          <a:p>
            <a:pPr fontAlgn="base"/>
            <a:r>
              <a:rPr lang="en-US" dirty="0"/>
              <a:t>Upgradation of new technology and hardware can be easily implemented in the network.</a:t>
            </a:r>
          </a:p>
          <a:p>
            <a:pPr fontAlgn="base"/>
            <a:r>
              <a:rPr lang="en-US" dirty="0"/>
              <a:t>Provide remote access to servers from different locations.</a:t>
            </a:r>
          </a:p>
          <a:p>
            <a:endParaRPr lang="en-US" dirty="0"/>
          </a:p>
        </p:txBody>
      </p:sp>
    </p:spTree>
    <p:extLst>
      <p:ext uri="{BB962C8B-B14F-4D97-AF65-F5344CB8AC3E}">
        <p14:creationId xmlns:p14="http://schemas.microsoft.com/office/powerpoint/2010/main" val="1094148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Disadvantages of  Network operating systems :</a:t>
            </a:r>
            <a:br>
              <a:rPr lang="en-US" dirty="0"/>
            </a:br>
            <a:endParaRPr lang="en-US" dirty="0"/>
          </a:p>
        </p:txBody>
      </p:sp>
      <p:sp>
        <p:nvSpPr>
          <p:cNvPr id="3" name="Content Placeholder 2"/>
          <p:cNvSpPr>
            <a:spLocks noGrp="1"/>
          </p:cNvSpPr>
          <p:nvPr>
            <p:ph idx="1"/>
          </p:nvPr>
        </p:nvSpPr>
        <p:spPr/>
        <p:txBody>
          <a:bodyPr/>
          <a:lstStyle/>
          <a:p>
            <a:pPr fontAlgn="base"/>
            <a:r>
              <a:rPr lang="en-US" dirty="0"/>
              <a:t>Depend on the central location to perform the operations.</a:t>
            </a:r>
          </a:p>
          <a:p>
            <a:pPr fontAlgn="base"/>
            <a:r>
              <a:rPr lang="en-US" dirty="0"/>
              <a:t>High cost to buying server.</a:t>
            </a:r>
          </a:p>
          <a:p>
            <a:pPr fontAlgn="base"/>
            <a:r>
              <a:rPr lang="en-US" dirty="0"/>
              <a:t>Regular updating and maintenance are required.</a:t>
            </a:r>
          </a:p>
          <a:p>
            <a:endParaRPr lang="en-US" dirty="0"/>
          </a:p>
        </p:txBody>
      </p:sp>
    </p:spTree>
    <p:extLst>
      <p:ext uri="{BB962C8B-B14F-4D97-AF65-F5344CB8AC3E}">
        <p14:creationId xmlns:p14="http://schemas.microsoft.com/office/powerpoint/2010/main" val="3445090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 of Network Operating systems :</a:t>
            </a:r>
            <a:endParaRPr lang="en-US" dirty="0"/>
          </a:p>
        </p:txBody>
      </p:sp>
      <p:sp>
        <p:nvSpPr>
          <p:cNvPr id="3" name="Content Placeholder 2"/>
          <p:cNvSpPr>
            <a:spLocks noGrp="1"/>
          </p:cNvSpPr>
          <p:nvPr>
            <p:ph idx="1"/>
          </p:nvPr>
        </p:nvSpPr>
        <p:spPr/>
        <p:txBody>
          <a:bodyPr/>
          <a:lstStyle/>
          <a:p>
            <a:pPr fontAlgn="base"/>
            <a:r>
              <a:rPr lang="en-US" dirty="0"/>
              <a:t>Following are the examples of network operating systems.</a:t>
            </a:r>
          </a:p>
          <a:p>
            <a:pPr fontAlgn="base"/>
            <a:r>
              <a:rPr lang="en-US" dirty="0"/>
              <a:t>Microsoft Windows Server</a:t>
            </a:r>
          </a:p>
          <a:p>
            <a:pPr fontAlgn="base"/>
            <a:r>
              <a:rPr lang="en-US" dirty="0"/>
              <a:t>UNIX/Linux</a:t>
            </a:r>
          </a:p>
          <a:p>
            <a:pPr fontAlgn="base"/>
            <a:r>
              <a:rPr lang="en-US" dirty="0"/>
              <a:t>Artisoft’s LANtastic</a:t>
            </a:r>
          </a:p>
          <a:p>
            <a:pPr fontAlgn="base"/>
            <a:r>
              <a:rPr lang="en-US" dirty="0"/>
              <a:t>Banyan’s VINES</a:t>
            </a:r>
          </a:p>
          <a:p>
            <a:endParaRPr lang="en-US" dirty="0"/>
          </a:p>
        </p:txBody>
      </p:sp>
    </p:spTree>
    <p:extLst>
      <p:ext uri="{BB962C8B-B14F-4D97-AF65-F5344CB8AC3E}">
        <p14:creationId xmlns:p14="http://schemas.microsoft.com/office/powerpoint/2010/main" val="3897313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258907991"/>
              </p:ext>
            </p:extLst>
          </p:nvPr>
        </p:nvGraphicFramePr>
        <p:xfrm>
          <a:off x="838200" y="365123"/>
          <a:ext cx="10392267" cy="6202350"/>
        </p:xfrm>
        <a:graphic>
          <a:graphicData uri="http://schemas.openxmlformats.org/drawingml/2006/table">
            <a:tbl>
              <a:tblPr/>
              <a:tblGrid>
                <a:gridCol w="3464089">
                  <a:extLst>
                    <a:ext uri="{9D8B030D-6E8A-4147-A177-3AD203B41FA5}">
                      <a16:colId xmlns:a16="http://schemas.microsoft.com/office/drawing/2014/main" val="3835745874"/>
                    </a:ext>
                  </a:extLst>
                </a:gridCol>
                <a:gridCol w="3464089">
                  <a:extLst>
                    <a:ext uri="{9D8B030D-6E8A-4147-A177-3AD203B41FA5}">
                      <a16:colId xmlns:a16="http://schemas.microsoft.com/office/drawing/2014/main" val="1264312008"/>
                    </a:ext>
                  </a:extLst>
                </a:gridCol>
                <a:gridCol w="3464089">
                  <a:extLst>
                    <a:ext uri="{9D8B030D-6E8A-4147-A177-3AD203B41FA5}">
                      <a16:colId xmlns:a16="http://schemas.microsoft.com/office/drawing/2014/main" val="4219999697"/>
                    </a:ext>
                  </a:extLst>
                </a:gridCol>
              </a:tblGrid>
              <a:tr h="258809">
                <a:tc>
                  <a:txBody>
                    <a:bodyPr/>
                    <a:lstStyle/>
                    <a:p>
                      <a:pPr algn="ctr" fontAlgn="ctr"/>
                      <a:r>
                        <a:rPr lang="en-US" sz="2000" b="1" dirty="0">
                          <a:solidFill>
                            <a:srgbClr val="000000"/>
                          </a:solidFill>
                          <a:effectLst/>
                        </a:rPr>
                        <a:t>Key</a:t>
                      </a:r>
                    </a:p>
                  </a:txBody>
                  <a:tcPr marL="17921" marR="17921" marT="17921" marB="1792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EEEEE"/>
                    </a:solidFill>
                  </a:tcPr>
                </a:tc>
                <a:tc>
                  <a:txBody>
                    <a:bodyPr/>
                    <a:lstStyle/>
                    <a:p>
                      <a:pPr algn="ctr" fontAlgn="ctr"/>
                      <a:r>
                        <a:rPr lang="en-US" sz="2000" b="1" dirty="0">
                          <a:solidFill>
                            <a:srgbClr val="000000"/>
                          </a:solidFill>
                          <a:effectLst/>
                        </a:rPr>
                        <a:t>Network OS</a:t>
                      </a:r>
                    </a:p>
                  </a:txBody>
                  <a:tcPr marL="17921" marR="17921" marT="17921" marB="1792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EEEEE"/>
                    </a:solidFill>
                  </a:tcPr>
                </a:tc>
                <a:tc>
                  <a:txBody>
                    <a:bodyPr/>
                    <a:lstStyle/>
                    <a:p>
                      <a:pPr algn="ctr" fontAlgn="ctr"/>
                      <a:r>
                        <a:rPr lang="en-US" sz="2000" b="1" dirty="0">
                          <a:solidFill>
                            <a:srgbClr val="000000"/>
                          </a:solidFill>
                          <a:effectLst/>
                        </a:rPr>
                        <a:t>Distributed OS</a:t>
                      </a:r>
                    </a:p>
                  </a:txBody>
                  <a:tcPr marL="17921" marR="17921" marT="17921" marB="1792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3683492057"/>
                  </a:ext>
                </a:extLst>
              </a:tr>
              <a:tr h="728202">
                <a:tc>
                  <a:txBody>
                    <a:bodyPr/>
                    <a:lstStyle/>
                    <a:p>
                      <a:pPr algn="just" fontAlgn="ctr"/>
                      <a:r>
                        <a:rPr lang="en-US" sz="2000" dirty="0">
                          <a:solidFill>
                            <a:srgbClr val="000000"/>
                          </a:solidFill>
                          <a:effectLst/>
                        </a:rPr>
                        <a:t>Objective</a:t>
                      </a:r>
                    </a:p>
                  </a:txBody>
                  <a:tcPr marL="17921" marR="17921" marT="17921" marB="1792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just" fontAlgn="t"/>
                      <a:r>
                        <a:rPr lang="en-US" sz="2000">
                          <a:solidFill>
                            <a:srgbClr val="000000"/>
                          </a:solidFill>
                          <a:effectLst/>
                        </a:rPr>
                        <a:t>It provides local services to remote clients.</a:t>
                      </a:r>
                    </a:p>
                  </a:txBody>
                  <a:tcPr marL="17921" marR="17921" marT="17921" marB="17921">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just" fontAlgn="t"/>
                      <a:r>
                        <a:rPr lang="en-US" sz="2000">
                          <a:solidFill>
                            <a:srgbClr val="000000"/>
                          </a:solidFill>
                          <a:effectLst/>
                        </a:rPr>
                        <a:t>It manages the hardware resources.</a:t>
                      </a:r>
                    </a:p>
                  </a:txBody>
                  <a:tcPr marL="17921" marR="17921" marT="17921" marB="17921">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45460923"/>
                  </a:ext>
                </a:extLst>
              </a:tr>
              <a:tr h="804732">
                <a:tc>
                  <a:txBody>
                    <a:bodyPr/>
                    <a:lstStyle/>
                    <a:p>
                      <a:pPr algn="just" fontAlgn="ctr"/>
                      <a:r>
                        <a:rPr lang="en-US" sz="2000" dirty="0">
                          <a:solidFill>
                            <a:srgbClr val="000000"/>
                          </a:solidFill>
                          <a:effectLst/>
                        </a:rPr>
                        <a:t>Communication</a:t>
                      </a:r>
                    </a:p>
                  </a:txBody>
                  <a:tcPr marL="17921" marR="17921" marT="17921" marB="1792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just" fontAlgn="t"/>
                      <a:r>
                        <a:rPr lang="en-US" sz="2000">
                          <a:solidFill>
                            <a:srgbClr val="000000"/>
                          </a:solidFill>
                          <a:effectLst/>
                        </a:rPr>
                        <a:t>Communication is file-based, shared folder based.</a:t>
                      </a:r>
                    </a:p>
                  </a:txBody>
                  <a:tcPr marL="17921" marR="17921" marT="17921" marB="17921">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just" fontAlgn="t"/>
                      <a:r>
                        <a:rPr lang="en-US" sz="2000">
                          <a:solidFill>
                            <a:srgbClr val="000000"/>
                          </a:solidFill>
                          <a:effectLst/>
                        </a:rPr>
                        <a:t>Communication is message-based or shared memory-based.</a:t>
                      </a:r>
                    </a:p>
                  </a:txBody>
                  <a:tcPr marL="17921" marR="17921" marT="17921" marB="17921">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079306697"/>
                  </a:ext>
                </a:extLst>
              </a:tr>
              <a:tr h="1072084">
                <a:tc>
                  <a:txBody>
                    <a:bodyPr/>
                    <a:lstStyle/>
                    <a:p>
                      <a:pPr algn="just" fontAlgn="ctr"/>
                      <a:r>
                        <a:rPr lang="en-US" sz="2000" dirty="0">
                          <a:solidFill>
                            <a:srgbClr val="000000"/>
                          </a:solidFill>
                          <a:effectLst/>
                        </a:rPr>
                        <a:t>Scalability</a:t>
                      </a:r>
                    </a:p>
                  </a:txBody>
                  <a:tcPr marL="17921" marR="17921" marT="17921" marB="1792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just" fontAlgn="t"/>
                      <a:r>
                        <a:rPr lang="en-US" sz="2000" dirty="0">
                          <a:solidFill>
                            <a:srgbClr val="000000"/>
                          </a:solidFill>
                          <a:effectLst/>
                        </a:rPr>
                        <a:t>Network OS is highly scalable. A new machine can be added very easily.</a:t>
                      </a:r>
                    </a:p>
                  </a:txBody>
                  <a:tcPr marL="17921" marR="17921" marT="17921" marB="17921">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just" fontAlgn="t"/>
                      <a:r>
                        <a:rPr lang="en-US" sz="2000">
                          <a:solidFill>
                            <a:srgbClr val="000000"/>
                          </a:solidFill>
                          <a:effectLst/>
                        </a:rPr>
                        <a:t>Distributed OS is less scalable. The process to add new hardware is complex.</a:t>
                      </a:r>
                    </a:p>
                  </a:txBody>
                  <a:tcPr marL="17921" marR="17921" marT="17921" marB="17921">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749757901"/>
                  </a:ext>
                </a:extLst>
              </a:tr>
              <a:tr h="728202">
                <a:tc>
                  <a:txBody>
                    <a:bodyPr/>
                    <a:lstStyle/>
                    <a:p>
                      <a:pPr algn="just" fontAlgn="ctr"/>
                      <a:r>
                        <a:rPr lang="en-US" sz="2000">
                          <a:solidFill>
                            <a:srgbClr val="000000"/>
                          </a:solidFill>
                          <a:effectLst/>
                        </a:rPr>
                        <a:t>Fault tolerance</a:t>
                      </a:r>
                    </a:p>
                  </a:txBody>
                  <a:tcPr marL="17921" marR="17921" marT="17921" marB="1792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just" fontAlgn="t"/>
                      <a:r>
                        <a:rPr lang="en-US" sz="2000" dirty="0">
                          <a:solidFill>
                            <a:srgbClr val="000000"/>
                          </a:solidFill>
                          <a:effectLst/>
                        </a:rPr>
                        <a:t>Less fault tolerance as compared to distributed OS.</a:t>
                      </a:r>
                    </a:p>
                  </a:txBody>
                  <a:tcPr marL="17921" marR="17921" marT="17921" marB="17921">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just" fontAlgn="t"/>
                      <a:r>
                        <a:rPr lang="en-US" sz="2000" dirty="0">
                          <a:solidFill>
                            <a:srgbClr val="000000"/>
                          </a:solidFill>
                          <a:effectLst/>
                        </a:rPr>
                        <a:t>It has very high fault tolerance.</a:t>
                      </a:r>
                    </a:p>
                  </a:txBody>
                  <a:tcPr marL="17921" marR="17921" marT="17921" marB="17921">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208116652"/>
                  </a:ext>
                </a:extLst>
              </a:tr>
              <a:tr h="728202">
                <a:tc>
                  <a:txBody>
                    <a:bodyPr/>
                    <a:lstStyle/>
                    <a:p>
                      <a:pPr algn="just" fontAlgn="ctr"/>
                      <a:r>
                        <a:rPr lang="en-US" sz="2000">
                          <a:solidFill>
                            <a:srgbClr val="000000"/>
                          </a:solidFill>
                          <a:effectLst/>
                        </a:rPr>
                        <a:t>Autonomy</a:t>
                      </a:r>
                    </a:p>
                  </a:txBody>
                  <a:tcPr marL="17921" marR="17921" marT="17921" marB="1792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just" fontAlgn="t"/>
                      <a:r>
                        <a:rPr lang="en-US" sz="2000" dirty="0">
                          <a:solidFill>
                            <a:srgbClr val="000000"/>
                          </a:solidFill>
                          <a:effectLst/>
                        </a:rPr>
                        <a:t>Each machine can acts on its own thus autonomy is high.</a:t>
                      </a:r>
                    </a:p>
                  </a:txBody>
                  <a:tcPr marL="17921" marR="17921" marT="17921" marB="17921">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just" fontAlgn="t"/>
                      <a:r>
                        <a:rPr lang="en-US" sz="2000">
                          <a:solidFill>
                            <a:srgbClr val="000000"/>
                          </a:solidFill>
                          <a:effectLst/>
                        </a:rPr>
                        <a:t>It has a poor rate of autonomy</a:t>
                      </a:r>
                    </a:p>
                  </a:txBody>
                  <a:tcPr marL="17921" marR="17921" marT="17921" marB="17921">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074130298"/>
                  </a:ext>
                </a:extLst>
              </a:tr>
              <a:tr h="728202">
                <a:tc>
                  <a:txBody>
                    <a:bodyPr/>
                    <a:lstStyle/>
                    <a:p>
                      <a:pPr algn="just" fontAlgn="ctr"/>
                      <a:r>
                        <a:rPr lang="en-US" sz="2000">
                          <a:solidFill>
                            <a:srgbClr val="000000"/>
                          </a:solidFill>
                          <a:effectLst/>
                        </a:rPr>
                        <a:t>Implementation</a:t>
                      </a:r>
                    </a:p>
                  </a:txBody>
                  <a:tcPr marL="17921" marR="17921" marT="17921" marB="1792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just" fontAlgn="t"/>
                      <a:r>
                        <a:rPr lang="en-US" sz="2000" dirty="0">
                          <a:solidFill>
                            <a:srgbClr val="000000"/>
                          </a:solidFill>
                          <a:effectLst/>
                        </a:rPr>
                        <a:t>Network OS-based systems are easy to build and maintain.</a:t>
                      </a:r>
                    </a:p>
                  </a:txBody>
                  <a:tcPr marL="17921" marR="17921" marT="17921" marB="17921">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just" fontAlgn="t"/>
                      <a:r>
                        <a:rPr lang="en-US" sz="2000" dirty="0">
                          <a:solidFill>
                            <a:srgbClr val="000000"/>
                          </a:solidFill>
                          <a:effectLst/>
                        </a:rPr>
                        <a:t>It is difficult to implement a Distributed OS.</a:t>
                      </a:r>
                    </a:p>
                  </a:txBody>
                  <a:tcPr marL="17921" marR="17921" marT="17921" marB="17921">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634932300"/>
                  </a:ext>
                </a:extLst>
              </a:tr>
              <a:tr h="1072084">
                <a:tc>
                  <a:txBody>
                    <a:bodyPr/>
                    <a:lstStyle/>
                    <a:p>
                      <a:pPr algn="just" fontAlgn="ctr"/>
                      <a:r>
                        <a:rPr lang="en-US" sz="2000">
                          <a:solidFill>
                            <a:srgbClr val="000000"/>
                          </a:solidFill>
                          <a:effectLst/>
                        </a:rPr>
                        <a:t>Operating System</a:t>
                      </a:r>
                    </a:p>
                  </a:txBody>
                  <a:tcPr marL="17921" marR="17921" marT="17921" marB="1792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just" fontAlgn="t"/>
                      <a:r>
                        <a:rPr lang="en-US" sz="2000">
                          <a:solidFill>
                            <a:srgbClr val="000000"/>
                          </a:solidFill>
                          <a:effectLst/>
                        </a:rPr>
                        <a:t>Network OS-based systems have their own copy of operating systems.</a:t>
                      </a:r>
                    </a:p>
                  </a:txBody>
                  <a:tcPr marL="17921" marR="17921" marT="17921" marB="17921">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just" fontAlgn="t"/>
                      <a:r>
                        <a:rPr lang="en-US" sz="2000" dirty="0">
                          <a:solidFill>
                            <a:srgbClr val="000000"/>
                          </a:solidFill>
                          <a:effectLst/>
                        </a:rPr>
                        <a:t>Distributed OS-based nodes have the same copy of the operating system.</a:t>
                      </a:r>
                    </a:p>
                  </a:txBody>
                  <a:tcPr marL="17921" marR="17921" marT="17921" marB="17921">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114609281"/>
                  </a:ext>
                </a:extLst>
              </a:tr>
            </a:tbl>
          </a:graphicData>
        </a:graphic>
      </p:graphicFrame>
    </p:spTree>
    <p:extLst>
      <p:ext uri="{BB962C8B-B14F-4D97-AF65-F5344CB8AC3E}">
        <p14:creationId xmlns:p14="http://schemas.microsoft.com/office/powerpoint/2010/main" val="3310566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Hardware and software concepts</a:t>
            </a:r>
          </a:p>
        </p:txBody>
      </p:sp>
      <p:sp>
        <p:nvSpPr>
          <p:cNvPr id="3" name="Content Placeholder 2"/>
          <p:cNvSpPr>
            <a:spLocks noGrp="1"/>
          </p:cNvSpPr>
          <p:nvPr>
            <p:ph idx="1"/>
          </p:nvPr>
        </p:nvSpPr>
        <p:spPr/>
        <p:txBody>
          <a:bodyPr/>
          <a:lstStyle/>
          <a:p>
            <a:pPr algn="just"/>
            <a:r>
              <a:rPr lang="en-US" dirty="0"/>
              <a:t>All distributed system consists of multiple CPUs.</a:t>
            </a:r>
          </a:p>
          <a:p>
            <a:pPr algn="just"/>
            <a:r>
              <a:rPr lang="en-US" dirty="0"/>
              <a:t>There are several different ways the hardware can be arranged.</a:t>
            </a:r>
          </a:p>
          <a:p>
            <a:pPr algn="just"/>
            <a:r>
              <a:rPr lang="en-US" dirty="0"/>
              <a:t>An important thing that is concerned about hardware is how they are interconnected and how they communicate with each other.</a:t>
            </a:r>
          </a:p>
          <a:p>
            <a:pPr algn="just"/>
            <a:r>
              <a:rPr lang="en-US" dirty="0"/>
              <a:t>Many classification schemes for multiple CPUs have been proposed. </a:t>
            </a:r>
          </a:p>
          <a:p>
            <a:pPr algn="just"/>
            <a:r>
              <a:rPr lang="en-US" dirty="0"/>
              <a:t>Commonly used taxonomy is Flynn’s taxonomy.</a:t>
            </a:r>
          </a:p>
          <a:p>
            <a:pPr algn="just"/>
            <a:endParaRPr lang="en-US" dirty="0"/>
          </a:p>
          <a:p>
            <a:pPr algn="just"/>
            <a:endParaRPr lang="en-US" dirty="0"/>
          </a:p>
        </p:txBody>
      </p:sp>
    </p:spTree>
    <p:extLst>
      <p:ext uri="{BB962C8B-B14F-4D97-AF65-F5344CB8AC3E}">
        <p14:creationId xmlns:p14="http://schemas.microsoft.com/office/powerpoint/2010/main" val="4114971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Flynn's classification divides computers into four major groups that are</a:t>
            </a:r>
          </a:p>
        </p:txBody>
      </p:sp>
      <p:sp>
        <p:nvSpPr>
          <p:cNvPr id="3" name="Content Placeholder 2"/>
          <p:cNvSpPr>
            <a:spLocks noGrp="1"/>
          </p:cNvSpPr>
          <p:nvPr>
            <p:ph idx="1"/>
          </p:nvPr>
        </p:nvSpPr>
        <p:spPr/>
        <p:txBody>
          <a:bodyPr/>
          <a:lstStyle/>
          <a:p>
            <a:pPr marL="0" indent="0">
              <a:buNone/>
            </a:pPr>
            <a:endParaRPr lang="en-US" dirty="0"/>
          </a:p>
          <a:p>
            <a:pPr marL="514350" indent="-514350">
              <a:buFont typeface="+mj-lt"/>
              <a:buAutoNum type="arabicPeriod"/>
            </a:pPr>
            <a:r>
              <a:rPr lang="en-US" dirty="0"/>
              <a:t>Single instruction stream, single data stream (SISD)</a:t>
            </a:r>
          </a:p>
          <a:p>
            <a:pPr marL="514350" indent="-514350">
              <a:buFont typeface="+mj-lt"/>
              <a:buAutoNum type="arabicPeriod"/>
            </a:pPr>
            <a:r>
              <a:rPr lang="en-US" dirty="0"/>
              <a:t>Single instruction stream, multiple data stream (SIMD)</a:t>
            </a:r>
          </a:p>
          <a:p>
            <a:pPr marL="514350" indent="-514350">
              <a:buFont typeface="+mj-lt"/>
              <a:buAutoNum type="arabicPeriod"/>
            </a:pPr>
            <a:r>
              <a:rPr lang="en-US" dirty="0"/>
              <a:t>Multiple instruction streams, single data stream (MISD)</a:t>
            </a:r>
          </a:p>
          <a:p>
            <a:pPr marL="514350" indent="-514350">
              <a:buFont typeface="+mj-lt"/>
              <a:buAutoNum type="arabicPeriod"/>
            </a:pPr>
            <a:r>
              <a:rPr lang="en-US" dirty="0"/>
              <a:t>Multiple instruction streams, multiple data stream (MIMD)</a:t>
            </a:r>
          </a:p>
          <a:p>
            <a:endParaRPr lang="en-US" dirty="0"/>
          </a:p>
        </p:txBody>
      </p:sp>
    </p:spTree>
    <p:extLst>
      <p:ext uri="{BB962C8B-B14F-4D97-AF65-F5344CB8AC3E}">
        <p14:creationId xmlns:p14="http://schemas.microsoft.com/office/powerpoint/2010/main" val="38503576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Single Instruction Single Data</a:t>
            </a:r>
            <a:endParaRPr lang="en-US" dirty="0"/>
          </a:p>
        </p:txBody>
      </p:sp>
      <p:sp>
        <p:nvSpPr>
          <p:cNvPr id="3" name="Content Placeholder 2"/>
          <p:cNvSpPr>
            <a:spLocks noGrp="1"/>
          </p:cNvSpPr>
          <p:nvPr>
            <p:ph idx="1"/>
          </p:nvPr>
        </p:nvSpPr>
        <p:spPr/>
        <p:txBody>
          <a:bodyPr/>
          <a:lstStyle/>
          <a:p>
            <a:r>
              <a:rPr lang="en-US" b="1" dirty="0"/>
              <a:t>SISD</a:t>
            </a:r>
            <a:r>
              <a:rPr lang="en-US" dirty="0"/>
              <a:t> stands for </a:t>
            </a:r>
            <a:r>
              <a:rPr lang="en-US" b="1" i="1" dirty="0"/>
              <a:t>'Single Instruction and Single Data Stream'</a:t>
            </a:r>
            <a:r>
              <a:rPr lang="en-US" dirty="0"/>
              <a:t>. It represents the organization of a single computer containing a control unit, a processor unit, and a memory unit.</a:t>
            </a:r>
          </a:p>
          <a:p>
            <a:r>
              <a:rPr lang="en-US" dirty="0"/>
              <a:t>Instructions are executed sequentially, and the system may or may not have internal parallel processing capabilities.</a:t>
            </a:r>
          </a:p>
          <a:p>
            <a:r>
              <a:rPr lang="en-US" dirty="0"/>
              <a:t>Most conventional computers have SISD architecture like the traditional Von-Neumann computers.</a:t>
            </a:r>
          </a:p>
          <a:p>
            <a:endParaRPr lang="en-US" dirty="0"/>
          </a:p>
        </p:txBody>
      </p:sp>
    </p:spTree>
    <p:extLst>
      <p:ext uri="{BB962C8B-B14F-4D97-AF65-F5344CB8AC3E}">
        <p14:creationId xmlns:p14="http://schemas.microsoft.com/office/powerpoint/2010/main" val="883404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Single Instruction Single Data</a:t>
            </a:r>
          </a:p>
        </p:txBody>
      </p:sp>
      <p:pic>
        <p:nvPicPr>
          <p:cNvPr id="4" name="Content Placeholder 3"/>
          <p:cNvPicPr>
            <a:picLocks noGrp="1" noChangeAspect="1"/>
          </p:cNvPicPr>
          <p:nvPr>
            <p:ph idx="1"/>
          </p:nvPr>
        </p:nvPicPr>
        <p:blipFill>
          <a:blip r:embed="rId2"/>
          <a:stretch>
            <a:fillRect/>
          </a:stretch>
        </p:blipFill>
        <p:spPr>
          <a:xfrm>
            <a:off x="4100512" y="2253456"/>
            <a:ext cx="3990975" cy="3495675"/>
          </a:xfrm>
          <a:prstGeom prst="rect">
            <a:avLst/>
          </a:prstGeom>
        </p:spPr>
      </p:pic>
    </p:spTree>
    <p:extLst>
      <p:ext uri="{BB962C8B-B14F-4D97-AF65-F5344CB8AC3E}">
        <p14:creationId xmlns:p14="http://schemas.microsoft.com/office/powerpoint/2010/main" val="1962208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Single Instruction and Multiple Data Stream</a:t>
            </a:r>
          </a:p>
        </p:txBody>
      </p:sp>
      <p:sp>
        <p:nvSpPr>
          <p:cNvPr id="3" name="Content Placeholder 2"/>
          <p:cNvSpPr>
            <a:spLocks noGrp="1"/>
          </p:cNvSpPr>
          <p:nvPr>
            <p:ph idx="1"/>
          </p:nvPr>
        </p:nvSpPr>
        <p:spPr/>
        <p:txBody>
          <a:bodyPr/>
          <a:lstStyle/>
          <a:p>
            <a:r>
              <a:rPr lang="en-US" b="1" dirty="0"/>
              <a:t>SIMD</a:t>
            </a:r>
            <a:r>
              <a:rPr lang="en-US" dirty="0"/>
              <a:t> stands for </a:t>
            </a:r>
            <a:r>
              <a:rPr lang="en-US" b="1" i="1" dirty="0"/>
              <a:t>'Single Instruction and Multiple Data Stream'</a:t>
            </a:r>
            <a:r>
              <a:rPr lang="en-US" dirty="0"/>
              <a:t>. It represents an organization that includes many processing units under the supervision of a common control unit.</a:t>
            </a:r>
          </a:p>
          <a:p>
            <a:r>
              <a:rPr lang="en-US" dirty="0"/>
              <a:t>All processors receive the same instruction from the control unit but operate on different items of data.</a:t>
            </a:r>
          </a:p>
          <a:p>
            <a:r>
              <a:rPr lang="en-US" dirty="0"/>
              <a:t>The shared memory unit must contain multiple modules so that it can communicate with all the processors simultaneously.</a:t>
            </a:r>
          </a:p>
          <a:p>
            <a:endParaRPr lang="en-US" dirty="0"/>
          </a:p>
        </p:txBody>
      </p:sp>
    </p:spTree>
    <p:extLst>
      <p:ext uri="{BB962C8B-B14F-4D97-AF65-F5344CB8AC3E}">
        <p14:creationId xmlns:p14="http://schemas.microsoft.com/office/powerpoint/2010/main" val="19556319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Single Instruction and Multiple Data Stream</a:t>
            </a:r>
            <a:endParaRPr lang="en-US" dirty="0"/>
          </a:p>
        </p:txBody>
      </p:sp>
      <p:pic>
        <p:nvPicPr>
          <p:cNvPr id="4" name="Content Placeholder 3"/>
          <p:cNvPicPr>
            <a:picLocks noGrp="1" noChangeAspect="1"/>
          </p:cNvPicPr>
          <p:nvPr>
            <p:ph idx="1"/>
          </p:nvPr>
        </p:nvPicPr>
        <p:blipFill>
          <a:blip r:embed="rId2"/>
          <a:stretch>
            <a:fillRect/>
          </a:stretch>
        </p:blipFill>
        <p:spPr>
          <a:xfrm>
            <a:off x="1093509" y="1825625"/>
            <a:ext cx="7680921" cy="4351338"/>
          </a:xfrm>
          <a:prstGeom prst="rect">
            <a:avLst/>
          </a:prstGeom>
        </p:spPr>
      </p:pic>
    </p:spTree>
    <p:extLst>
      <p:ext uri="{BB962C8B-B14F-4D97-AF65-F5344CB8AC3E}">
        <p14:creationId xmlns:p14="http://schemas.microsoft.com/office/powerpoint/2010/main" val="12870995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Multiple Instruction and Single Data stream</a:t>
            </a:r>
            <a:endParaRPr lang="en-US" dirty="0"/>
          </a:p>
        </p:txBody>
      </p:sp>
      <p:sp>
        <p:nvSpPr>
          <p:cNvPr id="3" name="Content Placeholder 2"/>
          <p:cNvSpPr>
            <a:spLocks noGrp="1"/>
          </p:cNvSpPr>
          <p:nvPr>
            <p:ph idx="1"/>
          </p:nvPr>
        </p:nvSpPr>
        <p:spPr/>
        <p:txBody>
          <a:bodyPr/>
          <a:lstStyle/>
          <a:p>
            <a:r>
              <a:rPr lang="en-US" dirty="0"/>
              <a:t>MISD structure is only of theoretical interest since no practical system has been constructed using this organization.</a:t>
            </a:r>
          </a:p>
          <a:p>
            <a:r>
              <a:rPr lang="en-US" dirty="0"/>
              <a:t>In MISD, multiple processing units operate on one single-data stream. Each processing unit operates on the data independently via separate instruction stream.</a:t>
            </a:r>
          </a:p>
          <a:p>
            <a:endParaRPr lang="en-US" dirty="0"/>
          </a:p>
        </p:txBody>
      </p:sp>
    </p:spTree>
    <p:extLst>
      <p:ext uri="{BB962C8B-B14F-4D97-AF65-F5344CB8AC3E}">
        <p14:creationId xmlns:p14="http://schemas.microsoft.com/office/powerpoint/2010/main" val="38895041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Multiple Instruction and Single Data stream</a:t>
            </a:r>
            <a:endParaRPr lang="en-US" dirty="0"/>
          </a:p>
        </p:txBody>
      </p:sp>
      <p:pic>
        <p:nvPicPr>
          <p:cNvPr id="3074" name="Picture 2" descr="MISD"/>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28575" y="2429449"/>
            <a:ext cx="5734850" cy="3143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04982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Multiple Instruction and Multiple Data Stream</a:t>
            </a:r>
            <a:endParaRPr lang="en-US" dirty="0"/>
          </a:p>
        </p:txBody>
      </p:sp>
      <p:sp>
        <p:nvSpPr>
          <p:cNvPr id="3" name="Content Placeholder 2"/>
          <p:cNvSpPr>
            <a:spLocks noGrp="1"/>
          </p:cNvSpPr>
          <p:nvPr>
            <p:ph idx="1"/>
          </p:nvPr>
        </p:nvSpPr>
        <p:spPr/>
        <p:txBody>
          <a:bodyPr/>
          <a:lstStyle/>
          <a:p>
            <a:r>
              <a:rPr lang="en-US" dirty="0"/>
              <a:t>In this organization, all processors in a parallel computer can execute different instructions and operate on various data at the same time.</a:t>
            </a:r>
          </a:p>
          <a:p>
            <a:r>
              <a:rPr lang="en-US" dirty="0"/>
              <a:t>In MIMD, each processor has a separate program and an instruction stream is generated from each program.</a:t>
            </a:r>
          </a:p>
          <a:p>
            <a:endParaRPr lang="en-US" dirty="0"/>
          </a:p>
        </p:txBody>
      </p:sp>
    </p:spTree>
    <p:extLst>
      <p:ext uri="{BB962C8B-B14F-4D97-AF65-F5344CB8AC3E}">
        <p14:creationId xmlns:p14="http://schemas.microsoft.com/office/powerpoint/2010/main" val="14917359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Multiple Instruction and Multiple Data Stream</a:t>
            </a:r>
            <a:endParaRPr lang="en-US" dirty="0"/>
          </a:p>
        </p:txBody>
      </p:sp>
      <p:pic>
        <p:nvPicPr>
          <p:cNvPr id="4" name="Content Placeholder 3"/>
          <p:cNvPicPr>
            <a:picLocks noGrp="1" noChangeAspect="1"/>
          </p:cNvPicPr>
          <p:nvPr>
            <p:ph idx="1"/>
          </p:nvPr>
        </p:nvPicPr>
        <p:blipFill>
          <a:blip r:embed="rId2"/>
          <a:stretch>
            <a:fillRect/>
          </a:stretch>
        </p:blipFill>
        <p:spPr>
          <a:xfrm>
            <a:off x="3281362" y="2424906"/>
            <a:ext cx="5629275" cy="3152775"/>
          </a:xfrm>
          <a:prstGeom prst="rect">
            <a:avLst/>
          </a:prstGeom>
        </p:spPr>
      </p:pic>
    </p:spTree>
    <p:extLst>
      <p:ext uri="{BB962C8B-B14F-4D97-AF65-F5344CB8AC3E}">
        <p14:creationId xmlns:p14="http://schemas.microsoft.com/office/powerpoint/2010/main" val="19892432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Communication In Distributed System</a:t>
            </a:r>
          </a:p>
        </p:txBody>
      </p:sp>
      <p:sp>
        <p:nvSpPr>
          <p:cNvPr id="3" name="Content Placeholder 2"/>
          <p:cNvSpPr>
            <a:spLocks noGrp="1"/>
          </p:cNvSpPr>
          <p:nvPr>
            <p:ph idx="1"/>
          </p:nvPr>
        </p:nvSpPr>
        <p:spPr/>
        <p:txBody>
          <a:bodyPr/>
          <a:lstStyle/>
          <a:p>
            <a:pPr marL="0" indent="0">
              <a:buNone/>
            </a:pPr>
            <a:r>
              <a:rPr lang="en-US" dirty="0"/>
              <a:t>Two approaches for communication in a distributed system.</a:t>
            </a:r>
          </a:p>
          <a:p>
            <a:pPr marL="514350" indent="-514350">
              <a:buFont typeface="+mj-lt"/>
              <a:buAutoNum type="arabicPeriod"/>
            </a:pPr>
            <a:r>
              <a:rPr lang="en-US" dirty="0"/>
              <a:t>Shared Memory </a:t>
            </a:r>
          </a:p>
          <a:p>
            <a:pPr marL="514350" indent="-514350">
              <a:buFont typeface="+mj-lt"/>
              <a:buAutoNum type="arabicPeriod"/>
            </a:pPr>
            <a:r>
              <a:rPr lang="en-US" dirty="0"/>
              <a:t>Message Passing</a:t>
            </a:r>
          </a:p>
        </p:txBody>
      </p:sp>
    </p:spTree>
    <p:extLst>
      <p:ext uri="{BB962C8B-B14F-4D97-AF65-F5344CB8AC3E}">
        <p14:creationId xmlns:p14="http://schemas.microsoft.com/office/powerpoint/2010/main" val="18150484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Shared Memory </a:t>
            </a:r>
            <a:br>
              <a:rPr lang="en-US" b="1" dirty="0"/>
            </a:br>
            <a:endParaRPr lang="en-US" b="1" dirty="0"/>
          </a:p>
        </p:txBody>
      </p:sp>
      <p:sp>
        <p:nvSpPr>
          <p:cNvPr id="3" name="Content Placeholder 2"/>
          <p:cNvSpPr>
            <a:spLocks noGrp="1"/>
          </p:cNvSpPr>
          <p:nvPr>
            <p:ph idx="1"/>
          </p:nvPr>
        </p:nvSpPr>
        <p:spPr/>
        <p:txBody>
          <a:bodyPr>
            <a:normAutofit/>
          </a:bodyPr>
          <a:lstStyle/>
          <a:p>
            <a:pPr algn="just"/>
            <a:r>
              <a:rPr lang="en-US" dirty="0"/>
              <a:t>DSM is a mechanism that manages memory across multiple nodes and makes inter-process communications transparent to end-users. </a:t>
            </a:r>
          </a:p>
          <a:p>
            <a:pPr algn="just"/>
            <a:r>
              <a:rPr lang="en-US" dirty="0"/>
              <a:t>The distributed shared memory (DSM) implements the shared memory model in distributed systems but it doesn’t have physical shared memory. </a:t>
            </a:r>
          </a:p>
          <a:p>
            <a:pPr algn="just"/>
            <a:r>
              <a:rPr lang="en-US" dirty="0"/>
              <a:t>All the nodes share the virtual address space provided by the shared memory model. The Data moves between the main memories of different nodes.</a:t>
            </a:r>
          </a:p>
        </p:txBody>
      </p:sp>
    </p:spTree>
    <p:extLst>
      <p:ext uri="{BB962C8B-B14F-4D97-AF65-F5344CB8AC3E}">
        <p14:creationId xmlns:p14="http://schemas.microsoft.com/office/powerpoint/2010/main" val="30575861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Shared Memory </a:t>
            </a:r>
            <a:br>
              <a:rPr lang="en-US" b="1" dirty="0"/>
            </a:br>
            <a:endParaRPr lang="en-US" dirty="0"/>
          </a:p>
        </p:txBody>
      </p:sp>
      <p:pic>
        <p:nvPicPr>
          <p:cNvPr id="1026" name="Picture 2" descr="https://media.geeksforgeeks.org/wp-content/uploads/20210903190914/Screenshot767-660x394.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52750" y="2124869"/>
            <a:ext cx="6286500" cy="3752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06416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Distributed shared memory</a:t>
            </a:r>
            <a:br>
              <a:rPr lang="en-US" b="1" dirty="0"/>
            </a:br>
            <a:endParaRPr lang="en-US" dirty="0"/>
          </a:p>
        </p:txBody>
      </p:sp>
      <p:sp>
        <p:nvSpPr>
          <p:cNvPr id="3" name="Content Placeholder 2"/>
          <p:cNvSpPr>
            <a:spLocks noGrp="1"/>
          </p:cNvSpPr>
          <p:nvPr>
            <p:ph idx="1"/>
          </p:nvPr>
        </p:nvSpPr>
        <p:spPr/>
        <p:txBody>
          <a:bodyPr>
            <a:normAutofit fontScale="92500" lnSpcReduction="10000"/>
          </a:bodyPr>
          <a:lstStyle/>
          <a:p>
            <a:pPr algn="just" fontAlgn="base"/>
            <a:r>
              <a:rPr lang="en-US" dirty="0"/>
              <a:t>Programmer need not concern about data movement, As the address space is the same it is easier to implement than Remote Procedure Call.</a:t>
            </a:r>
          </a:p>
          <a:p>
            <a:pPr algn="just" fontAlgn="base"/>
            <a:r>
              <a:rPr lang="en-US" dirty="0"/>
              <a:t>DSM programs are portable as they use a common programming interface.</a:t>
            </a:r>
          </a:p>
          <a:p>
            <a:pPr algn="just" fontAlgn="base"/>
            <a:r>
              <a:rPr lang="en-US" dirty="0"/>
              <a:t>Data moved in large blocks i.e. data near to the current memory location that is being fetched, may be needed future so it will be also fetched.</a:t>
            </a:r>
          </a:p>
          <a:p>
            <a:pPr algn="just" fontAlgn="base"/>
            <a:r>
              <a:rPr lang="en-US" dirty="0"/>
              <a:t> It provides large virtual memory space, the total memory size is the sum of the memory size of all the nodes, paging activities are reduced.</a:t>
            </a:r>
          </a:p>
          <a:p>
            <a:pPr algn="just" fontAlgn="base"/>
            <a:r>
              <a:rPr lang="en-US" dirty="0"/>
              <a:t>They can join and leave DSM system without affecting the others as there is no need for sender and receiver to existing,</a:t>
            </a:r>
          </a:p>
          <a:p>
            <a:pPr algn="just" fontAlgn="base"/>
            <a:r>
              <a:rPr lang="en-US" dirty="0"/>
              <a:t>They all share the address space so one process can easily be moved to a different machine.</a:t>
            </a:r>
          </a:p>
          <a:p>
            <a:pPr algn="just"/>
            <a:endParaRPr lang="en-US" dirty="0"/>
          </a:p>
        </p:txBody>
      </p:sp>
    </p:spTree>
    <p:extLst>
      <p:ext uri="{BB962C8B-B14F-4D97-AF65-F5344CB8AC3E}">
        <p14:creationId xmlns:p14="http://schemas.microsoft.com/office/powerpoint/2010/main" val="3232013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 Message Passing</a:t>
            </a:r>
          </a:p>
        </p:txBody>
      </p:sp>
      <p:sp>
        <p:nvSpPr>
          <p:cNvPr id="3" name="Content Placeholder 2"/>
          <p:cNvSpPr>
            <a:spLocks noGrp="1"/>
          </p:cNvSpPr>
          <p:nvPr>
            <p:ph idx="1"/>
          </p:nvPr>
        </p:nvSpPr>
        <p:spPr/>
        <p:txBody>
          <a:bodyPr>
            <a:normAutofit fontScale="92500" lnSpcReduction="20000"/>
          </a:bodyPr>
          <a:lstStyle/>
          <a:p>
            <a:r>
              <a:rPr lang="en-US" dirty="0"/>
              <a:t>Message passing is the interaction of exchanging messages between at least two processors.</a:t>
            </a:r>
          </a:p>
          <a:p>
            <a:r>
              <a:rPr lang="en-US" dirty="0"/>
              <a:t> The cycle which is sending the message to one more process is known as the sender and the process which is getting the message is known as the receiver.</a:t>
            </a:r>
          </a:p>
          <a:p>
            <a:r>
              <a:rPr lang="en-US" dirty="0"/>
              <a:t>In a message-passing system, we can send the message by utilizing send function and we can receive the message by utilizing receive function. </a:t>
            </a:r>
          </a:p>
          <a:p>
            <a:r>
              <a:rPr lang="en-US" dirty="0"/>
              <a:t>Following are the general syntaxes for send function and receive function.</a:t>
            </a:r>
          </a:p>
          <a:p>
            <a:pPr marL="0" indent="0">
              <a:buNone/>
            </a:pPr>
            <a:r>
              <a:rPr lang="en-US" dirty="0"/>
              <a:t> Send()</a:t>
            </a:r>
          </a:p>
          <a:p>
            <a:pPr marL="0" indent="0">
              <a:buNone/>
            </a:pPr>
            <a:r>
              <a:rPr lang="en-US" dirty="0"/>
              <a:t> Receive()</a:t>
            </a:r>
          </a:p>
          <a:p>
            <a:pPr marL="0" indent="0">
              <a:buNone/>
            </a:pPr>
            <a:r>
              <a:rPr lang="en-US" dirty="0"/>
              <a:t> Send (receiver, message)</a:t>
            </a:r>
          </a:p>
          <a:p>
            <a:pPr marL="0" indent="0">
              <a:buNone/>
            </a:pPr>
            <a:r>
              <a:rPr lang="en-US" dirty="0"/>
              <a:t> Receive(sender, message)</a:t>
            </a:r>
          </a:p>
        </p:txBody>
      </p:sp>
    </p:spTree>
    <p:extLst>
      <p:ext uri="{BB962C8B-B14F-4D97-AF65-F5344CB8AC3E}">
        <p14:creationId xmlns:p14="http://schemas.microsoft.com/office/powerpoint/2010/main" val="34683146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 A Remote Procedure Call</a:t>
            </a:r>
            <a:br>
              <a:rPr lang="en-US" b="1" dirty="0"/>
            </a:br>
            <a:endParaRPr lang="en-US" b="1" dirty="0"/>
          </a:p>
        </p:txBody>
      </p:sp>
      <p:sp>
        <p:nvSpPr>
          <p:cNvPr id="3" name="Content Placeholder 2"/>
          <p:cNvSpPr>
            <a:spLocks noGrp="1"/>
          </p:cNvSpPr>
          <p:nvPr>
            <p:ph idx="1"/>
          </p:nvPr>
        </p:nvSpPr>
        <p:spPr/>
        <p:txBody>
          <a:bodyPr>
            <a:normAutofit fontScale="92500" lnSpcReduction="10000"/>
          </a:bodyPr>
          <a:lstStyle/>
          <a:p>
            <a:pPr algn="just"/>
            <a:r>
              <a:rPr lang="en-US" dirty="0"/>
              <a:t>A remote procedure call is a strong procedure for building distributed client server-based applications.</a:t>
            </a:r>
          </a:p>
          <a:p>
            <a:pPr algn="just"/>
            <a:r>
              <a:rPr lang="en-US" dirty="0"/>
              <a:t>In RPC there is a compelling reason need to change every one of the processors in an equivalent memory area or address space.</a:t>
            </a:r>
          </a:p>
          <a:p>
            <a:pPr algn="just"/>
            <a:r>
              <a:rPr lang="en-US" dirty="0"/>
              <a:t> RPC is utilized fully to communicate the processors at whatever point they are in the various memory area. In the same system or in a different system in the distributed system.</a:t>
            </a:r>
          </a:p>
          <a:p>
            <a:pPr algn="just"/>
            <a:r>
              <a:rPr lang="en-US" dirty="0"/>
              <a:t>RPC is generally helpful for developing client server-based applications.</a:t>
            </a:r>
          </a:p>
          <a:p>
            <a:pPr algn="just"/>
            <a:r>
              <a:rPr lang="en-US" dirty="0"/>
              <a:t>The process which needs to access the service is known as the client cycle or “caller”. The process which provides the services is known as the server process, or “</a:t>
            </a:r>
            <a:r>
              <a:rPr lang="en-US" dirty="0" err="1"/>
              <a:t>callee</a:t>
            </a:r>
            <a:r>
              <a:rPr lang="en-US" dirty="0"/>
              <a:t>”.</a:t>
            </a:r>
          </a:p>
        </p:txBody>
      </p:sp>
    </p:spTree>
    <p:extLst>
      <p:ext uri="{BB962C8B-B14F-4D97-AF65-F5344CB8AC3E}">
        <p14:creationId xmlns:p14="http://schemas.microsoft.com/office/powerpoint/2010/main" val="12839024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Clock Synchronization</a:t>
            </a:r>
          </a:p>
        </p:txBody>
      </p:sp>
      <p:sp>
        <p:nvSpPr>
          <p:cNvPr id="3" name="Content Placeholder 2"/>
          <p:cNvSpPr>
            <a:spLocks noGrp="1"/>
          </p:cNvSpPr>
          <p:nvPr>
            <p:ph idx="1"/>
          </p:nvPr>
        </p:nvSpPr>
        <p:spPr/>
        <p:txBody>
          <a:bodyPr>
            <a:normAutofit/>
          </a:bodyPr>
          <a:lstStyle/>
          <a:p>
            <a:pPr algn="just" fontAlgn="base"/>
            <a:r>
              <a:rPr lang="en-US" dirty="0"/>
              <a:t>Distributed System is a collection of computers connected via a high-speed communication network.</a:t>
            </a:r>
          </a:p>
          <a:p>
            <a:pPr algn="just" fontAlgn="base"/>
            <a:r>
              <a:rPr lang="en-US" dirty="0"/>
              <a:t> In the distributed system, the hardware and software components communicate and coordinate their actions by message passing. </a:t>
            </a:r>
          </a:p>
          <a:p>
            <a:pPr algn="just" fontAlgn="base"/>
            <a:r>
              <a:rPr lang="en-US" dirty="0"/>
              <a:t>Each node in distributed systems can share its resources with other nodes. </a:t>
            </a:r>
          </a:p>
          <a:p>
            <a:pPr algn="just" fontAlgn="base"/>
            <a:r>
              <a:rPr lang="en-US" dirty="0"/>
              <a:t>So, there is a need for proper allocation of resources to preserve the state of resources and help coordinate between the several processes. </a:t>
            </a:r>
          </a:p>
          <a:p>
            <a:pPr algn="just"/>
            <a:endParaRPr lang="en-US" dirty="0"/>
          </a:p>
        </p:txBody>
      </p:sp>
    </p:spTree>
    <p:extLst>
      <p:ext uri="{BB962C8B-B14F-4D97-AF65-F5344CB8AC3E}">
        <p14:creationId xmlns:p14="http://schemas.microsoft.com/office/powerpoint/2010/main" val="36374473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Clock Synchronization</a:t>
            </a:r>
            <a:endParaRPr lang="en-US" dirty="0"/>
          </a:p>
        </p:txBody>
      </p:sp>
      <p:sp>
        <p:nvSpPr>
          <p:cNvPr id="3" name="Content Placeholder 2"/>
          <p:cNvSpPr>
            <a:spLocks noGrp="1"/>
          </p:cNvSpPr>
          <p:nvPr>
            <p:ph idx="1"/>
          </p:nvPr>
        </p:nvSpPr>
        <p:spPr/>
        <p:txBody>
          <a:bodyPr>
            <a:normAutofit/>
          </a:bodyPr>
          <a:lstStyle/>
          <a:p>
            <a:pPr algn="just" fontAlgn="base"/>
            <a:r>
              <a:rPr lang="en-US" dirty="0"/>
              <a:t>To resolve such conflicts, synchronization is used. Synchronization in distributed systems is achieved via clocks. </a:t>
            </a:r>
          </a:p>
          <a:p>
            <a:pPr algn="just" fontAlgn="base"/>
            <a:r>
              <a:rPr lang="en-US" dirty="0"/>
              <a:t>The physical clocks are used to adjust the time of nodes. Each node in the system can share its local time with other nodes in the system. </a:t>
            </a:r>
          </a:p>
          <a:p>
            <a:pPr algn="just" fontAlgn="base"/>
            <a:r>
              <a:rPr lang="en-US" dirty="0"/>
              <a:t>The time is set based on UTC (Universal Time Coordination).</a:t>
            </a:r>
          </a:p>
          <a:p>
            <a:pPr algn="just" fontAlgn="base"/>
            <a:r>
              <a:rPr lang="en-US" dirty="0"/>
              <a:t> UTC is used as a reference time clock for the nodes in the system. </a:t>
            </a:r>
          </a:p>
          <a:p>
            <a:endParaRPr lang="en-US" dirty="0"/>
          </a:p>
        </p:txBody>
      </p:sp>
    </p:spTree>
    <p:extLst>
      <p:ext uri="{BB962C8B-B14F-4D97-AF65-F5344CB8AC3E}">
        <p14:creationId xmlns:p14="http://schemas.microsoft.com/office/powerpoint/2010/main" val="27500931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Clock synchronization can be achieved by 2 ways: External and Internal Clock Synchronization.</a:t>
            </a:r>
            <a:br>
              <a:rPr lang="en-US" b="1" dirty="0"/>
            </a:br>
            <a:endParaRPr lang="en-US" b="1" dirty="0"/>
          </a:p>
        </p:txBody>
      </p:sp>
      <p:sp>
        <p:nvSpPr>
          <p:cNvPr id="3" name="Content Placeholder 2"/>
          <p:cNvSpPr>
            <a:spLocks noGrp="1"/>
          </p:cNvSpPr>
          <p:nvPr>
            <p:ph idx="1"/>
          </p:nvPr>
        </p:nvSpPr>
        <p:spPr/>
        <p:txBody>
          <a:bodyPr/>
          <a:lstStyle/>
          <a:p>
            <a:pPr algn="just" fontAlgn="base"/>
            <a:r>
              <a:rPr lang="en-US" b="1" dirty="0"/>
              <a:t>External clock synchronization</a:t>
            </a:r>
            <a:r>
              <a:rPr lang="en-US" dirty="0"/>
              <a:t> is the one in which an external reference clock is present. It is used as a reference and the nodes in the system can set and adjust their time accordingly.</a:t>
            </a:r>
          </a:p>
          <a:p>
            <a:pPr algn="just" fontAlgn="base"/>
            <a:r>
              <a:rPr lang="en-US" b="1" dirty="0"/>
              <a:t>Internal clock synchronization</a:t>
            </a:r>
            <a:r>
              <a:rPr lang="en-US" dirty="0"/>
              <a:t> is the one in which each node shares its time with other nodes and all the nodes set and adjust their times accordingly.</a:t>
            </a:r>
          </a:p>
          <a:p>
            <a:endParaRPr lang="en-US" dirty="0"/>
          </a:p>
        </p:txBody>
      </p:sp>
    </p:spTree>
    <p:extLst>
      <p:ext uri="{BB962C8B-B14F-4D97-AF65-F5344CB8AC3E}">
        <p14:creationId xmlns:p14="http://schemas.microsoft.com/office/powerpoint/2010/main" val="16430179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There are 2 types of clock synchronization algorithms: Centralized and Distributed.</a:t>
            </a:r>
            <a:br>
              <a:rPr lang="en-US" b="1" dirty="0"/>
            </a:br>
            <a:endParaRPr lang="en-US" b="1" dirty="0"/>
          </a:p>
        </p:txBody>
      </p:sp>
      <p:sp>
        <p:nvSpPr>
          <p:cNvPr id="3" name="Content Placeholder 2"/>
          <p:cNvSpPr>
            <a:spLocks noGrp="1"/>
          </p:cNvSpPr>
          <p:nvPr>
            <p:ph idx="1"/>
          </p:nvPr>
        </p:nvSpPr>
        <p:spPr/>
        <p:txBody>
          <a:bodyPr>
            <a:normAutofit fontScale="85000" lnSpcReduction="20000"/>
          </a:bodyPr>
          <a:lstStyle/>
          <a:p>
            <a:pPr marL="0" indent="0" algn="just" fontAlgn="base">
              <a:buNone/>
            </a:pPr>
            <a:r>
              <a:rPr lang="en-US" dirty="0"/>
              <a:t>1. </a:t>
            </a:r>
            <a:r>
              <a:rPr lang="en-US" b="1" dirty="0"/>
              <a:t>Centralized</a:t>
            </a:r>
            <a:r>
              <a:rPr lang="en-US" dirty="0"/>
              <a:t> is the one in which a time server is used as a reference. The single time-server propagates it’s time to the nodes, and all the nodes adjust the time accordingly.</a:t>
            </a:r>
          </a:p>
          <a:p>
            <a:pPr algn="just" fontAlgn="base"/>
            <a:r>
              <a:rPr lang="en-US" dirty="0"/>
              <a:t> It is dependent on a single time-server, so if that node fails, the whole system will lose synchronization. </a:t>
            </a:r>
          </a:p>
          <a:p>
            <a:pPr algn="just" fontAlgn="base"/>
            <a:r>
              <a:rPr lang="en-US" dirty="0"/>
              <a:t>Examples of centralized are-Berkeley the Algorithm, Passive Time Server, Active Time Server, etc.</a:t>
            </a:r>
          </a:p>
          <a:p>
            <a:pPr marL="0" indent="0" algn="just" fontAlgn="base">
              <a:buNone/>
            </a:pPr>
            <a:r>
              <a:rPr lang="en-US" dirty="0"/>
              <a:t>2.</a:t>
            </a:r>
            <a:r>
              <a:rPr lang="en-US" b="1" dirty="0"/>
              <a:t>Distributed</a:t>
            </a:r>
            <a:r>
              <a:rPr lang="en-US" dirty="0"/>
              <a:t> is the one in which there is no centralized time-server present. Instead, the nodes adjust their time by using their local time and then, taking the average of the differences in time with other nodes. </a:t>
            </a:r>
          </a:p>
          <a:p>
            <a:pPr marL="0" indent="0" algn="just" fontAlgn="base">
              <a:buNone/>
            </a:pPr>
            <a:r>
              <a:rPr lang="en-US" dirty="0"/>
              <a:t>Distributed algorithms overcome the issue of centralized algorithms like scalability and single point failure. </a:t>
            </a:r>
          </a:p>
          <a:p>
            <a:pPr marL="0" indent="0" algn="just" fontAlgn="base">
              <a:buNone/>
            </a:pPr>
            <a:r>
              <a:rPr lang="en-US" dirty="0"/>
              <a:t>Examples of Distributed algorithms are – Global Averaging Algorithms, Localized Averaging Algorithm, NTP (Network time protocol), etc.</a:t>
            </a:r>
          </a:p>
          <a:p>
            <a:pPr algn="just"/>
            <a:endParaRPr lang="en-US" dirty="0"/>
          </a:p>
        </p:txBody>
      </p:sp>
    </p:spTree>
    <p:extLst>
      <p:ext uri="{BB962C8B-B14F-4D97-AF65-F5344CB8AC3E}">
        <p14:creationId xmlns:p14="http://schemas.microsoft.com/office/powerpoint/2010/main" val="36131424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425</TotalTime>
  <Words>2097</Words>
  <Application>Microsoft Office PowerPoint</Application>
  <PresentationFormat>Widescreen</PresentationFormat>
  <Paragraphs>163</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Chapter 9</vt:lpstr>
      <vt:lpstr>Introduction</vt:lpstr>
      <vt:lpstr>Distributed Operating System</vt:lpstr>
      <vt:lpstr>Characteristics of Distributed System: </vt:lpstr>
      <vt:lpstr>Advantages of Distributed System: </vt:lpstr>
      <vt:lpstr>Disadvantages of Distributed System: </vt:lpstr>
      <vt:lpstr>Network operating system(NOS)</vt:lpstr>
      <vt:lpstr>Types of Network operating systems</vt:lpstr>
      <vt:lpstr>Advantages of Network operating systems : </vt:lpstr>
      <vt:lpstr>Disadvantages of  Network operating systems : </vt:lpstr>
      <vt:lpstr>Examples of Network Operating systems :</vt:lpstr>
      <vt:lpstr>PowerPoint Presentation</vt:lpstr>
      <vt:lpstr>Hardware and software concepts</vt:lpstr>
      <vt:lpstr>Flynn's classification divides computers into four major groups that are</vt:lpstr>
      <vt:lpstr>Single Instruction Single Data</vt:lpstr>
      <vt:lpstr>Single Instruction Single Data</vt:lpstr>
      <vt:lpstr>Single Instruction and Multiple Data Stream</vt:lpstr>
      <vt:lpstr>Single Instruction and Multiple Data Stream</vt:lpstr>
      <vt:lpstr>Multiple Instruction and Single Data stream</vt:lpstr>
      <vt:lpstr>Multiple Instruction and Single Data stream</vt:lpstr>
      <vt:lpstr>Multiple Instruction and Multiple Data Stream</vt:lpstr>
      <vt:lpstr>Multiple Instruction and Multiple Data Stream</vt:lpstr>
      <vt:lpstr>Communication In Distributed System</vt:lpstr>
      <vt:lpstr>1. Shared Memory  </vt:lpstr>
      <vt:lpstr> Shared Memory  </vt:lpstr>
      <vt:lpstr>Advantages of Distributed shared memory </vt:lpstr>
      <vt:lpstr>2. Message Passing</vt:lpstr>
      <vt:lpstr>3. A Remote Procedure Call </vt:lpstr>
      <vt:lpstr>Clock Synchronization</vt:lpstr>
      <vt:lpstr>Clock Synchronization</vt:lpstr>
      <vt:lpstr>Clock synchronization can be achieved by 2 ways: External and Internal Clock Synchronization. </vt:lpstr>
      <vt:lpstr>There are 2 types of clock synchronization algorithms: Centralized and Distributed.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dc:title>
  <dc:creator>ASUS</dc:creator>
  <cp:lastModifiedBy>Manoj Giri</cp:lastModifiedBy>
  <cp:revision>100</cp:revision>
  <dcterms:created xsi:type="dcterms:W3CDTF">2023-05-24T14:39:36Z</dcterms:created>
  <dcterms:modified xsi:type="dcterms:W3CDTF">2025-11-17T23:59:25Z</dcterms:modified>
</cp:coreProperties>
</file>