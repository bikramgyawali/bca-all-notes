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57" r:id="rId4"/>
    <p:sldId id="258" r:id="rId5"/>
    <p:sldId id="259" r:id="rId6"/>
    <p:sldId id="262" r:id="rId7"/>
    <p:sldId id="273" r:id="rId8"/>
    <p:sldId id="260" r:id="rId9"/>
    <p:sldId id="265" r:id="rId10"/>
    <p:sldId id="261" r:id="rId11"/>
    <p:sldId id="266" r:id="rId12"/>
    <p:sldId id="264" r:id="rId13"/>
    <p:sldId id="263" r:id="rId14"/>
    <p:sldId id="267" r:id="rId15"/>
    <p:sldId id="288" r:id="rId16"/>
    <p:sldId id="270" r:id="rId17"/>
    <p:sldId id="284" r:id="rId18"/>
    <p:sldId id="285" r:id="rId19"/>
    <p:sldId id="286" r:id="rId20"/>
    <p:sldId id="287" r:id="rId21"/>
    <p:sldId id="294" r:id="rId22"/>
    <p:sldId id="269" r:id="rId23"/>
    <p:sldId id="271" r:id="rId24"/>
    <p:sldId id="272" r:id="rId25"/>
    <p:sldId id="280" r:id="rId26"/>
    <p:sldId id="277" r:id="rId27"/>
    <p:sldId id="278" r:id="rId28"/>
    <p:sldId id="279" r:id="rId29"/>
    <p:sldId id="290" r:id="rId30"/>
    <p:sldId id="291" r:id="rId31"/>
    <p:sldId id="292" r:id="rId32"/>
    <p:sldId id="293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9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1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9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7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8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8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9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7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8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8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5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9CF09-7E74-435E-806C-37C2922CB355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15618-266B-4641-AD82-8C1538CF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7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Introduction to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94075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of us equate software with program.</a:t>
            </a:r>
          </a:p>
          <a:p>
            <a:r>
              <a:rPr lang="en-US" dirty="0"/>
              <a:t>Software is not just the program .</a:t>
            </a:r>
          </a:p>
          <a:p>
            <a:r>
              <a:rPr lang="en-US" dirty="0" err="1"/>
              <a:t>Softwrare</a:t>
            </a:r>
            <a:r>
              <a:rPr lang="en-US" dirty="0"/>
              <a:t> is a set of instructions that enable computer to perform specified task.</a:t>
            </a:r>
          </a:p>
          <a:p>
            <a:r>
              <a:rPr lang="en-US" dirty="0"/>
              <a:t>More </a:t>
            </a:r>
            <a:r>
              <a:rPr lang="en-US" dirty="0" err="1"/>
              <a:t>precisely,Software</a:t>
            </a:r>
            <a:r>
              <a:rPr lang="en-US" dirty="0"/>
              <a:t> is program, all associated documentation and configuration data needed to make program operate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42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Definition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Software is a program or set of programs containing instructions that provide desired functionality. </a:t>
            </a:r>
          </a:p>
          <a:p>
            <a:pPr algn="just"/>
            <a:r>
              <a:rPr lang="en-US" dirty="0"/>
              <a:t>Engineering is the process of designing and building something that serves a particular purpose and finds a cost-effective solution to problems. </a:t>
            </a:r>
          </a:p>
          <a:p>
            <a:pPr algn="just"/>
            <a:r>
              <a:rPr lang="en-US" b="1" dirty="0"/>
              <a:t>Software Engineering</a:t>
            </a:r>
            <a:r>
              <a:rPr lang="en-US" dirty="0"/>
              <a:t> is a systematic, disciplined, quantifiable study and approach to the design, development, operation, and maintenance of a software system</a:t>
            </a:r>
            <a:r>
              <a:rPr lang="en-US" i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82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Evolving Role of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 Software  is a product </a:t>
            </a:r>
            <a:br>
              <a:rPr lang="en-US" dirty="0"/>
            </a:br>
            <a:r>
              <a:rPr lang="en-US" dirty="0"/>
              <a:t> </a:t>
            </a:r>
          </a:p>
          <a:p>
            <a:pPr fontAlgn="base"/>
            <a:r>
              <a:rPr lang="en-US" dirty="0"/>
              <a:t>Delivers the computing potential </a:t>
            </a:r>
          </a:p>
          <a:p>
            <a:pPr fontAlgn="base"/>
            <a:r>
              <a:rPr lang="en-US" dirty="0"/>
              <a:t>Enables the Hardware to deliver the expected functionality.</a:t>
            </a:r>
          </a:p>
          <a:p>
            <a:pPr fontAlgn="base"/>
            <a:r>
              <a:rPr lang="en-US" dirty="0"/>
              <a:t>Produces, manages, acquires, modifies, displays, or transmits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As a vehicle for delivering a product </a:t>
            </a:r>
            <a:br>
              <a:rPr lang="en-US" dirty="0"/>
            </a:br>
            <a:r>
              <a:rPr lang="en-US" dirty="0"/>
              <a:t> </a:t>
            </a:r>
          </a:p>
          <a:p>
            <a:pPr fontAlgn="base"/>
            <a:r>
              <a:rPr lang="en-US" dirty="0"/>
              <a:t>It provides system functionality (e.g., payroll system)</a:t>
            </a:r>
          </a:p>
          <a:p>
            <a:pPr fontAlgn="base"/>
            <a:r>
              <a:rPr lang="en-US" dirty="0"/>
              <a:t>It controls other software (e.g., an operating system)</a:t>
            </a:r>
          </a:p>
          <a:p>
            <a:pPr fontAlgn="base"/>
            <a:r>
              <a:rPr lang="en-US" dirty="0"/>
              <a:t>It helps build other software (e.g., software tools)</a:t>
            </a:r>
          </a:p>
          <a:p>
            <a:pPr fontAlgn="base"/>
            <a:r>
              <a:rPr lang="en-US" dirty="0"/>
              <a:t>Effects communication (e.g., Networking software)</a:t>
            </a:r>
          </a:p>
        </p:txBody>
      </p:sp>
    </p:spTree>
    <p:extLst>
      <p:ext uri="{BB962C8B-B14F-4D97-AF65-F5344CB8AC3E}">
        <p14:creationId xmlns:p14="http://schemas.microsoft.com/office/powerpoint/2010/main" val="369878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 Versus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A program is a set of instructions that are given to a computer in order to achieve a specific task whereas software is when a program is made available for commercial business and is properly documented along with its </a:t>
            </a:r>
            <a:r>
              <a:rPr lang="en-US" dirty="0" err="1"/>
              <a:t>licensing.Software</a:t>
            </a:r>
            <a:r>
              <a:rPr lang="en-US" dirty="0"/>
              <a:t>= Program+ documentation + licensing.</a:t>
            </a:r>
          </a:p>
          <a:p>
            <a:pPr algn="just" fontAlgn="base"/>
            <a:r>
              <a:rPr lang="en-US" dirty="0"/>
              <a:t>A program is one of the stages involved in the development of the software, whereas a software development usually follows a life cycle, which involves the feasibility study of the project, requirement gathering, development of a prototype, system design, coding, and testing.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11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Software</a:t>
            </a:r>
          </a:p>
          <a:p>
            <a:r>
              <a:rPr lang="en-US" dirty="0"/>
              <a:t>Application Software</a:t>
            </a:r>
          </a:p>
          <a:p>
            <a:r>
              <a:rPr lang="en-US" dirty="0"/>
              <a:t>Engineering and Scientific Software</a:t>
            </a:r>
          </a:p>
          <a:p>
            <a:r>
              <a:rPr lang="en-US" dirty="0"/>
              <a:t>Embedded Software</a:t>
            </a:r>
          </a:p>
          <a:p>
            <a:r>
              <a:rPr lang="en-US" dirty="0"/>
              <a:t>Product Line Software</a:t>
            </a:r>
          </a:p>
          <a:p>
            <a:r>
              <a:rPr lang="en-US" dirty="0"/>
              <a:t>Web Application Software</a:t>
            </a:r>
          </a:p>
          <a:p>
            <a:r>
              <a:rPr lang="en-US" dirty="0"/>
              <a:t>Artificial Intelligence Software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Seven broad categories of computer software present continuing challenges for software engineers </a:t>
            </a:r>
          </a:p>
          <a:p>
            <a:pPr marL="0" indent="0" fontAlgn="base">
              <a:buNone/>
            </a:pPr>
            <a:r>
              <a:rPr lang="en-US" b="1" dirty="0"/>
              <a:t>System Software:</a:t>
            </a:r>
            <a:endParaRPr lang="en-US" dirty="0"/>
          </a:p>
          <a:p>
            <a:pPr fontAlgn="base"/>
            <a:r>
              <a:rPr lang="en-US" dirty="0"/>
              <a:t>Collection of programs which are written to service other programs. </a:t>
            </a:r>
          </a:p>
          <a:p>
            <a:pPr algn="just" fontAlgn="base"/>
            <a:r>
              <a:rPr lang="en-US" dirty="0"/>
              <a:t>Processes complex but determinate, information structures.</a:t>
            </a:r>
          </a:p>
          <a:p>
            <a:pPr algn="just" fontAlgn="base"/>
            <a:r>
              <a:rPr lang="en-US" dirty="0"/>
              <a:t> Other system application process largely indeterminate data.</a:t>
            </a:r>
          </a:p>
          <a:p>
            <a:pPr algn="just" fontAlgn="base"/>
            <a:r>
              <a:rPr lang="en-US" dirty="0"/>
              <a:t>System software area is characterized by the heavy interaction with computer hardware that requires scheduling, resource sharing, and sophisticated process management.</a:t>
            </a:r>
          </a:p>
        </p:txBody>
      </p:sp>
    </p:spTree>
    <p:extLst>
      <p:ext uri="{BB962C8B-B14F-4D97-AF65-F5344CB8AC3E}">
        <p14:creationId xmlns:p14="http://schemas.microsoft.com/office/powerpoint/2010/main" val="324401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Application Software:</a:t>
            </a: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Programs that solve a specific business need.</a:t>
            </a:r>
          </a:p>
          <a:p>
            <a:pPr algn="just"/>
            <a:r>
              <a:rPr lang="en-US" dirty="0"/>
              <a:t>Process business or technical data that facilitates business operation or management technical decision making. </a:t>
            </a:r>
          </a:p>
          <a:p>
            <a:pPr algn="just"/>
            <a:r>
              <a:rPr lang="en-US" dirty="0"/>
              <a:t>Used to control business function in real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02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Engineering and Scientific Software</a:t>
            </a:r>
            <a:br>
              <a:rPr lang="en-US" dirty="0"/>
            </a:br>
            <a:endParaRPr lang="en-US" dirty="0"/>
          </a:p>
          <a:p>
            <a:pPr marL="0" indent="0" algn="just" fontAlgn="base">
              <a:buNone/>
            </a:pPr>
            <a:r>
              <a:rPr lang="en-US" dirty="0"/>
              <a:t>Facilitate the engineering function and task.</a:t>
            </a:r>
          </a:p>
          <a:p>
            <a:pPr marL="0" indent="0" algn="just" fontAlgn="base">
              <a:buNone/>
            </a:pPr>
            <a:r>
              <a:rPr lang="en-US" dirty="0"/>
              <a:t>Engineering and scientific area are moving away from the conventional numerical algorithms. </a:t>
            </a:r>
          </a:p>
          <a:p>
            <a:pPr marL="0" indent="0" algn="just" fontAlgn="base">
              <a:buNone/>
            </a:pPr>
            <a:r>
              <a:rPr lang="en-US" dirty="0"/>
              <a:t>Computer-aided design, system simulation, and other interactive applications have begun to take a real-time.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Embedded Software: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Embedded software resides within the system or product </a:t>
            </a:r>
          </a:p>
          <a:p>
            <a:r>
              <a:rPr lang="en-US" dirty="0"/>
              <a:t>Used to implement and control feature and function for the end-user and for the system itself. </a:t>
            </a:r>
          </a:p>
          <a:p>
            <a:r>
              <a:rPr lang="en-US" dirty="0"/>
              <a:t>Embedded software can perform the limited and esoteric function </a:t>
            </a:r>
          </a:p>
        </p:txBody>
      </p:sp>
    </p:spTree>
    <p:extLst>
      <p:ext uri="{BB962C8B-B14F-4D97-AF65-F5344CB8AC3E}">
        <p14:creationId xmlns:p14="http://schemas.microsoft.com/office/powerpoint/2010/main" val="2054460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Artificial Intelligence Software:</a:t>
            </a: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Artificial intelligence software makes use of a non numerical algorithm to solve a complex problem</a:t>
            </a:r>
          </a:p>
          <a:p>
            <a:pPr algn="just"/>
            <a:r>
              <a:rPr lang="en-US" dirty="0"/>
              <a:t> Application within this area includes robotics, expert system, pattern recognition, artificial neural network, theorem proving and game playing</a:t>
            </a:r>
          </a:p>
        </p:txBody>
      </p:sp>
    </p:spTree>
    <p:extLst>
      <p:ext uri="{BB962C8B-B14F-4D97-AF65-F5344CB8AC3E}">
        <p14:creationId xmlns:p14="http://schemas.microsoft.com/office/powerpoint/2010/main" val="3315591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Product-line Software:</a:t>
            </a:r>
            <a:br>
              <a:rPr lang="en-US" dirty="0"/>
            </a:br>
            <a:endParaRPr lang="en-US" dirty="0"/>
          </a:p>
          <a:p>
            <a:pPr algn="just" fontAlgn="base"/>
            <a:r>
              <a:rPr lang="en-US" dirty="0"/>
              <a:t>Designed to provide a specific capability for use by many different customers, product line software can focus on the limited and esoteric marketplace or address the mass consumer market.</a:t>
            </a:r>
          </a:p>
          <a:p>
            <a:pPr fontAlgn="base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373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Changing Nature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Web Application: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is a client-server computer program which the client runs on the web browser. </a:t>
            </a:r>
          </a:p>
          <a:p>
            <a:r>
              <a:rPr lang="en-US" dirty="0"/>
              <a:t>Web apps can be little more than a set of linked hypertext files that present information using text and limited graphics. </a:t>
            </a:r>
          </a:p>
          <a:p>
            <a:r>
              <a:rPr lang="en-US" dirty="0"/>
              <a:t>However, as e-commerce and B2B application grow in importance.</a:t>
            </a:r>
          </a:p>
          <a:p>
            <a:r>
              <a:rPr lang="en-US" dirty="0"/>
              <a:t> Web apps are evolving into a sophisticate computing environment that not only provides a standalone feature, computing function, and content to the end 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731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1945- 1965 – Origin</a:t>
            </a:r>
          </a:p>
          <a:p>
            <a:r>
              <a:rPr lang="en-US" dirty="0"/>
              <a:t>1965- 1985- software crisis</a:t>
            </a:r>
          </a:p>
          <a:p>
            <a:r>
              <a:rPr lang="en-US" dirty="0"/>
              <a:t>1990- 2000- internet</a:t>
            </a:r>
          </a:p>
          <a:p>
            <a:r>
              <a:rPr lang="en-US" dirty="0"/>
              <a:t>2000-2010- Light weight</a:t>
            </a:r>
          </a:p>
          <a:p>
            <a:r>
              <a:rPr lang="en-US" dirty="0"/>
              <a:t>2010- till –AI, ML,DL</a:t>
            </a:r>
          </a:p>
        </p:txBody>
      </p:sp>
    </p:spTree>
    <p:extLst>
      <p:ext uri="{BB962C8B-B14F-4D97-AF65-F5344CB8AC3E}">
        <p14:creationId xmlns:p14="http://schemas.microsoft.com/office/powerpoint/2010/main" val="199973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Software is  developed or engineered it is not manufactured</a:t>
            </a:r>
          </a:p>
          <a:p>
            <a:r>
              <a:rPr lang="en-US" dirty="0"/>
              <a:t>Software development present s a job-shop environment</a:t>
            </a:r>
          </a:p>
          <a:p>
            <a:r>
              <a:rPr lang="en-US" dirty="0"/>
              <a:t>Time and effort for software development are hard to estimate</a:t>
            </a:r>
          </a:p>
          <a:p>
            <a:r>
              <a:rPr lang="en-US" dirty="0"/>
              <a:t>Software does not wear out</a:t>
            </a:r>
          </a:p>
          <a:p>
            <a:r>
              <a:rPr lang="en-US" dirty="0"/>
              <a:t>Testing software is extremely difficult</a:t>
            </a:r>
          </a:p>
          <a:p>
            <a:r>
              <a:rPr lang="en-US" dirty="0"/>
              <a:t>Difficult to measure the progress of software development</a:t>
            </a:r>
          </a:p>
          <a:p>
            <a:r>
              <a:rPr lang="en-US" dirty="0"/>
              <a:t>User requirement are often not conceived well, so undergo many modifications before implemented.</a:t>
            </a:r>
          </a:p>
          <a:p>
            <a:r>
              <a:rPr lang="en-US" dirty="0"/>
              <a:t>Software directly depends upon the hardware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67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is  developed or engineered it is not manufactured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7344"/>
            <a:ext cx="10515600" cy="4351338"/>
          </a:xfrm>
        </p:spPr>
        <p:txBody>
          <a:bodyPr/>
          <a:lstStyle/>
          <a:p>
            <a:r>
              <a:rPr lang="en-US" dirty="0"/>
              <a:t>No concept of raw material</a:t>
            </a:r>
          </a:p>
          <a:p>
            <a:r>
              <a:rPr lang="en-US" dirty="0"/>
              <a:t>Better visualized as process rather than product</a:t>
            </a:r>
          </a:p>
          <a:p>
            <a:r>
              <a:rPr lang="en-US" dirty="0"/>
              <a:t>Human element is high compared to manufacturing</a:t>
            </a:r>
          </a:p>
          <a:p>
            <a:r>
              <a:rPr lang="en-US" dirty="0"/>
              <a:t>Development productivity is highly uncertain, even with standard products, varying greatly with skill of developer.</a:t>
            </a:r>
          </a:p>
          <a:p>
            <a:r>
              <a:rPr lang="en-US" dirty="0"/>
              <a:t>Development tools, technique, standards and procedure vary widely.</a:t>
            </a:r>
          </a:p>
          <a:p>
            <a:r>
              <a:rPr lang="en-US" dirty="0"/>
              <a:t>Quality problem in software development are different from that of manufacturing.</a:t>
            </a:r>
          </a:p>
          <a:p>
            <a:r>
              <a:rPr lang="en-US" dirty="0"/>
              <a:t>Difficult to measure quality compared to manufacturing.</a:t>
            </a:r>
          </a:p>
        </p:txBody>
      </p:sp>
    </p:spTree>
    <p:extLst>
      <p:ext uri="{BB962C8B-B14F-4D97-AF65-F5344CB8AC3E}">
        <p14:creationId xmlns:p14="http://schemas.microsoft.com/office/powerpoint/2010/main" val="2276173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Software development present s a job-shop environment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product is custom built so unique</a:t>
            </a:r>
          </a:p>
          <a:p>
            <a:r>
              <a:rPr lang="en-US" dirty="0"/>
              <a:t>Cannot be assembled from existing components</a:t>
            </a:r>
          </a:p>
          <a:p>
            <a:r>
              <a:rPr lang="en-US" dirty="0"/>
              <a:t>The problem of design, estimating and scheduling are present</a:t>
            </a:r>
          </a:p>
          <a:p>
            <a:r>
              <a:rPr lang="en-US" dirty="0"/>
              <a:t>Human skill is main component in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2647412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 for software development are hard to estimate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Interesting work gets done at the expense of dull work.</a:t>
            </a:r>
          </a:p>
          <a:p>
            <a:r>
              <a:rPr lang="en-US" dirty="0"/>
              <a:t>Documentation being dull work gets less priority.</a:t>
            </a:r>
          </a:p>
          <a:p>
            <a:r>
              <a:rPr lang="en-US" dirty="0"/>
              <a:t>Job should be done in clever way rather than doing adequately, on time and reasonable cost.</a:t>
            </a:r>
          </a:p>
          <a:p>
            <a:r>
              <a:rPr lang="en-US" dirty="0"/>
              <a:t>Programmer tend to be optimistic , not realistic</a:t>
            </a:r>
          </a:p>
          <a:p>
            <a:r>
              <a:rPr lang="en-US" dirty="0"/>
              <a:t>Time estimation for task completion reflect this tendency</a:t>
            </a:r>
          </a:p>
          <a:p>
            <a:r>
              <a:rPr lang="en-US" dirty="0"/>
              <a:t>Programmers have trouble communicating.</a:t>
            </a:r>
          </a:p>
        </p:txBody>
      </p:sp>
    </p:spTree>
    <p:extLst>
      <p:ext uri="{BB962C8B-B14F-4D97-AF65-F5344CB8AC3E}">
        <p14:creationId xmlns:p14="http://schemas.microsoft.com/office/powerpoint/2010/main" val="1573811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does not wear out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does not loose its functionality with use.</a:t>
            </a:r>
          </a:p>
          <a:p>
            <a:r>
              <a:rPr lang="en-US" dirty="0"/>
              <a:t>It may loose its functionality in time, however as  the requirements change.</a:t>
            </a:r>
          </a:p>
          <a:p>
            <a:r>
              <a:rPr lang="en-US" dirty="0"/>
              <a:t>When defects are encountered, they are removed by rewriting the relevant code not by replacing with available code.</a:t>
            </a:r>
          </a:p>
          <a:p>
            <a:r>
              <a:rPr lang="en-US" dirty="0"/>
              <a:t>There is no concept of replacing the code by spare code in software development.</a:t>
            </a:r>
          </a:p>
          <a:p>
            <a:r>
              <a:rPr lang="en-US" dirty="0"/>
              <a:t>When defects are removed ,there is likelihood  that new defects are introduced.</a:t>
            </a:r>
          </a:p>
        </p:txBody>
      </p:sp>
    </p:spTree>
    <p:extLst>
      <p:ext uri="{BB962C8B-B14F-4D97-AF65-F5344CB8AC3E}">
        <p14:creationId xmlns:p14="http://schemas.microsoft.com/office/powerpoint/2010/main" val="4210310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B5A3-65E0-A5E4-2B3D-36F55E2D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24958-2AD8-07C3-25B6-06E6B78A1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89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Engineering Layered Technology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775" y="1886744"/>
            <a:ext cx="83820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63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Engineering Layered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Software engineering</a:t>
            </a:r>
            <a:r>
              <a:rPr lang="en-US" u="sng" dirty="0"/>
              <a:t> </a:t>
            </a:r>
            <a:r>
              <a:rPr lang="en-US" dirty="0"/>
              <a:t>is a fully layered technology,</a:t>
            </a:r>
          </a:p>
          <a:p>
            <a:pPr fontAlgn="base"/>
            <a:r>
              <a:rPr lang="en-US" dirty="0"/>
              <a:t> To develop software we need to go from one layer to another.</a:t>
            </a:r>
          </a:p>
          <a:p>
            <a:pPr fontAlgn="base"/>
            <a:r>
              <a:rPr lang="en-US" dirty="0"/>
              <a:t> All the layers are connected and each layer demands the fulfillment of the previous layer.</a:t>
            </a:r>
          </a:p>
          <a:p>
            <a:pPr fontAlgn="base"/>
            <a:r>
              <a:rPr lang="en-US" dirty="0"/>
              <a:t>Layered technology is divided into four parts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/>
              <a:t>                                         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957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Engineering Layered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1.</a:t>
            </a:r>
            <a:r>
              <a:rPr lang="en-US" dirty="0"/>
              <a:t> </a:t>
            </a:r>
            <a:r>
              <a:rPr lang="en-US" b="1" dirty="0"/>
              <a:t>A quality focus</a:t>
            </a:r>
          </a:p>
          <a:p>
            <a:pPr fontAlgn="base"/>
            <a:r>
              <a:rPr lang="en-US" dirty="0"/>
              <a:t>Degree of goodness</a:t>
            </a:r>
          </a:p>
          <a:p>
            <a:pPr fontAlgn="base"/>
            <a:r>
              <a:rPr lang="en-US" dirty="0"/>
              <a:t>Correctness</a:t>
            </a:r>
          </a:p>
          <a:p>
            <a:pPr fontAlgn="base"/>
            <a:r>
              <a:rPr lang="en-US" dirty="0"/>
              <a:t>Maintainability</a:t>
            </a:r>
          </a:p>
          <a:p>
            <a:pPr fontAlgn="base"/>
            <a:r>
              <a:rPr lang="en-US" dirty="0"/>
              <a:t>Usability</a:t>
            </a:r>
          </a:p>
          <a:p>
            <a:pPr fontAlgn="base"/>
            <a:r>
              <a:rPr lang="en-US" dirty="0"/>
              <a:t>Bed rock of any product</a:t>
            </a:r>
          </a:p>
        </p:txBody>
      </p:sp>
    </p:spTree>
    <p:extLst>
      <p:ext uri="{BB962C8B-B14F-4D97-AF65-F5344CB8AC3E}">
        <p14:creationId xmlns:p14="http://schemas.microsoft.com/office/powerpoint/2010/main" val="110019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Engineering Layered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Process: </a:t>
            </a:r>
          </a:p>
          <a:p>
            <a:r>
              <a:rPr lang="en-US" dirty="0"/>
              <a:t>What to do?</a:t>
            </a:r>
          </a:p>
          <a:p>
            <a:pPr algn="just"/>
            <a:r>
              <a:rPr lang="en-US" dirty="0"/>
              <a:t>It is the foundation or base layer of software engineering.</a:t>
            </a:r>
          </a:p>
          <a:p>
            <a:pPr algn="just"/>
            <a:r>
              <a:rPr lang="en-US" dirty="0"/>
              <a:t> Binds all the layers together which enables the development of software before the deadline or on time.</a:t>
            </a:r>
          </a:p>
          <a:p>
            <a:pPr algn="just"/>
            <a:r>
              <a:rPr lang="en-US" dirty="0"/>
              <a:t> Process defines a framework that must be established for the effective delivery of software engineering technology. </a:t>
            </a:r>
          </a:p>
          <a:p>
            <a:pPr algn="just"/>
            <a:r>
              <a:rPr lang="en-US" dirty="0"/>
              <a:t>The software process covers all the activities, actions, and tasks required to be carried out for software development. 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769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Engineering Layered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Process activities are listed below:-</a:t>
            </a:r>
            <a:endParaRPr lang="en-US" dirty="0"/>
          </a:p>
          <a:p>
            <a:pPr fontAlgn="base"/>
            <a:r>
              <a:rPr lang="en-US" b="1" dirty="0"/>
              <a:t>Communication:</a:t>
            </a:r>
            <a:r>
              <a:rPr lang="en-US" dirty="0"/>
              <a:t> It is the first and foremost thing for the development of software. Communication is necessary to know the actual demand of the client.</a:t>
            </a:r>
          </a:p>
          <a:p>
            <a:pPr fontAlgn="base"/>
            <a:r>
              <a:rPr lang="en-US" b="1" dirty="0"/>
              <a:t>Planning: </a:t>
            </a:r>
            <a:r>
              <a:rPr lang="en-US" dirty="0"/>
              <a:t>It basically means drawing a map for reduced the complication of development.</a:t>
            </a:r>
          </a:p>
          <a:p>
            <a:pPr fontAlgn="base"/>
            <a:r>
              <a:rPr lang="en-US" b="1" dirty="0"/>
              <a:t>Modeling: </a:t>
            </a:r>
            <a:r>
              <a:rPr lang="en-US" dirty="0"/>
              <a:t>In this process, a model is created according to the client for better understanding.</a:t>
            </a:r>
          </a:p>
          <a:p>
            <a:pPr fontAlgn="base"/>
            <a:r>
              <a:rPr lang="en-US" b="1" dirty="0"/>
              <a:t>Construction: </a:t>
            </a:r>
            <a:r>
              <a:rPr lang="en-US" dirty="0"/>
              <a:t>It includes the coding and testing of the problem.</a:t>
            </a:r>
          </a:p>
          <a:p>
            <a:pPr fontAlgn="base"/>
            <a:r>
              <a:rPr lang="en-US" b="1" dirty="0"/>
              <a:t>Deployment:-</a:t>
            </a:r>
            <a:r>
              <a:rPr lang="en-US" dirty="0"/>
              <a:t> It includes the delivery of software to the client for evaluation and feedback.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12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Engineering Layered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3. Method</a:t>
            </a:r>
          </a:p>
          <a:p>
            <a:pPr fontAlgn="base"/>
            <a:r>
              <a:rPr lang="en-US" dirty="0"/>
              <a:t>During the process of software development the answers to all “how-to-do” questions are given by method.</a:t>
            </a:r>
          </a:p>
          <a:p>
            <a:pPr fontAlgn="base"/>
            <a:r>
              <a:rPr lang="en-US" dirty="0"/>
              <a:t> It has the information of all the tasks which includes communication, requirement analysis, design modeling, program construction, testing, and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01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Engineering Layered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</a:t>
            </a:r>
            <a:r>
              <a:rPr lang="en-US" dirty="0"/>
              <a:t> </a:t>
            </a:r>
            <a:r>
              <a:rPr lang="en-US" b="1" dirty="0"/>
              <a:t>Tools</a:t>
            </a:r>
          </a:p>
          <a:p>
            <a:r>
              <a:rPr lang="en-US" dirty="0"/>
              <a:t>Software engineering tools provide a self-operating system for processes and methods.</a:t>
            </a:r>
          </a:p>
          <a:p>
            <a:r>
              <a:rPr lang="en-US" dirty="0"/>
              <a:t> Tools are integrated which means information created by one tool can be used by another.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617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Crisis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dirty="0"/>
              <a:t>Difficulty of writing useful and efficient computer programs in the required time.</a:t>
            </a:r>
          </a:p>
          <a:p>
            <a:pPr algn="just" fontAlgn="base"/>
            <a:r>
              <a:rPr lang="en-US" dirty="0"/>
              <a:t> The software crisis occurs due to using the same workforce, same methods, and same tools even though rapidly increasing software demand, the complexity of software, and software challenges.</a:t>
            </a:r>
          </a:p>
          <a:p>
            <a:pPr algn="just" fontAlgn="base"/>
            <a:r>
              <a:rPr lang="en-US" dirty="0"/>
              <a:t> With the increase in software complexity, many software problems arise because existing methods were insufficient.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190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Crisis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0183" y="1825625"/>
            <a:ext cx="60716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29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Factors Contributing to Software Crisis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Poor project management.</a:t>
            </a:r>
          </a:p>
          <a:p>
            <a:pPr fontAlgn="base"/>
            <a:r>
              <a:rPr lang="en-US" dirty="0"/>
              <a:t>Lack of adequate training in software engineering.</a:t>
            </a:r>
          </a:p>
          <a:p>
            <a:pPr fontAlgn="base"/>
            <a:r>
              <a:rPr lang="en-US" dirty="0"/>
              <a:t>Less skilled project members.</a:t>
            </a:r>
          </a:p>
          <a:p>
            <a:pPr fontAlgn="base"/>
            <a:r>
              <a:rPr lang="en-US" dirty="0"/>
              <a:t>Low productivity improvements.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71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 of Software Crisis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Reduction in software budget.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The quality of the software must be high.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Less time is needed for a software project development.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Experienced and skilled people working on the software project.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Software must be delivered.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Software must meet user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1000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Tutorial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Differentiate between software and program.</a:t>
            </a:r>
          </a:p>
          <a:p>
            <a:r>
              <a:rPr lang="en-US" dirty="0"/>
              <a:t>Define software. Discuss the types of software.</a:t>
            </a:r>
          </a:p>
          <a:p>
            <a:r>
              <a:rPr lang="en-US" dirty="0"/>
              <a:t>What is software engineering?</a:t>
            </a:r>
          </a:p>
          <a:p>
            <a:r>
              <a:rPr lang="en-US" dirty="0"/>
              <a:t>Discuss characteristics of software</a:t>
            </a:r>
          </a:p>
          <a:p>
            <a:r>
              <a:rPr lang="en-US" dirty="0"/>
              <a:t>“Software does not wear out” justify the statement.</a:t>
            </a:r>
          </a:p>
          <a:p>
            <a:r>
              <a:rPr lang="en-US" dirty="0"/>
              <a:t>Discuss the layered technology approach of software engineering.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284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1628</Words>
  <Application>Microsoft Office PowerPoint</Application>
  <PresentationFormat>Widescreen</PresentationFormat>
  <Paragraphs>173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Chapter 1</vt:lpstr>
      <vt:lpstr>Software </vt:lpstr>
      <vt:lpstr>1. Definition of Software Engineering</vt:lpstr>
      <vt:lpstr>2. Evolving Role of Software</vt:lpstr>
      <vt:lpstr>Conti..</vt:lpstr>
      <vt:lpstr>Program Versus software</vt:lpstr>
      <vt:lpstr>3. Changing Nature of software</vt:lpstr>
      <vt:lpstr>3. Changing Nature of software</vt:lpstr>
      <vt:lpstr>3. Changing Nature of software</vt:lpstr>
      <vt:lpstr>3. Changing Nature of software</vt:lpstr>
      <vt:lpstr>3. Changing Nature of software</vt:lpstr>
      <vt:lpstr>3. Changing Nature of software</vt:lpstr>
      <vt:lpstr>3. Changing Nature of software</vt:lpstr>
      <vt:lpstr>3. Changing Nature of software</vt:lpstr>
      <vt:lpstr>Software Evolution</vt:lpstr>
      <vt:lpstr>Characteristics of software</vt:lpstr>
      <vt:lpstr>Software is  developed or engineered it is not manufactured </vt:lpstr>
      <vt:lpstr>Software development present s a job-shop environment </vt:lpstr>
      <vt:lpstr>Time and effort for software development are hard to estimate  </vt:lpstr>
      <vt:lpstr>Software does not wear out </vt:lpstr>
      <vt:lpstr>PowerPoint Presentation</vt:lpstr>
      <vt:lpstr>Software Engineering Layered Technology</vt:lpstr>
      <vt:lpstr>Software Engineering Layered Technology</vt:lpstr>
      <vt:lpstr>Software Engineering Layered Technology</vt:lpstr>
      <vt:lpstr>Software Engineering Layered Technology</vt:lpstr>
      <vt:lpstr>Software Engineering Layered Technology</vt:lpstr>
      <vt:lpstr>Software Engineering Layered Technology</vt:lpstr>
      <vt:lpstr>Software Engineering Layered Technology</vt:lpstr>
      <vt:lpstr>Software Crisis</vt:lpstr>
      <vt:lpstr>Software Crisis</vt:lpstr>
      <vt:lpstr>Factors Contributing to Software Crisis </vt:lpstr>
      <vt:lpstr>Solution of Software Crisis </vt:lpstr>
      <vt:lpstr>Tutorial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ASUS</dc:creator>
  <cp:lastModifiedBy>abita kunwar</cp:lastModifiedBy>
  <cp:revision>154</cp:revision>
  <dcterms:created xsi:type="dcterms:W3CDTF">2022-07-30T14:32:02Z</dcterms:created>
  <dcterms:modified xsi:type="dcterms:W3CDTF">2025-08-08T07:37:53Z</dcterms:modified>
</cp:coreProperties>
</file>