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7" r:id="rId3"/>
    <p:sldId id="288" r:id="rId4"/>
    <p:sldId id="291" r:id="rId5"/>
    <p:sldId id="292" r:id="rId6"/>
    <p:sldId id="293" r:id="rId7"/>
    <p:sldId id="294" r:id="rId8"/>
    <p:sldId id="296" r:id="rId9"/>
    <p:sldId id="297" r:id="rId10"/>
    <p:sldId id="298" r:id="rId11"/>
    <p:sldId id="300" r:id="rId12"/>
    <p:sldId id="301" r:id="rId13"/>
    <p:sldId id="303" r:id="rId14"/>
    <p:sldId id="304" r:id="rId15"/>
    <p:sldId id="305" r:id="rId16"/>
    <p:sldId id="306" r:id="rId17"/>
    <p:sldId id="307" r:id="rId18"/>
    <p:sldId id="341" r:id="rId19"/>
    <p:sldId id="343" r:id="rId20"/>
    <p:sldId id="257" r:id="rId21"/>
    <p:sldId id="258" r:id="rId22"/>
    <p:sldId id="259" r:id="rId23"/>
    <p:sldId id="260" r:id="rId24"/>
    <p:sldId id="261" r:id="rId25"/>
    <p:sldId id="262" r:id="rId26"/>
    <p:sldId id="263" r:id="rId27"/>
    <p:sldId id="265" r:id="rId28"/>
    <p:sldId id="266" r:id="rId29"/>
    <p:sldId id="268" r:id="rId30"/>
    <p:sldId id="347" r:id="rId31"/>
    <p:sldId id="267" r:id="rId32"/>
    <p:sldId id="271" r:id="rId33"/>
    <p:sldId id="272" r:id="rId34"/>
    <p:sldId id="273" r:id="rId35"/>
    <p:sldId id="274" r:id="rId36"/>
    <p:sldId id="275" r:id="rId37"/>
    <p:sldId id="269" r:id="rId38"/>
    <p:sldId id="346" r:id="rId39"/>
    <p:sldId id="282" r:id="rId40"/>
    <p:sldId id="276" r:id="rId41"/>
    <p:sldId id="283" r:id="rId42"/>
    <p:sldId id="284" r:id="rId43"/>
    <p:sldId id="270" r:id="rId44"/>
    <p:sldId id="285" r:id="rId45"/>
    <p:sldId id="277" r:id="rId46"/>
    <p:sldId id="279" r:id="rId47"/>
    <p:sldId id="280" r:id="rId48"/>
    <p:sldId id="281"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92" autoAdjust="0"/>
    <p:restoredTop sz="86436" autoAdjust="0"/>
  </p:normalViewPr>
  <p:slideViewPr>
    <p:cSldViewPr snapToGrid="0">
      <p:cViewPr varScale="1">
        <p:scale>
          <a:sx n="54" d="100"/>
          <a:sy n="54" d="100"/>
        </p:scale>
        <p:origin x="400"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41" d="100"/>
        <a:sy n="14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BC34F92-576B-443F-8128-153EAB089FB2}" type="datetimeFigureOut">
              <a:rPr lang="en-US" smtClean="0"/>
              <a:t>9/4/2025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7F9721B-6214-449A-811A-E6F327471342}" type="slidenum">
              <a:rPr lang="en-US" smtClean="0"/>
              <a:t>‹#›</a:t>
            </a:fld>
            <a:endParaRPr lang="en-US" dirty="0"/>
          </a:p>
        </p:txBody>
      </p:sp>
    </p:spTree>
    <p:extLst>
      <p:ext uri="{BB962C8B-B14F-4D97-AF65-F5344CB8AC3E}">
        <p14:creationId xmlns:p14="http://schemas.microsoft.com/office/powerpoint/2010/main" val="1938762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C34F92-576B-443F-8128-153EAB089FB2}" type="datetimeFigureOut">
              <a:rPr lang="en-US" smtClean="0"/>
              <a:t>9/4/2025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7F9721B-6214-449A-811A-E6F327471342}" type="slidenum">
              <a:rPr lang="en-US" smtClean="0"/>
              <a:t>‹#›</a:t>
            </a:fld>
            <a:endParaRPr lang="en-US" dirty="0"/>
          </a:p>
        </p:txBody>
      </p:sp>
    </p:spTree>
    <p:extLst>
      <p:ext uri="{BB962C8B-B14F-4D97-AF65-F5344CB8AC3E}">
        <p14:creationId xmlns:p14="http://schemas.microsoft.com/office/powerpoint/2010/main" val="477659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BC34F92-576B-443F-8128-153EAB089FB2}" type="datetimeFigureOut">
              <a:rPr lang="en-US" smtClean="0"/>
              <a:t>9/4/2025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7F9721B-6214-449A-811A-E6F327471342}" type="slidenum">
              <a:rPr lang="en-US" smtClean="0"/>
              <a:t>‹#›</a:t>
            </a:fld>
            <a:endParaRPr lang="en-US" dirty="0"/>
          </a:p>
        </p:txBody>
      </p:sp>
    </p:spTree>
    <p:extLst>
      <p:ext uri="{BB962C8B-B14F-4D97-AF65-F5344CB8AC3E}">
        <p14:creationId xmlns:p14="http://schemas.microsoft.com/office/powerpoint/2010/main" val="523948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BC34F92-576B-443F-8128-153EAB089FB2}" type="datetimeFigureOut">
              <a:rPr lang="en-US" smtClean="0"/>
              <a:t>9/4/2025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7F9721B-6214-449A-811A-E6F327471342}" type="slidenum">
              <a:rPr lang="en-US" smtClean="0"/>
              <a:t>‹#›</a:t>
            </a:fld>
            <a:endParaRPr lang="en-US" dirty="0"/>
          </a:p>
        </p:txBody>
      </p:sp>
    </p:spTree>
    <p:extLst>
      <p:ext uri="{BB962C8B-B14F-4D97-AF65-F5344CB8AC3E}">
        <p14:creationId xmlns:p14="http://schemas.microsoft.com/office/powerpoint/2010/main" val="2338614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BC34F92-576B-443F-8128-153EAB089FB2}" type="datetimeFigureOut">
              <a:rPr lang="en-US" smtClean="0"/>
              <a:t>9/4/2025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7F9721B-6214-449A-811A-E6F327471342}" type="slidenum">
              <a:rPr lang="en-US" smtClean="0"/>
              <a:t>‹#›</a:t>
            </a:fld>
            <a:endParaRPr lang="en-US" dirty="0"/>
          </a:p>
        </p:txBody>
      </p:sp>
    </p:spTree>
    <p:extLst>
      <p:ext uri="{BB962C8B-B14F-4D97-AF65-F5344CB8AC3E}">
        <p14:creationId xmlns:p14="http://schemas.microsoft.com/office/powerpoint/2010/main" val="3454261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BC34F92-576B-443F-8128-153EAB089FB2}" type="datetimeFigureOut">
              <a:rPr lang="en-US" smtClean="0"/>
              <a:t>9/4/2025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7F9721B-6214-449A-811A-E6F327471342}" type="slidenum">
              <a:rPr lang="en-US" smtClean="0"/>
              <a:t>‹#›</a:t>
            </a:fld>
            <a:endParaRPr lang="en-US" dirty="0"/>
          </a:p>
        </p:txBody>
      </p:sp>
    </p:spTree>
    <p:extLst>
      <p:ext uri="{BB962C8B-B14F-4D97-AF65-F5344CB8AC3E}">
        <p14:creationId xmlns:p14="http://schemas.microsoft.com/office/powerpoint/2010/main" val="1969192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C34F92-576B-443F-8128-153EAB089FB2}" type="datetimeFigureOut">
              <a:rPr lang="en-US" smtClean="0"/>
              <a:t>9/4/2025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7F9721B-6214-449A-811A-E6F327471342}" type="slidenum">
              <a:rPr lang="en-US" smtClean="0"/>
              <a:t>‹#›</a:t>
            </a:fld>
            <a:endParaRPr lang="en-US" dirty="0"/>
          </a:p>
        </p:txBody>
      </p:sp>
    </p:spTree>
    <p:extLst>
      <p:ext uri="{BB962C8B-B14F-4D97-AF65-F5344CB8AC3E}">
        <p14:creationId xmlns:p14="http://schemas.microsoft.com/office/powerpoint/2010/main" val="6222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BC34F92-576B-443F-8128-153EAB089FB2}" type="datetimeFigureOut">
              <a:rPr lang="en-US" smtClean="0"/>
              <a:t>9/4/2025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7F9721B-6214-449A-811A-E6F327471342}" type="slidenum">
              <a:rPr lang="en-US" smtClean="0"/>
              <a:t>‹#›</a:t>
            </a:fld>
            <a:endParaRPr lang="en-US" dirty="0"/>
          </a:p>
        </p:txBody>
      </p:sp>
    </p:spTree>
    <p:extLst>
      <p:ext uri="{BB962C8B-B14F-4D97-AF65-F5344CB8AC3E}">
        <p14:creationId xmlns:p14="http://schemas.microsoft.com/office/powerpoint/2010/main" val="1749576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BC34F92-576B-443F-8128-153EAB089FB2}" type="datetimeFigureOut">
              <a:rPr lang="en-US" smtClean="0"/>
              <a:t>9/4/2025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7F9721B-6214-449A-811A-E6F327471342}" type="slidenum">
              <a:rPr lang="en-US" smtClean="0"/>
              <a:t>‹#›</a:t>
            </a:fld>
            <a:endParaRPr lang="en-US" dirty="0"/>
          </a:p>
        </p:txBody>
      </p:sp>
    </p:spTree>
    <p:extLst>
      <p:ext uri="{BB962C8B-B14F-4D97-AF65-F5344CB8AC3E}">
        <p14:creationId xmlns:p14="http://schemas.microsoft.com/office/powerpoint/2010/main" val="1937963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C34F92-576B-443F-8128-153EAB089FB2}" type="datetimeFigureOut">
              <a:rPr lang="en-US" smtClean="0"/>
              <a:t>9/4/2025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7F9721B-6214-449A-811A-E6F327471342}" type="slidenum">
              <a:rPr lang="en-US" smtClean="0"/>
              <a:t>‹#›</a:t>
            </a:fld>
            <a:endParaRPr lang="en-US" dirty="0"/>
          </a:p>
        </p:txBody>
      </p:sp>
    </p:spTree>
    <p:extLst>
      <p:ext uri="{BB962C8B-B14F-4D97-AF65-F5344CB8AC3E}">
        <p14:creationId xmlns:p14="http://schemas.microsoft.com/office/powerpoint/2010/main" val="3700914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C34F92-576B-443F-8128-153EAB089FB2}" type="datetimeFigureOut">
              <a:rPr lang="en-US" smtClean="0"/>
              <a:t>9/4/2025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7F9721B-6214-449A-811A-E6F327471342}" type="slidenum">
              <a:rPr lang="en-US" smtClean="0"/>
              <a:t>‹#›</a:t>
            </a:fld>
            <a:endParaRPr lang="en-US" dirty="0"/>
          </a:p>
        </p:txBody>
      </p:sp>
    </p:spTree>
    <p:extLst>
      <p:ext uri="{BB962C8B-B14F-4D97-AF65-F5344CB8AC3E}">
        <p14:creationId xmlns:p14="http://schemas.microsoft.com/office/powerpoint/2010/main" val="285926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C34F92-576B-443F-8128-153EAB089FB2}" type="datetimeFigureOut">
              <a:rPr lang="en-US" smtClean="0"/>
              <a:t>9/4/2025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F9721B-6214-449A-811A-E6F327471342}" type="slidenum">
              <a:rPr lang="en-US" smtClean="0"/>
              <a:t>‹#›</a:t>
            </a:fld>
            <a:endParaRPr lang="en-US" dirty="0"/>
          </a:p>
        </p:txBody>
      </p:sp>
    </p:spTree>
    <p:extLst>
      <p:ext uri="{BB962C8B-B14F-4D97-AF65-F5344CB8AC3E}">
        <p14:creationId xmlns:p14="http://schemas.microsoft.com/office/powerpoint/2010/main" val="2795514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Chapter 3</a:t>
            </a:r>
          </a:p>
        </p:txBody>
      </p:sp>
      <p:sp>
        <p:nvSpPr>
          <p:cNvPr id="3" name="Subtitle 2"/>
          <p:cNvSpPr>
            <a:spLocks noGrp="1"/>
          </p:cNvSpPr>
          <p:nvPr>
            <p:ph type="subTitle" idx="1"/>
          </p:nvPr>
        </p:nvSpPr>
        <p:spPr/>
        <p:txBody>
          <a:bodyPr>
            <a:normAutofit fontScale="92500" lnSpcReduction="20000"/>
          </a:bodyPr>
          <a:lstStyle/>
          <a:p>
            <a:r>
              <a:rPr lang="en-US" sz="4400" dirty="0"/>
              <a:t> </a:t>
            </a:r>
          </a:p>
          <a:p>
            <a:r>
              <a:rPr lang="en-US" sz="4400" b="1" dirty="0"/>
              <a:t>Software Requirement Analysis and Specification</a:t>
            </a:r>
            <a:endParaRPr lang="en-US" sz="4400" dirty="0"/>
          </a:p>
        </p:txBody>
      </p:sp>
    </p:spTree>
    <p:extLst>
      <p:ext uri="{BB962C8B-B14F-4D97-AF65-F5344CB8AC3E}">
        <p14:creationId xmlns:p14="http://schemas.microsoft.com/office/powerpoint/2010/main" val="2127346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vert="horz" lIns="90487" tIns="44450" rIns="90487" bIns="44450" rtlCol="0" anchor="ctr">
            <a:normAutofit/>
          </a:bodyPr>
          <a:lstStyle/>
          <a:p>
            <a:r>
              <a:rPr lang="en-GB" b="1" dirty="0"/>
              <a:t>What is a requirement?</a:t>
            </a:r>
          </a:p>
        </p:txBody>
      </p:sp>
      <p:sp>
        <p:nvSpPr>
          <p:cNvPr id="8195" name="Rectangle 3"/>
          <p:cNvSpPr>
            <a:spLocks noGrp="1" noChangeArrowheads="1"/>
          </p:cNvSpPr>
          <p:nvPr>
            <p:ph idx="1"/>
          </p:nvPr>
        </p:nvSpPr>
        <p:spPr>
          <a:noFill/>
          <a:ln/>
        </p:spPr>
        <p:txBody>
          <a:bodyPr vert="horz" lIns="90487" tIns="44450" rIns="90487" bIns="44450" rtlCol="0">
            <a:normAutofit/>
          </a:bodyPr>
          <a:lstStyle/>
          <a:p>
            <a:pPr>
              <a:lnSpc>
                <a:spcPct val="90000"/>
              </a:lnSpc>
            </a:pPr>
            <a:r>
              <a:rPr lang="en-GB" dirty="0"/>
              <a:t>It may range from a high-level abstract statement of a service </a:t>
            </a:r>
          </a:p>
          <a:p>
            <a:pPr>
              <a:lnSpc>
                <a:spcPct val="90000"/>
              </a:lnSpc>
            </a:pPr>
            <a:r>
              <a:rPr lang="en-GB" dirty="0"/>
              <a:t>System constraint to a detailed mathematical functional specification.</a:t>
            </a:r>
          </a:p>
          <a:p>
            <a:pPr>
              <a:lnSpc>
                <a:spcPct val="90000"/>
              </a:lnSpc>
            </a:pPr>
            <a:r>
              <a:rPr lang="en-GB" dirty="0"/>
              <a:t>This is unavoidable as requirements may serve a dual function</a:t>
            </a:r>
          </a:p>
          <a:p>
            <a:pPr lvl="1">
              <a:lnSpc>
                <a:spcPct val="90000"/>
              </a:lnSpc>
            </a:pPr>
            <a:r>
              <a:rPr lang="en-GB" dirty="0"/>
              <a:t>May be the basis for a bid for a contract - therefore must be open to interpretation</a:t>
            </a:r>
          </a:p>
          <a:p>
            <a:pPr lvl="1">
              <a:lnSpc>
                <a:spcPct val="90000"/>
              </a:lnSpc>
            </a:pPr>
            <a:r>
              <a:rPr lang="en-GB" dirty="0"/>
              <a:t>May be the basis for the contract itself - therefore must be defined in detail;</a:t>
            </a:r>
          </a:p>
          <a:p>
            <a:pPr lvl="1">
              <a:lnSpc>
                <a:spcPct val="90000"/>
              </a:lnSpc>
            </a:pPr>
            <a:r>
              <a:rPr lang="en-GB" dirty="0"/>
              <a:t>Both these statements may be called requirements.</a:t>
            </a:r>
          </a:p>
        </p:txBody>
      </p:sp>
      <p:sp>
        <p:nvSpPr>
          <p:cNvPr id="5" name="Footer Placeholder 4"/>
          <p:cNvSpPr>
            <a:spLocks noGrp="1"/>
          </p:cNvSpPr>
          <p:nvPr>
            <p:ph type="ftr" sz="quarter" idx="11"/>
          </p:nvPr>
        </p:nvSpPr>
        <p:spPr/>
        <p:txBody>
          <a:bodyPr/>
          <a:lstStyle/>
          <a:p>
            <a:pPr>
              <a:defRPr/>
            </a:pPr>
            <a:r>
              <a:rPr lang="en-US" dirty="0"/>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a:t>
            </a:fld>
            <a:endParaRPr lang="en-US" dirty="0"/>
          </a:p>
        </p:txBody>
      </p:sp>
      <p:sp>
        <p:nvSpPr>
          <p:cNvPr id="2" name="Date Placeholder 1"/>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29291161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057400" y="304800"/>
            <a:ext cx="8915400" cy="1104900"/>
          </a:xfrm>
          <a:noFill/>
          <a:ln/>
        </p:spPr>
        <p:txBody>
          <a:bodyPr vert="horz" lIns="90487" tIns="44450" rIns="90487" bIns="44450" rtlCol="0" anchor="ctr">
            <a:normAutofit/>
          </a:bodyPr>
          <a:lstStyle/>
          <a:p>
            <a:r>
              <a:rPr lang="en-GB" b="1" dirty="0"/>
              <a:t>Types of requirement</a:t>
            </a:r>
          </a:p>
        </p:txBody>
      </p:sp>
      <p:sp>
        <p:nvSpPr>
          <p:cNvPr id="9219" name="Rectangle 3"/>
          <p:cNvSpPr>
            <a:spLocks noGrp="1" noChangeArrowheads="1"/>
          </p:cNvSpPr>
          <p:nvPr>
            <p:ph idx="1"/>
          </p:nvPr>
        </p:nvSpPr>
        <p:spPr>
          <a:noFill/>
          <a:ln/>
        </p:spPr>
        <p:txBody>
          <a:bodyPr vert="horz" lIns="90487" tIns="44450" rIns="90487" bIns="44450" rtlCol="0">
            <a:normAutofit/>
          </a:bodyPr>
          <a:lstStyle/>
          <a:p>
            <a:r>
              <a:rPr lang="en-GB" b="1" dirty="0"/>
              <a:t>User requirements</a:t>
            </a:r>
          </a:p>
          <a:p>
            <a:pPr lvl="1"/>
            <a:r>
              <a:rPr lang="en-GB" dirty="0"/>
              <a:t>Statements in natural language plus diagrams of the services the system provides and its operational constraints. Written for customers.</a:t>
            </a:r>
          </a:p>
          <a:p>
            <a:r>
              <a:rPr lang="en-GB" b="1" dirty="0"/>
              <a:t>System requirements</a:t>
            </a:r>
          </a:p>
          <a:p>
            <a:pPr lvl="1"/>
            <a:r>
              <a:rPr lang="en-GB" dirty="0"/>
              <a:t>A structured document setting out detailed descriptions of the system’s functions, services and operational constraints. Defines what should be implemented so may be part of a contract between client and contractor.</a:t>
            </a:r>
          </a:p>
        </p:txBody>
      </p:sp>
      <p:sp>
        <p:nvSpPr>
          <p:cNvPr id="5" name="Footer Placeholder 4"/>
          <p:cNvSpPr>
            <a:spLocks noGrp="1"/>
          </p:cNvSpPr>
          <p:nvPr>
            <p:ph type="ftr" sz="quarter" idx="11"/>
          </p:nvPr>
        </p:nvSpPr>
        <p:spPr/>
        <p:txBody>
          <a:bodyPr/>
          <a:lstStyle/>
          <a:p>
            <a:pPr>
              <a:defRPr/>
            </a:pPr>
            <a:r>
              <a:rPr lang="en-US" dirty="0"/>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a:t>
            </a:fld>
            <a:endParaRPr lang="en-US" dirty="0"/>
          </a:p>
        </p:txBody>
      </p:sp>
      <p:sp>
        <p:nvSpPr>
          <p:cNvPr id="2" name="Date Placeholder 1"/>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120763066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System stakeholders</a:t>
            </a:r>
          </a:p>
        </p:txBody>
      </p:sp>
      <p:sp>
        <p:nvSpPr>
          <p:cNvPr id="3" name="Content Placeholder 2"/>
          <p:cNvSpPr>
            <a:spLocks noGrp="1"/>
          </p:cNvSpPr>
          <p:nvPr>
            <p:ph idx="1"/>
          </p:nvPr>
        </p:nvSpPr>
        <p:spPr/>
        <p:txBody>
          <a:bodyPr/>
          <a:lstStyle/>
          <a:p>
            <a:r>
              <a:rPr lang="en-US" dirty="0"/>
              <a:t>Any person or organization who is affected by the system in some way and so who has a legitimate interest</a:t>
            </a:r>
          </a:p>
          <a:p>
            <a:r>
              <a:rPr lang="en-US" dirty="0"/>
              <a:t>Stakeholder types</a:t>
            </a:r>
          </a:p>
          <a:p>
            <a:pPr lvl="1"/>
            <a:r>
              <a:rPr lang="en-US" dirty="0"/>
              <a:t>End users</a:t>
            </a:r>
          </a:p>
          <a:p>
            <a:pPr lvl="1"/>
            <a:r>
              <a:rPr lang="en-US" dirty="0"/>
              <a:t>System managers</a:t>
            </a:r>
          </a:p>
          <a:p>
            <a:pPr lvl="1"/>
            <a:r>
              <a:rPr lang="en-US" dirty="0"/>
              <a:t>System owners</a:t>
            </a:r>
          </a:p>
          <a:p>
            <a:pPr lvl="1"/>
            <a:r>
              <a:rPr lang="en-US" dirty="0"/>
              <a:t>External stakeholders</a:t>
            </a:r>
          </a:p>
        </p:txBody>
      </p:sp>
      <p:sp>
        <p:nvSpPr>
          <p:cNvPr id="4" name="Footer Placeholder 3"/>
          <p:cNvSpPr>
            <a:spLocks noGrp="1"/>
          </p:cNvSpPr>
          <p:nvPr>
            <p:ph type="ftr" sz="quarter" idx="11"/>
          </p:nvPr>
        </p:nvSpPr>
        <p:spPr/>
        <p:txBody>
          <a:bodyPr/>
          <a:lstStyle/>
          <a:p>
            <a:pPr>
              <a:defRPr/>
            </a:pPr>
            <a:r>
              <a:rPr lang="en-US" dirty="0"/>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a:t>
            </a:fld>
            <a:endParaRPr lang="en-US" dirty="0"/>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3426631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76872"/>
            <a:ext cx="8229600" cy="1143000"/>
          </a:xfrm>
        </p:spPr>
        <p:txBody>
          <a:bodyPr>
            <a:normAutofit fontScale="90000"/>
          </a:bodyPr>
          <a:lstStyle/>
          <a:p>
            <a:pPr algn="ctr"/>
            <a:r>
              <a:rPr lang="en-US" b="1" dirty="0"/>
              <a:t>Functional and non-functional requirements</a:t>
            </a:r>
          </a:p>
        </p:txBody>
      </p:sp>
      <p:sp>
        <p:nvSpPr>
          <p:cNvPr id="4" name="Footer Placeholder 3"/>
          <p:cNvSpPr>
            <a:spLocks noGrp="1"/>
          </p:cNvSpPr>
          <p:nvPr>
            <p:ph type="ftr" sz="quarter" idx="11"/>
          </p:nvPr>
        </p:nvSpPr>
        <p:spPr/>
        <p:txBody>
          <a:bodyPr/>
          <a:lstStyle/>
          <a:p>
            <a:pPr>
              <a:defRPr/>
            </a:pPr>
            <a:r>
              <a:rPr lang="en-US" dirty="0"/>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a:t>
            </a:fld>
            <a:endParaRPr lang="en-US" dirty="0"/>
          </a:p>
        </p:txBody>
      </p:sp>
      <p:sp>
        <p:nvSpPr>
          <p:cNvPr id="3" name="Date Placeholder 2"/>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3543714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905000" y="266700"/>
            <a:ext cx="8382000" cy="1104900"/>
          </a:xfrm>
        </p:spPr>
        <p:txBody>
          <a:bodyPr>
            <a:normAutofit fontScale="90000"/>
          </a:bodyPr>
          <a:lstStyle/>
          <a:p>
            <a:r>
              <a:rPr lang="en-GB" b="1" dirty="0"/>
              <a:t>Functional and non-functional requirements</a:t>
            </a:r>
          </a:p>
        </p:txBody>
      </p:sp>
      <p:sp>
        <p:nvSpPr>
          <p:cNvPr id="34819" name="Rectangle 3"/>
          <p:cNvSpPr>
            <a:spLocks noGrp="1" noChangeArrowheads="1"/>
          </p:cNvSpPr>
          <p:nvPr>
            <p:ph idx="1"/>
          </p:nvPr>
        </p:nvSpPr>
        <p:spPr>
          <a:xfrm>
            <a:off x="1981200" y="1798638"/>
            <a:ext cx="8229600" cy="4525963"/>
          </a:xfrm>
        </p:spPr>
        <p:txBody>
          <a:bodyPr>
            <a:normAutofit lnSpcReduction="10000"/>
          </a:bodyPr>
          <a:lstStyle/>
          <a:p>
            <a:pPr>
              <a:lnSpc>
                <a:spcPct val="90000"/>
              </a:lnSpc>
            </a:pPr>
            <a:r>
              <a:rPr lang="en-GB" sz="2400" b="1" dirty="0"/>
              <a:t>Functional requirements</a:t>
            </a:r>
          </a:p>
          <a:p>
            <a:pPr lvl="1">
              <a:lnSpc>
                <a:spcPct val="90000"/>
              </a:lnSpc>
            </a:pPr>
            <a:r>
              <a:rPr lang="en-GB" sz="2000" dirty="0"/>
              <a:t>Statements of services the system should provide, how the system should react to particular inputs and how the system should behave in particular situations.</a:t>
            </a:r>
          </a:p>
          <a:p>
            <a:pPr lvl="1">
              <a:lnSpc>
                <a:spcPct val="90000"/>
              </a:lnSpc>
            </a:pPr>
            <a:r>
              <a:rPr lang="en-GB" dirty="0"/>
              <a:t>May state what the system should not do.</a:t>
            </a:r>
            <a:endParaRPr lang="en-GB" sz="2000" dirty="0"/>
          </a:p>
          <a:p>
            <a:pPr>
              <a:lnSpc>
                <a:spcPct val="90000"/>
              </a:lnSpc>
            </a:pPr>
            <a:r>
              <a:rPr lang="en-GB" sz="2400" b="1" dirty="0"/>
              <a:t>Non-functional requirements</a:t>
            </a:r>
          </a:p>
          <a:p>
            <a:pPr lvl="1">
              <a:lnSpc>
                <a:spcPct val="90000"/>
              </a:lnSpc>
            </a:pPr>
            <a:r>
              <a:rPr lang="en-GB" dirty="0"/>
              <a:t>C</a:t>
            </a:r>
            <a:r>
              <a:rPr lang="en-GB" sz="2000" dirty="0"/>
              <a:t>onstraints on the services or functions offered by the system such as timing constraints, constraints on the development process, standards, etc.</a:t>
            </a:r>
          </a:p>
          <a:p>
            <a:pPr lvl="1">
              <a:lnSpc>
                <a:spcPct val="90000"/>
              </a:lnSpc>
            </a:pPr>
            <a:r>
              <a:rPr lang="en-GB" dirty="0"/>
              <a:t>Often apply to the system as a whole rather than individual features or services.</a:t>
            </a:r>
          </a:p>
          <a:p>
            <a:pPr>
              <a:lnSpc>
                <a:spcPct val="90000"/>
              </a:lnSpc>
            </a:pPr>
            <a:r>
              <a:rPr lang="en-GB" sz="2400" b="1" dirty="0"/>
              <a:t>Domain requirements</a:t>
            </a:r>
          </a:p>
          <a:p>
            <a:pPr lvl="1">
              <a:lnSpc>
                <a:spcPct val="90000"/>
              </a:lnSpc>
            </a:pPr>
            <a:r>
              <a:rPr lang="en-GB" sz="2000" dirty="0"/>
              <a:t>Constraints on the system from the domain </a:t>
            </a:r>
            <a:r>
              <a:rPr lang="en-GB" dirty="0"/>
              <a:t>of operation</a:t>
            </a:r>
            <a:endParaRPr lang="en-GB" sz="2000" dirty="0"/>
          </a:p>
        </p:txBody>
      </p:sp>
      <p:sp>
        <p:nvSpPr>
          <p:cNvPr id="5" name="Footer Placeholder 4"/>
          <p:cNvSpPr>
            <a:spLocks noGrp="1"/>
          </p:cNvSpPr>
          <p:nvPr>
            <p:ph type="ftr" sz="quarter" idx="11"/>
          </p:nvPr>
        </p:nvSpPr>
        <p:spPr/>
        <p:txBody>
          <a:bodyPr/>
          <a:lstStyle/>
          <a:p>
            <a:pPr>
              <a:defRPr/>
            </a:pPr>
            <a:r>
              <a:rPr lang="en-US" dirty="0"/>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a:t>
            </a:fld>
            <a:endParaRPr lang="en-US" dirty="0"/>
          </a:p>
        </p:txBody>
      </p:sp>
      <p:sp>
        <p:nvSpPr>
          <p:cNvPr id="2" name="Date Placeholder 1"/>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2750758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GB" b="1" dirty="0"/>
              <a:t>Functional requirements</a:t>
            </a:r>
          </a:p>
        </p:txBody>
      </p:sp>
      <p:sp>
        <p:nvSpPr>
          <p:cNvPr id="39939" name="Rectangle 3"/>
          <p:cNvSpPr>
            <a:spLocks noGrp="1" noChangeArrowheads="1"/>
          </p:cNvSpPr>
          <p:nvPr>
            <p:ph idx="1"/>
          </p:nvPr>
        </p:nvSpPr>
        <p:spPr/>
        <p:txBody>
          <a:bodyPr/>
          <a:lstStyle/>
          <a:p>
            <a:r>
              <a:rPr lang="en-GB" dirty="0"/>
              <a:t>Describe functionality or system services.</a:t>
            </a:r>
          </a:p>
          <a:p>
            <a:r>
              <a:rPr lang="en-GB" dirty="0"/>
              <a:t>Depend on the type of software, expected users and the type of system where the software is used.</a:t>
            </a:r>
          </a:p>
          <a:p>
            <a:r>
              <a:rPr lang="en-GB" dirty="0"/>
              <a:t>Functional user requirements may be high-level statements of what the system should do.</a:t>
            </a:r>
          </a:p>
          <a:p>
            <a:r>
              <a:rPr lang="en-GB" dirty="0"/>
              <a:t>Functional system requirements should describe the system services in detail.</a:t>
            </a:r>
          </a:p>
        </p:txBody>
      </p:sp>
      <p:sp>
        <p:nvSpPr>
          <p:cNvPr id="5" name="Footer Placeholder 4"/>
          <p:cNvSpPr>
            <a:spLocks noGrp="1"/>
          </p:cNvSpPr>
          <p:nvPr>
            <p:ph type="ftr" sz="quarter" idx="11"/>
          </p:nvPr>
        </p:nvSpPr>
        <p:spPr/>
        <p:txBody>
          <a:bodyPr/>
          <a:lstStyle/>
          <a:p>
            <a:pPr>
              <a:defRPr/>
            </a:pPr>
            <a:r>
              <a:rPr lang="en-US" dirty="0"/>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a:t>
            </a:fld>
            <a:endParaRPr lang="en-US" dirty="0"/>
          </a:p>
        </p:txBody>
      </p:sp>
      <p:sp>
        <p:nvSpPr>
          <p:cNvPr id="2" name="Date Placeholder 1"/>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2958970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GB" b="1" dirty="0"/>
              <a:t>Requirements imprecision</a:t>
            </a:r>
          </a:p>
        </p:txBody>
      </p:sp>
      <p:sp>
        <p:nvSpPr>
          <p:cNvPr id="41987" name="Rectangle 3"/>
          <p:cNvSpPr>
            <a:spLocks noGrp="1" noChangeArrowheads="1"/>
          </p:cNvSpPr>
          <p:nvPr>
            <p:ph idx="1"/>
          </p:nvPr>
        </p:nvSpPr>
        <p:spPr/>
        <p:txBody>
          <a:bodyPr/>
          <a:lstStyle/>
          <a:p>
            <a:r>
              <a:rPr lang="en-GB" dirty="0"/>
              <a:t>Problems arise when functional requirements are not precisely stated.</a:t>
            </a:r>
          </a:p>
          <a:p>
            <a:r>
              <a:rPr lang="en-GB" dirty="0"/>
              <a:t>Ambiguous requirements may be interpreted in different ways by developers and users.</a:t>
            </a:r>
          </a:p>
          <a:p>
            <a:r>
              <a:rPr lang="en-GB" dirty="0"/>
              <a:t>Consider the term ‘search’ in requirement 1</a:t>
            </a:r>
          </a:p>
          <a:p>
            <a:pPr lvl="1"/>
            <a:r>
              <a:rPr lang="en-GB" dirty="0"/>
              <a:t>User intention – search for a patient name across all appointments in all clinics;</a:t>
            </a:r>
          </a:p>
          <a:p>
            <a:pPr lvl="1"/>
            <a:r>
              <a:rPr lang="en-GB" dirty="0"/>
              <a:t>Developer interpretation – search for a patient name in an individual clinic. User chooses clinic then search.</a:t>
            </a:r>
          </a:p>
        </p:txBody>
      </p:sp>
      <p:sp>
        <p:nvSpPr>
          <p:cNvPr id="5" name="Footer Placeholder 4"/>
          <p:cNvSpPr>
            <a:spLocks noGrp="1"/>
          </p:cNvSpPr>
          <p:nvPr>
            <p:ph type="ftr" sz="quarter" idx="11"/>
          </p:nvPr>
        </p:nvSpPr>
        <p:spPr/>
        <p:txBody>
          <a:bodyPr/>
          <a:lstStyle/>
          <a:p>
            <a:pPr>
              <a:defRPr/>
            </a:pPr>
            <a:r>
              <a:rPr lang="en-US" dirty="0"/>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8</a:t>
            </a:fld>
            <a:endParaRPr lang="en-US" dirty="0"/>
          </a:p>
        </p:txBody>
      </p:sp>
      <p:sp>
        <p:nvSpPr>
          <p:cNvPr id="2" name="Date Placeholder 1"/>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1894174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GB" b="1" dirty="0"/>
              <a:t>Requirements completeness and consistency</a:t>
            </a:r>
          </a:p>
        </p:txBody>
      </p:sp>
      <p:sp>
        <p:nvSpPr>
          <p:cNvPr id="43011" name="Rectangle 3"/>
          <p:cNvSpPr>
            <a:spLocks noGrp="1" noChangeArrowheads="1"/>
          </p:cNvSpPr>
          <p:nvPr>
            <p:ph idx="1"/>
          </p:nvPr>
        </p:nvSpPr>
        <p:spPr/>
        <p:txBody>
          <a:bodyPr/>
          <a:lstStyle/>
          <a:p>
            <a:r>
              <a:rPr lang="en-GB" sz="2400" dirty="0"/>
              <a:t>In principle, requirements should be both complete and consistent.</a:t>
            </a:r>
          </a:p>
          <a:p>
            <a:r>
              <a:rPr lang="en-GB" sz="2400" dirty="0"/>
              <a:t>Complete</a:t>
            </a:r>
          </a:p>
          <a:p>
            <a:pPr lvl="1"/>
            <a:r>
              <a:rPr lang="en-GB" dirty="0"/>
              <a:t>They should include descriptions of all facilities required.</a:t>
            </a:r>
          </a:p>
          <a:p>
            <a:r>
              <a:rPr lang="en-GB" sz="2400" dirty="0"/>
              <a:t>Consistent</a:t>
            </a:r>
          </a:p>
          <a:p>
            <a:pPr lvl="1"/>
            <a:r>
              <a:rPr lang="en-GB" dirty="0"/>
              <a:t>There should be no conflicts or contradictions in the descriptions of the system facilities.</a:t>
            </a:r>
          </a:p>
          <a:p>
            <a:r>
              <a:rPr lang="en-GB" sz="2400" dirty="0"/>
              <a:t>In practice, because of system and environmental complexity, it is impossible to produce a complete and consistent requirements document.</a:t>
            </a:r>
          </a:p>
        </p:txBody>
      </p:sp>
      <p:sp>
        <p:nvSpPr>
          <p:cNvPr id="5" name="Footer Placeholder 4"/>
          <p:cNvSpPr>
            <a:spLocks noGrp="1"/>
          </p:cNvSpPr>
          <p:nvPr>
            <p:ph type="ftr" sz="quarter" idx="11"/>
          </p:nvPr>
        </p:nvSpPr>
        <p:spPr/>
        <p:txBody>
          <a:bodyPr/>
          <a:lstStyle/>
          <a:p>
            <a:pPr>
              <a:defRPr/>
            </a:pPr>
            <a:r>
              <a:rPr lang="en-US" dirty="0"/>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9</a:t>
            </a:fld>
            <a:endParaRPr lang="en-US" dirty="0"/>
          </a:p>
        </p:txBody>
      </p:sp>
      <p:sp>
        <p:nvSpPr>
          <p:cNvPr id="2" name="Date Placeholder 1"/>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2600830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vert="horz" lIns="90487" tIns="44450" rIns="90487" bIns="44450" rtlCol="0" anchor="ctr">
            <a:normAutofit/>
          </a:bodyPr>
          <a:lstStyle/>
          <a:p>
            <a:r>
              <a:rPr lang="en-GB" b="1" dirty="0"/>
              <a:t>Non-functional requirements</a:t>
            </a:r>
          </a:p>
        </p:txBody>
      </p:sp>
      <p:sp>
        <p:nvSpPr>
          <p:cNvPr id="35843" name="Rectangle 3"/>
          <p:cNvSpPr>
            <a:spLocks noGrp="1" noChangeArrowheads="1"/>
          </p:cNvSpPr>
          <p:nvPr>
            <p:ph idx="1"/>
          </p:nvPr>
        </p:nvSpPr>
        <p:spPr>
          <a:noFill/>
          <a:ln/>
        </p:spPr>
        <p:txBody>
          <a:bodyPr vert="horz" lIns="90487" tIns="44450" rIns="90487" bIns="44450" rtlCol="0">
            <a:normAutofit/>
          </a:bodyPr>
          <a:lstStyle/>
          <a:p>
            <a:pPr>
              <a:lnSpc>
                <a:spcPct val="90000"/>
              </a:lnSpc>
            </a:pPr>
            <a:r>
              <a:rPr lang="en-GB" dirty="0"/>
              <a:t>These define system properties and constraints e.g. reliability, response time and storage requirements. Constraints are I/O device capability, system representations, etc.</a:t>
            </a:r>
          </a:p>
          <a:p>
            <a:pPr>
              <a:lnSpc>
                <a:spcPct val="90000"/>
              </a:lnSpc>
            </a:pPr>
            <a:r>
              <a:rPr lang="en-GB" dirty="0"/>
              <a:t>Process requirements may also be specified mandating a particular IDE, programming language or development method.</a:t>
            </a:r>
          </a:p>
          <a:p>
            <a:pPr>
              <a:lnSpc>
                <a:spcPct val="90000"/>
              </a:lnSpc>
            </a:pPr>
            <a:r>
              <a:rPr lang="en-GB" dirty="0"/>
              <a:t>Non-functional requirements may be more critical than functional requirements. If these are not met, the system may be useless.</a:t>
            </a:r>
          </a:p>
        </p:txBody>
      </p:sp>
      <p:sp>
        <p:nvSpPr>
          <p:cNvPr id="5" name="Footer Placeholder 4"/>
          <p:cNvSpPr>
            <a:spLocks noGrp="1"/>
          </p:cNvSpPr>
          <p:nvPr>
            <p:ph type="ftr" sz="quarter" idx="11"/>
          </p:nvPr>
        </p:nvSpPr>
        <p:spPr/>
        <p:txBody>
          <a:bodyPr/>
          <a:lstStyle/>
          <a:p>
            <a:pPr>
              <a:defRPr/>
            </a:pPr>
            <a:r>
              <a:rPr lang="en-US" dirty="0"/>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10</a:t>
            </a:fld>
            <a:endParaRPr lang="en-US" dirty="0"/>
          </a:p>
        </p:txBody>
      </p:sp>
      <p:sp>
        <p:nvSpPr>
          <p:cNvPr id="2" name="Date Placeholder 1"/>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276562608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Non-functional requirements implementation</a:t>
            </a:r>
          </a:p>
        </p:txBody>
      </p:sp>
      <p:sp>
        <p:nvSpPr>
          <p:cNvPr id="3" name="Content Placeholder 2"/>
          <p:cNvSpPr>
            <a:spLocks noGrp="1"/>
          </p:cNvSpPr>
          <p:nvPr>
            <p:ph idx="1"/>
          </p:nvPr>
        </p:nvSpPr>
        <p:spPr/>
        <p:txBody>
          <a:bodyPr/>
          <a:lstStyle/>
          <a:p>
            <a:r>
              <a:rPr lang="en-US" b="1" dirty="0"/>
              <a:t>Non-functional requirements may affect the overall architecture of a system rather than the individual components. </a:t>
            </a:r>
          </a:p>
          <a:p>
            <a:pPr lvl="1"/>
            <a:r>
              <a:rPr lang="en-US" dirty="0"/>
              <a:t>For example, to ensure that performance requirements are met, you may have to organize the system to minimize communications between components.</a:t>
            </a:r>
            <a:endParaRPr lang="en-GB" dirty="0"/>
          </a:p>
          <a:p>
            <a:r>
              <a:rPr lang="en-US" dirty="0"/>
              <a:t>A single non-functional requirement, such as a security requirement, may generate a number of related functional requirements that define system services that are required. </a:t>
            </a:r>
          </a:p>
          <a:p>
            <a:pPr lvl="1"/>
            <a:r>
              <a:rPr lang="en-US" dirty="0"/>
              <a:t>It may also generate requirements that restrict existing requirements. </a:t>
            </a:r>
          </a:p>
        </p:txBody>
      </p:sp>
      <p:sp>
        <p:nvSpPr>
          <p:cNvPr id="5" name="Footer Placeholder 4"/>
          <p:cNvSpPr>
            <a:spLocks noGrp="1"/>
          </p:cNvSpPr>
          <p:nvPr>
            <p:ph type="ftr" sz="quarter" idx="11"/>
          </p:nvPr>
        </p:nvSpPr>
        <p:spPr/>
        <p:txBody>
          <a:bodyPr/>
          <a:lstStyle/>
          <a:p>
            <a:pPr>
              <a:defRPr/>
            </a:pPr>
            <a:r>
              <a:rPr lang="en-US" dirty="0"/>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11</a:t>
            </a:fld>
            <a:endParaRPr lang="en-US" dirty="0"/>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1715300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vert="horz" lIns="90487" tIns="44450" rIns="90487" bIns="44450" rtlCol="0" anchor="ctr">
            <a:normAutofit/>
          </a:bodyPr>
          <a:lstStyle/>
          <a:p>
            <a:r>
              <a:rPr lang="en-GB" b="1" dirty="0"/>
              <a:t>Non-functional classifications</a:t>
            </a:r>
          </a:p>
        </p:txBody>
      </p:sp>
      <p:sp>
        <p:nvSpPr>
          <p:cNvPr id="36867" name="Rectangle 3"/>
          <p:cNvSpPr>
            <a:spLocks noGrp="1" noChangeArrowheads="1"/>
          </p:cNvSpPr>
          <p:nvPr>
            <p:ph idx="1"/>
          </p:nvPr>
        </p:nvSpPr>
        <p:spPr>
          <a:noFill/>
          <a:ln/>
        </p:spPr>
        <p:txBody>
          <a:bodyPr vert="horz" lIns="90487" tIns="44450" rIns="90487" bIns="44450" rtlCol="0">
            <a:normAutofit/>
          </a:bodyPr>
          <a:lstStyle/>
          <a:p>
            <a:r>
              <a:rPr lang="en-GB" sz="2400" b="1" dirty="0"/>
              <a:t>Product requirements</a:t>
            </a:r>
          </a:p>
          <a:p>
            <a:pPr lvl="1"/>
            <a:r>
              <a:rPr lang="en-GB" sz="2000" dirty="0"/>
              <a:t>Requirements which specify that the delivered product must behave in a particular way e.g. execution speed, reliability, etc.</a:t>
            </a:r>
          </a:p>
          <a:p>
            <a:r>
              <a:rPr lang="en-GB" sz="2400" b="1" dirty="0"/>
              <a:t>Organisational requirements</a:t>
            </a:r>
          </a:p>
          <a:p>
            <a:pPr lvl="1"/>
            <a:r>
              <a:rPr lang="en-GB" sz="2000" dirty="0"/>
              <a:t>Requirements which are a consequence of organisational policies and procedures e.g. process standards used, implementation requirements, etc.</a:t>
            </a:r>
          </a:p>
          <a:p>
            <a:r>
              <a:rPr lang="en-GB" sz="2400" b="1" dirty="0"/>
              <a:t>External requirements</a:t>
            </a:r>
          </a:p>
          <a:p>
            <a:pPr lvl="1"/>
            <a:r>
              <a:rPr lang="en-GB" sz="2000" dirty="0"/>
              <a:t>Requirements which arise from factors which are external to the system and its development process e.g. interoperability requirements, legislative requirements, etc.</a:t>
            </a:r>
          </a:p>
        </p:txBody>
      </p:sp>
      <p:sp>
        <p:nvSpPr>
          <p:cNvPr id="5" name="Footer Placeholder 4"/>
          <p:cNvSpPr>
            <a:spLocks noGrp="1"/>
          </p:cNvSpPr>
          <p:nvPr>
            <p:ph type="ftr" sz="quarter" idx="11"/>
          </p:nvPr>
        </p:nvSpPr>
        <p:spPr/>
        <p:txBody>
          <a:bodyPr/>
          <a:lstStyle/>
          <a:p>
            <a:pPr>
              <a:defRPr/>
            </a:pPr>
            <a:r>
              <a:rPr lang="en-US" dirty="0"/>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12</a:t>
            </a:fld>
            <a:endParaRPr lang="en-US" dirty="0"/>
          </a:p>
        </p:txBody>
      </p:sp>
      <p:sp>
        <p:nvSpPr>
          <p:cNvPr id="2" name="Date Placeholder 1"/>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330450569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b="1" dirty="0"/>
              <a:t>Goals and requirements</a:t>
            </a:r>
          </a:p>
        </p:txBody>
      </p:sp>
      <p:sp>
        <p:nvSpPr>
          <p:cNvPr id="44035" name="Rectangle 3"/>
          <p:cNvSpPr>
            <a:spLocks noGrp="1" noChangeArrowheads="1"/>
          </p:cNvSpPr>
          <p:nvPr>
            <p:ph idx="1"/>
          </p:nvPr>
        </p:nvSpPr>
        <p:spPr/>
        <p:txBody>
          <a:bodyPr/>
          <a:lstStyle/>
          <a:p>
            <a:r>
              <a:rPr lang="en-GB" sz="2400" dirty="0"/>
              <a:t>Non-functional requirements may be very difficult to state precisely and imprecise requirements may be difficult to verify. </a:t>
            </a:r>
          </a:p>
          <a:p>
            <a:r>
              <a:rPr lang="en-GB" sz="2400" dirty="0"/>
              <a:t>Goal</a:t>
            </a:r>
          </a:p>
          <a:p>
            <a:pPr lvl="1"/>
            <a:r>
              <a:rPr lang="en-GB" sz="2000" dirty="0"/>
              <a:t>A general intention of the user such as ease of use.</a:t>
            </a:r>
          </a:p>
          <a:p>
            <a:r>
              <a:rPr lang="en-GB" sz="2400" dirty="0"/>
              <a:t>Verifiable non-functional requirement</a:t>
            </a:r>
          </a:p>
          <a:p>
            <a:pPr lvl="1"/>
            <a:r>
              <a:rPr lang="en-GB" sz="2000" dirty="0"/>
              <a:t>A statement using some measure that can be objectively tested.</a:t>
            </a:r>
          </a:p>
          <a:p>
            <a:r>
              <a:rPr lang="en-GB" sz="2400" dirty="0"/>
              <a:t>Goals are helpful to developers as they convey the intentions of the system users.</a:t>
            </a:r>
          </a:p>
        </p:txBody>
      </p:sp>
      <p:sp>
        <p:nvSpPr>
          <p:cNvPr id="5" name="Footer Placeholder 4"/>
          <p:cNvSpPr>
            <a:spLocks noGrp="1"/>
          </p:cNvSpPr>
          <p:nvPr>
            <p:ph type="ftr" sz="quarter" idx="11"/>
          </p:nvPr>
        </p:nvSpPr>
        <p:spPr/>
        <p:txBody>
          <a:bodyPr/>
          <a:lstStyle/>
          <a:p>
            <a:pPr>
              <a:defRPr/>
            </a:pPr>
            <a:r>
              <a:rPr lang="en-US" dirty="0"/>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13</a:t>
            </a:fld>
            <a:endParaRPr lang="en-US" dirty="0"/>
          </a:p>
        </p:txBody>
      </p:sp>
      <p:sp>
        <p:nvSpPr>
          <p:cNvPr id="2" name="Date Placeholder 1"/>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2735456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Usability requirements</a:t>
            </a:r>
          </a:p>
        </p:txBody>
      </p:sp>
      <p:sp>
        <p:nvSpPr>
          <p:cNvPr id="3" name="Content Placeholder 2"/>
          <p:cNvSpPr>
            <a:spLocks noGrp="1"/>
          </p:cNvSpPr>
          <p:nvPr>
            <p:ph idx="1"/>
          </p:nvPr>
        </p:nvSpPr>
        <p:spPr/>
        <p:txBody>
          <a:bodyPr/>
          <a:lstStyle/>
          <a:p>
            <a:r>
              <a:rPr lang="en-US" dirty="0"/>
              <a:t>The system should be easy to use by medical staff and should be organized in such a way that user errors are minimized. (Goal)</a:t>
            </a:r>
          </a:p>
          <a:p>
            <a:r>
              <a:rPr lang="en-US" dirty="0"/>
              <a:t>Medical staff shall be able to use all the system functions after four hours of training. After this training, the average number of errors made by experienced users shall not exceed two per hour of system use. (Testable non-functional requirement)</a:t>
            </a:r>
            <a:endParaRPr lang="en-GB" dirty="0"/>
          </a:p>
          <a:p>
            <a:endParaRPr lang="en-GB" dirty="0"/>
          </a:p>
          <a:p>
            <a:endParaRPr lang="en-US" dirty="0"/>
          </a:p>
        </p:txBody>
      </p:sp>
      <p:sp>
        <p:nvSpPr>
          <p:cNvPr id="5" name="Footer Placeholder 4"/>
          <p:cNvSpPr>
            <a:spLocks noGrp="1"/>
          </p:cNvSpPr>
          <p:nvPr>
            <p:ph type="ftr" sz="quarter" idx="11"/>
          </p:nvPr>
        </p:nvSpPr>
        <p:spPr/>
        <p:txBody>
          <a:bodyPr/>
          <a:lstStyle/>
          <a:p>
            <a:pPr>
              <a:defRPr/>
            </a:pPr>
            <a:r>
              <a:rPr lang="en-US" dirty="0"/>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14</a:t>
            </a:fld>
            <a:endParaRPr lang="en-US" dirty="0"/>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1359754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b="1" dirty="0"/>
              <a:t>Metrics for specifying nonfunctional requirements</a:t>
            </a:r>
          </a:p>
        </p:txBody>
      </p:sp>
      <p:sp>
        <p:nvSpPr>
          <p:cNvPr id="6" name="Footer Placeholder 5"/>
          <p:cNvSpPr>
            <a:spLocks noGrp="1"/>
          </p:cNvSpPr>
          <p:nvPr>
            <p:ph type="ftr" sz="quarter" idx="11"/>
          </p:nvPr>
        </p:nvSpPr>
        <p:spPr/>
        <p:txBody>
          <a:bodyPr/>
          <a:lstStyle/>
          <a:p>
            <a:pPr>
              <a:defRPr/>
            </a:pPr>
            <a:r>
              <a:rPr lang="en-US" dirty="0"/>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15</a:t>
            </a:fld>
            <a:endParaRPr lang="en-US" dirty="0"/>
          </a:p>
        </p:txBody>
      </p:sp>
      <p:graphicFrame>
        <p:nvGraphicFramePr>
          <p:cNvPr id="4" name="Table 3"/>
          <p:cNvGraphicFramePr>
            <a:graphicFrameLocks noGrp="1"/>
          </p:cNvGraphicFramePr>
          <p:nvPr/>
        </p:nvGraphicFramePr>
        <p:xfrm>
          <a:off x="2514600" y="1600200"/>
          <a:ext cx="7620000" cy="4876800"/>
        </p:xfrm>
        <a:graphic>
          <a:graphicData uri="http://schemas.openxmlformats.org/drawingml/2006/table">
            <a:tbl>
              <a:tblPr/>
              <a:tblGrid>
                <a:gridCol w="2952750">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tblGrid>
              <a:tr h="39741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Property</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Measure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Speed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Processed transactions/second</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User/event response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Screen refresh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Size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Mbytes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ROM chips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Ease of use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Training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help frames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88043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Reliability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Mean time to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unavailability</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Rate of failure occurrence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Availability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Robustness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Time to restart after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events causing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data corruption on failure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Portability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target dependent statements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target systems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bl>
          </a:graphicData>
        </a:graphic>
      </p:graphicFrame>
      <p:sp>
        <p:nvSpPr>
          <p:cNvPr id="2" name="Date Placeholder 1"/>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1873982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76872"/>
            <a:ext cx="8229600" cy="1143000"/>
          </a:xfrm>
        </p:spPr>
        <p:txBody>
          <a:bodyPr>
            <a:normAutofit fontScale="90000"/>
          </a:bodyPr>
          <a:lstStyle/>
          <a:p>
            <a:pPr algn="ctr"/>
            <a:r>
              <a:rPr lang="en-US" b="1" dirty="0"/>
              <a:t>Requirements engineering processes</a:t>
            </a:r>
          </a:p>
        </p:txBody>
      </p:sp>
      <p:sp>
        <p:nvSpPr>
          <p:cNvPr id="4" name="Footer Placeholder 3"/>
          <p:cNvSpPr>
            <a:spLocks noGrp="1"/>
          </p:cNvSpPr>
          <p:nvPr>
            <p:ph type="ftr" sz="quarter" idx="11"/>
          </p:nvPr>
        </p:nvSpPr>
        <p:spPr/>
        <p:txBody>
          <a:bodyPr/>
          <a:lstStyle/>
          <a:p>
            <a:pPr>
              <a:defRPr/>
            </a:pPr>
            <a:r>
              <a:rPr lang="en-US" dirty="0"/>
              <a:t>Chapter 4 Requirements Engineering</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16</a:t>
            </a:fld>
            <a:endParaRPr lang="en-US" dirty="0"/>
          </a:p>
        </p:txBody>
      </p:sp>
      <p:sp>
        <p:nvSpPr>
          <p:cNvPr id="3" name="Date Placeholder 2"/>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3373653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b="1" dirty="0"/>
              <a:t>Requirements engineering processes</a:t>
            </a:r>
          </a:p>
        </p:txBody>
      </p:sp>
      <p:sp>
        <p:nvSpPr>
          <p:cNvPr id="44035" name="Rectangle 3"/>
          <p:cNvSpPr>
            <a:spLocks noGrp="1" noChangeArrowheads="1"/>
          </p:cNvSpPr>
          <p:nvPr>
            <p:ph idx="1"/>
          </p:nvPr>
        </p:nvSpPr>
        <p:spPr/>
        <p:txBody>
          <a:bodyPr>
            <a:normAutofit fontScale="92500"/>
          </a:bodyPr>
          <a:lstStyle/>
          <a:p>
            <a:pPr>
              <a:lnSpc>
                <a:spcPct val="90000"/>
              </a:lnSpc>
            </a:pPr>
            <a:r>
              <a:rPr lang="en-GB" dirty="0"/>
              <a:t>The processes used for RE vary widely depending on the application domain, the people involved and the organisation developing the requirements.</a:t>
            </a:r>
          </a:p>
          <a:p>
            <a:pPr>
              <a:lnSpc>
                <a:spcPct val="90000"/>
              </a:lnSpc>
            </a:pPr>
            <a:r>
              <a:rPr lang="en-GB" dirty="0"/>
              <a:t>However, there are a number of generic activities common to all processes</a:t>
            </a:r>
          </a:p>
          <a:p>
            <a:pPr marL="914400" lvl="1" indent="-457200">
              <a:lnSpc>
                <a:spcPct val="90000"/>
              </a:lnSpc>
              <a:buFont typeface="+mj-lt"/>
              <a:buAutoNum type="alphaUcPeriod"/>
            </a:pPr>
            <a:r>
              <a:rPr lang="en-GB" sz="2200" dirty="0"/>
              <a:t>Feasibility Study</a:t>
            </a:r>
          </a:p>
          <a:p>
            <a:pPr marL="914400" lvl="1" indent="-457200">
              <a:lnSpc>
                <a:spcPct val="90000"/>
              </a:lnSpc>
              <a:buFont typeface="+mj-lt"/>
              <a:buAutoNum type="alphaUcPeriod"/>
            </a:pPr>
            <a:r>
              <a:rPr lang="en-GB" sz="2200" dirty="0"/>
              <a:t>Requirements elicitation</a:t>
            </a:r>
          </a:p>
          <a:p>
            <a:pPr marL="914400" lvl="1" indent="-457200">
              <a:lnSpc>
                <a:spcPct val="90000"/>
              </a:lnSpc>
              <a:buFont typeface="+mj-lt"/>
              <a:buAutoNum type="alphaUcPeriod"/>
            </a:pPr>
            <a:r>
              <a:rPr lang="en-GB" sz="2200" dirty="0"/>
              <a:t>Requirements analysis</a:t>
            </a:r>
          </a:p>
          <a:p>
            <a:pPr marL="914400" lvl="1" indent="-457200">
              <a:lnSpc>
                <a:spcPct val="90000"/>
              </a:lnSpc>
              <a:buFont typeface="+mj-lt"/>
              <a:buAutoNum type="alphaUcPeriod"/>
            </a:pPr>
            <a:r>
              <a:rPr lang="en-GB" sz="2200" dirty="0"/>
              <a:t>Requirements validation</a:t>
            </a:r>
          </a:p>
          <a:p>
            <a:pPr marL="914400" lvl="1" indent="-457200">
              <a:lnSpc>
                <a:spcPct val="90000"/>
              </a:lnSpc>
              <a:buFont typeface="+mj-lt"/>
              <a:buAutoNum type="alphaUcPeriod"/>
            </a:pPr>
            <a:r>
              <a:rPr lang="en-GB" sz="2200" dirty="0"/>
              <a:t>Requirements management.</a:t>
            </a:r>
          </a:p>
          <a:p>
            <a:pPr>
              <a:lnSpc>
                <a:spcPct val="90000"/>
              </a:lnSpc>
            </a:pPr>
            <a:r>
              <a:rPr lang="en-GB" dirty="0"/>
              <a:t>In practice, RE is an iterative activity in which these processes are interleaved.</a:t>
            </a:r>
          </a:p>
        </p:txBody>
      </p:sp>
      <p:sp>
        <p:nvSpPr>
          <p:cNvPr id="5" name="Footer Placeholder 4"/>
          <p:cNvSpPr>
            <a:spLocks noGrp="1"/>
          </p:cNvSpPr>
          <p:nvPr>
            <p:ph type="ftr" sz="quarter" idx="11"/>
          </p:nvPr>
        </p:nvSpPr>
        <p:spPr/>
        <p:txBody>
          <a:bodyPr/>
          <a:lstStyle/>
          <a:p>
            <a:pPr>
              <a:defRPr/>
            </a:pPr>
            <a:r>
              <a:rPr lang="en-US" dirty="0"/>
              <a:t>Chapter 4 Requirements Engineering</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17</a:t>
            </a:fld>
            <a:endParaRPr lang="en-US" dirty="0"/>
          </a:p>
        </p:txBody>
      </p:sp>
      <p:sp>
        <p:nvSpPr>
          <p:cNvPr id="2" name="Date Placeholder 1"/>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3065595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l" rtl="0">
              <a:lnSpc>
                <a:spcPct val="90000"/>
              </a:lnSpc>
              <a:spcBef>
                <a:spcPct val="0"/>
              </a:spcBef>
            </a:pPr>
            <a:r>
              <a:rPr lang="en-GB" sz="4000" dirty="0">
                <a:latin typeface="Times New Roman" panose="02020603050405020304" pitchFamily="18" charset="0"/>
                <a:cs typeface="Times New Roman" panose="02020603050405020304" pitchFamily="18" charset="0"/>
              </a:rPr>
              <a:t>A. Feasibility Study</a:t>
            </a:r>
            <a:br>
              <a:rPr lang="en-GB"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a:t>A feasibility Study in Software Engineering is a study to evaluate the feasibility of a proposed project or system.</a:t>
            </a:r>
          </a:p>
          <a:p>
            <a:pPr algn="just"/>
            <a:r>
              <a:rPr lang="en-US" dirty="0"/>
              <a:t> A feasibility study is one of stage among important stages of the Software Project Management Process. </a:t>
            </a:r>
          </a:p>
          <a:p>
            <a:pPr algn="just"/>
            <a:r>
              <a:rPr lang="en-US" dirty="0"/>
              <a:t>It is a measure of the software product in terms of how beneficial product development will be for the organization from a practical point of view. </a:t>
            </a:r>
          </a:p>
          <a:p>
            <a:pPr algn="just"/>
            <a:r>
              <a:rPr lang="en-US" dirty="0"/>
              <a:t>A feasibility study is carried out based on many purposes to analyze whether the software product will be right in terms of development, implantation, the contribution of the project to the organization etc. </a:t>
            </a:r>
          </a:p>
        </p:txBody>
      </p:sp>
    </p:spTree>
    <p:extLst>
      <p:ext uri="{BB962C8B-B14F-4D97-AF65-F5344CB8AC3E}">
        <p14:creationId xmlns:p14="http://schemas.microsoft.com/office/powerpoint/2010/main" val="26776647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A. Feasibility Study</a:t>
            </a:r>
            <a:br>
              <a:rPr lang="en-GB"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b="1" dirty="0"/>
              <a:t>1.Technical Feasibility</a:t>
            </a:r>
          </a:p>
          <a:p>
            <a:r>
              <a:rPr lang="en-US" dirty="0"/>
              <a:t>Current resources hardware or software</a:t>
            </a:r>
          </a:p>
          <a:p>
            <a:r>
              <a:rPr lang="en-US" dirty="0"/>
              <a:t>Technical skills and capabilities</a:t>
            </a:r>
          </a:p>
          <a:p>
            <a:pPr marL="0" indent="0">
              <a:buNone/>
            </a:pPr>
            <a:r>
              <a:rPr lang="en-US" b="1" dirty="0"/>
              <a:t>2.Economic Feasibility</a:t>
            </a:r>
          </a:p>
          <a:p>
            <a:r>
              <a:rPr lang="en-US" dirty="0"/>
              <a:t>Cost incurred on software development</a:t>
            </a:r>
          </a:p>
          <a:p>
            <a:r>
              <a:rPr lang="en-US" dirty="0"/>
              <a:t>Cost of hardware ,software, development team, and training.</a:t>
            </a:r>
          </a:p>
          <a:p>
            <a:pPr marL="0" indent="0">
              <a:buNone/>
            </a:pPr>
            <a:r>
              <a:rPr lang="en-US" b="1" dirty="0"/>
              <a:t>3. Operational Feasibility</a:t>
            </a:r>
          </a:p>
          <a:p>
            <a:pPr marL="0" indent="0">
              <a:buNone/>
            </a:pPr>
            <a:r>
              <a:rPr lang="en-US" dirty="0"/>
              <a:t>Depends on human resource and whether software will operate after it is developed.</a:t>
            </a:r>
          </a:p>
          <a:p>
            <a:pPr marL="0" indent="0">
              <a:buNone/>
            </a:pPr>
            <a:endParaRPr lang="en-US" b="1" dirty="0"/>
          </a:p>
          <a:p>
            <a:endParaRPr lang="en-US" dirty="0"/>
          </a:p>
          <a:p>
            <a:endParaRPr lang="en-US" dirty="0"/>
          </a:p>
        </p:txBody>
      </p:sp>
    </p:spTree>
    <p:extLst>
      <p:ext uri="{BB962C8B-B14F-4D97-AF65-F5344CB8AC3E}">
        <p14:creationId xmlns:p14="http://schemas.microsoft.com/office/powerpoint/2010/main" val="2688888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 Requirement Elicitation</a:t>
            </a:r>
          </a:p>
        </p:txBody>
      </p:sp>
      <p:sp>
        <p:nvSpPr>
          <p:cNvPr id="3" name="Content Placeholder 2"/>
          <p:cNvSpPr>
            <a:spLocks noGrp="1"/>
          </p:cNvSpPr>
          <p:nvPr>
            <p:ph idx="1"/>
          </p:nvPr>
        </p:nvSpPr>
        <p:spPr/>
        <p:txBody>
          <a:bodyPr/>
          <a:lstStyle/>
          <a:p>
            <a:pPr algn="just"/>
            <a:r>
              <a:rPr lang="en-US" dirty="0"/>
              <a:t> Requirements are Discovered , Articulated and Revealed from stake holders</a:t>
            </a:r>
          </a:p>
          <a:p>
            <a:pPr algn="just"/>
            <a:r>
              <a:rPr lang="en-US" dirty="0"/>
              <a:t> It is perhaps the most difficult, most error-prone and most communication intensive aspect of software development.</a:t>
            </a:r>
          </a:p>
          <a:p>
            <a:pPr algn="just"/>
            <a:r>
              <a:rPr lang="en-US" dirty="0"/>
              <a:t> It can be successful only through an effective customer-developer partnership.</a:t>
            </a:r>
          </a:p>
          <a:p>
            <a:pPr algn="just"/>
            <a:r>
              <a:rPr lang="en-US" dirty="0"/>
              <a:t> It is needed to know what the users really need.</a:t>
            </a:r>
          </a:p>
        </p:txBody>
      </p:sp>
    </p:spTree>
    <p:extLst>
      <p:ext uri="{BB962C8B-B14F-4D97-AF65-F5344CB8AC3E}">
        <p14:creationId xmlns:p14="http://schemas.microsoft.com/office/powerpoint/2010/main" val="7863896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Requirements elicitation Activities:</a:t>
            </a:r>
            <a:endParaRPr lang="en-US" dirty="0"/>
          </a:p>
        </p:txBody>
      </p:sp>
      <p:sp>
        <p:nvSpPr>
          <p:cNvPr id="3" name="Content Placeholder 2"/>
          <p:cNvSpPr>
            <a:spLocks noGrp="1"/>
          </p:cNvSpPr>
          <p:nvPr>
            <p:ph idx="1"/>
          </p:nvPr>
        </p:nvSpPr>
        <p:spPr/>
        <p:txBody>
          <a:bodyPr/>
          <a:lstStyle/>
          <a:p>
            <a:pPr marL="514350" indent="-514350" fontAlgn="base">
              <a:buFont typeface="+mj-lt"/>
              <a:buAutoNum type="arabicPeriod"/>
            </a:pPr>
            <a:r>
              <a:rPr lang="en-US" dirty="0"/>
              <a:t>Knowledge of the overall area where the systems is applied.</a:t>
            </a:r>
          </a:p>
          <a:p>
            <a:pPr marL="514350" indent="-514350" fontAlgn="base">
              <a:buFont typeface="+mj-lt"/>
              <a:buAutoNum type="arabicPeriod"/>
            </a:pPr>
            <a:r>
              <a:rPr lang="en-US" dirty="0"/>
              <a:t>The details of the precise customer problem where the system are going to be applied must be understood.</a:t>
            </a:r>
          </a:p>
          <a:p>
            <a:pPr marL="514350" indent="-514350" fontAlgn="base">
              <a:buFont typeface="+mj-lt"/>
              <a:buAutoNum type="arabicPeriod"/>
            </a:pPr>
            <a:r>
              <a:rPr lang="en-US" dirty="0"/>
              <a:t>Interaction of system with external requirements.</a:t>
            </a:r>
          </a:p>
          <a:p>
            <a:pPr marL="514350" indent="-514350" fontAlgn="base">
              <a:buFont typeface="+mj-lt"/>
              <a:buAutoNum type="arabicPeriod"/>
            </a:pPr>
            <a:r>
              <a:rPr lang="en-US" dirty="0"/>
              <a:t>Detailed investigation of user needs.</a:t>
            </a:r>
          </a:p>
          <a:p>
            <a:pPr marL="514350" indent="-514350" fontAlgn="base">
              <a:buFont typeface="+mj-lt"/>
              <a:buAutoNum type="arabicPeriod"/>
            </a:pPr>
            <a:r>
              <a:rPr lang="en-US" dirty="0"/>
              <a:t>Define the constraints for system development.</a:t>
            </a:r>
          </a:p>
          <a:p>
            <a:endParaRPr lang="en-US" dirty="0"/>
          </a:p>
        </p:txBody>
      </p:sp>
    </p:spTree>
    <p:extLst>
      <p:ext uri="{BB962C8B-B14F-4D97-AF65-F5344CB8AC3E}">
        <p14:creationId xmlns:p14="http://schemas.microsoft.com/office/powerpoint/2010/main" val="42834130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Requirements elicitation Methods:</a:t>
            </a:r>
            <a:endParaRPr lang="en-US" dirty="0"/>
          </a:p>
        </p:txBody>
      </p:sp>
      <p:sp>
        <p:nvSpPr>
          <p:cNvPr id="3" name="Content Placeholder 2"/>
          <p:cNvSpPr>
            <a:spLocks noGrp="1"/>
          </p:cNvSpPr>
          <p:nvPr>
            <p:ph idx="1"/>
          </p:nvPr>
        </p:nvSpPr>
        <p:spPr/>
        <p:txBody>
          <a:bodyPr/>
          <a:lstStyle/>
          <a:p>
            <a:pPr marL="514350" indent="-514350" fontAlgn="base">
              <a:buFont typeface="+mj-lt"/>
              <a:buAutoNum type="arabicPeriod"/>
            </a:pPr>
            <a:r>
              <a:rPr lang="en-US" dirty="0"/>
              <a:t>Interviews</a:t>
            </a:r>
          </a:p>
          <a:p>
            <a:pPr marL="514350" indent="-514350" fontAlgn="base">
              <a:buFont typeface="+mj-lt"/>
              <a:buAutoNum type="arabicPeriod"/>
            </a:pPr>
            <a:r>
              <a:rPr lang="en-US" dirty="0"/>
              <a:t>Brainstorming Sessions</a:t>
            </a:r>
          </a:p>
          <a:p>
            <a:pPr marL="514350" indent="-514350" fontAlgn="base">
              <a:buFont typeface="+mj-lt"/>
              <a:buAutoNum type="arabicPeriod"/>
            </a:pPr>
            <a:r>
              <a:rPr lang="en-US" dirty="0"/>
              <a:t>Facilitated Application Specification Technique (FAST)</a:t>
            </a:r>
          </a:p>
          <a:p>
            <a:pPr marL="514350" indent="-514350" fontAlgn="base">
              <a:buFont typeface="+mj-lt"/>
              <a:buAutoNum type="arabicPeriod"/>
            </a:pPr>
            <a:r>
              <a:rPr lang="en-US" dirty="0"/>
              <a:t>Quality Function Deployment (QFD)</a:t>
            </a:r>
          </a:p>
          <a:p>
            <a:pPr marL="514350" indent="-514350" fontAlgn="base">
              <a:buFont typeface="+mj-lt"/>
              <a:buAutoNum type="arabicPeriod"/>
            </a:pPr>
            <a:r>
              <a:rPr lang="en-US" dirty="0"/>
              <a:t>Use Case Approach</a:t>
            </a:r>
          </a:p>
          <a:p>
            <a:pPr marL="0" indent="0" fontAlgn="base">
              <a:buNone/>
            </a:pPr>
            <a:r>
              <a:rPr lang="en-US" dirty="0"/>
              <a:t>The success of an elicitation technique used depends on the maturity of the analyst, developers, users, and the customer involved.</a:t>
            </a:r>
          </a:p>
          <a:p>
            <a:endParaRPr lang="en-US" dirty="0"/>
          </a:p>
        </p:txBody>
      </p:sp>
    </p:spTree>
    <p:extLst>
      <p:ext uri="{BB962C8B-B14F-4D97-AF65-F5344CB8AC3E}">
        <p14:creationId xmlns:p14="http://schemas.microsoft.com/office/powerpoint/2010/main" val="8747580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Interviews:</a:t>
            </a:r>
            <a:r>
              <a:rPr lang="en-US" dirty="0"/>
              <a:t> </a:t>
            </a:r>
          </a:p>
        </p:txBody>
      </p:sp>
      <p:sp>
        <p:nvSpPr>
          <p:cNvPr id="3" name="Content Placeholder 2"/>
          <p:cNvSpPr>
            <a:spLocks noGrp="1"/>
          </p:cNvSpPr>
          <p:nvPr>
            <p:ph idx="1"/>
          </p:nvPr>
        </p:nvSpPr>
        <p:spPr/>
        <p:txBody>
          <a:bodyPr>
            <a:normAutofit/>
          </a:bodyPr>
          <a:lstStyle/>
          <a:p>
            <a:pPr fontAlgn="base"/>
            <a:r>
              <a:rPr lang="en-US" dirty="0"/>
              <a:t>Objective of conducting an interview is to understand the customer’s expectations from the software. </a:t>
            </a:r>
          </a:p>
          <a:p>
            <a:pPr fontAlgn="base"/>
            <a:r>
              <a:rPr lang="en-US" dirty="0"/>
              <a:t>It is impossible to interview every stakeholder hence representatives from groups are selected based on their expertise and credibility. </a:t>
            </a:r>
          </a:p>
          <a:p>
            <a:pPr fontAlgn="base"/>
            <a:r>
              <a:rPr lang="en-US" dirty="0"/>
              <a:t>Interviews maybe be open-ended or structured. </a:t>
            </a:r>
          </a:p>
          <a:p>
            <a:pPr fontAlgn="base"/>
            <a:r>
              <a:rPr lang="en-US" dirty="0"/>
              <a:t>In open-ended interviews there is no pre-set agenda. </a:t>
            </a:r>
          </a:p>
          <a:p>
            <a:pPr fontAlgn="base"/>
            <a:r>
              <a:rPr lang="en-US" dirty="0"/>
              <a:t>Context free questions may be asked to understand the problem.</a:t>
            </a:r>
          </a:p>
          <a:p>
            <a:pPr fontAlgn="base"/>
            <a:r>
              <a:rPr lang="en-US" dirty="0"/>
              <a:t>In structured interview, agenda of fairly open questions is prepared. Sometimes a proper questionnaire is designed for the interview.</a:t>
            </a:r>
          </a:p>
          <a:p>
            <a:endParaRPr lang="en-US" dirty="0"/>
          </a:p>
        </p:txBody>
      </p:sp>
    </p:spTree>
    <p:extLst>
      <p:ext uri="{BB962C8B-B14F-4D97-AF65-F5344CB8AC3E}">
        <p14:creationId xmlns:p14="http://schemas.microsoft.com/office/powerpoint/2010/main" val="38017866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Brainstorming Sessions:</a:t>
            </a:r>
            <a:r>
              <a:rPr lang="en-US" dirty="0"/>
              <a:t> </a:t>
            </a:r>
            <a:br>
              <a:rPr lang="en-US" dirty="0"/>
            </a:br>
            <a:endParaRPr lang="en-US" dirty="0"/>
          </a:p>
        </p:txBody>
      </p:sp>
      <p:sp>
        <p:nvSpPr>
          <p:cNvPr id="3" name="Content Placeholder 2"/>
          <p:cNvSpPr>
            <a:spLocks noGrp="1"/>
          </p:cNvSpPr>
          <p:nvPr>
            <p:ph idx="1"/>
          </p:nvPr>
        </p:nvSpPr>
        <p:spPr/>
        <p:txBody>
          <a:bodyPr>
            <a:normAutofit/>
          </a:bodyPr>
          <a:lstStyle/>
          <a:p>
            <a:pPr fontAlgn="base"/>
            <a:r>
              <a:rPr lang="en-US" dirty="0"/>
              <a:t>It is a group technique used to understand the requirement.</a:t>
            </a:r>
          </a:p>
          <a:p>
            <a:pPr fontAlgn="base"/>
            <a:r>
              <a:rPr lang="en-US" dirty="0"/>
              <a:t>It promotes creative thinking, generates new ideas and provide platform to share views and difficulties of implementations.</a:t>
            </a:r>
          </a:p>
          <a:p>
            <a:pPr fontAlgn="base"/>
            <a:r>
              <a:rPr lang="en-US" dirty="0"/>
              <a:t>A highly trained facilitator is required to handle group bias and group conflicts.</a:t>
            </a:r>
          </a:p>
          <a:p>
            <a:pPr fontAlgn="base"/>
            <a:r>
              <a:rPr lang="en-US" dirty="0"/>
              <a:t>Every idea is documented so that everyone can see it.</a:t>
            </a:r>
          </a:p>
          <a:p>
            <a:pPr fontAlgn="base"/>
            <a:r>
              <a:rPr lang="en-US" dirty="0"/>
              <a:t>Finally, a document is prepared which consists of the list of requirements and their priority if possible.</a:t>
            </a:r>
          </a:p>
          <a:p>
            <a:endParaRPr lang="en-US" dirty="0"/>
          </a:p>
        </p:txBody>
      </p:sp>
    </p:spTree>
    <p:extLst>
      <p:ext uri="{BB962C8B-B14F-4D97-AF65-F5344CB8AC3E}">
        <p14:creationId xmlns:p14="http://schemas.microsoft.com/office/powerpoint/2010/main" val="22257392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 Facilitated Application Specification Technique(FAST):</a:t>
            </a:r>
            <a:r>
              <a:rPr lang="en-US" dirty="0"/>
              <a:t> </a:t>
            </a:r>
          </a:p>
        </p:txBody>
      </p:sp>
      <p:sp>
        <p:nvSpPr>
          <p:cNvPr id="3" name="Content Placeholder 2"/>
          <p:cNvSpPr>
            <a:spLocks noGrp="1"/>
          </p:cNvSpPr>
          <p:nvPr>
            <p:ph idx="1"/>
          </p:nvPr>
        </p:nvSpPr>
        <p:spPr/>
        <p:txBody>
          <a:bodyPr>
            <a:normAutofit fontScale="77500" lnSpcReduction="20000"/>
          </a:bodyPr>
          <a:lstStyle/>
          <a:p>
            <a:pPr algn="just" fontAlgn="base"/>
            <a:r>
              <a:rPr lang="en-US" dirty="0"/>
              <a:t>It’s objective is to bridge the expectation gap – difference between what the developers think they are supposed to build and what customers think they are going to get. </a:t>
            </a:r>
          </a:p>
          <a:p>
            <a:pPr algn="just" fontAlgn="base"/>
            <a:r>
              <a:rPr lang="en-US" dirty="0"/>
              <a:t>A team-oriented approach is developed for requirements gathering. </a:t>
            </a:r>
            <a:br>
              <a:rPr lang="en-US" dirty="0"/>
            </a:br>
            <a:r>
              <a:rPr lang="en-US" dirty="0"/>
              <a:t>Each attendee is asked to make a list of objects ,functions and constraints.</a:t>
            </a:r>
          </a:p>
          <a:p>
            <a:pPr algn="just" fontAlgn="base"/>
            <a:r>
              <a:rPr lang="en-US" dirty="0"/>
              <a:t>List of object consist of objects used in the system, object that are produced by system and the object that surround the system.</a:t>
            </a:r>
          </a:p>
          <a:p>
            <a:pPr algn="just" fontAlgn="base"/>
            <a:r>
              <a:rPr lang="en-US" dirty="0"/>
              <a:t>List of service consist of all the required functionalities that manipulate or interact with the object.</a:t>
            </a:r>
          </a:p>
          <a:p>
            <a:pPr algn="just" fontAlgn="base"/>
            <a:r>
              <a:rPr lang="en-US" dirty="0"/>
              <a:t>List of constraint consist of all the constraint of the system such as cost, rules, memory requirements, speed, accuracy etc.</a:t>
            </a:r>
          </a:p>
          <a:p>
            <a:pPr algn="just" fontAlgn="base"/>
            <a:r>
              <a:rPr lang="en-US" dirty="0"/>
              <a:t>Each participant prepares his/her list, different lists are then combined, redundant entries are eliminated, team is divided into smaller sub-teams to develop mini-specifications and finally a draft of specifications is written down using all the inputs from the meeting. </a:t>
            </a:r>
          </a:p>
        </p:txBody>
      </p:sp>
    </p:spTree>
    <p:extLst>
      <p:ext uri="{BB962C8B-B14F-4D97-AF65-F5344CB8AC3E}">
        <p14:creationId xmlns:p14="http://schemas.microsoft.com/office/powerpoint/2010/main" val="701346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 Quality Function Deployment</a:t>
            </a:r>
            <a:endParaRPr lang="en-US" dirty="0"/>
          </a:p>
        </p:txBody>
      </p:sp>
      <p:sp>
        <p:nvSpPr>
          <p:cNvPr id="3" name="Content Placeholder 2"/>
          <p:cNvSpPr>
            <a:spLocks noGrp="1"/>
          </p:cNvSpPr>
          <p:nvPr>
            <p:ph idx="1"/>
          </p:nvPr>
        </p:nvSpPr>
        <p:spPr/>
        <p:txBody>
          <a:bodyPr>
            <a:normAutofit fontScale="70000" lnSpcReduction="20000"/>
          </a:bodyPr>
          <a:lstStyle/>
          <a:p>
            <a:pPr marL="0" indent="0" fontAlgn="base">
              <a:buNone/>
            </a:pPr>
            <a:r>
              <a:rPr lang="en-US" dirty="0"/>
              <a:t>In this technique customer satisfaction is of prime concern, hence it emphasizes on the requirements which are valuable to the customer. </a:t>
            </a:r>
            <a:br>
              <a:rPr lang="en-US" dirty="0"/>
            </a:br>
            <a:r>
              <a:rPr lang="en-US" dirty="0"/>
              <a:t>Three types of requirements are identified – </a:t>
            </a:r>
          </a:p>
          <a:p>
            <a:pPr marL="0" indent="0" fontAlgn="base">
              <a:buNone/>
            </a:pPr>
            <a:r>
              <a:rPr lang="en-US" b="1" dirty="0"/>
              <a:t>1. Normal requirements </a:t>
            </a:r>
            <a:br>
              <a:rPr lang="en-US" dirty="0"/>
            </a:br>
            <a:r>
              <a:rPr lang="en-US" dirty="0"/>
              <a:t>In this the objective and goals of the proposed software are discussed with the customer. </a:t>
            </a:r>
          </a:p>
          <a:p>
            <a:pPr marL="0" indent="0" fontAlgn="base">
              <a:buNone/>
            </a:pPr>
            <a:r>
              <a:rPr lang="en-US" dirty="0"/>
              <a:t>Example – normal requirements for a result management system may be entry of marks, calculation of results, </a:t>
            </a:r>
            <a:r>
              <a:rPr lang="en-US" dirty="0" err="1"/>
              <a:t>etc</a:t>
            </a:r>
            <a:endParaRPr lang="en-US" dirty="0"/>
          </a:p>
          <a:p>
            <a:pPr marL="0" indent="0" fontAlgn="base">
              <a:buNone/>
            </a:pPr>
            <a:r>
              <a:rPr lang="en-US" b="1" dirty="0"/>
              <a:t>2. Expected requirements </a:t>
            </a:r>
            <a:br>
              <a:rPr lang="en-US" dirty="0"/>
            </a:br>
            <a:r>
              <a:rPr lang="en-US" dirty="0"/>
              <a:t>These requirements are so obvious that the customer need not explicitly state them. </a:t>
            </a:r>
          </a:p>
          <a:p>
            <a:pPr marL="0" indent="0" fontAlgn="base">
              <a:buNone/>
            </a:pPr>
            <a:r>
              <a:rPr lang="en-US" dirty="0"/>
              <a:t>Example – protection from unauthorized access.</a:t>
            </a:r>
          </a:p>
          <a:p>
            <a:pPr marL="0" indent="0" fontAlgn="base">
              <a:buNone/>
            </a:pPr>
            <a:r>
              <a:rPr lang="en-US" b="1" dirty="0"/>
              <a:t>3. Exciting requirements </a:t>
            </a:r>
            <a:br>
              <a:rPr lang="en-US" dirty="0"/>
            </a:br>
            <a:r>
              <a:rPr lang="en-US" dirty="0"/>
              <a:t>It includes features that are beyond customer’s expectations and prove to be very satisfying when present. </a:t>
            </a:r>
          </a:p>
          <a:p>
            <a:pPr marL="0" indent="0" fontAlgn="base">
              <a:buNone/>
            </a:pPr>
            <a:r>
              <a:rPr lang="en-US" dirty="0"/>
              <a:t>Example – when unauthorized access is detected, it should backup and shutdown all processes.</a:t>
            </a:r>
          </a:p>
          <a:p>
            <a:endParaRPr lang="en-US" dirty="0"/>
          </a:p>
        </p:txBody>
      </p:sp>
    </p:spTree>
    <p:extLst>
      <p:ext uri="{BB962C8B-B14F-4D97-AF65-F5344CB8AC3E}">
        <p14:creationId xmlns:p14="http://schemas.microsoft.com/office/powerpoint/2010/main" val="7199727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5. Use Case Approach:</a:t>
            </a:r>
            <a:r>
              <a:rPr lang="en-US" dirty="0"/>
              <a:t> </a:t>
            </a:r>
          </a:p>
        </p:txBody>
      </p:sp>
      <p:sp>
        <p:nvSpPr>
          <p:cNvPr id="3" name="Content Placeholder 2"/>
          <p:cNvSpPr>
            <a:spLocks noGrp="1"/>
          </p:cNvSpPr>
          <p:nvPr>
            <p:ph idx="1"/>
          </p:nvPr>
        </p:nvSpPr>
        <p:spPr/>
        <p:txBody>
          <a:bodyPr>
            <a:normAutofit fontScale="92500" lnSpcReduction="10000"/>
          </a:bodyPr>
          <a:lstStyle/>
          <a:p>
            <a:pPr fontAlgn="base"/>
            <a:r>
              <a:rPr lang="en-US" dirty="0"/>
              <a:t>This technique combines text and pictures to provide a better understanding of the requirements.</a:t>
            </a:r>
          </a:p>
          <a:p>
            <a:pPr fontAlgn="base"/>
            <a:r>
              <a:rPr lang="en-US" dirty="0"/>
              <a:t>The use cases describe the ‘what’, of a system and not ‘how’. Hence, they only give a functional view of the system. </a:t>
            </a:r>
            <a:br>
              <a:rPr lang="en-US" dirty="0"/>
            </a:br>
            <a:r>
              <a:rPr lang="en-US" dirty="0"/>
              <a:t>The components of the use case design includes three major things – Actor, Use cases, use case diagram. </a:t>
            </a:r>
          </a:p>
          <a:p>
            <a:pPr marL="0" indent="0" fontAlgn="base">
              <a:buNone/>
            </a:pPr>
            <a:r>
              <a:rPr lang="en-US" b="1" dirty="0"/>
              <a:t>1. Actor </a:t>
            </a:r>
            <a:br>
              <a:rPr lang="en-US" dirty="0"/>
            </a:br>
            <a:r>
              <a:rPr lang="en-US" dirty="0"/>
              <a:t>It is the external agent that lies outside the system but interacts with it in some way. An actor maybe a person, machine etc. It is represented as a stick figure. Actors can be primary actors or secondary actors. </a:t>
            </a:r>
          </a:p>
          <a:p>
            <a:pPr lvl="1" fontAlgn="base"/>
            <a:r>
              <a:rPr lang="en-US" dirty="0"/>
              <a:t>Primary actors – It requires assistance from the system to achieve a goal.</a:t>
            </a:r>
          </a:p>
          <a:p>
            <a:pPr lvl="1" fontAlgn="base"/>
            <a:r>
              <a:rPr lang="en-US" dirty="0"/>
              <a:t>Secondary actor – It is an actor from which the system needs assistance.</a:t>
            </a:r>
          </a:p>
        </p:txBody>
      </p:sp>
    </p:spTree>
    <p:extLst>
      <p:ext uri="{BB962C8B-B14F-4D97-AF65-F5344CB8AC3E}">
        <p14:creationId xmlns:p14="http://schemas.microsoft.com/office/powerpoint/2010/main" val="1175525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5. Use Case Approach:</a:t>
            </a:r>
            <a:r>
              <a:rPr lang="en-US" dirty="0"/>
              <a:t> </a:t>
            </a:r>
          </a:p>
        </p:txBody>
      </p:sp>
      <p:sp>
        <p:nvSpPr>
          <p:cNvPr id="3" name="Content Placeholder 2"/>
          <p:cNvSpPr>
            <a:spLocks noGrp="1"/>
          </p:cNvSpPr>
          <p:nvPr>
            <p:ph idx="1"/>
          </p:nvPr>
        </p:nvSpPr>
        <p:spPr>
          <a:xfrm>
            <a:off x="838200" y="1825625"/>
            <a:ext cx="10515600" cy="4351338"/>
          </a:xfrm>
        </p:spPr>
        <p:txBody>
          <a:bodyPr>
            <a:normAutofit fontScale="92500" lnSpcReduction="10000"/>
          </a:bodyPr>
          <a:lstStyle/>
          <a:p>
            <a:pPr marL="0" indent="0" fontAlgn="base">
              <a:buNone/>
            </a:pPr>
            <a:endParaRPr lang="en-US" dirty="0"/>
          </a:p>
          <a:p>
            <a:pPr marL="0" indent="0" fontAlgn="base">
              <a:buNone/>
            </a:pPr>
            <a:r>
              <a:rPr lang="en-US" b="1" dirty="0"/>
              <a:t>2. Use cases –</a:t>
            </a:r>
            <a:r>
              <a:rPr lang="en-US" dirty="0"/>
              <a:t> </a:t>
            </a:r>
            <a:br>
              <a:rPr lang="en-US" dirty="0"/>
            </a:br>
            <a:r>
              <a:rPr lang="en-US" dirty="0"/>
              <a:t>They describe the sequence of interactions between actors and the system. They capture who(actors) do what(interaction) with the system. A complete set of use cases specifies all possible ways to use the system.</a:t>
            </a:r>
          </a:p>
          <a:p>
            <a:pPr marL="0" indent="0" fontAlgn="base">
              <a:buNone/>
            </a:pPr>
            <a:r>
              <a:rPr lang="en-US" b="1" dirty="0"/>
              <a:t>3. A use case diagram </a:t>
            </a:r>
          </a:p>
          <a:p>
            <a:pPr marL="0" indent="0" fontAlgn="base">
              <a:buNone/>
            </a:pPr>
            <a:r>
              <a:rPr lang="en-US" dirty="0"/>
              <a:t>Graphically represents what happens when an actor interacts with a system. It captures the functional aspect of the system. </a:t>
            </a:r>
          </a:p>
          <a:p>
            <a:pPr lvl="1" fontAlgn="base">
              <a:buFont typeface="Wingdings" panose="05000000000000000000" pitchFamily="2" charset="2"/>
              <a:buChar char="§"/>
            </a:pPr>
            <a:r>
              <a:rPr lang="en-US" dirty="0"/>
              <a:t>A stick figure is used to represent an actor.</a:t>
            </a:r>
          </a:p>
          <a:p>
            <a:pPr lvl="1" fontAlgn="base">
              <a:buFont typeface="Wingdings" panose="05000000000000000000" pitchFamily="2" charset="2"/>
              <a:buChar char="§"/>
            </a:pPr>
            <a:r>
              <a:rPr lang="en-US" dirty="0"/>
              <a:t>An oval is used to represent a use case.</a:t>
            </a:r>
          </a:p>
          <a:p>
            <a:pPr lvl="1" fontAlgn="base">
              <a:buFont typeface="Wingdings" panose="05000000000000000000" pitchFamily="2" charset="2"/>
              <a:buChar char="§"/>
            </a:pPr>
            <a:r>
              <a:rPr lang="en-US" dirty="0"/>
              <a:t>A line is used to represent a relationship between an actor and a use case.</a:t>
            </a:r>
          </a:p>
          <a:p>
            <a:pPr>
              <a:buFont typeface="Wingdings" panose="05000000000000000000" pitchFamily="2" charset="2"/>
              <a:buChar char="§"/>
            </a:pPr>
            <a:endParaRPr lang="en-US" dirty="0"/>
          </a:p>
          <a:p>
            <a:endParaRPr lang="en-US" dirty="0"/>
          </a:p>
        </p:txBody>
      </p:sp>
    </p:spTree>
    <p:extLst>
      <p:ext uri="{BB962C8B-B14F-4D97-AF65-F5344CB8AC3E}">
        <p14:creationId xmlns:p14="http://schemas.microsoft.com/office/powerpoint/2010/main" val="32907154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Use Case Diagram</a:t>
            </a:r>
          </a:p>
        </p:txBody>
      </p:sp>
      <p:pic>
        <p:nvPicPr>
          <p:cNvPr id="4" name="Content Placeholder 3"/>
          <p:cNvPicPr>
            <a:picLocks noGrp="1" noChangeAspect="1"/>
          </p:cNvPicPr>
          <p:nvPr>
            <p:ph idx="1"/>
          </p:nvPr>
        </p:nvPicPr>
        <p:blipFill>
          <a:blip r:embed="rId2"/>
          <a:stretch>
            <a:fillRect/>
          </a:stretch>
        </p:blipFill>
        <p:spPr>
          <a:xfrm>
            <a:off x="1135781" y="1347537"/>
            <a:ext cx="9144000" cy="4810175"/>
          </a:xfrm>
          <a:prstGeom prst="rect">
            <a:avLst/>
          </a:prstGeom>
        </p:spPr>
      </p:pic>
    </p:spTree>
    <p:extLst>
      <p:ext uri="{BB962C8B-B14F-4D97-AF65-F5344CB8AC3E}">
        <p14:creationId xmlns:p14="http://schemas.microsoft.com/office/powerpoint/2010/main" val="20715059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6. Ethnography</a:t>
            </a:r>
          </a:p>
        </p:txBody>
      </p:sp>
      <p:sp>
        <p:nvSpPr>
          <p:cNvPr id="3" name="Content Placeholder 2"/>
          <p:cNvSpPr>
            <a:spLocks noGrp="1"/>
          </p:cNvSpPr>
          <p:nvPr>
            <p:ph idx="1"/>
          </p:nvPr>
        </p:nvSpPr>
        <p:spPr/>
        <p:txBody>
          <a:bodyPr/>
          <a:lstStyle/>
          <a:p>
            <a:pPr algn="just"/>
            <a:r>
              <a:rPr lang="en-US" dirty="0"/>
              <a:t>Ethnography, within the realm of requirements elicitation, refers to a qualitative research approach that deeply immerses researchers in the natural environment of their subjects to observe and understand their behaviors, practices, and interactions with technology.</a:t>
            </a:r>
          </a:p>
          <a:p>
            <a:pPr algn="just"/>
            <a:r>
              <a:rPr lang="en-US" dirty="0"/>
              <a:t>This anthropological method is adapted to software development to gain insights into user needs, experiences, and the context in which a system will operate.</a:t>
            </a:r>
          </a:p>
          <a:p>
            <a:pPr algn="just"/>
            <a:r>
              <a:rPr lang="en-US" dirty="0"/>
              <a:t> It involves studying users in their work or life settings rather than in artificial environments or laboratory conditions.</a:t>
            </a:r>
          </a:p>
          <a:p>
            <a:pPr algn="just"/>
            <a:endParaRPr lang="en-US" dirty="0"/>
          </a:p>
        </p:txBody>
      </p:sp>
    </p:spTree>
    <p:extLst>
      <p:ext uri="{BB962C8B-B14F-4D97-AF65-F5344CB8AC3E}">
        <p14:creationId xmlns:p14="http://schemas.microsoft.com/office/powerpoint/2010/main" val="12609743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 Requirement analysis</a:t>
            </a:r>
          </a:p>
        </p:txBody>
      </p:sp>
      <p:sp>
        <p:nvSpPr>
          <p:cNvPr id="3" name="Content Placeholder 2"/>
          <p:cNvSpPr>
            <a:spLocks noGrp="1"/>
          </p:cNvSpPr>
          <p:nvPr>
            <p:ph idx="1"/>
          </p:nvPr>
        </p:nvSpPr>
        <p:spPr/>
        <p:txBody>
          <a:bodyPr>
            <a:normAutofit lnSpcReduction="10000"/>
          </a:bodyPr>
          <a:lstStyle/>
          <a:p>
            <a:pPr algn="just"/>
            <a:r>
              <a:rPr lang="en-US" dirty="0"/>
              <a:t>Requirement analysis is significant and essential activity after elicitation.</a:t>
            </a:r>
          </a:p>
          <a:p>
            <a:pPr algn="just"/>
            <a:r>
              <a:rPr lang="en-US" dirty="0"/>
              <a:t>Analyze, refine, and scrutinize the gathered requirements to make consistent and unambiguous requirements. </a:t>
            </a:r>
          </a:p>
          <a:p>
            <a:pPr algn="just"/>
            <a:r>
              <a:rPr lang="en-US" dirty="0"/>
              <a:t>Provide a graphical view of the entire system.</a:t>
            </a:r>
          </a:p>
          <a:p>
            <a:pPr algn="just"/>
            <a:r>
              <a:rPr lang="en-US" dirty="0"/>
              <a:t> After the completion of the analysis, it is expected that the understandability of the project may improve significantly.</a:t>
            </a:r>
          </a:p>
          <a:p>
            <a:pPr algn="just"/>
            <a:r>
              <a:rPr lang="en-US" dirty="0"/>
              <a:t> Here, we may also use the interaction with the customer to clarify points of confusion and to understand which requirements are more important than others.</a:t>
            </a:r>
          </a:p>
          <a:p>
            <a:pPr algn="just"/>
            <a:endParaRPr lang="en-US" dirty="0"/>
          </a:p>
        </p:txBody>
      </p:sp>
    </p:spTree>
    <p:extLst>
      <p:ext uri="{BB962C8B-B14F-4D97-AF65-F5344CB8AC3E}">
        <p14:creationId xmlns:p14="http://schemas.microsoft.com/office/powerpoint/2010/main" val="2301173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6327" y="162994"/>
            <a:ext cx="10515600" cy="1325563"/>
          </a:xfrm>
        </p:spPr>
        <p:txBody>
          <a:bodyPr/>
          <a:lstStyle/>
          <a:p>
            <a:r>
              <a:rPr lang="en-US" b="1" dirty="0"/>
              <a:t>C. Requirement analysis</a:t>
            </a:r>
            <a:endParaRPr lang="en-US" dirty="0"/>
          </a:p>
        </p:txBody>
      </p:sp>
      <p:pic>
        <p:nvPicPr>
          <p:cNvPr id="4" name="Content Placeholder 3"/>
          <p:cNvPicPr>
            <a:picLocks noGrp="1" noChangeAspect="1"/>
          </p:cNvPicPr>
          <p:nvPr>
            <p:ph idx="1"/>
          </p:nvPr>
        </p:nvPicPr>
        <p:blipFill>
          <a:blip r:embed="rId2"/>
          <a:stretch>
            <a:fillRect/>
          </a:stretch>
        </p:blipFill>
        <p:spPr>
          <a:xfrm>
            <a:off x="1472665" y="2229644"/>
            <a:ext cx="8470232" cy="3543300"/>
          </a:xfrm>
          <a:prstGeom prst="rect">
            <a:avLst/>
          </a:prstGeom>
        </p:spPr>
      </p:pic>
    </p:spTree>
    <p:extLst>
      <p:ext uri="{BB962C8B-B14F-4D97-AF65-F5344CB8AC3E}">
        <p14:creationId xmlns:p14="http://schemas.microsoft.com/office/powerpoint/2010/main" val="7863827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01662"/>
          </a:xfrm>
        </p:spPr>
        <p:txBody>
          <a:bodyPr/>
          <a:lstStyle/>
          <a:p>
            <a:r>
              <a:rPr lang="en-US" b="1" dirty="0" err="1"/>
              <a:t>i</a:t>
            </a:r>
            <a:r>
              <a:rPr lang="en-US" b="1" dirty="0"/>
              <a:t>) Draw the context diagram:</a:t>
            </a:r>
            <a:r>
              <a:rPr lang="en-US" dirty="0"/>
              <a:t> </a:t>
            </a:r>
          </a:p>
        </p:txBody>
      </p:sp>
      <p:sp>
        <p:nvSpPr>
          <p:cNvPr id="3" name="Content Placeholder 2"/>
          <p:cNvSpPr>
            <a:spLocks noGrp="1"/>
          </p:cNvSpPr>
          <p:nvPr>
            <p:ph idx="1"/>
          </p:nvPr>
        </p:nvSpPr>
        <p:spPr>
          <a:xfrm>
            <a:off x="838200" y="1366788"/>
            <a:ext cx="10515600" cy="4810175"/>
          </a:xfrm>
        </p:spPr>
        <p:txBody>
          <a:bodyPr/>
          <a:lstStyle/>
          <a:p>
            <a:pPr marL="0" indent="0">
              <a:buNone/>
            </a:pPr>
            <a:r>
              <a:rPr lang="en-US" sz="2000" dirty="0"/>
              <a:t>The context diagram is a simple model that defines the boundaries and interfaces of the proposed systems with the external world.</a:t>
            </a:r>
          </a:p>
          <a:p>
            <a:pPr marL="0" indent="0">
              <a:buNone/>
            </a:pPr>
            <a:r>
              <a:rPr lang="en-US" sz="2000" dirty="0"/>
              <a:t> It identifies the entities outside the proposed system that interact with the system.</a:t>
            </a:r>
          </a:p>
          <a:p>
            <a:pPr marL="0" indent="0">
              <a:buNone/>
            </a:pPr>
            <a:r>
              <a:rPr lang="en-US" sz="2000" dirty="0"/>
              <a:t> The context diagram of student result management system is given below:</a:t>
            </a:r>
          </a:p>
          <a:p>
            <a:pPr marL="0" indent="0">
              <a:buNone/>
            </a:pPr>
            <a:endParaRPr lang="en-US" dirty="0"/>
          </a:p>
        </p:txBody>
      </p:sp>
      <p:pic>
        <p:nvPicPr>
          <p:cNvPr id="4" name="Picture 3"/>
          <p:cNvPicPr>
            <a:picLocks noChangeAspect="1"/>
          </p:cNvPicPr>
          <p:nvPr/>
        </p:nvPicPr>
        <p:blipFill>
          <a:blip r:embed="rId2"/>
          <a:stretch>
            <a:fillRect/>
          </a:stretch>
        </p:blipFill>
        <p:spPr>
          <a:xfrm>
            <a:off x="2483319" y="3089709"/>
            <a:ext cx="5170420" cy="2990341"/>
          </a:xfrm>
          <a:prstGeom prst="rect">
            <a:avLst/>
          </a:prstGeom>
        </p:spPr>
      </p:pic>
    </p:spTree>
    <p:extLst>
      <p:ext uri="{BB962C8B-B14F-4D97-AF65-F5344CB8AC3E}">
        <p14:creationId xmlns:p14="http://schemas.microsoft.com/office/powerpoint/2010/main" val="42944038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(ii) Development of a Prototype (optional):</a:t>
            </a:r>
            <a:r>
              <a:rPr lang="en-US" dirty="0"/>
              <a:t> </a:t>
            </a:r>
          </a:p>
        </p:txBody>
      </p:sp>
      <p:sp>
        <p:nvSpPr>
          <p:cNvPr id="3" name="Content Placeholder 2"/>
          <p:cNvSpPr>
            <a:spLocks noGrp="1"/>
          </p:cNvSpPr>
          <p:nvPr>
            <p:ph idx="1"/>
          </p:nvPr>
        </p:nvSpPr>
        <p:spPr/>
        <p:txBody>
          <a:bodyPr/>
          <a:lstStyle/>
          <a:p>
            <a:pPr algn="just"/>
            <a:r>
              <a:rPr lang="en-US" dirty="0"/>
              <a:t>One effective way to find out what the customer wants is to construct a prototype, something that looks and preferably acts as part of the system they say they want.</a:t>
            </a:r>
          </a:p>
          <a:p>
            <a:pPr algn="just"/>
            <a:r>
              <a:rPr lang="en-US" dirty="0"/>
              <a:t>We can use their feedback to modify the prototype until the customer is satisfied continuously. </a:t>
            </a:r>
          </a:p>
          <a:p>
            <a:pPr algn="just"/>
            <a:r>
              <a:rPr lang="en-US" dirty="0"/>
              <a:t>Hence, the prototype helps the client to visualize the proposed system and increase the understanding of the requirements.</a:t>
            </a:r>
          </a:p>
          <a:p>
            <a:pPr algn="just"/>
            <a:r>
              <a:rPr lang="en-US" dirty="0"/>
              <a:t> When developers and users are not sure about some of the elements, a prototype may help both the parties to take a final decision.</a:t>
            </a:r>
          </a:p>
        </p:txBody>
      </p:sp>
    </p:spTree>
    <p:extLst>
      <p:ext uri="{BB962C8B-B14F-4D97-AF65-F5344CB8AC3E}">
        <p14:creationId xmlns:p14="http://schemas.microsoft.com/office/powerpoint/2010/main" val="11639870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(iii) Model the requirements:</a:t>
            </a:r>
            <a:endParaRPr lang="en-US" dirty="0"/>
          </a:p>
        </p:txBody>
      </p:sp>
      <p:sp>
        <p:nvSpPr>
          <p:cNvPr id="3" name="Content Placeholder 2"/>
          <p:cNvSpPr>
            <a:spLocks noGrp="1"/>
          </p:cNvSpPr>
          <p:nvPr>
            <p:ph idx="1"/>
          </p:nvPr>
        </p:nvSpPr>
        <p:spPr/>
        <p:txBody>
          <a:bodyPr/>
          <a:lstStyle/>
          <a:p>
            <a:pPr algn="just"/>
            <a:r>
              <a:rPr lang="en-US" dirty="0"/>
              <a:t> This process usually consists of various graphical representations of the functions, data entities, external entities, and the relationships between them.</a:t>
            </a:r>
          </a:p>
          <a:p>
            <a:pPr algn="just"/>
            <a:r>
              <a:rPr lang="en-US" dirty="0"/>
              <a:t> The graphical view may help to find incorrect, inconsistent, missing, and superfluous requirements.</a:t>
            </a:r>
          </a:p>
          <a:p>
            <a:pPr algn="just"/>
            <a:r>
              <a:rPr lang="en-US" dirty="0"/>
              <a:t> Such models include the Data Flow diagram, Entity-Relationship diagram, Data Dictionaries, State-transition diagrams, etc.</a:t>
            </a:r>
          </a:p>
        </p:txBody>
      </p:sp>
    </p:spTree>
    <p:extLst>
      <p:ext uri="{BB962C8B-B14F-4D97-AF65-F5344CB8AC3E}">
        <p14:creationId xmlns:p14="http://schemas.microsoft.com/office/powerpoint/2010/main" val="21811594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(iv) Finalize the requirements:</a:t>
            </a:r>
            <a:r>
              <a:rPr lang="en-US" dirty="0"/>
              <a:t> </a:t>
            </a:r>
          </a:p>
        </p:txBody>
      </p:sp>
      <p:sp>
        <p:nvSpPr>
          <p:cNvPr id="3" name="Content Placeholder 2"/>
          <p:cNvSpPr>
            <a:spLocks noGrp="1"/>
          </p:cNvSpPr>
          <p:nvPr>
            <p:ph idx="1"/>
          </p:nvPr>
        </p:nvSpPr>
        <p:spPr/>
        <p:txBody>
          <a:bodyPr/>
          <a:lstStyle/>
          <a:p>
            <a:pPr algn="just"/>
            <a:r>
              <a:rPr lang="en-US" dirty="0"/>
              <a:t>After modeling the requirements, we will have a better understanding of the system behavior.  </a:t>
            </a:r>
          </a:p>
          <a:p>
            <a:pPr algn="just"/>
            <a:r>
              <a:rPr lang="en-US" dirty="0"/>
              <a:t>The inconsistencies and ambiguities have been identified and corrected. </a:t>
            </a:r>
          </a:p>
          <a:p>
            <a:pPr algn="just"/>
            <a:r>
              <a:rPr lang="en-US" dirty="0"/>
              <a:t>The flow of data amongst various modules has been analyzed. Elicitation and analyze activities have provided better insight into the system.</a:t>
            </a:r>
          </a:p>
          <a:p>
            <a:pPr algn="just"/>
            <a:r>
              <a:rPr lang="en-US" dirty="0"/>
              <a:t> Now we finalize the analyzed requirements, and the next step is to document these requirements in a prescribed format.</a:t>
            </a:r>
          </a:p>
        </p:txBody>
      </p:sp>
    </p:spTree>
    <p:extLst>
      <p:ext uri="{BB962C8B-B14F-4D97-AF65-F5344CB8AC3E}">
        <p14:creationId xmlns:p14="http://schemas.microsoft.com/office/powerpoint/2010/main" val="33034641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 Requirements verification and validation:</a:t>
            </a:r>
            <a:endParaRPr lang="en-US" dirty="0"/>
          </a:p>
        </p:txBody>
      </p:sp>
      <p:sp>
        <p:nvSpPr>
          <p:cNvPr id="3" name="Content Placeholder 2"/>
          <p:cNvSpPr>
            <a:spLocks noGrp="1"/>
          </p:cNvSpPr>
          <p:nvPr>
            <p:ph idx="1"/>
          </p:nvPr>
        </p:nvSpPr>
        <p:spPr/>
        <p:txBody>
          <a:bodyPr>
            <a:normAutofit/>
          </a:bodyPr>
          <a:lstStyle/>
          <a:p>
            <a:pPr marL="0" indent="0" algn="just" fontAlgn="base">
              <a:buNone/>
            </a:pPr>
            <a:r>
              <a:rPr lang="en-US" b="1" dirty="0"/>
              <a:t>Verification:</a:t>
            </a:r>
            <a:r>
              <a:rPr lang="en-US" dirty="0"/>
              <a:t> It refers to the set of tasks that ensures that the software correctly implements a specific function.</a:t>
            </a:r>
          </a:p>
          <a:p>
            <a:pPr marL="0" indent="0" fontAlgn="base">
              <a:buNone/>
            </a:pPr>
            <a:br>
              <a:rPr lang="en-US" dirty="0"/>
            </a:br>
            <a:r>
              <a:rPr lang="en-US" b="1" dirty="0"/>
              <a:t>Validation:</a:t>
            </a:r>
            <a:r>
              <a:rPr lang="en-US" dirty="0"/>
              <a:t> It refers to a different set of tasks that ensures that the software that has been built is traceable to customer requirements.</a:t>
            </a:r>
            <a:br>
              <a:rPr lang="en-US" dirty="0"/>
            </a:br>
            <a:endParaRPr lang="en-US" dirty="0"/>
          </a:p>
          <a:p>
            <a:pPr marL="0" indent="0" fontAlgn="base">
              <a:buNone/>
            </a:pPr>
            <a:r>
              <a:rPr lang="en-US" dirty="0"/>
              <a:t>If requirements are not validated, errors in the requirement definitions would propagate to the successive stages resulting in a lot of modification and rework.</a:t>
            </a:r>
            <a:br>
              <a:rPr lang="en-US" dirty="0"/>
            </a:br>
            <a:endParaRPr lang="en-US" dirty="0"/>
          </a:p>
        </p:txBody>
      </p:sp>
    </p:spTree>
    <p:extLst>
      <p:ext uri="{BB962C8B-B14F-4D97-AF65-F5344CB8AC3E}">
        <p14:creationId xmlns:p14="http://schemas.microsoft.com/office/powerpoint/2010/main" val="4562557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a:t>
            </a:r>
          </a:p>
        </p:txBody>
      </p:sp>
      <p:sp>
        <p:nvSpPr>
          <p:cNvPr id="3" name="Content Placeholder 2"/>
          <p:cNvSpPr>
            <a:spLocks noGrp="1"/>
          </p:cNvSpPr>
          <p:nvPr>
            <p:ph idx="1"/>
          </p:nvPr>
        </p:nvSpPr>
        <p:spPr/>
        <p:txBody>
          <a:bodyPr/>
          <a:lstStyle/>
          <a:p>
            <a:pPr marL="0" indent="0" fontAlgn="base">
              <a:buNone/>
            </a:pPr>
            <a:r>
              <a:rPr lang="en-US" dirty="0"/>
              <a:t>The main steps for this process include:</a:t>
            </a:r>
          </a:p>
          <a:p>
            <a:pPr algn="just" fontAlgn="base"/>
            <a:r>
              <a:rPr lang="en-US" dirty="0"/>
              <a:t>The requirements should be consistent with all the other requirements </a:t>
            </a:r>
            <a:r>
              <a:rPr lang="en-US" dirty="0" err="1"/>
              <a:t>i.e</a:t>
            </a:r>
            <a:r>
              <a:rPr lang="en-US" dirty="0"/>
              <a:t> no two requirements should conflict with each other.</a:t>
            </a:r>
          </a:p>
          <a:p>
            <a:pPr algn="just" fontAlgn="base"/>
            <a:r>
              <a:rPr lang="en-US" dirty="0"/>
              <a:t>The requirements should be complete in every sense.</a:t>
            </a:r>
          </a:p>
          <a:p>
            <a:pPr algn="just" fontAlgn="base"/>
            <a:r>
              <a:rPr lang="en-US" dirty="0"/>
              <a:t>The requirements should be practically achievable.</a:t>
            </a:r>
          </a:p>
          <a:p>
            <a:pPr algn="just"/>
            <a:endParaRPr lang="en-US" dirty="0"/>
          </a:p>
          <a:p>
            <a:endParaRPr lang="en-US" dirty="0"/>
          </a:p>
        </p:txBody>
      </p:sp>
    </p:spTree>
    <p:extLst>
      <p:ext uri="{BB962C8B-B14F-4D97-AF65-F5344CB8AC3E}">
        <p14:creationId xmlns:p14="http://schemas.microsoft.com/office/powerpoint/2010/main" val="38228535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Requirements checking</a:t>
            </a:r>
            <a:endParaRPr lang="en-US" b="1" dirty="0"/>
          </a:p>
        </p:txBody>
      </p:sp>
      <p:sp>
        <p:nvSpPr>
          <p:cNvPr id="3" name="Content Placeholder 2"/>
          <p:cNvSpPr>
            <a:spLocks noGrp="1"/>
          </p:cNvSpPr>
          <p:nvPr>
            <p:ph idx="1"/>
          </p:nvPr>
        </p:nvSpPr>
        <p:spPr/>
        <p:txBody>
          <a:bodyPr/>
          <a:lstStyle/>
          <a:p>
            <a:r>
              <a:rPr lang="en-GB" b="1" dirty="0">
                <a:solidFill>
                  <a:srgbClr val="000000"/>
                </a:solidFill>
              </a:rPr>
              <a:t>Validity</a:t>
            </a:r>
            <a:r>
              <a:rPr lang="en-GB" dirty="0">
                <a:solidFill>
                  <a:srgbClr val="000000"/>
                </a:solidFill>
              </a:rPr>
              <a:t>:- Does the system provide the functions which best support the customer’s needs?</a:t>
            </a:r>
          </a:p>
          <a:p>
            <a:r>
              <a:rPr lang="en-GB" b="1" dirty="0">
                <a:solidFill>
                  <a:srgbClr val="000000"/>
                </a:solidFill>
              </a:rPr>
              <a:t>Consistency</a:t>
            </a:r>
            <a:r>
              <a:rPr lang="en-GB" dirty="0">
                <a:solidFill>
                  <a:srgbClr val="000000"/>
                </a:solidFill>
              </a:rPr>
              <a:t>:- Are there any requirements conflicts?</a:t>
            </a:r>
          </a:p>
          <a:p>
            <a:r>
              <a:rPr lang="en-GB" b="1" dirty="0">
                <a:solidFill>
                  <a:srgbClr val="000000"/>
                </a:solidFill>
              </a:rPr>
              <a:t>Completeness</a:t>
            </a:r>
            <a:r>
              <a:rPr lang="en-GB" dirty="0">
                <a:solidFill>
                  <a:srgbClr val="000000"/>
                </a:solidFill>
              </a:rPr>
              <a:t>:- Are all functions required by the customer included?</a:t>
            </a:r>
          </a:p>
          <a:p>
            <a:r>
              <a:rPr lang="en-GB" b="1" dirty="0">
                <a:solidFill>
                  <a:srgbClr val="000000"/>
                </a:solidFill>
              </a:rPr>
              <a:t>Realism</a:t>
            </a:r>
            <a:r>
              <a:rPr lang="en-GB" dirty="0">
                <a:solidFill>
                  <a:srgbClr val="000000"/>
                </a:solidFill>
              </a:rPr>
              <a:t>:- Can the requirements be implemented given available budget and technology</a:t>
            </a:r>
          </a:p>
          <a:p>
            <a:r>
              <a:rPr lang="en-GB" b="1" dirty="0">
                <a:solidFill>
                  <a:srgbClr val="000000"/>
                </a:solidFill>
              </a:rPr>
              <a:t>Verifiability</a:t>
            </a:r>
            <a:r>
              <a:rPr lang="en-GB" dirty="0">
                <a:solidFill>
                  <a:srgbClr val="000000"/>
                </a:solidFill>
              </a:rPr>
              <a:t>:- Can the requirements be checked?</a:t>
            </a:r>
          </a:p>
          <a:p>
            <a:endParaRPr lang="en-US" dirty="0"/>
          </a:p>
        </p:txBody>
      </p:sp>
    </p:spTree>
    <p:extLst>
      <p:ext uri="{BB962C8B-B14F-4D97-AF65-F5344CB8AC3E}">
        <p14:creationId xmlns:p14="http://schemas.microsoft.com/office/powerpoint/2010/main" val="20982567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Requirements validation Techniques:</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dirty="0"/>
              <a:t>Plan Review</a:t>
            </a:r>
          </a:p>
          <a:p>
            <a:pPr marL="514350" indent="-514350">
              <a:buFont typeface="+mj-lt"/>
              <a:buAutoNum type="arabicPeriod"/>
            </a:pPr>
            <a:r>
              <a:rPr lang="en-US" dirty="0"/>
              <a:t>Distribute SRS Document</a:t>
            </a:r>
          </a:p>
          <a:p>
            <a:pPr marL="514350" indent="-514350">
              <a:buFont typeface="+mj-lt"/>
              <a:buAutoNum type="arabicPeriod"/>
            </a:pPr>
            <a:r>
              <a:rPr lang="en-US" dirty="0"/>
              <a:t>Read SRS Document</a:t>
            </a:r>
          </a:p>
          <a:p>
            <a:pPr marL="514350" indent="-514350">
              <a:buFont typeface="+mj-lt"/>
              <a:buAutoNum type="arabicPeriod"/>
            </a:pPr>
            <a:r>
              <a:rPr lang="en-US" dirty="0"/>
              <a:t>Organize Review meeting</a:t>
            </a:r>
          </a:p>
          <a:p>
            <a:pPr marL="514350" indent="-514350">
              <a:buFont typeface="+mj-lt"/>
              <a:buAutoNum type="arabicPeriod"/>
            </a:pPr>
            <a:r>
              <a:rPr lang="en-US" dirty="0"/>
              <a:t>Follow-up action</a:t>
            </a:r>
          </a:p>
          <a:p>
            <a:pPr marL="514350" indent="-514350">
              <a:buFont typeface="+mj-lt"/>
              <a:buAutoNum type="arabicPeriod"/>
            </a:pPr>
            <a:r>
              <a:rPr lang="en-US" dirty="0"/>
              <a:t>Revise SRS Documents</a:t>
            </a:r>
          </a:p>
        </p:txBody>
      </p:sp>
    </p:spTree>
    <p:extLst>
      <p:ext uri="{BB962C8B-B14F-4D97-AF65-F5344CB8AC3E}">
        <p14:creationId xmlns:p14="http://schemas.microsoft.com/office/powerpoint/2010/main" val="39097713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Requirements reviews</a:t>
            </a:r>
            <a:endParaRPr lang="en-US" b="1" dirty="0"/>
          </a:p>
        </p:txBody>
      </p:sp>
      <p:sp>
        <p:nvSpPr>
          <p:cNvPr id="3" name="Content Placeholder 2"/>
          <p:cNvSpPr>
            <a:spLocks noGrp="1"/>
          </p:cNvSpPr>
          <p:nvPr>
            <p:ph idx="1"/>
          </p:nvPr>
        </p:nvSpPr>
        <p:spPr/>
        <p:txBody>
          <a:bodyPr/>
          <a:lstStyle/>
          <a:p>
            <a:r>
              <a:rPr lang="en-GB" dirty="0"/>
              <a:t>Regular reviews should be held while the requirements definition is being formulated.</a:t>
            </a:r>
          </a:p>
          <a:p>
            <a:r>
              <a:rPr lang="en-GB" dirty="0"/>
              <a:t>Both client and contractor staff should be involved in reviews.</a:t>
            </a:r>
          </a:p>
          <a:p>
            <a:r>
              <a:rPr lang="en-GB" dirty="0"/>
              <a:t>Reviews may be formal (with completed documents) or informal. Good communications between developers, customers and users can resolve problems at an early stage.</a:t>
            </a:r>
          </a:p>
          <a:p>
            <a:endParaRPr lang="en-US" dirty="0"/>
          </a:p>
        </p:txBody>
      </p:sp>
    </p:spTree>
    <p:extLst>
      <p:ext uri="{BB962C8B-B14F-4D97-AF65-F5344CB8AC3E}">
        <p14:creationId xmlns:p14="http://schemas.microsoft.com/office/powerpoint/2010/main" val="31522205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Review checks</a:t>
            </a:r>
            <a:endParaRPr lang="en-US" b="1" dirty="0"/>
          </a:p>
        </p:txBody>
      </p:sp>
      <p:sp>
        <p:nvSpPr>
          <p:cNvPr id="3" name="Content Placeholder 2"/>
          <p:cNvSpPr>
            <a:spLocks noGrp="1"/>
          </p:cNvSpPr>
          <p:nvPr>
            <p:ph idx="1"/>
          </p:nvPr>
        </p:nvSpPr>
        <p:spPr/>
        <p:txBody>
          <a:bodyPr/>
          <a:lstStyle/>
          <a:p>
            <a:r>
              <a:rPr lang="en-GB" b="1" dirty="0"/>
              <a:t>Verifiability</a:t>
            </a:r>
          </a:p>
          <a:p>
            <a:pPr marL="457200" lvl="1" indent="0">
              <a:buNone/>
            </a:pPr>
            <a:r>
              <a:rPr lang="en-GB" dirty="0"/>
              <a:t>Is the requirement realistically testable?</a:t>
            </a:r>
          </a:p>
          <a:p>
            <a:r>
              <a:rPr lang="en-GB" b="1" dirty="0"/>
              <a:t>Comprehensibility</a:t>
            </a:r>
          </a:p>
          <a:p>
            <a:pPr marL="457200" lvl="1" indent="0">
              <a:buNone/>
            </a:pPr>
            <a:r>
              <a:rPr lang="en-GB" dirty="0"/>
              <a:t>Is the requirement properly understood?</a:t>
            </a:r>
          </a:p>
          <a:p>
            <a:r>
              <a:rPr lang="en-GB" b="1" dirty="0"/>
              <a:t>Traceability</a:t>
            </a:r>
          </a:p>
          <a:p>
            <a:pPr marL="457200" lvl="1" indent="0">
              <a:buNone/>
            </a:pPr>
            <a:r>
              <a:rPr lang="en-GB" dirty="0"/>
              <a:t>Is the origin of the requirement clearly stated?</a:t>
            </a:r>
          </a:p>
          <a:p>
            <a:r>
              <a:rPr lang="en-GB" b="1" dirty="0"/>
              <a:t>Adaptability</a:t>
            </a:r>
          </a:p>
          <a:p>
            <a:pPr marL="457200" lvl="1" indent="0">
              <a:buNone/>
            </a:pPr>
            <a:r>
              <a:rPr lang="en-GB" dirty="0"/>
              <a:t>Can the requirement be changed without a large impact on other requirements?</a:t>
            </a:r>
          </a:p>
          <a:p>
            <a:endParaRPr lang="en-US" dirty="0"/>
          </a:p>
        </p:txBody>
      </p:sp>
    </p:spTree>
    <p:extLst>
      <p:ext uri="{BB962C8B-B14F-4D97-AF65-F5344CB8AC3E}">
        <p14:creationId xmlns:p14="http://schemas.microsoft.com/office/powerpoint/2010/main" val="28813968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 Requirements management:</a:t>
            </a:r>
            <a:endParaRPr lang="en-US" dirty="0"/>
          </a:p>
        </p:txBody>
      </p:sp>
      <p:sp>
        <p:nvSpPr>
          <p:cNvPr id="3" name="Content Placeholder 2"/>
          <p:cNvSpPr>
            <a:spLocks noGrp="1"/>
          </p:cNvSpPr>
          <p:nvPr>
            <p:ph idx="1"/>
          </p:nvPr>
        </p:nvSpPr>
        <p:spPr/>
        <p:txBody>
          <a:bodyPr/>
          <a:lstStyle/>
          <a:p>
            <a:pPr algn="just"/>
            <a:r>
              <a:rPr lang="en-GB" dirty="0"/>
              <a:t>Requirements management is the process of managing changing requirements during the requirements engineering process and system development.</a:t>
            </a:r>
          </a:p>
          <a:p>
            <a:pPr algn="just"/>
            <a:r>
              <a:rPr lang="en-GB" dirty="0"/>
              <a:t>New requirements emerge as a system is being developed and after it has gone into use.</a:t>
            </a:r>
          </a:p>
          <a:p>
            <a:pPr algn="just"/>
            <a:r>
              <a:rPr lang="en-US" dirty="0"/>
              <a:t>Need to keep track of individual requirements and maintain links between dependent requirements so that you can assess the impact of requirements changes.</a:t>
            </a:r>
          </a:p>
          <a:p>
            <a:pPr algn="just"/>
            <a:r>
              <a:rPr lang="en-US" dirty="0"/>
              <a:t> Establish a formal process for making change proposals and linking these to system requirements.</a:t>
            </a:r>
            <a:r>
              <a:rPr lang="en-GB" dirty="0"/>
              <a:t> </a:t>
            </a:r>
          </a:p>
          <a:p>
            <a:pPr marL="0" indent="0" algn="just">
              <a:buNone/>
            </a:pPr>
            <a:endParaRPr lang="en-US" dirty="0"/>
          </a:p>
        </p:txBody>
      </p:sp>
    </p:spTree>
    <p:extLst>
      <p:ext uri="{BB962C8B-B14F-4D97-AF65-F5344CB8AC3E}">
        <p14:creationId xmlns:p14="http://schemas.microsoft.com/office/powerpoint/2010/main" val="6942223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Requirements management planning</a:t>
            </a:r>
          </a:p>
        </p:txBody>
      </p:sp>
      <p:sp>
        <p:nvSpPr>
          <p:cNvPr id="3" name="Content Placeholder 2"/>
          <p:cNvSpPr>
            <a:spLocks noGrp="1"/>
          </p:cNvSpPr>
          <p:nvPr>
            <p:ph idx="1"/>
          </p:nvPr>
        </p:nvSpPr>
        <p:spPr/>
        <p:txBody>
          <a:bodyPr>
            <a:normAutofit/>
          </a:bodyPr>
          <a:lstStyle/>
          <a:p>
            <a:r>
              <a:rPr lang="en-US" dirty="0"/>
              <a:t>Establishes the level of requirements management detail that is required.</a:t>
            </a:r>
          </a:p>
          <a:p>
            <a:r>
              <a:rPr lang="en-US" dirty="0"/>
              <a:t>Requirements management decisions:</a:t>
            </a:r>
          </a:p>
          <a:p>
            <a:pPr lvl="1">
              <a:buFont typeface="Wingdings" panose="05000000000000000000" pitchFamily="2" charset="2"/>
              <a:buChar char="v"/>
            </a:pPr>
            <a:r>
              <a:rPr lang="en-US" b="1" i="1" dirty="0"/>
              <a:t>Requirements identificati</a:t>
            </a:r>
            <a:r>
              <a:rPr lang="en-US" b="1" i="1" dirty="0">
                <a:solidFill>
                  <a:srgbClr val="000000"/>
                </a:solidFill>
              </a:rPr>
              <a:t>on</a:t>
            </a:r>
            <a:r>
              <a:rPr lang="en-US" b="1" dirty="0">
                <a:solidFill>
                  <a:srgbClr val="FF0000"/>
                </a:solidFill>
              </a:rPr>
              <a:t> </a:t>
            </a:r>
            <a:r>
              <a:rPr lang="en-US" dirty="0"/>
              <a:t>Each requirement must be uniquely identified so that it can be cross-referenced with other requirements. </a:t>
            </a:r>
            <a:endParaRPr lang="en-GB" dirty="0"/>
          </a:p>
          <a:p>
            <a:pPr lvl="1">
              <a:buFont typeface="Wingdings" panose="05000000000000000000" pitchFamily="2" charset="2"/>
              <a:buChar char="v"/>
            </a:pPr>
            <a:r>
              <a:rPr lang="en-US" b="1" i="1" dirty="0">
                <a:solidFill>
                  <a:srgbClr val="000000"/>
                </a:solidFill>
              </a:rPr>
              <a:t>A change management process</a:t>
            </a:r>
            <a:r>
              <a:rPr lang="en-US" b="1" dirty="0">
                <a:solidFill>
                  <a:srgbClr val="000000"/>
                </a:solidFill>
              </a:rPr>
              <a:t> </a:t>
            </a:r>
            <a:r>
              <a:rPr lang="en-US" dirty="0"/>
              <a:t>This is the set of activities that assess the impact and cost of changes..</a:t>
            </a:r>
            <a:endParaRPr lang="en-GB" dirty="0"/>
          </a:p>
          <a:p>
            <a:pPr lvl="1">
              <a:buFont typeface="Wingdings" panose="05000000000000000000" pitchFamily="2" charset="2"/>
              <a:buChar char="v"/>
            </a:pPr>
            <a:r>
              <a:rPr lang="en-US" b="1" i="1" dirty="0">
                <a:solidFill>
                  <a:srgbClr val="000000"/>
                </a:solidFill>
              </a:rPr>
              <a:t>Traceability policies</a:t>
            </a:r>
            <a:r>
              <a:rPr lang="en-US" b="1" dirty="0">
                <a:solidFill>
                  <a:srgbClr val="000000"/>
                </a:solidFill>
              </a:rPr>
              <a:t> </a:t>
            </a:r>
            <a:r>
              <a:rPr lang="en-US" dirty="0"/>
              <a:t>These policies define the relationships between each requirement and the system design that should be recorded. </a:t>
            </a:r>
            <a:endParaRPr lang="en-GB" dirty="0"/>
          </a:p>
          <a:p>
            <a:pPr lvl="1">
              <a:buFont typeface="Wingdings" panose="05000000000000000000" pitchFamily="2" charset="2"/>
              <a:buChar char="v"/>
            </a:pPr>
            <a:r>
              <a:rPr lang="en-US" b="1" i="1" dirty="0">
                <a:solidFill>
                  <a:srgbClr val="000000"/>
                </a:solidFill>
              </a:rPr>
              <a:t>Tool support</a:t>
            </a:r>
            <a:r>
              <a:rPr lang="en-US" b="1" dirty="0">
                <a:solidFill>
                  <a:srgbClr val="000000"/>
                </a:solidFill>
              </a:rPr>
              <a:t> </a:t>
            </a:r>
            <a:r>
              <a:rPr lang="en-US" dirty="0"/>
              <a:t>Tools that may be used range from specialist requirements management systems to spreadsheets and simple database systems</a:t>
            </a:r>
          </a:p>
        </p:txBody>
      </p:sp>
    </p:spTree>
    <p:extLst>
      <p:ext uri="{BB962C8B-B14F-4D97-AF65-F5344CB8AC3E}">
        <p14:creationId xmlns:p14="http://schemas.microsoft.com/office/powerpoint/2010/main" val="17848063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SRS Document</a:t>
            </a:r>
          </a:p>
        </p:txBody>
      </p:sp>
      <p:sp>
        <p:nvSpPr>
          <p:cNvPr id="3" name="Content Placeholder 2"/>
          <p:cNvSpPr>
            <a:spLocks noGrp="1"/>
          </p:cNvSpPr>
          <p:nvPr>
            <p:ph idx="1"/>
          </p:nvPr>
        </p:nvSpPr>
        <p:spPr/>
        <p:txBody>
          <a:bodyPr>
            <a:normAutofit fontScale="85000" lnSpcReduction="20000"/>
          </a:bodyPr>
          <a:lstStyle/>
          <a:p>
            <a:pPr marL="0" indent="0" algn="just" fontAlgn="base">
              <a:buNone/>
            </a:pPr>
            <a:r>
              <a:rPr lang="en-US" b="1" dirty="0"/>
              <a:t>What is SRS?</a:t>
            </a:r>
            <a:endParaRPr lang="en-US" dirty="0"/>
          </a:p>
          <a:p>
            <a:pPr algn="just" fontAlgn="base"/>
            <a:r>
              <a:rPr lang="en-US" dirty="0"/>
              <a:t>A software requirements specification (SRS) is a description of a software system to be developed. </a:t>
            </a:r>
          </a:p>
          <a:p>
            <a:pPr algn="just" fontAlgn="base"/>
            <a:r>
              <a:rPr lang="en-US" dirty="0"/>
              <a:t>It lays out functional and non-functional requirements and may include a set of use cases that describe user interactions that the software must provide.</a:t>
            </a:r>
          </a:p>
          <a:p>
            <a:pPr marL="0" indent="0" algn="just" fontAlgn="base">
              <a:buNone/>
            </a:pPr>
            <a:r>
              <a:rPr lang="en-US" b="1" dirty="0"/>
              <a:t>Why SRS?</a:t>
            </a:r>
            <a:endParaRPr lang="en-US" dirty="0"/>
          </a:p>
          <a:p>
            <a:pPr algn="just" fontAlgn="base"/>
            <a:r>
              <a:rPr lang="en-US" dirty="0"/>
              <a:t>In order to fully understand one’s project, it is very important that they come up with an SRS listing out their requirements, how are they going to meet them and how will they complete the project.</a:t>
            </a:r>
          </a:p>
          <a:p>
            <a:pPr algn="just" fontAlgn="base"/>
            <a:r>
              <a:rPr lang="en-US" dirty="0"/>
              <a:t> It helps the team to save upon their time as they are able to comprehend how are going to go about the project.</a:t>
            </a:r>
          </a:p>
          <a:p>
            <a:pPr algn="just" fontAlgn="base"/>
            <a:r>
              <a:rPr lang="en-US" dirty="0"/>
              <a:t>Doing this also enables the team to find out about the limitations and risks early on.</a:t>
            </a:r>
          </a:p>
          <a:p>
            <a:pPr algn="just"/>
            <a:endParaRPr lang="en-US" dirty="0"/>
          </a:p>
        </p:txBody>
      </p:sp>
    </p:spTree>
    <p:extLst>
      <p:ext uri="{BB962C8B-B14F-4D97-AF65-F5344CB8AC3E}">
        <p14:creationId xmlns:p14="http://schemas.microsoft.com/office/powerpoint/2010/main" val="25227823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Quality Characteristics of a good SRS</a:t>
            </a:r>
            <a:br>
              <a:rPr lang="en-US" b="1" dirty="0"/>
            </a:br>
            <a:endParaRPr lang="en-US" dirty="0"/>
          </a:p>
        </p:txBody>
      </p:sp>
      <p:sp>
        <p:nvSpPr>
          <p:cNvPr id="3" name="Content Placeholder 2"/>
          <p:cNvSpPr>
            <a:spLocks noGrp="1"/>
          </p:cNvSpPr>
          <p:nvPr>
            <p:ph idx="1"/>
          </p:nvPr>
        </p:nvSpPr>
        <p:spPr/>
        <p:txBody>
          <a:bodyPr>
            <a:normAutofit fontScale="85000" lnSpcReduction="20000"/>
          </a:bodyPr>
          <a:lstStyle/>
          <a:p>
            <a:pPr fontAlgn="base"/>
            <a:r>
              <a:rPr lang="en-US" b="1" dirty="0"/>
              <a:t>Correctness: </a:t>
            </a:r>
            <a:br>
              <a:rPr lang="en-US" dirty="0"/>
            </a:br>
            <a:r>
              <a:rPr lang="en-US" dirty="0"/>
              <a:t>User review is used to ensure the correctness of requirements stated in the SRS. SRS is said to be correct if it covers all the requirements that are actually expected from the system.  </a:t>
            </a:r>
          </a:p>
          <a:p>
            <a:pPr fontAlgn="base"/>
            <a:r>
              <a:rPr lang="en-US" b="1" dirty="0"/>
              <a:t>Completeness: </a:t>
            </a:r>
            <a:br>
              <a:rPr lang="en-US" dirty="0"/>
            </a:br>
            <a:r>
              <a:rPr lang="en-US" dirty="0"/>
              <a:t>Completeness of SRS indicates every sense of completion including the numbering of all the pages, resolving the to be determined parts to as much extent as possible as well as covering all the functional and non-functional requirements properly.  </a:t>
            </a:r>
          </a:p>
          <a:p>
            <a:r>
              <a:rPr lang="en-US" b="1" dirty="0"/>
              <a:t>Consistency:</a:t>
            </a:r>
            <a:r>
              <a:rPr lang="en-US" dirty="0"/>
              <a:t> </a:t>
            </a:r>
            <a:br>
              <a:rPr lang="en-US" dirty="0"/>
            </a:br>
            <a:r>
              <a:rPr lang="en-US" dirty="0"/>
              <a:t>Requirements in SRS are said to be consistent if there are no conflicts between any set of requirements. Examples of conflict include differences in terminologies used at separate places, logical conflicts like time period of report generation, etc. </a:t>
            </a:r>
            <a:br>
              <a:rPr lang="en-US" dirty="0"/>
            </a:br>
            <a:endParaRPr lang="en-US" dirty="0"/>
          </a:p>
        </p:txBody>
      </p:sp>
    </p:spTree>
    <p:extLst>
      <p:ext uri="{BB962C8B-B14F-4D97-AF65-F5344CB8AC3E}">
        <p14:creationId xmlns:p14="http://schemas.microsoft.com/office/powerpoint/2010/main" val="23290830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Quality Characteristics of a good SRS</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pPr fontAlgn="base"/>
            <a:r>
              <a:rPr lang="en-US" b="1" dirty="0"/>
              <a:t>Unambiguousness:</a:t>
            </a:r>
            <a:r>
              <a:rPr lang="en-US" dirty="0"/>
              <a:t> </a:t>
            </a:r>
            <a:br>
              <a:rPr lang="en-US" dirty="0"/>
            </a:br>
            <a:r>
              <a:rPr lang="en-US" dirty="0"/>
              <a:t>A SRS is said to be unambiguous if all the requirements stated have only 1 interpretation. Some of the ways to prevent unambiguousness include the use of modelling techniques like ER diagrams, proper reviews and buddy checks, etc.  </a:t>
            </a:r>
          </a:p>
          <a:p>
            <a:pPr fontAlgn="base"/>
            <a:r>
              <a:rPr lang="en-US" b="1" dirty="0"/>
              <a:t>Ranking for importance and stability:</a:t>
            </a:r>
            <a:r>
              <a:rPr lang="en-US" dirty="0"/>
              <a:t> </a:t>
            </a:r>
            <a:br>
              <a:rPr lang="en-US" dirty="0"/>
            </a:br>
            <a:r>
              <a:rPr lang="en-US" dirty="0"/>
              <a:t>There should a criterion to classify the requirements as less or more important or more specifically as desirable or essential. An identifier mark can be used with every requirement to indicate its rank or stability.  </a:t>
            </a:r>
          </a:p>
          <a:p>
            <a:pPr fontAlgn="base"/>
            <a:r>
              <a:rPr lang="en-US" b="1" dirty="0"/>
              <a:t>Modifiability:</a:t>
            </a:r>
            <a:r>
              <a:rPr lang="en-US" dirty="0"/>
              <a:t> </a:t>
            </a:r>
            <a:br>
              <a:rPr lang="en-US" dirty="0"/>
            </a:br>
            <a:r>
              <a:rPr lang="en-US" dirty="0"/>
              <a:t>SRS should be made as modifiable as possible and should be capable of easily accepting changes to the system to some extent. Modifications should be properly indexed and cross-referenced.  </a:t>
            </a:r>
          </a:p>
          <a:p>
            <a:endParaRPr lang="en-US" dirty="0"/>
          </a:p>
        </p:txBody>
      </p:sp>
    </p:spTree>
    <p:extLst>
      <p:ext uri="{BB962C8B-B14F-4D97-AF65-F5344CB8AC3E}">
        <p14:creationId xmlns:p14="http://schemas.microsoft.com/office/powerpoint/2010/main" val="23487253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Quality Characteristics of a good SRS</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pPr fontAlgn="base"/>
            <a:r>
              <a:rPr lang="en-US" b="1" dirty="0"/>
              <a:t>Verifiability:</a:t>
            </a:r>
            <a:r>
              <a:rPr lang="en-US" dirty="0"/>
              <a:t> </a:t>
            </a:r>
            <a:br>
              <a:rPr lang="en-US" dirty="0"/>
            </a:br>
            <a:r>
              <a:rPr lang="en-US" dirty="0"/>
              <a:t>An SRS is verifiable if there exists a specific technique to quantifiably measure the extent to which every requirement is met by the system. For example, a requirement starting that the system must be user-friendly is not verifiable and listing such requirements should be avoided.  </a:t>
            </a:r>
          </a:p>
          <a:p>
            <a:pPr fontAlgn="base"/>
            <a:r>
              <a:rPr lang="en-US" b="1" dirty="0"/>
              <a:t>Traceability:</a:t>
            </a:r>
            <a:r>
              <a:rPr lang="en-US" dirty="0"/>
              <a:t> </a:t>
            </a:r>
            <a:br>
              <a:rPr lang="en-US" dirty="0"/>
            </a:br>
            <a:r>
              <a:rPr lang="en-US" dirty="0"/>
              <a:t>One should be able to trace a requirement to design component and then to code segment in the program. Similarly, one should be able to trace a requirement to the corresponding test cases.  </a:t>
            </a:r>
          </a:p>
          <a:p>
            <a:pPr fontAlgn="base"/>
            <a:r>
              <a:rPr lang="en-US" b="1" dirty="0"/>
              <a:t>Design Independence:</a:t>
            </a:r>
            <a:r>
              <a:rPr lang="en-US" dirty="0"/>
              <a:t> </a:t>
            </a:r>
            <a:br>
              <a:rPr lang="en-US" dirty="0"/>
            </a:br>
            <a:r>
              <a:rPr lang="en-US" dirty="0"/>
              <a:t>There should be an option to choose from multiple design alternatives for the final system. More specifically, the SRS should not include any implementation details.  </a:t>
            </a:r>
          </a:p>
          <a:p>
            <a:pPr fontAlgn="base"/>
            <a:endParaRPr lang="en-US" dirty="0"/>
          </a:p>
          <a:p>
            <a:endParaRPr lang="en-US" dirty="0"/>
          </a:p>
        </p:txBody>
      </p:sp>
    </p:spTree>
    <p:extLst>
      <p:ext uri="{BB962C8B-B14F-4D97-AF65-F5344CB8AC3E}">
        <p14:creationId xmlns:p14="http://schemas.microsoft.com/office/powerpoint/2010/main" val="39440080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937</TotalTime>
  <Words>3636</Words>
  <Application>Microsoft Office PowerPoint</Application>
  <PresentationFormat>Widescreen</PresentationFormat>
  <Paragraphs>331</Paragraphs>
  <Slides>48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Calibri</vt:lpstr>
      <vt:lpstr>Calibri Light</vt:lpstr>
      <vt:lpstr>Times New Roman</vt:lpstr>
      <vt:lpstr>Wingdings</vt:lpstr>
      <vt:lpstr>Office Theme</vt:lpstr>
      <vt:lpstr>Chapter 3</vt:lpstr>
      <vt:lpstr>What is a requirement?</vt:lpstr>
      <vt:lpstr>Types of requirement</vt:lpstr>
      <vt:lpstr>System stakeholders</vt:lpstr>
      <vt:lpstr>Functional and non-functional requirements</vt:lpstr>
      <vt:lpstr>Functional and non-functional requirements</vt:lpstr>
      <vt:lpstr>Functional requirements</vt:lpstr>
      <vt:lpstr>Requirements imprecision</vt:lpstr>
      <vt:lpstr>Requirements completeness and consistency</vt:lpstr>
      <vt:lpstr>Non-functional requirements</vt:lpstr>
      <vt:lpstr>Non-functional requirements implementation</vt:lpstr>
      <vt:lpstr>Non-functional classifications</vt:lpstr>
      <vt:lpstr>Goals and requirements</vt:lpstr>
      <vt:lpstr>Usability requirements</vt:lpstr>
      <vt:lpstr>Metrics for specifying nonfunctional requirements</vt:lpstr>
      <vt:lpstr>Requirements engineering processes</vt:lpstr>
      <vt:lpstr>Requirements engineering processes</vt:lpstr>
      <vt:lpstr>A. Feasibility Study </vt:lpstr>
      <vt:lpstr>A. Feasibility Study </vt:lpstr>
      <vt:lpstr>B. Requirement Elicitation</vt:lpstr>
      <vt:lpstr>Requirements elicitation Activities:</vt:lpstr>
      <vt:lpstr>Requirements elicitation Methods:</vt:lpstr>
      <vt:lpstr>1. Interviews: </vt:lpstr>
      <vt:lpstr>2. Brainstorming Sessions:  </vt:lpstr>
      <vt:lpstr>3. Facilitated Application Specification Technique(FAST): </vt:lpstr>
      <vt:lpstr>4. Quality Function Deployment</vt:lpstr>
      <vt:lpstr> 5. Use Case Approach: </vt:lpstr>
      <vt:lpstr> 5. Use Case Approach: </vt:lpstr>
      <vt:lpstr>Use Case Diagram</vt:lpstr>
      <vt:lpstr>6. Ethnography</vt:lpstr>
      <vt:lpstr>C. Requirement analysis</vt:lpstr>
      <vt:lpstr>C. Requirement analysis</vt:lpstr>
      <vt:lpstr>i) Draw the context diagram: </vt:lpstr>
      <vt:lpstr>(ii) Development of a Prototype (optional): </vt:lpstr>
      <vt:lpstr>(iii) Model the requirements:</vt:lpstr>
      <vt:lpstr>(iv) Finalize the requirements: </vt:lpstr>
      <vt:lpstr>D. Requirements verification and validation:</vt:lpstr>
      <vt:lpstr>Conti..</vt:lpstr>
      <vt:lpstr>Requirements checking</vt:lpstr>
      <vt:lpstr>Requirements validation Techniques:</vt:lpstr>
      <vt:lpstr>Requirements reviews</vt:lpstr>
      <vt:lpstr>Review checks</vt:lpstr>
      <vt:lpstr>E. Requirements management:</vt:lpstr>
      <vt:lpstr>Requirements management planning</vt:lpstr>
      <vt:lpstr>SRS Document</vt:lpstr>
      <vt:lpstr>Quality Characteristics of a good SRS </vt:lpstr>
      <vt:lpstr>Quality Characteristics of a good SRS </vt:lpstr>
      <vt:lpstr>Quality Characteristics of a good SRS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creator>ASUS</dc:creator>
  <cp:lastModifiedBy>abita kunwar</cp:lastModifiedBy>
  <cp:revision>304</cp:revision>
  <dcterms:created xsi:type="dcterms:W3CDTF">2022-08-13T15:05:30Z</dcterms:created>
  <dcterms:modified xsi:type="dcterms:W3CDTF">2025-09-04T07:22:48Z</dcterms:modified>
</cp:coreProperties>
</file>