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3" r:id="rId4"/>
    <p:sldId id="262" r:id="rId5"/>
    <p:sldId id="269" r:id="rId6"/>
    <p:sldId id="264" r:id="rId7"/>
    <p:sldId id="265" r:id="rId8"/>
    <p:sldId id="266" r:id="rId9"/>
    <p:sldId id="267" r:id="rId10"/>
    <p:sldId id="258" r:id="rId11"/>
    <p:sldId id="270" r:id="rId12"/>
    <p:sldId id="272" r:id="rId13"/>
    <p:sldId id="273" r:id="rId14"/>
    <p:sldId id="259" r:id="rId15"/>
    <p:sldId id="274" r:id="rId16"/>
    <p:sldId id="275" r:id="rId17"/>
    <p:sldId id="276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4A1B-308D-47B8-9ECC-8A166FB5CD60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7A14-A8CE-4482-A01E-A6FEEA30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468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4A1B-308D-47B8-9ECC-8A166FB5CD60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7A14-A8CE-4482-A01E-A6FEEA30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41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4A1B-308D-47B8-9ECC-8A166FB5CD60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7A14-A8CE-4482-A01E-A6FEEA30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971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4A1B-308D-47B8-9ECC-8A166FB5CD60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7A14-A8CE-4482-A01E-A6FEEA30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1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4A1B-308D-47B8-9ECC-8A166FB5CD60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7A14-A8CE-4482-A01E-A6FEEA30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78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4A1B-308D-47B8-9ECC-8A166FB5CD60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7A14-A8CE-4482-A01E-A6FEEA30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9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4A1B-308D-47B8-9ECC-8A166FB5CD60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7A14-A8CE-4482-A01E-A6FEEA30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46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4A1B-308D-47B8-9ECC-8A166FB5CD60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7A14-A8CE-4482-A01E-A6FEEA30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760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4A1B-308D-47B8-9ECC-8A166FB5CD60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7A14-A8CE-4482-A01E-A6FEEA30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44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4A1B-308D-47B8-9ECC-8A166FB5CD60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7A14-A8CE-4482-A01E-A6FEEA30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136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4A1B-308D-47B8-9ECC-8A166FB5CD60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7A14-A8CE-4482-A01E-A6FEEA30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73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14A1B-308D-47B8-9ECC-8A166FB5CD60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C7A14-A8CE-4482-A01E-A6FEEA305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8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Agile Methodology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2-Second part</a:t>
            </a:r>
          </a:p>
        </p:txBody>
      </p:sp>
    </p:spTree>
    <p:extLst>
      <p:ext uri="{BB962C8B-B14F-4D97-AF65-F5344CB8AC3E}">
        <p14:creationId xmlns:p14="http://schemas.microsoft.com/office/powerpoint/2010/main" val="3781810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Agile SDLC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Combination of iterative and incremental process models.</a:t>
            </a:r>
          </a:p>
          <a:p>
            <a:pPr algn="just"/>
            <a:r>
              <a:rPr lang="en-US" dirty="0"/>
              <a:t>Focus on process adaptability and customer satisfaction </a:t>
            </a:r>
          </a:p>
          <a:p>
            <a:pPr algn="just"/>
            <a:r>
              <a:rPr lang="en-US" dirty="0"/>
              <a:t>Agile Methods break the product into small incremental builds. </a:t>
            </a:r>
          </a:p>
          <a:p>
            <a:pPr algn="just"/>
            <a:r>
              <a:rPr lang="en-US" dirty="0"/>
              <a:t>These builds are provided in iterations. </a:t>
            </a:r>
          </a:p>
          <a:p>
            <a:pPr algn="just"/>
            <a:r>
              <a:rPr lang="en-US" dirty="0"/>
              <a:t>Each iteration typically lasts from about one to three weeks..</a:t>
            </a:r>
          </a:p>
        </p:txBody>
      </p:sp>
    </p:spTree>
    <p:extLst>
      <p:ext uri="{BB962C8B-B14F-4D97-AF65-F5344CB8AC3E}">
        <p14:creationId xmlns:p14="http://schemas.microsoft.com/office/powerpoint/2010/main" val="716874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Agile?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Agile model believes that every project needs to be handled differently and the existing methods need to be tailored to best suit the project requirements.</a:t>
            </a:r>
          </a:p>
          <a:p>
            <a:pPr algn="just"/>
            <a:r>
              <a:rPr lang="en-US" dirty="0"/>
              <a:t> Tasks are divided to time boxes (small time frames) to deliver specific features for a release.</a:t>
            </a:r>
          </a:p>
          <a:p>
            <a:pPr algn="just"/>
            <a:r>
              <a:rPr lang="en-US" dirty="0"/>
              <a:t>Iterative approach is taken and working software build is delivered after each iteration.</a:t>
            </a:r>
          </a:p>
          <a:p>
            <a:pPr algn="just"/>
            <a:r>
              <a:rPr lang="en-US" dirty="0"/>
              <a:t> Each build is incremental in terms of features, the final build holds all the features required by the customer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937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Agile SDLC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Every iteration involves cross functional teams working simultaneously on various areas like −</a:t>
            </a:r>
          </a:p>
          <a:p>
            <a:pPr algn="just"/>
            <a:r>
              <a:rPr lang="en-US" dirty="0"/>
              <a:t>Planning</a:t>
            </a:r>
          </a:p>
          <a:p>
            <a:pPr algn="just"/>
            <a:r>
              <a:rPr lang="en-US" dirty="0"/>
              <a:t>Requirements Analysis</a:t>
            </a:r>
          </a:p>
          <a:p>
            <a:pPr algn="just"/>
            <a:r>
              <a:rPr lang="en-US" dirty="0"/>
              <a:t>Design</a:t>
            </a:r>
          </a:p>
          <a:p>
            <a:pPr algn="just"/>
            <a:r>
              <a:rPr lang="en-US" dirty="0"/>
              <a:t>Coding</a:t>
            </a:r>
          </a:p>
          <a:p>
            <a:pPr algn="just"/>
            <a:r>
              <a:rPr lang="en-US" dirty="0"/>
              <a:t>Unit Testing and</a:t>
            </a:r>
          </a:p>
          <a:p>
            <a:pPr algn="just"/>
            <a:r>
              <a:rPr lang="en-US" dirty="0"/>
              <a:t>Acceptance Testing.</a:t>
            </a:r>
          </a:p>
          <a:p>
            <a:pPr marL="0" indent="0" algn="just">
              <a:buNone/>
            </a:pPr>
            <a:r>
              <a:rPr lang="en-US" dirty="0"/>
              <a:t>At the end of the iteration, a working product is displayed to the customer and important stakeholders</a:t>
            </a:r>
          </a:p>
        </p:txBody>
      </p:sp>
    </p:spTree>
    <p:extLst>
      <p:ext uri="{BB962C8B-B14F-4D97-AF65-F5344CB8AC3E}">
        <p14:creationId xmlns:p14="http://schemas.microsoft.com/office/powerpoint/2010/main" val="96176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Agile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 Involvement</a:t>
            </a:r>
          </a:p>
          <a:p>
            <a:r>
              <a:rPr lang="en-US" dirty="0"/>
              <a:t>Incremental delivery</a:t>
            </a:r>
          </a:p>
          <a:p>
            <a:r>
              <a:rPr lang="en-US" dirty="0"/>
              <a:t>People not Process</a:t>
            </a:r>
          </a:p>
          <a:p>
            <a:r>
              <a:rPr lang="en-US" dirty="0"/>
              <a:t>Embrace change</a:t>
            </a:r>
          </a:p>
          <a:p>
            <a:r>
              <a:rPr lang="en-US" dirty="0"/>
              <a:t>Maintain Simplicity</a:t>
            </a:r>
          </a:p>
        </p:txBody>
      </p:sp>
    </p:spTree>
    <p:extLst>
      <p:ext uri="{BB962C8B-B14F-4D97-AF65-F5344CB8AC3E}">
        <p14:creationId xmlns:p14="http://schemas.microsoft.com/office/powerpoint/2010/main" val="664250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Agile Vs </a:t>
            </a:r>
            <a:r>
              <a:rPr lang="fr-FR" b="1" dirty="0" err="1"/>
              <a:t>Traditional</a:t>
            </a:r>
            <a:r>
              <a:rPr lang="fr-FR" b="1" dirty="0"/>
              <a:t> SDLC Model</a:t>
            </a:r>
            <a:br>
              <a:rPr lang="fr-FR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Agile is based on the </a:t>
            </a:r>
            <a:r>
              <a:rPr lang="en-US" b="1" dirty="0"/>
              <a:t>adaptive software development methods</a:t>
            </a:r>
            <a:r>
              <a:rPr lang="en-US" dirty="0"/>
              <a:t>, whereas the traditional SDLC models like the waterfall model is based on a </a:t>
            </a:r>
            <a:r>
              <a:rPr lang="en-US" b="1" dirty="0"/>
              <a:t>predictive approach</a:t>
            </a:r>
          </a:p>
          <a:p>
            <a:pPr algn="just"/>
            <a:r>
              <a:rPr lang="en-US" b="1" dirty="0"/>
              <a:t>Customer Interaction</a:t>
            </a:r>
            <a:r>
              <a:rPr lang="en-US" dirty="0"/>
              <a:t> is the backbone of this Agile methodology, </a:t>
            </a:r>
          </a:p>
          <a:p>
            <a:pPr algn="just"/>
            <a:r>
              <a:rPr lang="en-US" dirty="0"/>
              <a:t>Open communication with minimum documentation are the typical features of Agile development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2506906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Agile SDLC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2428" y="1600201"/>
            <a:ext cx="804714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723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Realistic approach to software development.</a:t>
            </a:r>
          </a:p>
          <a:p>
            <a:r>
              <a:rPr lang="en-US" dirty="0"/>
              <a:t>Promotes teamwork and cross training.</a:t>
            </a:r>
          </a:p>
          <a:p>
            <a:r>
              <a:rPr lang="en-US" dirty="0"/>
              <a:t>Resource requirements are minimum.</a:t>
            </a:r>
          </a:p>
          <a:p>
            <a:r>
              <a:rPr lang="en-US" dirty="0"/>
              <a:t>Suitable for fixed or changing requirements</a:t>
            </a:r>
          </a:p>
          <a:p>
            <a:r>
              <a:rPr lang="en-US" dirty="0"/>
              <a:t>Good model for environments that change steadily.</a:t>
            </a:r>
          </a:p>
          <a:p>
            <a:r>
              <a:rPr lang="en-US" dirty="0"/>
              <a:t>Minimal rules, documentation easily employed.</a:t>
            </a:r>
          </a:p>
          <a:p>
            <a:r>
              <a:rPr lang="en-US" dirty="0"/>
              <a:t>Little or no planning required.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235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More risk of sustainability, maintainability and extensibility.</a:t>
            </a:r>
          </a:p>
          <a:p>
            <a:pPr algn="just"/>
            <a:r>
              <a:rPr lang="en-US" dirty="0"/>
              <a:t>An overall plan, an agile leader and agile PM practice is a must without which it will not work.</a:t>
            </a:r>
          </a:p>
          <a:p>
            <a:pPr algn="just"/>
            <a:r>
              <a:rPr lang="en-US" dirty="0"/>
              <a:t>Depends heavily on customer interaction, so if customer is not clear, team can be driven in the wrong direction.</a:t>
            </a:r>
          </a:p>
          <a:p>
            <a:pPr algn="just"/>
            <a:r>
              <a:rPr lang="en-US" dirty="0"/>
              <a:t>There is a very high individual dependency, since there is minimum documentation generated.</a:t>
            </a:r>
          </a:p>
          <a:p>
            <a:pPr algn="just"/>
            <a:r>
              <a:rPr lang="en-US" dirty="0"/>
              <a:t>Transfer of technology to new team members may be quite challenging due to lack of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2327864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to use the Agile Methodology?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 fontAlgn="base"/>
            <a:r>
              <a:rPr lang="en-US" b="1" dirty="0"/>
              <a:t>Unclear or Changing Requirements:</a:t>
            </a:r>
            <a:r>
              <a:rPr lang="en-US" dirty="0"/>
              <a:t> Agile is great for projects with requirements that aren’t well-defined or might change.</a:t>
            </a:r>
          </a:p>
          <a:p>
            <a:pPr algn="just" fontAlgn="base"/>
            <a:r>
              <a:rPr lang="en-US" b="1" dirty="0"/>
              <a:t>Complex Projects:</a:t>
            </a:r>
            <a:r>
              <a:rPr lang="en-US" dirty="0"/>
              <a:t> It’s good for big, complex projects by breaking them into smaller pieces.</a:t>
            </a:r>
          </a:p>
          <a:p>
            <a:pPr algn="just" fontAlgn="base"/>
            <a:r>
              <a:rPr lang="en-US" b="1" dirty="0"/>
              <a:t>Customer Focus:</a:t>
            </a:r>
            <a:r>
              <a:rPr lang="en-US" dirty="0"/>
              <a:t> Use Agile when making customers happy is a priority and you want to involve them throughout.</a:t>
            </a:r>
          </a:p>
          <a:p>
            <a:pPr algn="just" fontAlgn="base"/>
            <a:r>
              <a:rPr lang="en-US" b="1" dirty="0"/>
              <a:t>Quick Time-to-Market:</a:t>
            </a:r>
            <a:r>
              <a:rPr lang="en-US" dirty="0"/>
              <a:t> If you need to get your product out fast, Agile can help.</a:t>
            </a:r>
          </a:p>
          <a:p>
            <a:pPr algn="just" fontAlgn="base"/>
            <a:r>
              <a:rPr lang="en-US" b="1" dirty="0"/>
              <a:t>Small to Medium Teams: </a:t>
            </a:r>
            <a:r>
              <a:rPr lang="en-US" dirty="0"/>
              <a:t>Agile works well for teams of a few to a few dozen people.</a:t>
            </a:r>
          </a:p>
        </p:txBody>
      </p:sp>
    </p:spTree>
    <p:extLst>
      <p:ext uri="{BB962C8B-B14F-4D97-AF65-F5344CB8AC3E}">
        <p14:creationId xmlns:p14="http://schemas.microsoft.com/office/powerpoint/2010/main" val="1348541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to use the Agile Methodology?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 fontAlgn="base"/>
            <a:r>
              <a:rPr lang="en-US" b="1" dirty="0"/>
              <a:t>Team Skills:</a:t>
            </a:r>
            <a:r>
              <a:rPr lang="en-US" dirty="0"/>
              <a:t> It’s best when you have a mix of skills in your team, like development, testing, design, and more.</a:t>
            </a:r>
          </a:p>
          <a:p>
            <a:pPr algn="just" fontAlgn="base"/>
            <a:r>
              <a:rPr lang="en-US" b="1" dirty="0"/>
              <a:t>Collaboration:</a:t>
            </a:r>
            <a:r>
              <a:rPr lang="en-US" dirty="0"/>
              <a:t> Agile promotes working together and open communication.</a:t>
            </a:r>
          </a:p>
          <a:p>
            <a:pPr algn="just" fontAlgn="base"/>
            <a:r>
              <a:rPr lang="en-US" b="1" dirty="0"/>
              <a:t>Regular Updates:</a:t>
            </a:r>
            <a:r>
              <a:rPr lang="en-US" dirty="0"/>
              <a:t> If you want to check progress often and make changes as needed.</a:t>
            </a:r>
          </a:p>
          <a:p>
            <a:pPr algn="just" fontAlgn="base"/>
            <a:r>
              <a:rPr lang="en-US" b="1" dirty="0"/>
              <a:t>Transparency:</a:t>
            </a:r>
            <a:r>
              <a:rPr lang="en-US" dirty="0"/>
              <a:t> Agile emphasizes being open and clear with everyone involved in the project.</a:t>
            </a:r>
          </a:p>
          <a:p>
            <a:pPr algn="just" fontAlgn="base"/>
            <a:r>
              <a:rPr lang="en-US" b="1" dirty="0"/>
              <a:t>Risk Control:</a:t>
            </a:r>
            <a:r>
              <a:rPr lang="en-US" dirty="0"/>
              <a:t> It helps manage risks by tackling issues as they come up.</a:t>
            </a:r>
          </a:p>
          <a:p>
            <a:pPr algn="just" fontAlgn="base"/>
            <a:r>
              <a:rPr lang="en-US" b="1" dirty="0"/>
              <a:t>Innovation:</a:t>
            </a:r>
            <a:r>
              <a:rPr lang="en-US" dirty="0"/>
              <a:t> If you encourage trying new things and learning from experience, Agile supports that.</a:t>
            </a:r>
          </a:p>
          <a:p>
            <a:pPr algn="just" fontAlgn="base"/>
            <a:r>
              <a:rPr lang="en-US" b="1" dirty="0"/>
              <a:t>Continuous Improvement: </a:t>
            </a:r>
            <a:r>
              <a:rPr lang="en-US" dirty="0"/>
              <a:t>Agile fosters a culture of always getting better over time.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008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Agile Project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Agile project management is an interactive approach to manage software development. </a:t>
            </a:r>
          </a:p>
          <a:p>
            <a:pPr algn="just"/>
            <a:r>
              <a:rPr lang="en-US" dirty="0"/>
              <a:t>Agile project management focuses on continuous releases and covers customer feedback every iteration.</a:t>
            </a:r>
          </a:p>
          <a:p>
            <a:pPr algn="just"/>
            <a:r>
              <a:rPr lang="en-US" dirty="0"/>
              <a:t>Traditionally the agile project management is classified into two frameworks: </a:t>
            </a:r>
            <a:r>
              <a:rPr lang="en-US" b="1" dirty="0"/>
              <a:t>scrum</a:t>
            </a:r>
            <a:r>
              <a:rPr lang="en-US" dirty="0"/>
              <a:t> and </a:t>
            </a:r>
            <a:r>
              <a:rPr lang="en-US" b="1" dirty="0" err="1"/>
              <a:t>kanban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The scrum framework focused on fixed-length project iterations, whereas the </a:t>
            </a:r>
            <a:r>
              <a:rPr lang="en-US" dirty="0" err="1"/>
              <a:t>kanban</a:t>
            </a:r>
            <a:r>
              <a:rPr lang="en-US" dirty="0"/>
              <a:t> framework focused on continuous releases. </a:t>
            </a:r>
          </a:p>
          <a:p>
            <a:pPr algn="just"/>
            <a:r>
              <a:rPr lang="en-US" dirty="0"/>
              <a:t>After the competition of the project’s first iteration (or steps) project management activity immediately moves on to the next.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340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Scrum is a popular framework within Agile project management.</a:t>
            </a:r>
          </a:p>
          <a:p>
            <a:r>
              <a:rPr lang="en-US" dirty="0"/>
              <a:t> It is designed to help teams work together to deliver complex products incrementally. </a:t>
            </a:r>
          </a:p>
          <a:p>
            <a:r>
              <a:rPr lang="en-US" dirty="0"/>
              <a:t>Scrum is particularly suited for projects with rapidly changing or unclear requirements.</a:t>
            </a:r>
          </a:p>
          <a:p>
            <a:pPr marL="0" indent="0">
              <a:buNone/>
            </a:pPr>
            <a:r>
              <a:rPr lang="en-US" dirty="0"/>
              <a:t>Key Components of Scrum are:-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Roles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Product Backlog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Sprint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Scrum Process</a:t>
            </a:r>
          </a:p>
        </p:txBody>
      </p:sp>
    </p:spTree>
    <p:extLst>
      <p:ext uri="{BB962C8B-B14F-4D97-AF65-F5344CB8AC3E}">
        <p14:creationId xmlns:p14="http://schemas.microsoft.com/office/powerpoint/2010/main" val="1393980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Roles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1" dirty="0"/>
              <a:t>Product Owner:</a:t>
            </a:r>
            <a:r>
              <a:rPr lang="en-US" dirty="0"/>
              <a:t> Represents the customer or stakeholders and is responsible for defining the product backlog, prioritizing items, and ensuring the team delivers value.</a:t>
            </a:r>
          </a:p>
          <a:p>
            <a:pPr lvl="1"/>
            <a:r>
              <a:rPr lang="en-US" b="1" dirty="0"/>
              <a:t>Scrum Master:</a:t>
            </a:r>
            <a:r>
              <a:rPr lang="en-US" dirty="0"/>
              <a:t> Facilitates the Scrum process, helps the team follow Scrum practices, and removes any obstacles to progress.</a:t>
            </a:r>
          </a:p>
          <a:p>
            <a:pPr lvl="1"/>
            <a:r>
              <a:rPr lang="en-US" b="1" dirty="0"/>
              <a:t>Development Team:</a:t>
            </a:r>
            <a:r>
              <a:rPr lang="en-US" dirty="0"/>
              <a:t> A cross-functional group responsible for delivering potentially shippable increments of the product at the end of each sprint.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015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</a:t>
            </a:r>
            <a:r>
              <a:rPr lang="en-US" b="1" dirty="0" err="1"/>
              <a:t>Artifacts:Product</a:t>
            </a:r>
            <a:r>
              <a:rPr lang="en-US" b="1" dirty="0"/>
              <a:t> Backlog: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prioritized list of features, enhancements, and fixes that make up the project, Managed by the Product Owner.</a:t>
            </a:r>
          </a:p>
          <a:p>
            <a:r>
              <a:rPr lang="en-US" dirty="0"/>
              <a:t>Sprint Backlog: A subset of items from the product backlog selected for completion during the current </a:t>
            </a:r>
            <a:r>
              <a:rPr lang="en-US" dirty="0" err="1"/>
              <a:t>sprint.Owned</a:t>
            </a:r>
            <a:r>
              <a:rPr lang="en-US" dirty="0"/>
              <a:t> by the development team.</a:t>
            </a:r>
          </a:p>
          <a:p>
            <a:r>
              <a:rPr lang="en-US" dirty="0"/>
              <a:t>Increment: The sum of all completed backlog items during a sprint. It should be in a releasable state, even if the Product Owner chooses not to release it.</a:t>
            </a:r>
          </a:p>
        </p:txBody>
      </p:sp>
    </p:spTree>
    <p:extLst>
      <p:ext uri="{BB962C8B-B14F-4D97-AF65-F5344CB8AC3E}">
        <p14:creationId xmlns:p14="http://schemas.microsoft.com/office/powerpoint/2010/main" val="4036742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</a:t>
            </a:r>
            <a:r>
              <a:rPr lang="en-US" b="1" dirty="0" err="1"/>
              <a:t>Events:Sprint</a:t>
            </a:r>
            <a:r>
              <a:rPr lang="en-US" b="1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time-boxed iteration, typically 1-4 weeks long, during which the team works on a set of backlog items to create a product increment.</a:t>
            </a:r>
          </a:p>
          <a:p>
            <a:r>
              <a:rPr lang="en-US" b="1" dirty="0"/>
              <a:t>Sprint Planning: </a:t>
            </a:r>
            <a:r>
              <a:rPr lang="en-US" dirty="0"/>
              <a:t>A meeting where the team decides what backlog items will be worked on during the sprint.</a:t>
            </a:r>
          </a:p>
          <a:p>
            <a:r>
              <a:rPr lang="en-US" b="1" dirty="0"/>
              <a:t>Daily Scrum (Standup): </a:t>
            </a:r>
            <a:r>
              <a:rPr lang="en-US" dirty="0"/>
              <a:t>A short daily meeting where the team discusses progress, what they plan to do, and any impediments.</a:t>
            </a:r>
          </a:p>
          <a:p>
            <a:r>
              <a:rPr lang="en-US" b="1" dirty="0"/>
              <a:t>Sprint Review</a:t>
            </a:r>
            <a:r>
              <a:rPr lang="en-US" dirty="0"/>
              <a:t>: Held at the end of the sprint to showcase the completed work and get feedback from </a:t>
            </a:r>
            <a:r>
              <a:rPr lang="en-US" dirty="0" err="1"/>
              <a:t>stakeholders.Sprint</a:t>
            </a:r>
            <a:r>
              <a:rPr lang="en-US" dirty="0"/>
              <a:t> </a:t>
            </a:r>
          </a:p>
          <a:p>
            <a:r>
              <a:rPr lang="en-US" b="1" dirty="0"/>
              <a:t>Retrospective: </a:t>
            </a:r>
            <a:r>
              <a:rPr lang="en-US" dirty="0"/>
              <a:t>A meeting to reflect on the sprint, discussing what went well, what could be improved, and how to make adjustments.</a:t>
            </a:r>
          </a:p>
        </p:txBody>
      </p:sp>
    </p:spTree>
    <p:extLst>
      <p:ext uri="{BB962C8B-B14F-4D97-AF65-F5344CB8AC3E}">
        <p14:creationId xmlns:p14="http://schemas.microsoft.com/office/powerpoint/2010/main" val="2198284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Scrum Process: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Scrum operates in cycles (sprints), where the team commits to completing specific items from the backlog. </a:t>
            </a:r>
          </a:p>
          <a:p>
            <a:pPr algn="just"/>
            <a:r>
              <a:rPr lang="en-US" dirty="0"/>
              <a:t>After each sprint, the team reviews progress, gathers feedback, and refines their processes.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605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Plan Driven and Agile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 </a:t>
            </a:r>
            <a:r>
              <a:rPr lang="en-US" b="1" dirty="0"/>
              <a:t>plan-driven development is</a:t>
            </a:r>
            <a:r>
              <a:rPr lang="en-US" dirty="0"/>
              <a:t> a process where all the activities are planned in advance, and we measure the progress in advance against that plan. </a:t>
            </a:r>
          </a:p>
          <a:p>
            <a:pPr algn="just"/>
            <a:r>
              <a:rPr lang="en-US" dirty="0"/>
              <a:t>While in </a:t>
            </a:r>
            <a:r>
              <a:rPr lang="en-US" b="1" dirty="0"/>
              <a:t>agile development, </a:t>
            </a:r>
            <a:r>
              <a:rPr lang="en-US" dirty="0"/>
              <a:t>planning is always incremental, where you can change the plan according to your customer requirements. </a:t>
            </a:r>
          </a:p>
          <a:p>
            <a:pPr algn="just"/>
            <a:r>
              <a:rPr lang="en-US" dirty="0"/>
              <a:t>So, as the term ‘agile development’ suggests, it is the process-based method where one can alter the way things and planning and replace them with the more suitable ones.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212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1148</Words>
  <Application>Microsoft Office PowerPoint</Application>
  <PresentationFormat>Widescreen</PresentationFormat>
  <Paragraphs>97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Agile Methodology</vt:lpstr>
      <vt:lpstr>Agile SDLC</vt:lpstr>
      <vt:lpstr>What is Agile?</vt:lpstr>
      <vt:lpstr>Agile SDLC</vt:lpstr>
      <vt:lpstr>Agile Principle</vt:lpstr>
      <vt:lpstr>Agile Vs Traditional SDLC Model </vt:lpstr>
      <vt:lpstr>Agile SDLC</vt:lpstr>
      <vt:lpstr>Advantages</vt:lpstr>
      <vt:lpstr>Disadvantages</vt:lpstr>
      <vt:lpstr>When to use the Agile Methodology? </vt:lpstr>
      <vt:lpstr>When to use the Agile Methodology? </vt:lpstr>
      <vt:lpstr>Agile Project Management</vt:lpstr>
      <vt:lpstr>Scrum</vt:lpstr>
      <vt:lpstr>1. Roles</vt:lpstr>
      <vt:lpstr>2. Artifacts:Product Backlog:</vt:lpstr>
      <vt:lpstr>3. Events:Sprint:</vt:lpstr>
      <vt:lpstr>4. Scrum Process: </vt:lpstr>
      <vt:lpstr>Plan Driven and Agile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Methodology</dc:title>
  <dc:creator>ASUS</dc:creator>
  <cp:lastModifiedBy>abita kunwar</cp:lastModifiedBy>
  <cp:revision>58</cp:revision>
  <dcterms:created xsi:type="dcterms:W3CDTF">2024-08-20T14:18:32Z</dcterms:created>
  <dcterms:modified xsi:type="dcterms:W3CDTF">2025-08-31T03:41:32Z</dcterms:modified>
</cp:coreProperties>
</file>