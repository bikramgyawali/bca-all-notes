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8" r:id="rId4"/>
    <p:sldId id="269" r:id="rId5"/>
    <p:sldId id="270" r:id="rId6"/>
    <p:sldId id="259" r:id="rId7"/>
    <p:sldId id="271" r:id="rId8"/>
    <p:sldId id="272" r:id="rId9"/>
    <p:sldId id="307" r:id="rId10"/>
    <p:sldId id="273" r:id="rId11"/>
    <p:sldId id="310" r:id="rId12"/>
    <p:sldId id="274" r:id="rId13"/>
    <p:sldId id="275" r:id="rId14"/>
    <p:sldId id="276" r:id="rId15"/>
    <p:sldId id="277" r:id="rId16"/>
    <p:sldId id="282" r:id="rId17"/>
    <p:sldId id="308" r:id="rId18"/>
    <p:sldId id="283" r:id="rId19"/>
    <p:sldId id="309" r:id="rId20"/>
    <p:sldId id="284" r:id="rId21"/>
    <p:sldId id="278" r:id="rId22"/>
    <p:sldId id="279" r:id="rId23"/>
    <p:sldId id="280" r:id="rId24"/>
    <p:sldId id="311" r:id="rId25"/>
    <p:sldId id="281" r:id="rId26"/>
    <p:sldId id="265" r:id="rId27"/>
    <p:sldId id="285" r:id="rId28"/>
    <p:sldId id="286" r:id="rId29"/>
    <p:sldId id="287" r:id="rId30"/>
    <p:sldId id="288" r:id="rId31"/>
    <p:sldId id="290" r:id="rId32"/>
    <p:sldId id="264" r:id="rId33"/>
    <p:sldId id="291" r:id="rId34"/>
    <p:sldId id="294" r:id="rId35"/>
    <p:sldId id="292" r:id="rId36"/>
    <p:sldId id="295" r:id="rId37"/>
    <p:sldId id="293" r:id="rId38"/>
    <p:sldId id="296" r:id="rId39"/>
    <p:sldId id="297" r:id="rId40"/>
    <p:sldId id="266" r:id="rId41"/>
    <p:sldId id="267" r:id="rId42"/>
    <p:sldId id="262" r:id="rId43"/>
    <p:sldId id="301" r:id="rId44"/>
    <p:sldId id="304" r:id="rId45"/>
    <p:sldId id="303" r:id="rId46"/>
    <p:sldId id="261" r:id="rId47"/>
    <p:sldId id="305" r:id="rId48"/>
    <p:sldId id="302" r:id="rId49"/>
    <p:sldId id="306" r:id="rId50"/>
    <p:sldId id="313" r:id="rId51"/>
    <p:sldId id="314" r:id="rId52"/>
    <p:sldId id="315" r:id="rId53"/>
    <p:sldId id="316" r:id="rId54"/>
    <p:sldId id="317" r:id="rId55"/>
    <p:sldId id="318" r:id="rId56"/>
    <p:sldId id="319" r:id="rId57"/>
    <p:sldId id="320" r:id="rId58"/>
    <p:sldId id="321" r:id="rId59"/>
    <p:sldId id="323" r:id="rId60"/>
    <p:sldId id="324" r:id="rId61"/>
    <p:sldId id="322" r:id="rId62"/>
    <p:sldId id="325" r:id="rId63"/>
    <p:sldId id="326" r:id="rId64"/>
    <p:sldId id="329" r:id="rId65"/>
    <p:sldId id="327" r:id="rId66"/>
    <p:sldId id="330" r:id="rId67"/>
    <p:sldId id="328" r:id="rId68"/>
    <p:sldId id="331"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1357F05-2440-4BE6-A81F-E20122A7B5BC}"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1442293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357F05-2440-4BE6-A81F-E20122A7B5BC}"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2013218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1357F05-2440-4BE6-A81F-E20122A7B5BC}"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267053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1357F05-2440-4BE6-A81F-E20122A7B5BC}" type="datetimeFigureOut">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925811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1357F05-2440-4BE6-A81F-E20122A7B5BC}" type="datetimeFigureOut">
              <a:rPr lang="en-US" smtClean="0"/>
              <a:t>11/10/2024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3734349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1357F05-2440-4BE6-A81F-E20122A7B5BC}" type="datetimeFigureOut">
              <a:rPr lang="en-US" smtClean="0"/>
              <a:t>11/10/2024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809493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357F05-2440-4BE6-A81F-E20122A7B5BC}" type="datetimeFigureOut">
              <a:rPr lang="en-US" smtClean="0"/>
              <a:t>11/10/2024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46368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1357F05-2440-4BE6-A81F-E20122A7B5BC}" type="datetimeFigureOut">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395278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1357F05-2440-4BE6-A81F-E20122A7B5BC}" type="datetimeFigureOut">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2893623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357F05-2440-4BE6-A81F-E20122A7B5BC}"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3955055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357F05-2440-4BE6-A81F-E20122A7B5BC}"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C9BFAE-3A95-4F70-977B-8CF30F63B98A}" type="slidenum">
              <a:rPr lang="en-US" smtClean="0"/>
              <a:t>‹#›</a:t>
            </a:fld>
            <a:endParaRPr lang="en-US"/>
          </a:p>
        </p:txBody>
      </p:sp>
    </p:spTree>
    <p:extLst>
      <p:ext uri="{BB962C8B-B14F-4D97-AF65-F5344CB8AC3E}">
        <p14:creationId xmlns:p14="http://schemas.microsoft.com/office/powerpoint/2010/main" val="1482648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357F05-2440-4BE6-A81F-E20122A7B5BC}" type="datetimeFigureOut">
              <a:rPr lang="en-US" smtClean="0"/>
              <a:t>11/10/2024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C9BFAE-3A95-4F70-977B-8CF30F63B98A}" type="slidenum">
              <a:rPr lang="en-US" smtClean="0"/>
              <a:t>‹#›</a:t>
            </a:fld>
            <a:endParaRPr lang="en-US"/>
          </a:p>
        </p:txBody>
      </p:sp>
    </p:spTree>
    <p:extLst>
      <p:ext uri="{BB962C8B-B14F-4D97-AF65-F5344CB8AC3E}">
        <p14:creationId xmlns:p14="http://schemas.microsoft.com/office/powerpoint/2010/main" val="3153906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Chapter 4</a:t>
            </a:r>
            <a:endParaRPr lang="en-US" dirty="0"/>
          </a:p>
        </p:txBody>
      </p:sp>
      <p:sp>
        <p:nvSpPr>
          <p:cNvPr id="3" name="Subtitle 2"/>
          <p:cNvSpPr>
            <a:spLocks noGrp="1"/>
          </p:cNvSpPr>
          <p:nvPr>
            <p:ph type="subTitle" idx="1"/>
          </p:nvPr>
        </p:nvSpPr>
        <p:spPr/>
        <p:txBody>
          <a:bodyPr>
            <a:normAutofit/>
          </a:bodyPr>
          <a:lstStyle/>
          <a:p>
            <a:r>
              <a:rPr lang="en-US" sz="8000" b="1" dirty="0" smtClean="0"/>
              <a:t>Software design</a:t>
            </a:r>
            <a:endParaRPr lang="en-US" sz="8000" dirty="0"/>
          </a:p>
        </p:txBody>
      </p:sp>
    </p:spTree>
    <p:extLst>
      <p:ext uri="{BB962C8B-B14F-4D97-AF65-F5344CB8AC3E}">
        <p14:creationId xmlns:p14="http://schemas.microsoft.com/office/powerpoint/2010/main" val="36387821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smtClean="0"/>
              <a:t>Introduction To Software Design</a:t>
            </a:r>
            <a:endParaRPr lang="en-US" b="1" dirty="0"/>
          </a:p>
        </p:txBody>
      </p:sp>
      <p:sp>
        <p:nvSpPr>
          <p:cNvPr id="3" name="Content Placeholder 2"/>
          <p:cNvSpPr>
            <a:spLocks noGrp="1"/>
          </p:cNvSpPr>
          <p:nvPr>
            <p:ph idx="1"/>
          </p:nvPr>
        </p:nvSpPr>
        <p:spPr/>
        <p:txBody>
          <a:bodyPr>
            <a:normAutofit fontScale="92500" lnSpcReduction="20000"/>
          </a:bodyPr>
          <a:lstStyle/>
          <a:p>
            <a:pPr algn="just"/>
            <a:r>
              <a:rPr lang="en-US" dirty="0" smtClean="0"/>
              <a:t>Process to transform user requirements into some suitable form. </a:t>
            </a:r>
          </a:p>
          <a:p>
            <a:pPr algn="just"/>
            <a:r>
              <a:rPr lang="en-US" dirty="0" smtClean="0"/>
              <a:t>Helps the programmer in software coding and implementation.</a:t>
            </a:r>
          </a:p>
          <a:p>
            <a:pPr algn="just"/>
            <a:r>
              <a:rPr lang="en-US" dirty="0" smtClean="0"/>
              <a:t>For assessing user requirements, an SRS (software requirement specification) document is created whereas, for coding and implementation, there is a need for more specific and detailed requirements in software terms. </a:t>
            </a:r>
          </a:p>
          <a:p>
            <a:pPr algn="just"/>
            <a:r>
              <a:rPr lang="en-US" dirty="0" smtClean="0"/>
              <a:t>The output of this process can directly be used into implementation in programming languages.</a:t>
            </a:r>
          </a:p>
          <a:p>
            <a:pPr algn="just"/>
            <a:r>
              <a:rPr lang="en-US" dirty="0" smtClean="0"/>
              <a:t>Software design is the first step in SDLC (software design life cycle), which moves the concentration from the problem domain to the solution domain.</a:t>
            </a:r>
          </a:p>
          <a:p>
            <a:pPr algn="just"/>
            <a:r>
              <a:rPr lang="en-US" dirty="0" smtClean="0"/>
              <a:t> It tries to specify how to fulfill the requirements mentioned in </a:t>
            </a:r>
            <a:r>
              <a:rPr lang="en-US" dirty="0" err="1" smtClean="0"/>
              <a:t>srs</a:t>
            </a:r>
            <a:r>
              <a:rPr lang="en-US" dirty="0" smtClean="0"/>
              <a:t>.</a:t>
            </a:r>
          </a:p>
          <a:p>
            <a:pPr algn="just"/>
            <a:endParaRPr lang="en-US" dirty="0"/>
          </a:p>
        </p:txBody>
      </p:sp>
    </p:spTree>
    <p:extLst>
      <p:ext uri="{BB962C8B-B14F-4D97-AF65-F5344CB8AC3E}">
        <p14:creationId xmlns:p14="http://schemas.microsoft.com/office/powerpoint/2010/main" val="18678303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Good software designs</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72725670"/>
              </p:ext>
            </p:extLst>
          </p:nvPr>
        </p:nvGraphicFramePr>
        <p:xfrm>
          <a:off x="838200" y="2526288"/>
          <a:ext cx="10515600" cy="3876040"/>
        </p:xfrm>
        <a:graphic>
          <a:graphicData uri="http://schemas.openxmlformats.org/drawingml/2006/table">
            <a:tbl>
              <a:tblPr/>
              <a:tblGrid>
                <a:gridCol w="3505200">
                  <a:extLst>
                    <a:ext uri="{9D8B030D-6E8A-4147-A177-3AD203B41FA5}">
                      <a16:colId xmlns:a16="http://schemas.microsoft.com/office/drawing/2014/main" val="1501658230"/>
                    </a:ext>
                  </a:extLst>
                </a:gridCol>
                <a:gridCol w="3505200">
                  <a:extLst>
                    <a:ext uri="{9D8B030D-6E8A-4147-A177-3AD203B41FA5}">
                      <a16:colId xmlns:a16="http://schemas.microsoft.com/office/drawing/2014/main" val="3606385947"/>
                    </a:ext>
                  </a:extLst>
                </a:gridCol>
                <a:gridCol w="3505200">
                  <a:extLst>
                    <a:ext uri="{9D8B030D-6E8A-4147-A177-3AD203B41FA5}">
                      <a16:colId xmlns:a16="http://schemas.microsoft.com/office/drawing/2014/main" val="506185529"/>
                    </a:ext>
                  </a:extLst>
                </a:gridCol>
              </a:tblGrid>
              <a:tr h="0">
                <a:tc>
                  <a:txBody>
                    <a:bodyPr/>
                    <a:lstStyle/>
                    <a:p>
                      <a:pPr algn="l" fontAlgn="base"/>
                      <a:r>
                        <a:rPr lang="en-US" sz="1600" b="1" dirty="0">
                          <a:effectLst/>
                        </a:rPr>
                        <a:t>Characteristics</a:t>
                      </a:r>
                    </a:p>
                  </a:txBody>
                  <a:tcPr marL="63500" marR="63500" marT="63500" marB="63500" anchor="ctr">
                    <a:lnL>
                      <a:noFill/>
                    </a:lnL>
                    <a:lnR>
                      <a:noFill/>
                    </a:lnR>
                    <a:lnT>
                      <a:noFill/>
                    </a:lnT>
                    <a:lnB>
                      <a:noFill/>
                    </a:lnB>
                    <a:solidFill>
                      <a:srgbClr val="FFFFFF"/>
                    </a:solidFill>
                  </a:tcPr>
                </a:tc>
                <a:tc>
                  <a:txBody>
                    <a:bodyPr/>
                    <a:lstStyle/>
                    <a:p>
                      <a:pPr algn="l" fontAlgn="base"/>
                      <a:r>
                        <a:rPr lang="en-US" sz="1600" b="1" dirty="0">
                          <a:effectLst/>
                        </a:rPr>
                        <a:t>Good Design</a:t>
                      </a:r>
                    </a:p>
                  </a:txBody>
                  <a:tcPr marL="63500" marR="63500" marT="63500" marB="63500" anchor="ctr">
                    <a:lnL>
                      <a:noFill/>
                    </a:lnL>
                    <a:lnR>
                      <a:noFill/>
                    </a:lnR>
                    <a:lnT>
                      <a:noFill/>
                    </a:lnT>
                    <a:lnB>
                      <a:noFill/>
                    </a:lnB>
                    <a:solidFill>
                      <a:srgbClr val="FFFFFF"/>
                    </a:solidFill>
                  </a:tcPr>
                </a:tc>
                <a:tc>
                  <a:txBody>
                    <a:bodyPr/>
                    <a:lstStyle/>
                    <a:p>
                      <a:pPr algn="l" fontAlgn="base"/>
                      <a:r>
                        <a:rPr lang="en-US" sz="1600" b="1" dirty="0">
                          <a:effectLst/>
                        </a:rPr>
                        <a:t>Bad Design</a:t>
                      </a:r>
                    </a:p>
                  </a:txBody>
                  <a:tcPr marL="63500" marR="63500" marT="63500" marB="63500" anchor="ctr">
                    <a:lnL>
                      <a:noFill/>
                    </a:lnL>
                    <a:lnR>
                      <a:noFill/>
                    </a:lnR>
                    <a:lnT>
                      <a:noFill/>
                    </a:lnT>
                    <a:lnB>
                      <a:noFill/>
                    </a:lnB>
                    <a:solidFill>
                      <a:srgbClr val="FFFFFF"/>
                    </a:solidFill>
                  </a:tcPr>
                </a:tc>
                <a:extLst>
                  <a:ext uri="{0D108BD9-81ED-4DB2-BD59-A6C34878D82A}">
                    <a16:rowId xmlns:a16="http://schemas.microsoft.com/office/drawing/2014/main" val="3267943695"/>
                  </a:ext>
                </a:extLst>
              </a:tr>
              <a:tr h="0">
                <a:tc>
                  <a:txBody>
                    <a:bodyPr/>
                    <a:lstStyle/>
                    <a:p>
                      <a:pPr algn="l" fontAlgn="base"/>
                      <a:r>
                        <a:rPr lang="en-US" sz="1600" b="0" dirty="0">
                          <a:effectLst/>
                        </a:rPr>
                        <a:t>Change</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dirty="0">
                          <a:effectLst/>
                        </a:rPr>
                        <a:t>Change is one part of the system does not always require a change in another part of the system.</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a:effectLst/>
                        </a:rPr>
                        <a:t>One conceptual change requires changes to many parts of the system.</a:t>
                      </a:r>
                    </a:p>
                  </a:txBody>
                  <a:tcPr marL="63500" marR="63500" marT="88900" marB="88900" anchor="ctr">
                    <a:lnL>
                      <a:noFill/>
                    </a:lnL>
                    <a:lnR>
                      <a:noFill/>
                    </a:lnR>
                    <a:lnT>
                      <a:noFill/>
                    </a:lnT>
                    <a:lnB>
                      <a:noFill/>
                    </a:lnB>
                    <a:solidFill>
                      <a:srgbClr val="FFFFFF"/>
                    </a:solidFill>
                  </a:tcPr>
                </a:tc>
                <a:extLst>
                  <a:ext uri="{0D108BD9-81ED-4DB2-BD59-A6C34878D82A}">
                    <a16:rowId xmlns:a16="http://schemas.microsoft.com/office/drawing/2014/main" val="2782297035"/>
                  </a:ext>
                </a:extLst>
              </a:tr>
              <a:tr h="0">
                <a:tc>
                  <a:txBody>
                    <a:bodyPr/>
                    <a:lstStyle/>
                    <a:p>
                      <a:pPr algn="l" fontAlgn="base"/>
                      <a:r>
                        <a:rPr lang="en-US" sz="1600" b="0" dirty="0">
                          <a:effectLst/>
                        </a:rPr>
                        <a:t>Logic</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dirty="0">
                          <a:effectLst/>
                        </a:rPr>
                        <a:t>Every piece of logic has one and </a:t>
                      </a:r>
                      <a:r>
                        <a:rPr lang="en-US" sz="1600" b="0" dirty="0" smtClean="0">
                          <a:effectLst/>
                        </a:rPr>
                        <a:t>only one </a:t>
                      </a:r>
                      <a:r>
                        <a:rPr lang="en-US" sz="1600" b="0" dirty="0">
                          <a:effectLst/>
                        </a:rPr>
                        <a:t>home.</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a:effectLst/>
                        </a:rPr>
                        <a:t>Logic has to be duplicated.</a:t>
                      </a:r>
                    </a:p>
                  </a:txBody>
                  <a:tcPr marL="63500" marR="63500" marT="88900" marB="88900" anchor="ctr">
                    <a:lnL>
                      <a:noFill/>
                    </a:lnL>
                    <a:lnR>
                      <a:noFill/>
                    </a:lnR>
                    <a:lnT>
                      <a:noFill/>
                    </a:lnT>
                    <a:lnB>
                      <a:noFill/>
                    </a:lnB>
                    <a:solidFill>
                      <a:srgbClr val="FFFFFF"/>
                    </a:solidFill>
                  </a:tcPr>
                </a:tc>
                <a:extLst>
                  <a:ext uri="{0D108BD9-81ED-4DB2-BD59-A6C34878D82A}">
                    <a16:rowId xmlns:a16="http://schemas.microsoft.com/office/drawing/2014/main" val="1404542803"/>
                  </a:ext>
                </a:extLst>
              </a:tr>
              <a:tr h="0">
                <a:tc>
                  <a:txBody>
                    <a:bodyPr/>
                    <a:lstStyle/>
                    <a:p>
                      <a:pPr algn="l" fontAlgn="base"/>
                      <a:r>
                        <a:rPr lang="en-US" sz="1600" b="0" dirty="0">
                          <a:effectLst/>
                        </a:rPr>
                        <a:t>Nature</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a:effectLst/>
                        </a:rPr>
                        <a:t>Simple</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a:effectLst/>
                        </a:rPr>
                        <a:t>Complex</a:t>
                      </a:r>
                    </a:p>
                  </a:txBody>
                  <a:tcPr marL="63500" marR="63500" marT="88900" marB="88900" anchor="ctr">
                    <a:lnL>
                      <a:noFill/>
                    </a:lnL>
                    <a:lnR>
                      <a:noFill/>
                    </a:lnR>
                    <a:lnT>
                      <a:noFill/>
                    </a:lnT>
                    <a:lnB>
                      <a:noFill/>
                    </a:lnB>
                    <a:solidFill>
                      <a:srgbClr val="FFFFFF"/>
                    </a:solidFill>
                  </a:tcPr>
                </a:tc>
                <a:extLst>
                  <a:ext uri="{0D108BD9-81ED-4DB2-BD59-A6C34878D82A}">
                    <a16:rowId xmlns:a16="http://schemas.microsoft.com/office/drawing/2014/main" val="650940655"/>
                  </a:ext>
                </a:extLst>
              </a:tr>
              <a:tr h="0">
                <a:tc>
                  <a:txBody>
                    <a:bodyPr/>
                    <a:lstStyle/>
                    <a:p>
                      <a:pPr algn="l" fontAlgn="base"/>
                      <a:r>
                        <a:rPr lang="en-US" sz="1600" b="0" dirty="0">
                          <a:effectLst/>
                        </a:rPr>
                        <a:t>Cost</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a:effectLst/>
                        </a:rPr>
                        <a:t>Small</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a:effectLst/>
                        </a:rPr>
                        <a:t>Very high</a:t>
                      </a:r>
                    </a:p>
                  </a:txBody>
                  <a:tcPr marL="63500" marR="63500" marT="88900" marB="88900" anchor="ctr">
                    <a:lnL>
                      <a:noFill/>
                    </a:lnL>
                    <a:lnR>
                      <a:noFill/>
                    </a:lnR>
                    <a:lnT>
                      <a:noFill/>
                    </a:lnT>
                    <a:lnB>
                      <a:noFill/>
                    </a:lnB>
                    <a:solidFill>
                      <a:srgbClr val="FFFFFF"/>
                    </a:solidFill>
                  </a:tcPr>
                </a:tc>
                <a:extLst>
                  <a:ext uri="{0D108BD9-81ED-4DB2-BD59-A6C34878D82A}">
                    <a16:rowId xmlns:a16="http://schemas.microsoft.com/office/drawing/2014/main" val="2042041731"/>
                  </a:ext>
                </a:extLst>
              </a:tr>
              <a:tr h="0">
                <a:tc>
                  <a:txBody>
                    <a:bodyPr/>
                    <a:lstStyle/>
                    <a:p>
                      <a:pPr algn="l" fontAlgn="base"/>
                      <a:r>
                        <a:rPr lang="en-US" sz="1600" b="0" dirty="0">
                          <a:effectLst/>
                        </a:rPr>
                        <a:t>Link</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dirty="0">
                          <a:effectLst/>
                        </a:rPr>
                        <a:t>The logic link can easily be found.</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a:effectLst/>
                        </a:rPr>
                        <a:t>The logic link cannot be remembered.</a:t>
                      </a:r>
                    </a:p>
                  </a:txBody>
                  <a:tcPr marL="63500" marR="63500" marT="88900" marB="88900" anchor="ctr">
                    <a:lnL>
                      <a:noFill/>
                    </a:lnL>
                    <a:lnR>
                      <a:noFill/>
                    </a:lnR>
                    <a:lnT>
                      <a:noFill/>
                    </a:lnT>
                    <a:lnB>
                      <a:noFill/>
                    </a:lnB>
                    <a:solidFill>
                      <a:srgbClr val="FFFFFF"/>
                    </a:solidFill>
                  </a:tcPr>
                </a:tc>
                <a:extLst>
                  <a:ext uri="{0D108BD9-81ED-4DB2-BD59-A6C34878D82A}">
                    <a16:rowId xmlns:a16="http://schemas.microsoft.com/office/drawing/2014/main" val="2064769510"/>
                  </a:ext>
                </a:extLst>
              </a:tr>
              <a:tr h="0">
                <a:tc>
                  <a:txBody>
                    <a:bodyPr/>
                    <a:lstStyle/>
                    <a:p>
                      <a:pPr algn="l" fontAlgn="base"/>
                      <a:r>
                        <a:rPr lang="en-US" sz="1600" b="0">
                          <a:effectLst/>
                        </a:rPr>
                        <a:t>Extension</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dirty="0">
                          <a:effectLst/>
                        </a:rPr>
                        <a:t>System can be extended with changes in only one place.</a:t>
                      </a:r>
                    </a:p>
                  </a:txBody>
                  <a:tcPr marL="63500" marR="63500" marT="88900" marB="88900" anchor="ctr">
                    <a:lnL>
                      <a:noFill/>
                    </a:lnL>
                    <a:lnR>
                      <a:noFill/>
                    </a:lnR>
                    <a:lnT>
                      <a:noFill/>
                    </a:lnT>
                    <a:lnB>
                      <a:noFill/>
                    </a:lnB>
                    <a:solidFill>
                      <a:srgbClr val="FFFFFF"/>
                    </a:solidFill>
                  </a:tcPr>
                </a:tc>
                <a:tc>
                  <a:txBody>
                    <a:bodyPr/>
                    <a:lstStyle/>
                    <a:p>
                      <a:pPr algn="l" fontAlgn="base"/>
                      <a:r>
                        <a:rPr lang="en-US" sz="1600" b="0" dirty="0">
                          <a:effectLst/>
                        </a:rPr>
                        <a:t>System cannot be extended so easily.</a:t>
                      </a:r>
                    </a:p>
                  </a:txBody>
                  <a:tcPr marL="63500" marR="63500" marT="88900" marB="88900" anchor="ctr">
                    <a:lnL>
                      <a:noFill/>
                    </a:lnL>
                    <a:lnR>
                      <a:noFill/>
                    </a:lnR>
                    <a:lnT>
                      <a:noFill/>
                    </a:lnT>
                    <a:lnB>
                      <a:noFill/>
                    </a:lnB>
                    <a:solidFill>
                      <a:srgbClr val="FFFFFF"/>
                    </a:solidFill>
                  </a:tcPr>
                </a:tc>
                <a:extLst>
                  <a:ext uri="{0D108BD9-81ED-4DB2-BD59-A6C34878D82A}">
                    <a16:rowId xmlns:a16="http://schemas.microsoft.com/office/drawing/2014/main" val="1479278526"/>
                  </a:ext>
                </a:extLst>
              </a:tr>
            </a:tbl>
          </a:graphicData>
        </a:graphic>
      </p:graphicFrame>
    </p:spTree>
    <p:extLst>
      <p:ext uri="{BB962C8B-B14F-4D97-AF65-F5344CB8AC3E}">
        <p14:creationId xmlns:p14="http://schemas.microsoft.com/office/powerpoint/2010/main" val="31495228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 of Software Design</a:t>
            </a:r>
            <a:br>
              <a:rPr lang="en-US" b="1" dirty="0"/>
            </a:br>
            <a:endParaRPr lang="en-US" b="1" dirty="0"/>
          </a:p>
        </p:txBody>
      </p:sp>
      <p:pic>
        <p:nvPicPr>
          <p:cNvPr id="4" name="Content Placeholder 3"/>
          <p:cNvPicPr>
            <a:picLocks noGrp="1" noChangeAspect="1"/>
          </p:cNvPicPr>
          <p:nvPr>
            <p:ph idx="1"/>
          </p:nvPr>
        </p:nvPicPr>
        <p:blipFill>
          <a:blip r:embed="rId2"/>
          <a:stretch>
            <a:fillRect/>
          </a:stretch>
        </p:blipFill>
        <p:spPr>
          <a:xfrm>
            <a:off x="2290713" y="1690688"/>
            <a:ext cx="7616858" cy="4804379"/>
          </a:xfrm>
          <a:prstGeom prst="rect">
            <a:avLst/>
          </a:prstGeom>
        </p:spPr>
      </p:pic>
    </p:spTree>
    <p:extLst>
      <p:ext uri="{BB962C8B-B14F-4D97-AF65-F5344CB8AC3E}">
        <p14:creationId xmlns:p14="http://schemas.microsoft.com/office/powerpoint/2010/main" val="22623432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Objectives of Software Design</a:t>
            </a:r>
            <a:br>
              <a:rPr lang="en-US" b="1" dirty="0" smtClean="0"/>
            </a:b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b="1" dirty="0"/>
              <a:t>Correctness</a:t>
            </a:r>
            <a:r>
              <a:rPr lang="en-US" b="1" dirty="0" smtClean="0"/>
              <a:t>: </a:t>
            </a:r>
            <a:r>
              <a:rPr lang="en-US" dirty="0" smtClean="0"/>
              <a:t>Software </a:t>
            </a:r>
            <a:r>
              <a:rPr lang="en-US" dirty="0"/>
              <a:t>design should be correct as per requirement.</a:t>
            </a:r>
          </a:p>
          <a:p>
            <a:pPr marL="514350" indent="-514350">
              <a:buFont typeface="+mj-lt"/>
              <a:buAutoNum type="arabicPeriod"/>
            </a:pPr>
            <a:r>
              <a:rPr lang="en-US" b="1" dirty="0"/>
              <a:t>Completeness</a:t>
            </a:r>
            <a:r>
              <a:rPr lang="en-US" b="1" dirty="0" smtClean="0"/>
              <a:t>: </a:t>
            </a:r>
            <a:r>
              <a:rPr lang="en-US" dirty="0" smtClean="0"/>
              <a:t>The </a:t>
            </a:r>
            <a:r>
              <a:rPr lang="en-US" dirty="0"/>
              <a:t>design should have all components like data structures, modules, and external interfaces, etc.</a:t>
            </a:r>
          </a:p>
          <a:p>
            <a:pPr marL="514350" indent="-514350">
              <a:buFont typeface="+mj-lt"/>
              <a:buAutoNum type="arabicPeriod"/>
            </a:pPr>
            <a:r>
              <a:rPr lang="en-US" b="1" dirty="0"/>
              <a:t>Efficiency</a:t>
            </a:r>
            <a:r>
              <a:rPr lang="en-US" b="1" dirty="0" smtClean="0"/>
              <a:t>: </a:t>
            </a:r>
            <a:r>
              <a:rPr lang="en-US" dirty="0" smtClean="0"/>
              <a:t>Resources </a:t>
            </a:r>
            <a:r>
              <a:rPr lang="en-US" dirty="0"/>
              <a:t>should be used efficiently by the program.</a:t>
            </a:r>
          </a:p>
          <a:p>
            <a:pPr marL="514350" indent="-514350">
              <a:buFont typeface="+mj-lt"/>
              <a:buAutoNum type="arabicPeriod"/>
            </a:pPr>
            <a:r>
              <a:rPr lang="en-US" b="1" dirty="0"/>
              <a:t>Flexibility</a:t>
            </a:r>
            <a:r>
              <a:rPr lang="en-US" b="1" dirty="0" smtClean="0"/>
              <a:t>: </a:t>
            </a:r>
            <a:r>
              <a:rPr lang="en-US" dirty="0" smtClean="0"/>
              <a:t>Able </a:t>
            </a:r>
            <a:r>
              <a:rPr lang="en-US" dirty="0"/>
              <a:t>to modify </a:t>
            </a:r>
            <a:r>
              <a:rPr lang="en-US" dirty="0" smtClean="0"/>
              <a:t>to </a:t>
            </a:r>
            <a:r>
              <a:rPr lang="en-US" dirty="0"/>
              <a:t>changing needs.</a:t>
            </a:r>
          </a:p>
          <a:p>
            <a:pPr marL="514350" indent="-514350">
              <a:buFont typeface="+mj-lt"/>
              <a:buAutoNum type="arabicPeriod"/>
            </a:pPr>
            <a:r>
              <a:rPr lang="en-US" b="1" dirty="0"/>
              <a:t>Consistency</a:t>
            </a:r>
            <a:r>
              <a:rPr lang="en-US" b="1" dirty="0" smtClean="0"/>
              <a:t>: </a:t>
            </a:r>
            <a:r>
              <a:rPr lang="en-US" dirty="0" smtClean="0"/>
              <a:t>There </a:t>
            </a:r>
            <a:r>
              <a:rPr lang="en-US" dirty="0"/>
              <a:t>should not be any inconsistency in the design.</a:t>
            </a:r>
          </a:p>
          <a:p>
            <a:pPr marL="514350" indent="-514350">
              <a:buFont typeface="+mj-lt"/>
              <a:buAutoNum type="arabicPeriod"/>
            </a:pPr>
            <a:r>
              <a:rPr lang="en-US" b="1" dirty="0"/>
              <a:t>Maintainability:</a:t>
            </a:r>
            <a:r>
              <a:rPr lang="en-US" dirty="0"/>
              <a:t> The design should be so simple so that it can be easily maintainable by other designers.</a:t>
            </a:r>
          </a:p>
          <a:p>
            <a:pPr marL="514350" indent="-514350">
              <a:buFont typeface="+mj-lt"/>
              <a:buAutoNum type="arabicPeriod"/>
            </a:pPr>
            <a:endParaRPr lang="en-US" dirty="0"/>
          </a:p>
        </p:txBody>
      </p:sp>
    </p:spTree>
    <p:extLst>
      <p:ext uri="{BB962C8B-B14F-4D97-AF65-F5344CB8AC3E}">
        <p14:creationId xmlns:p14="http://schemas.microsoft.com/office/powerpoint/2010/main" val="34282444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smtClean="0"/>
              <a:t>Design Principle </a:t>
            </a:r>
            <a:br>
              <a:rPr lang="en-US" b="1" dirty="0" smtClean="0"/>
            </a:br>
            <a:endParaRPr lang="en-US" b="1" dirty="0"/>
          </a:p>
        </p:txBody>
      </p:sp>
      <p:sp>
        <p:nvSpPr>
          <p:cNvPr id="3" name="Content Placeholder 2"/>
          <p:cNvSpPr>
            <a:spLocks noGrp="1"/>
          </p:cNvSpPr>
          <p:nvPr>
            <p:ph idx="1"/>
          </p:nvPr>
        </p:nvSpPr>
        <p:spPr/>
        <p:txBody>
          <a:bodyPr>
            <a:normAutofit/>
          </a:bodyPr>
          <a:lstStyle/>
          <a:p>
            <a:pPr marL="0" indent="0" algn="just">
              <a:buNone/>
            </a:pPr>
            <a:r>
              <a:rPr lang="en-US" sz="2000" dirty="0" smtClean="0"/>
              <a:t>Providing </a:t>
            </a:r>
            <a:r>
              <a:rPr lang="en-US" sz="2000" dirty="0"/>
              <a:t>means to handle the complexity of the design process effectively. </a:t>
            </a:r>
            <a:endParaRPr lang="en-US" sz="2000" dirty="0" smtClean="0"/>
          </a:p>
          <a:p>
            <a:pPr marL="0" indent="0" algn="just">
              <a:buNone/>
            </a:pPr>
            <a:r>
              <a:rPr lang="en-US" sz="2000" dirty="0" smtClean="0"/>
              <a:t>Effectively </a:t>
            </a:r>
            <a:r>
              <a:rPr lang="en-US" sz="2000" dirty="0"/>
              <a:t>managing the complexity will not only reduce the effort needed for design but can also reduce the scope of introducing errors during design</a:t>
            </a:r>
            <a:r>
              <a:rPr lang="en-US" sz="2000" dirty="0" smtClean="0"/>
              <a:t>.</a:t>
            </a:r>
          </a:p>
          <a:p>
            <a:pPr algn="just"/>
            <a:endParaRPr lang="en-US" sz="2000" dirty="0"/>
          </a:p>
        </p:txBody>
      </p:sp>
      <p:pic>
        <p:nvPicPr>
          <p:cNvPr id="5" name="Picture 4"/>
          <p:cNvPicPr>
            <a:picLocks noChangeAspect="1"/>
          </p:cNvPicPr>
          <p:nvPr/>
        </p:nvPicPr>
        <p:blipFill>
          <a:blip r:embed="rId2"/>
          <a:stretch>
            <a:fillRect/>
          </a:stretch>
        </p:blipFill>
        <p:spPr>
          <a:xfrm>
            <a:off x="2314673" y="2837468"/>
            <a:ext cx="5715000" cy="3784862"/>
          </a:xfrm>
          <a:prstGeom prst="rect">
            <a:avLst/>
          </a:prstGeom>
        </p:spPr>
      </p:pic>
    </p:spTree>
    <p:extLst>
      <p:ext uri="{BB962C8B-B14F-4D97-AF65-F5344CB8AC3E}">
        <p14:creationId xmlns:p14="http://schemas.microsoft.com/office/powerpoint/2010/main" val="25851717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Problem Partitioning</a:t>
            </a:r>
            <a:br>
              <a:rPr lang="en-US" b="1" dirty="0" smtClean="0"/>
            </a:br>
            <a:endParaRPr lang="en-US" b="1"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For </a:t>
            </a:r>
            <a:r>
              <a:rPr lang="en-US" dirty="0"/>
              <a:t>small </a:t>
            </a:r>
            <a:r>
              <a:rPr lang="en-US" dirty="0" smtClean="0"/>
              <a:t>problems, </a:t>
            </a:r>
            <a:r>
              <a:rPr lang="en-US" dirty="0"/>
              <a:t>we can handle the entire problem at </a:t>
            </a:r>
            <a:r>
              <a:rPr lang="en-US" dirty="0" smtClean="0"/>
              <a:t>once</a:t>
            </a:r>
          </a:p>
          <a:p>
            <a:pPr marL="0" indent="0">
              <a:buNone/>
            </a:pPr>
            <a:r>
              <a:rPr lang="en-US" dirty="0" smtClean="0"/>
              <a:t>B</a:t>
            </a:r>
            <a:r>
              <a:rPr lang="en-US" b="1" dirty="0" smtClean="0"/>
              <a:t>enefits </a:t>
            </a:r>
            <a:r>
              <a:rPr lang="en-US" b="1" dirty="0"/>
              <a:t>of Problem Partitioning</a:t>
            </a:r>
          </a:p>
          <a:p>
            <a:pPr marL="514350" indent="-514350">
              <a:buFont typeface="+mj-lt"/>
              <a:buAutoNum type="alphaLcParenR"/>
            </a:pPr>
            <a:r>
              <a:rPr lang="en-US" dirty="0"/>
              <a:t>Software is easy to understand</a:t>
            </a:r>
          </a:p>
          <a:p>
            <a:pPr marL="514350" indent="-514350">
              <a:buFont typeface="+mj-lt"/>
              <a:buAutoNum type="alphaLcParenR"/>
            </a:pPr>
            <a:r>
              <a:rPr lang="en-US" dirty="0"/>
              <a:t>Software becomes simple</a:t>
            </a:r>
          </a:p>
          <a:p>
            <a:pPr marL="514350" indent="-514350">
              <a:buFont typeface="+mj-lt"/>
              <a:buAutoNum type="alphaLcParenR"/>
            </a:pPr>
            <a:r>
              <a:rPr lang="en-US" dirty="0"/>
              <a:t>Software is easy to test</a:t>
            </a:r>
          </a:p>
          <a:p>
            <a:pPr marL="514350" indent="-514350">
              <a:buFont typeface="+mj-lt"/>
              <a:buAutoNum type="alphaLcParenR"/>
            </a:pPr>
            <a:r>
              <a:rPr lang="en-US" dirty="0"/>
              <a:t>Software is easy to modify</a:t>
            </a:r>
          </a:p>
          <a:p>
            <a:pPr marL="514350" indent="-514350">
              <a:buFont typeface="+mj-lt"/>
              <a:buAutoNum type="alphaLcParenR"/>
            </a:pPr>
            <a:r>
              <a:rPr lang="en-US" dirty="0"/>
              <a:t>Software is easy to maintain</a:t>
            </a:r>
          </a:p>
          <a:p>
            <a:pPr marL="514350" indent="-514350">
              <a:buFont typeface="+mj-lt"/>
              <a:buAutoNum type="alphaLcParenR"/>
            </a:pPr>
            <a:r>
              <a:rPr lang="en-US" dirty="0"/>
              <a:t>Software is easy to expand</a:t>
            </a:r>
          </a:p>
          <a:p>
            <a:pPr marL="0" indent="0">
              <a:buNone/>
            </a:pPr>
            <a:r>
              <a:rPr lang="en-US" dirty="0"/>
              <a:t>These pieces cannot be entirely independent of each other as they together form the system</a:t>
            </a:r>
            <a:r>
              <a:rPr lang="en-US" dirty="0" smtClean="0"/>
              <a:t>.</a:t>
            </a:r>
          </a:p>
          <a:p>
            <a:pPr marL="0" indent="0">
              <a:buNone/>
            </a:pPr>
            <a:r>
              <a:rPr lang="en-US" dirty="0" smtClean="0"/>
              <a:t>They </a:t>
            </a:r>
            <a:r>
              <a:rPr lang="en-US" dirty="0"/>
              <a:t>have to cooperate and communicate to solve the problem. </a:t>
            </a:r>
            <a:endParaRPr lang="en-US" dirty="0" smtClean="0"/>
          </a:p>
          <a:p>
            <a:pPr marL="0" indent="0">
              <a:buNone/>
            </a:pPr>
            <a:r>
              <a:rPr lang="en-US" dirty="0" smtClean="0"/>
              <a:t>This </a:t>
            </a:r>
            <a:r>
              <a:rPr lang="en-US" dirty="0"/>
              <a:t>communication adds complexity.</a:t>
            </a:r>
          </a:p>
          <a:p>
            <a:endParaRPr lang="en-US" dirty="0"/>
          </a:p>
        </p:txBody>
      </p:sp>
    </p:spTree>
    <p:extLst>
      <p:ext uri="{BB962C8B-B14F-4D97-AF65-F5344CB8AC3E}">
        <p14:creationId xmlns:p14="http://schemas.microsoft.com/office/powerpoint/2010/main" val="14859137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Abstraction</a:t>
            </a:r>
            <a:br>
              <a:rPr lang="en-US" b="1" dirty="0" smtClean="0"/>
            </a:br>
            <a:endParaRPr lang="en-US" b="1" dirty="0"/>
          </a:p>
        </p:txBody>
      </p:sp>
      <p:sp>
        <p:nvSpPr>
          <p:cNvPr id="3" name="Content Placeholder 2"/>
          <p:cNvSpPr>
            <a:spLocks noGrp="1"/>
          </p:cNvSpPr>
          <p:nvPr>
            <p:ph idx="1"/>
          </p:nvPr>
        </p:nvSpPr>
        <p:spPr/>
        <p:txBody>
          <a:bodyPr>
            <a:normAutofit/>
          </a:bodyPr>
          <a:lstStyle/>
          <a:p>
            <a:pPr algn="just"/>
            <a:r>
              <a:rPr lang="en-US" dirty="0" smtClean="0"/>
              <a:t>An </a:t>
            </a:r>
            <a:r>
              <a:rPr lang="en-US" dirty="0"/>
              <a:t>abstraction is a tool that enables a designer to consider a component at an abstract level without bothering about the internal details of the implementation</a:t>
            </a:r>
            <a:r>
              <a:rPr lang="en-US" dirty="0" smtClean="0"/>
              <a:t>.</a:t>
            </a:r>
          </a:p>
          <a:p>
            <a:pPr algn="just"/>
            <a:r>
              <a:rPr lang="en-US" dirty="0" smtClean="0"/>
              <a:t>Abstraction </a:t>
            </a:r>
            <a:r>
              <a:rPr lang="en-US" dirty="0"/>
              <a:t>can be used for existing </a:t>
            </a:r>
            <a:r>
              <a:rPr lang="en-US" dirty="0" smtClean="0"/>
              <a:t>elements </a:t>
            </a:r>
            <a:r>
              <a:rPr lang="en-US" dirty="0"/>
              <a:t>as well as the component being </a:t>
            </a:r>
            <a:r>
              <a:rPr lang="en-US" dirty="0" smtClean="0"/>
              <a:t>designed.</a:t>
            </a:r>
          </a:p>
          <a:p>
            <a:pPr marL="0" indent="0" algn="just">
              <a:buNone/>
            </a:pPr>
            <a:r>
              <a:rPr lang="en-US" dirty="0" smtClean="0"/>
              <a:t>Here</a:t>
            </a:r>
            <a:r>
              <a:rPr lang="en-US" dirty="0"/>
              <a:t>, there are two common abstraction mechanisms</a:t>
            </a:r>
          </a:p>
          <a:p>
            <a:pPr marL="514350" indent="-514350" algn="just">
              <a:buFont typeface="+mj-lt"/>
              <a:buAutoNum type="arabicPeriod"/>
            </a:pPr>
            <a:r>
              <a:rPr lang="en-US" dirty="0"/>
              <a:t>Functional Abstraction</a:t>
            </a:r>
          </a:p>
          <a:p>
            <a:pPr marL="514350" indent="-514350" algn="just">
              <a:buFont typeface="+mj-lt"/>
              <a:buAutoNum type="arabicPeriod"/>
            </a:pPr>
            <a:r>
              <a:rPr lang="en-US" dirty="0"/>
              <a:t>Data Abstraction</a:t>
            </a:r>
          </a:p>
          <a:p>
            <a:pPr marL="0" indent="0" algn="just">
              <a:buNone/>
            </a:pPr>
            <a:endParaRPr lang="en-US" dirty="0"/>
          </a:p>
        </p:txBody>
      </p:sp>
    </p:spTree>
    <p:extLst>
      <p:ext uri="{BB962C8B-B14F-4D97-AF65-F5344CB8AC3E}">
        <p14:creationId xmlns:p14="http://schemas.microsoft.com/office/powerpoint/2010/main" val="3755708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a:t>
            </a:r>
            <a:endParaRPr lang="en-US" b="1"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Functional </a:t>
            </a:r>
            <a:r>
              <a:rPr lang="en-US" b="1" dirty="0"/>
              <a:t>Abstraction</a:t>
            </a:r>
          </a:p>
          <a:p>
            <a:r>
              <a:rPr lang="en-US" dirty="0"/>
              <a:t>A module is specified by the method it performs.</a:t>
            </a:r>
          </a:p>
          <a:p>
            <a:r>
              <a:rPr lang="en-US" dirty="0"/>
              <a:t>The details of the algorithm to accomplish the functions are not visible to the user of the function.</a:t>
            </a:r>
          </a:p>
          <a:p>
            <a:r>
              <a:rPr lang="en-US" dirty="0"/>
              <a:t>Functional abstraction forms the basis for </a:t>
            </a:r>
            <a:r>
              <a:rPr lang="en-US" b="1" dirty="0"/>
              <a:t>Function oriented design approaches</a:t>
            </a:r>
            <a:r>
              <a:rPr lang="en-US" dirty="0"/>
              <a:t>.</a:t>
            </a:r>
          </a:p>
          <a:p>
            <a:pPr marL="0" indent="0">
              <a:buNone/>
            </a:pPr>
            <a:r>
              <a:rPr lang="en-US" b="1" dirty="0"/>
              <a:t>2.Data Abstraction</a:t>
            </a:r>
          </a:p>
          <a:p>
            <a:r>
              <a:rPr lang="en-US" dirty="0"/>
              <a:t>Details of the data elements are not visible to the users of data. </a:t>
            </a:r>
          </a:p>
          <a:p>
            <a:r>
              <a:rPr lang="en-US" dirty="0"/>
              <a:t>Data Abstraction forms the basis for </a:t>
            </a:r>
            <a:r>
              <a:rPr lang="en-US" b="1" dirty="0"/>
              <a:t>Object Oriented design approaches</a:t>
            </a:r>
            <a:r>
              <a:rPr lang="en-US" dirty="0"/>
              <a:t>.</a:t>
            </a:r>
          </a:p>
          <a:p>
            <a:endParaRPr lang="en-US" dirty="0"/>
          </a:p>
        </p:txBody>
      </p:sp>
    </p:spTree>
    <p:extLst>
      <p:ext uri="{BB962C8B-B14F-4D97-AF65-F5344CB8AC3E}">
        <p14:creationId xmlns:p14="http://schemas.microsoft.com/office/powerpoint/2010/main" val="13459517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4.Modularity</a:t>
            </a:r>
            <a:br>
              <a:rPr lang="en-US" b="1" dirty="0" smtClean="0"/>
            </a:br>
            <a:endParaRPr lang="en-US" b="1" dirty="0"/>
          </a:p>
        </p:txBody>
      </p:sp>
      <p:sp>
        <p:nvSpPr>
          <p:cNvPr id="3" name="Content Placeholder 2"/>
          <p:cNvSpPr>
            <a:spLocks noGrp="1"/>
          </p:cNvSpPr>
          <p:nvPr>
            <p:ph idx="1"/>
          </p:nvPr>
        </p:nvSpPr>
        <p:spPr/>
        <p:txBody>
          <a:bodyPr>
            <a:normAutofit/>
          </a:bodyPr>
          <a:lstStyle/>
          <a:p>
            <a:pPr algn="just"/>
            <a:r>
              <a:rPr lang="en-US" dirty="0" smtClean="0"/>
              <a:t>Modularity </a:t>
            </a:r>
            <a:r>
              <a:rPr lang="en-US" dirty="0"/>
              <a:t>specifies to the division of software into separate modules which are differently named and addressed and are integrated later on in to obtain the completely functional software</a:t>
            </a:r>
            <a:r>
              <a:rPr lang="en-US" dirty="0" smtClean="0"/>
              <a:t>.</a:t>
            </a:r>
          </a:p>
          <a:p>
            <a:pPr algn="just"/>
            <a:r>
              <a:rPr lang="en-US" dirty="0" smtClean="0"/>
              <a:t>It </a:t>
            </a:r>
            <a:r>
              <a:rPr lang="en-US" dirty="0"/>
              <a:t>is the only property that allows a program to be intellectually manageable. </a:t>
            </a:r>
            <a:endParaRPr lang="en-US" dirty="0" smtClean="0"/>
          </a:p>
          <a:p>
            <a:pPr algn="just"/>
            <a:r>
              <a:rPr lang="en-US" dirty="0" smtClean="0"/>
              <a:t>Single </a:t>
            </a:r>
            <a:r>
              <a:rPr lang="en-US" dirty="0"/>
              <a:t>large programs are difficult to understand and read due to a large number of reference variables, control paths, global variables, etc.</a:t>
            </a:r>
          </a:p>
          <a:p>
            <a:pPr marL="514350" indent="-514350" algn="just">
              <a:buFont typeface="+mj-lt"/>
              <a:buAutoNum type="arabicPeriod"/>
            </a:pPr>
            <a:endParaRPr lang="en-US" dirty="0"/>
          </a:p>
        </p:txBody>
      </p:sp>
    </p:spTree>
    <p:extLst>
      <p:ext uri="{BB962C8B-B14F-4D97-AF65-F5344CB8AC3E}">
        <p14:creationId xmlns:p14="http://schemas.microsoft.com/office/powerpoint/2010/main" val="7379057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desirable properties of a modular system are:</a:t>
            </a:r>
            <a:r>
              <a:rPr lang="en-US" dirty="0"/>
              <a:t/>
            </a:r>
            <a:br>
              <a:rPr lang="en-US" dirty="0"/>
            </a:b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Each </a:t>
            </a:r>
            <a:r>
              <a:rPr lang="en-US" dirty="0"/>
              <a:t>module is a well-defined system that can be used with other applications.</a:t>
            </a:r>
          </a:p>
          <a:p>
            <a:pPr marL="514350" indent="-514350">
              <a:buFont typeface="+mj-lt"/>
              <a:buAutoNum type="arabicPeriod"/>
            </a:pPr>
            <a:r>
              <a:rPr lang="en-US" dirty="0"/>
              <a:t>Each module has single specified objectives.</a:t>
            </a:r>
          </a:p>
          <a:p>
            <a:pPr marL="514350" indent="-514350">
              <a:buFont typeface="+mj-lt"/>
              <a:buAutoNum type="arabicPeriod"/>
            </a:pPr>
            <a:r>
              <a:rPr lang="en-US" dirty="0"/>
              <a:t>Modules can be separately compiled and saved in the library.</a:t>
            </a:r>
          </a:p>
          <a:p>
            <a:pPr marL="514350" indent="-514350">
              <a:buFont typeface="+mj-lt"/>
              <a:buAutoNum type="arabicPeriod"/>
            </a:pPr>
            <a:r>
              <a:rPr lang="en-US" dirty="0"/>
              <a:t>Modules should be easier to use than to build.</a:t>
            </a:r>
          </a:p>
          <a:p>
            <a:pPr marL="514350" indent="-514350">
              <a:buFont typeface="+mj-lt"/>
              <a:buAutoNum type="arabicPeriod"/>
            </a:pPr>
            <a:r>
              <a:rPr lang="en-US" dirty="0"/>
              <a:t>Modules are simpler from outside than inside.</a:t>
            </a:r>
          </a:p>
          <a:p>
            <a:endParaRPr lang="en-US" dirty="0"/>
          </a:p>
        </p:txBody>
      </p:sp>
    </p:spTree>
    <p:extLst>
      <p:ext uri="{BB962C8B-B14F-4D97-AF65-F5344CB8AC3E}">
        <p14:creationId xmlns:p14="http://schemas.microsoft.com/office/powerpoint/2010/main" val="34538117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a:t>
            </a:r>
            <a:r>
              <a:rPr lang="en-US" b="1" dirty="0" smtClean="0"/>
              <a:t>dvantages of Modularity</a:t>
            </a:r>
            <a:endParaRPr lang="en-US" dirty="0"/>
          </a:p>
        </p:txBody>
      </p:sp>
      <p:sp>
        <p:nvSpPr>
          <p:cNvPr id="3" name="Content Placeholder 2"/>
          <p:cNvSpPr>
            <a:spLocks noGrp="1"/>
          </p:cNvSpPr>
          <p:nvPr>
            <p:ph idx="1"/>
          </p:nvPr>
        </p:nvSpPr>
        <p:spPr/>
        <p:txBody>
          <a:bodyPr>
            <a:normAutofit/>
          </a:bodyPr>
          <a:lstStyle/>
          <a:p>
            <a:r>
              <a:rPr lang="en-US" dirty="0" smtClean="0"/>
              <a:t>It </a:t>
            </a:r>
            <a:r>
              <a:rPr lang="en-US" dirty="0"/>
              <a:t>allows large programs to be written by several or different people</a:t>
            </a:r>
          </a:p>
          <a:p>
            <a:r>
              <a:rPr lang="en-US" dirty="0"/>
              <a:t>It encourages the creation of commonly used routines to be placed in the library and used by other programs.</a:t>
            </a:r>
          </a:p>
          <a:p>
            <a:r>
              <a:rPr lang="en-US" dirty="0"/>
              <a:t>It simplifies the overlay procedure of loading a large program into main storage.</a:t>
            </a:r>
          </a:p>
          <a:p>
            <a:r>
              <a:rPr lang="en-US" dirty="0"/>
              <a:t>It provides more checkpoints to measure progress.</a:t>
            </a:r>
          </a:p>
          <a:p>
            <a:r>
              <a:rPr lang="en-US" dirty="0"/>
              <a:t>It provides a framework for complete testing, more accessible to test</a:t>
            </a:r>
          </a:p>
          <a:p>
            <a:r>
              <a:rPr lang="en-US" dirty="0"/>
              <a:t>It produced the well designed and more readable program.</a:t>
            </a:r>
          </a:p>
          <a:p>
            <a:endParaRPr lang="en-US" dirty="0"/>
          </a:p>
        </p:txBody>
      </p:sp>
    </p:spTree>
    <p:extLst>
      <p:ext uri="{BB962C8B-B14F-4D97-AF65-F5344CB8AC3E}">
        <p14:creationId xmlns:p14="http://schemas.microsoft.com/office/powerpoint/2010/main" val="17680120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Disadvantages of Modularity</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Execution time maybe, but not certainly, longer</a:t>
            </a:r>
          </a:p>
          <a:p>
            <a:r>
              <a:rPr lang="en-US" dirty="0" smtClean="0"/>
              <a:t>Storage size perhaps, but is not certainly, increased</a:t>
            </a:r>
          </a:p>
          <a:p>
            <a:r>
              <a:rPr lang="en-US" dirty="0" smtClean="0"/>
              <a:t>Compilation and loading time may be longer</a:t>
            </a:r>
          </a:p>
          <a:p>
            <a:r>
              <a:rPr lang="en-US" dirty="0" smtClean="0"/>
              <a:t>Inter-module communication problems may be increased</a:t>
            </a:r>
          </a:p>
          <a:p>
            <a:r>
              <a:rPr lang="en-US" dirty="0" smtClean="0"/>
              <a:t>More linkage required, run-time may be longer, more source lines must be written, and more documentation has to be done</a:t>
            </a:r>
          </a:p>
          <a:p>
            <a:endParaRPr lang="en-US" dirty="0"/>
          </a:p>
        </p:txBody>
      </p:sp>
    </p:spTree>
    <p:extLst>
      <p:ext uri="{BB962C8B-B14F-4D97-AF65-F5344CB8AC3E}">
        <p14:creationId xmlns:p14="http://schemas.microsoft.com/office/powerpoint/2010/main" val="9495681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Modular design</a:t>
            </a:r>
            <a:endParaRPr lang="en-US" b="1" dirty="0"/>
          </a:p>
        </p:txBody>
      </p:sp>
      <p:sp>
        <p:nvSpPr>
          <p:cNvPr id="3" name="Content Placeholder 2"/>
          <p:cNvSpPr>
            <a:spLocks noGrp="1"/>
          </p:cNvSpPr>
          <p:nvPr>
            <p:ph idx="1"/>
          </p:nvPr>
        </p:nvSpPr>
        <p:spPr/>
        <p:txBody>
          <a:bodyPr>
            <a:normAutofit/>
          </a:bodyPr>
          <a:lstStyle/>
          <a:p>
            <a:pPr marL="0" indent="0" algn="just">
              <a:buNone/>
            </a:pPr>
            <a:r>
              <a:rPr lang="en-US" dirty="0"/>
              <a:t>Modular design reduces the design complexity and results in easier and faster implementation by allowing parallel development of various parts of a system. </a:t>
            </a:r>
            <a:endParaRPr lang="en-US" dirty="0" smtClean="0"/>
          </a:p>
          <a:p>
            <a:pPr marL="0" indent="0" algn="just">
              <a:buNone/>
            </a:pPr>
            <a:r>
              <a:rPr lang="en-US" dirty="0" smtClean="0"/>
              <a:t>Different </a:t>
            </a:r>
            <a:r>
              <a:rPr lang="en-US" dirty="0"/>
              <a:t>section of modular design </a:t>
            </a:r>
            <a:r>
              <a:rPr lang="en-US" dirty="0" smtClean="0"/>
              <a:t>are :-</a:t>
            </a:r>
          </a:p>
          <a:p>
            <a:pPr marL="514350" indent="-514350" algn="just">
              <a:buFont typeface="+mj-lt"/>
              <a:buAutoNum type="alphaUcPeriod"/>
            </a:pPr>
            <a:r>
              <a:rPr lang="en-US" dirty="0" smtClean="0"/>
              <a:t>Functional Independence </a:t>
            </a:r>
          </a:p>
          <a:p>
            <a:pPr marL="514350" indent="-514350" algn="just">
              <a:buFont typeface="+mj-lt"/>
              <a:buAutoNum type="alphaUcPeriod"/>
            </a:pPr>
            <a:r>
              <a:rPr lang="en-US" dirty="0" smtClean="0"/>
              <a:t>Information Hiding</a:t>
            </a:r>
          </a:p>
          <a:p>
            <a:pPr algn="just"/>
            <a:endParaRPr lang="en-US" dirty="0"/>
          </a:p>
        </p:txBody>
      </p:sp>
    </p:spTree>
    <p:extLst>
      <p:ext uri="{BB962C8B-B14F-4D97-AF65-F5344CB8AC3E}">
        <p14:creationId xmlns:p14="http://schemas.microsoft.com/office/powerpoint/2010/main" val="7441529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a:t>
            </a:r>
            <a:r>
              <a:rPr lang="en-US" b="1" dirty="0" smtClean="0"/>
              <a:t>. Functional Independence:</a:t>
            </a:r>
            <a:r>
              <a:rPr lang="en-US" dirty="0" smtClean="0"/>
              <a:t> </a:t>
            </a:r>
            <a:endParaRPr lang="en-US"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smtClean="0"/>
              <a:t>Functional independence is achieved by developing functions that perform only one kind of task and do not excessively interact with other modules. </a:t>
            </a:r>
          </a:p>
          <a:p>
            <a:pPr marL="0" indent="0" algn="just">
              <a:buNone/>
            </a:pPr>
            <a:r>
              <a:rPr lang="en-US" dirty="0" smtClean="0"/>
              <a:t>Independence is important because it makes implementation more accessible and faster.</a:t>
            </a:r>
          </a:p>
          <a:p>
            <a:pPr marL="0" indent="0" algn="just">
              <a:buNone/>
            </a:pPr>
            <a:r>
              <a:rPr lang="en-US" dirty="0" smtClean="0"/>
              <a:t>The independent modules are easier to maintain, test, and reduce error propagation and can be reused in other programs as well. </a:t>
            </a:r>
          </a:p>
          <a:p>
            <a:pPr marL="0" indent="0" algn="just">
              <a:buNone/>
            </a:pPr>
            <a:r>
              <a:rPr lang="en-US" dirty="0" smtClean="0"/>
              <a:t>Thus, functional independence is a good design feature that ensures software quality.</a:t>
            </a:r>
          </a:p>
          <a:p>
            <a:pPr marL="0" indent="0">
              <a:buNone/>
            </a:pPr>
            <a:r>
              <a:rPr lang="en-US" b="1" dirty="0" smtClean="0"/>
              <a:t>It is measured using two criteria:</a:t>
            </a:r>
            <a:endParaRPr lang="en-US" dirty="0" smtClean="0"/>
          </a:p>
          <a:p>
            <a:pPr marL="571500" indent="-571500">
              <a:buFont typeface="+mj-lt"/>
              <a:buAutoNum type="romanLcPeriod"/>
            </a:pPr>
            <a:r>
              <a:rPr lang="en-US" b="1" dirty="0" smtClean="0"/>
              <a:t>Cohesion:</a:t>
            </a:r>
            <a:r>
              <a:rPr lang="en-US" dirty="0" smtClean="0"/>
              <a:t> It measures the relative function strength of a module.</a:t>
            </a:r>
          </a:p>
          <a:p>
            <a:pPr marL="571500" indent="-571500">
              <a:buFont typeface="+mj-lt"/>
              <a:buAutoNum type="romanLcPeriod"/>
            </a:pPr>
            <a:r>
              <a:rPr lang="en-US" b="1" dirty="0" smtClean="0"/>
              <a:t>Coupling:</a:t>
            </a:r>
            <a:r>
              <a:rPr lang="en-US" dirty="0" smtClean="0"/>
              <a:t> It measures the relative interdependence among modules.</a:t>
            </a:r>
          </a:p>
          <a:p>
            <a:pPr marL="514350" indent="-514350" algn="just">
              <a:buAutoNum type="romanLcPeriod"/>
            </a:pPr>
            <a:endParaRPr lang="en-US" dirty="0"/>
          </a:p>
        </p:txBody>
      </p:sp>
    </p:spTree>
    <p:extLst>
      <p:ext uri="{BB962C8B-B14F-4D97-AF65-F5344CB8AC3E}">
        <p14:creationId xmlns:p14="http://schemas.microsoft.com/office/powerpoint/2010/main" val="18757159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 Cohesion</a:t>
            </a:r>
            <a:endParaRPr lang="en-US" dirty="0"/>
          </a:p>
        </p:txBody>
      </p:sp>
      <p:sp>
        <p:nvSpPr>
          <p:cNvPr id="3" name="Content Placeholder 2"/>
          <p:cNvSpPr>
            <a:spLocks noGrp="1"/>
          </p:cNvSpPr>
          <p:nvPr>
            <p:ph idx="1"/>
          </p:nvPr>
        </p:nvSpPr>
        <p:spPr/>
        <p:txBody>
          <a:bodyPr>
            <a:normAutofit fontScale="92500" lnSpcReduction="20000"/>
          </a:bodyPr>
          <a:lstStyle/>
          <a:p>
            <a:r>
              <a:rPr lang="en-US" dirty="0"/>
              <a:t>Cohesion is a measure that defines the degree of intra-dependability within elements of a module</a:t>
            </a:r>
            <a:r>
              <a:rPr lang="en-US" dirty="0" smtClean="0"/>
              <a:t>.</a:t>
            </a:r>
          </a:p>
          <a:p>
            <a:r>
              <a:rPr lang="en-US" dirty="0" smtClean="0"/>
              <a:t> </a:t>
            </a:r>
            <a:r>
              <a:rPr lang="en-US" dirty="0"/>
              <a:t>The greater the cohesion, the better is the program design.</a:t>
            </a:r>
          </a:p>
          <a:p>
            <a:pPr marL="0" indent="0">
              <a:buNone/>
            </a:pPr>
            <a:r>
              <a:rPr lang="en-US" dirty="0"/>
              <a:t>There are seven types of cohesion, namely –</a:t>
            </a:r>
          </a:p>
          <a:p>
            <a:pPr lvl="0"/>
            <a:r>
              <a:rPr lang="en-US" b="1" dirty="0"/>
              <a:t>Co-incidental cohesion -</a:t>
            </a:r>
            <a:r>
              <a:rPr lang="en-US" dirty="0"/>
              <a:t> It is unplanned and random cohesion, which might be the result of breaking the program into smaller modules for the sake of modularization. Because it is unplanned, it may serve confusion to the programmers and is generally not-accepted.</a:t>
            </a:r>
          </a:p>
          <a:p>
            <a:pPr lvl="0"/>
            <a:r>
              <a:rPr lang="en-US" b="1" dirty="0"/>
              <a:t>Logical cohesion -</a:t>
            </a:r>
            <a:r>
              <a:rPr lang="en-US" dirty="0"/>
              <a:t> When logically categorized elements are put together into a module, it is called logical cohesion.</a:t>
            </a:r>
          </a:p>
          <a:p>
            <a:pPr lvl="0"/>
            <a:r>
              <a:rPr lang="en-US" b="1" dirty="0"/>
              <a:t>Temporal Cohesion - </a:t>
            </a:r>
            <a:r>
              <a:rPr lang="en-US" dirty="0"/>
              <a:t>When elements of module are organized such that they are processed at a similar point in time, it is called temporal cohesion.</a:t>
            </a:r>
          </a:p>
          <a:p>
            <a:endParaRPr lang="en-US" dirty="0"/>
          </a:p>
        </p:txBody>
      </p:sp>
    </p:spTree>
    <p:extLst>
      <p:ext uri="{BB962C8B-B14F-4D97-AF65-F5344CB8AC3E}">
        <p14:creationId xmlns:p14="http://schemas.microsoft.com/office/powerpoint/2010/main" val="26008424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 Cohesion</a:t>
            </a:r>
            <a:endParaRPr lang="en-US" dirty="0"/>
          </a:p>
        </p:txBody>
      </p:sp>
      <p:sp>
        <p:nvSpPr>
          <p:cNvPr id="3" name="Content Placeholder 2"/>
          <p:cNvSpPr>
            <a:spLocks noGrp="1"/>
          </p:cNvSpPr>
          <p:nvPr>
            <p:ph idx="1"/>
          </p:nvPr>
        </p:nvSpPr>
        <p:spPr/>
        <p:txBody>
          <a:bodyPr>
            <a:normAutofit fontScale="92500" lnSpcReduction="20000"/>
          </a:bodyPr>
          <a:lstStyle/>
          <a:p>
            <a:pPr lvl="0"/>
            <a:r>
              <a:rPr lang="en-US" b="1" dirty="0"/>
              <a:t>Procedural cohesion - </a:t>
            </a:r>
            <a:r>
              <a:rPr lang="en-US" dirty="0"/>
              <a:t>When elements of module are grouped together, which are executed sequentially in order to perform a task, it is called procedural cohesion.</a:t>
            </a:r>
          </a:p>
          <a:p>
            <a:pPr lvl="0"/>
            <a:r>
              <a:rPr lang="en-US" b="1" dirty="0"/>
              <a:t>Communicational cohesion - </a:t>
            </a:r>
            <a:r>
              <a:rPr lang="en-US" dirty="0"/>
              <a:t>When elements of module are grouped together, which are executed sequentially and work on same data (information), it is called communicational cohesion.</a:t>
            </a:r>
          </a:p>
          <a:p>
            <a:pPr lvl="0"/>
            <a:r>
              <a:rPr lang="en-US" b="1" dirty="0"/>
              <a:t>Sequential cohesion - </a:t>
            </a:r>
            <a:r>
              <a:rPr lang="en-US" dirty="0"/>
              <a:t>When elements of module are grouped because the output of one element serves as input to another and so on, it is called sequential cohesion.</a:t>
            </a:r>
          </a:p>
          <a:p>
            <a:pPr lvl="0"/>
            <a:r>
              <a:rPr lang="en-US" b="1" dirty="0"/>
              <a:t>Functional cohesion - </a:t>
            </a:r>
            <a:r>
              <a:rPr lang="en-US" dirty="0"/>
              <a:t>It is considered to be the highest degree of cohesion, and it is highly expected. Elements of module in functional cohesion are grouped because they all contribute to a single well-defined function. It can also be reused.</a:t>
            </a:r>
          </a:p>
          <a:p>
            <a:endParaRPr lang="en-US" dirty="0"/>
          </a:p>
        </p:txBody>
      </p:sp>
    </p:spTree>
    <p:extLst>
      <p:ext uri="{BB962C8B-B14F-4D97-AF65-F5344CB8AC3E}">
        <p14:creationId xmlns:p14="http://schemas.microsoft.com/office/powerpoint/2010/main" val="8574797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II. Coupling</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t>Coupling </a:t>
            </a:r>
            <a:r>
              <a:rPr lang="en-US" dirty="0"/>
              <a:t>is a measure that defines the level of inter-dependability among modules of a program. </a:t>
            </a:r>
            <a:endParaRPr lang="en-US" dirty="0" smtClean="0"/>
          </a:p>
          <a:p>
            <a:pPr marL="0" indent="0" algn="just">
              <a:buNone/>
            </a:pPr>
            <a:r>
              <a:rPr lang="en-US" dirty="0" smtClean="0"/>
              <a:t>It </a:t>
            </a:r>
            <a:r>
              <a:rPr lang="en-US" dirty="0"/>
              <a:t>tells at what level the modules interfere and interact with each other. The lower the coupling, the better the program.</a:t>
            </a:r>
          </a:p>
          <a:p>
            <a:pPr marL="0" indent="0" algn="just">
              <a:buNone/>
            </a:pPr>
            <a:r>
              <a:rPr lang="en-US" dirty="0"/>
              <a:t>There are five levels of coupling, namely -</a:t>
            </a:r>
          </a:p>
          <a:p>
            <a:pPr lvl="0" algn="just"/>
            <a:r>
              <a:rPr lang="en-US" b="1" dirty="0"/>
              <a:t>Content coupling - </a:t>
            </a:r>
            <a:r>
              <a:rPr lang="en-US" dirty="0"/>
              <a:t>When a module can directly access or modify or refer to the content of another module, it is called content level coupling.</a:t>
            </a:r>
          </a:p>
          <a:p>
            <a:pPr lvl="0" algn="just"/>
            <a:r>
              <a:rPr lang="en-US" b="1" dirty="0"/>
              <a:t>Common coupling- </a:t>
            </a:r>
            <a:r>
              <a:rPr lang="en-US" dirty="0"/>
              <a:t>When multiple modules have read and write access to some global data, it is called common or global coupling.</a:t>
            </a:r>
          </a:p>
          <a:p>
            <a:pPr algn="just"/>
            <a:endParaRPr lang="en-US" dirty="0"/>
          </a:p>
        </p:txBody>
      </p:sp>
    </p:spTree>
    <p:extLst>
      <p:ext uri="{BB962C8B-B14F-4D97-AF65-F5344CB8AC3E}">
        <p14:creationId xmlns:p14="http://schemas.microsoft.com/office/powerpoint/2010/main" val="40354048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 Coupling</a:t>
            </a:r>
            <a:endParaRPr lang="en-US" dirty="0"/>
          </a:p>
        </p:txBody>
      </p:sp>
      <p:sp>
        <p:nvSpPr>
          <p:cNvPr id="3" name="Content Placeholder 2"/>
          <p:cNvSpPr>
            <a:spLocks noGrp="1"/>
          </p:cNvSpPr>
          <p:nvPr>
            <p:ph idx="1"/>
          </p:nvPr>
        </p:nvSpPr>
        <p:spPr/>
        <p:txBody>
          <a:bodyPr/>
          <a:lstStyle/>
          <a:p>
            <a:pPr lvl="0"/>
            <a:r>
              <a:rPr lang="en-US" b="1" dirty="0"/>
              <a:t>Control coupling- </a:t>
            </a:r>
            <a:r>
              <a:rPr lang="en-US" dirty="0"/>
              <a:t>Two modules are called control-coupled if one of them decides the function of the other module or changes its flow of execution.</a:t>
            </a:r>
          </a:p>
          <a:p>
            <a:pPr lvl="0"/>
            <a:r>
              <a:rPr lang="en-US" b="1" dirty="0"/>
              <a:t>Stamp coupling- </a:t>
            </a:r>
            <a:r>
              <a:rPr lang="en-US" dirty="0"/>
              <a:t>When multiple modules share a common data structure and work on a different part of it, it is called stamp coupling.</a:t>
            </a:r>
          </a:p>
          <a:p>
            <a:pPr lvl="0"/>
            <a:r>
              <a:rPr lang="en-US" b="1" dirty="0"/>
              <a:t>Data coupling- </a:t>
            </a:r>
            <a:r>
              <a:rPr lang="en-US" dirty="0"/>
              <a:t>Data coupling is when two modules interact with each other by means of passing data (as a parameter). If a module passes data structure as a parameter, then the receiving module should use all its components.</a:t>
            </a:r>
          </a:p>
          <a:p>
            <a:pPr marL="0" indent="0">
              <a:buNone/>
            </a:pPr>
            <a:r>
              <a:rPr lang="en-US" dirty="0"/>
              <a:t>Ideally, no coupling is considered to be the best.</a:t>
            </a:r>
          </a:p>
          <a:p>
            <a:endParaRPr lang="en-US" dirty="0"/>
          </a:p>
        </p:txBody>
      </p:sp>
    </p:spTree>
    <p:extLst>
      <p:ext uri="{BB962C8B-B14F-4D97-AF65-F5344CB8AC3E}">
        <p14:creationId xmlns:p14="http://schemas.microsoft.com/office/powerpoint/2010/main" val="15616314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II. Coupling</a:t>
            </a:r>
            <a:endParaRPr lang="en-US" b="1" dirty="0"/>
          </a:p>
        </p:txBody>
      </p:sp>
      <p:pic>
        <p:nvPicPr>
          <p:cNvPr id="4" name="Content Placeholder 3"/>
          <p:cNvPicPr>
            <a:picLocks noGrp="1" noChangeAspect="1"/>
          </p:cNvPicPr>
          <p:nvPr>
            <p:ph idx="1"/>
          </p:nvPr>
        </p:nvPicPr>
        <p:blipFill>
          <a:blip r:embed="rId2"/>
          <a:stretch>
            <a:fillRect/>
          </a:stretch>
        </p:blipFill>
        <p:spPr>
          <a:xfrm>
            <a:off x="1291471" y="2571658"/>
            <a:ext cx="8823489" cy="2859272"/>
          </a:xfrm>
          <a:prstGeom prst="rect">
            <a:avLst/>
          </a:prstGeom>
        </p:spPr>
      </p:pic>
    </p:spTree>
    <p:extLst>
      <p:ext uri="{BB962C8B-B14F-4D97-AF65-F5344CB8AC3E}">
        <p14:creationId xmlns:p14="http://schemas.microsoft.com/office/powerpoint/2010/main" val="29420274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t>
            </a:r>
            <a:r>
              <a:rPr lang="en-US" b="1" dirty="0" smtClean="0"/>
              <a:t>. Information hiding:</a:t>
            </a:r>
            <a:endParaRPr lang="en-US" dirty="0"/>
          </a:p>
        </p:txBody>
      </p:sp>
      <p:sp>
        <p:nvSpPr>
          <p:cNvPr id="3" name="Content Placeholder 2"/>
          <p:cNvSpPr>
            <a:spLocks noGrp="1"/>
          </p:cNvSpPr>
          <p:nvPr>
            <p:ph idx="1"/>
          </p:nvPr>
        </p:nvSpPr>
        <p:spPr/>
        <p:txBody>
          <a:bodyPr>
            <a:normAutofit/>
          </a:bodyPr>
          <a:lstStyle/>
          <a:p>
            <a:pPr algn="just"/>
            <a:r>
              <a:rPr lang="en-US" dirty="0"/>
              <a:t> M</a:t>
            </a:r>
            <a:r>
              <a:rPr lang="en-US" dirty="0" smtClean="0"/>
              <a:t>odules </a:t>
            </a:r>
            <a:r>
              <a:rPr lang="en-US" dirty="0"/>
              <a:t>should be specified that data include within a module is inaccessible to other modules that do not need for such information.</a:t>
            </a:r>
          </a:p>
          <a:p>
            <a:pPr algn="just"/>
            <a:r>
              <a:rPr lang="en-US" dirty="0"/>
              <a:t>The use of information hiding as design criteria for modular system provides the most significant benefits </a:t>
            </a:r>
            <a:r>
              <a:rPr lang="en-US" b="1" dirty="0"/>
              <a:t>when modifications are required during testing's and later during software maintenance</a:t>
            </a:r>
            <a:r>
              <a:rPr lang="en-US" dirty="0"/>
              <a:t>. </a:t>
            </a:r>
            <a:endParaRPr lang="en-US" dirty="0" smtClean="0"/>
          </a:p>
          <a:p>
            <a:pPr algn="just"/>
            <a:r>
              <a:rPr lang="en-US" dirty="0" smtClean="0"/>
              <a:t>This </a:t>
            </a:r>
            <a:r>
              <a:rPr lang="en-US" dirty="0"/>
              <a:t>is because as most data and procedures are hidden from other parts of the software, inadvertent errors introduced during modifications are less likely to propagate to different locations within the software.</a:t>
            </a:r>
          </a:p>
          <a:p>
            <a:pPr algn="just"/>
            <a:endParaRPr lang="en-US" dirty="0"/>
          </a:p>
        </p:txBody>
      </p:sp>
    </p:spTree>
    <p:extLst>
      <p:ext uri="{BB962C8B-B14F-4D97-AF65-F5344CB8AC3E}">
        <p14:creationId xmlns:p14="http://schemas.microsoft.com/office/powerpoint/2010/main" val="37946641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Design Strategy</a:t>
            </a:r>
            <a:endParaRPr lang="en-US" b="1" dirty="0"/>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t>A </a:t>
            </a:r>
            <a:r>
              <a:rPr lang="en-US" dirty="0"/>
              <a:t>good system design strategy is to organize the program modules in such a method that are easy to develop and latter too, change. </a:t>
            </a:r>
            <a:endParaRPr lang="en-US" dirty="0" smtClean="0"/>
          </a:p>
          <a:p>
            <a:pPr marL="0" indent="0" algn="just">
              <a:buNone/>
            </a:pPr>
            <a:r>
              <a:rPr lang="en-US" dirty="0" smtClean="0"/>
              <a:t>Structured </a:t>
            </a:r>
            <a:r>
              <a:rPr lang="en-US" dirty="0"/>
              <a:t>design methods help developers to deal with the size and complexity of programs. </a:t>
            </a:r>
            <a:endParaRPr lang="en-US" dirty="0" smtClean="0"/>
          </a:p>
          <a:p>
            <a:pPr marL="0" indent="0" algn="just">
              <a:buNone/>
            </a:pPr>
            <a:r>
              <a:rPr lang="en-US" dirty="0" smtClean="0"/>
              <a:t>Analysts </a:t>
            </a:r>
            <a:r>
              <a:rPr lang="en-US" dirty="0"/>
              <a:t>generate instructions for the developers about how code should be composed and how pieces of code should fit together to form a program.</a:t>
            </a:r>
          </a:p>
          <a:p>
            <a:pPr marL="0" indent="0" algn="just">
              <a:buNone/>
            </a:pPr>
            <a:r>
              <a:rPr lang="en-US" dirty="0"/>
              <a:t>To design a system, there are two possible approaches:</a:t>
            </a:r>
          </a:p>
          <a:p>
            <a:pPr marL="514350" indent="-514350" algn="just">
              <a:buFont typeface="+mj-lt"/>
              <a:buAutoNum type="alphaLcParenR"/>
            </a:pPr>
            <a:r>
              <a:rPr lang="en-US" dirty="0"/>
              <a:t>Top-down Approach</a:t>
            </a:r>
          </a:p>
          <a:p>
            <a:pPr marL="514350" indent="-514350" algn="just">
              <a:buFont typeface="+mj-lt"/>
              <a:buAutoNum type="alphaLcParenR"/>
            </a:pPr>
            <a:r>
              <a:rPr lang="en-US" dirty="0"/>
              <a:t>Bottom-up Approach</a:t>
            </a:r>
          </a:p>
          <a:p>
            <a:pPr algn="just"/>
            <a:endParaRPr lang="en-US" dirty="0"/>
          </a:p>
        </p:txBody>
      </p:sp>
    </p:spTree>
    <p:extLst>
      <p:ext uri="{BB962C8B-B14F-4D97-AF65-F5344CB8AC3E}">
        <p14:creationId xmlns:p14="http://schemas.microsoft.com/office/powerpoint/2010/main" val="8035172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14350" indent="-514350"/>
            <a:r>
              <a:rPr lang="en-US" b="1" dirty="0" smtClean="0"/>
              <a:t>a. Top-down Approach</a:t>
            </a:r>
            <a:endParaRPr lang="en-US" b="1" dirty="0"/>
          </a:p>
        </p:txBody>
      </p:sp>
      <p:sp>
        <p:nvSpPr>
          <p:cNvPr id="3" name="Content Placeholder 2"/>
          <p:cNvSpPr>
            <a:spLocks noGrp="1"/>
          </p:cNvSpPr>
          <p:nvPr>
            <p:ph idx="1"/>
          </p:nvPr>
        </p:nvSpPr>
        <p:spPr>
          <a:xfrm>
            <a:off x="696799" y="1564415"/>
            <a:ext cx="10515600" cy="4351338"/>
          </a:xfrm>
        </p:spPr>
        <p:txBody>
          <a:bodyPr/>
          <a:lstStyle/>
          <a:p>
            <a:pPr algn="just"/>
            <a:r>
              <a:rPr lang="en-US" dirty="0" smtClean="0"/>
              <a:t>Informal design strategy for breaking problem into smaller problems.</a:t>
            </a:r>
          </a:p>
          <a:p>
            <a:pPr algn="just"/>
            <a:r>
              <a:rPr lang="en-US" dirty="0" smtClean="0"/>
              <a:t>Design activity must begin with the analysis of the requirements definition and should not consider implementation details at first.</a:t>
            </a:r>
          </a:p>
          <a:p>
            <a:pPr algn="just"/>
            <a:r>
              <a:rPr lang="en-US" dirty="0" smtClean="0"/>
              <a:t>The specification is viewed as describing a black box for the program.</a:t>
            </a:r>
          </a:p>
          <a:p>
            <a:pPr algn="just"/>
            <a:r>
              <a:rPr lang="en-US" dirty="0" smtClean="0"/>
              <a:t>A software project is decomposed into subprojects and this procedure is repeated until the sub task has become so simple that an algorithm can be formulated as a solution.</a:t>
            </a:r>
            <a:endParaRPr lang="en-US" dirty="0"/>
          </a:p>
        </p:txBody>
      </p:sp>
    </p:spTree>
    <p:extLst>
      <p:ext uri="{BB962C8B-B14F-4D97-AF65-F5344CB8AC3E}">
        <p14:creationId xmlns:p14="http://schemas.microsoft.com/office/powerpoint/2010/main" val="2580232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pic>
        <p:nvPicPr>
          <p:cNvPr id="4" name="Content Placeholder 3"/>
          <p:cNvPicPr>
            <a:picLocks noGrp="1" noChangeAspect="1"/>
          </p:cNvPicPr>
          <p:nvPr>
            <p:ph idx="1"/>
          </p:nvPr>
        </p:nvPicPr>
        <p:blipFill>
          <a:blip r:embed="rId2"/>
          <a:stretch>
            <a:fillRect/>
          </a:stretch>
        </p:blipFill>
        <p:spPr>
          <a:xfrm>
            <a:off x="1234911" y="1932495"/>
            <a:ext cx="9737889" cy="3373724"/>
          </a:xfrm>
          <a:prstGeom prst="rect">
            <a:avLst/>
          </a:prstGeom>
        </p:spPr>
      </p:pic>
    </p:spTree>
    <p:extLst>
      <p:ext uri="{BB962C8B-B14F-4D97-AF65-F5344CB8AC3E}">
        <p14:creationId xmlns:p14="http://schemas.microsoft.com/office/powerpoint/2010/main" val="20578960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 Bottom-up Approach:</a:t>
            </a:r>
            <a:endParaRPr lang="en-US" dirty="0"/>
          </a:p>
        </p:txBody>
      </p:sp>
      <p:sp>
        <p:nvSpPr>
          <p:cNvPr id="3" name="Content Placeholder 2"/>
          <p:cNvSpPr>
            <a:spLocks noGrp="1"/>
          </p:cNvSpPr>
          <p:nvPr>
            <p:ph idx="1"/>
          </p:nvPr>
        </p:nvSpPr>
        <p:spPr/>
        <p:txBody>
          <a:bodyPr/>
          <a:lstStyle/>
          <a:p>
            <a:pPr marL="0" indent="0">
              <a:buNone/>
            </a:pPr>
            <a:r>
              <a:rPr lang="en-US" dirty="0" smtClean="0"/>
              <a:t>A </a:t>
            </a:r>
            <a:r>
              <a:rPr lang="en-US" dirty="0"/>
              <a:t>bottom-up approach begins with the lower details and moves towards up the hierarchy, as shown in fig. </a:t>
            </a:r>
            <a:endParaRPr lang="en-US" dirty="0" smtClean="0"/>
          </a:p>
          <a:p>
            <a:pPr marL="0" indent="0">
              <a:buNone/>
            </a:pPr>
            <a:r>
              <a:rPr lang="en-US" dirty="0" smtClean="0"/>
              <a:t>This </a:t>
            </a:r>
            <a:r>
              <a:rPr lang="en-US" dirty="0"/>
              <a:t>approach is suitable in case of an existing system</a:t>
            </a:r>
            <a:r>
              <a:rPr lang="en-US" dirty="0" smtClean="0"/>
              <a:t>.</a:t>
            </a:r>
          </a:p>
          <a:p>
            <a:pPr marL="0" indent="0">
              <a:buNone/>
            </a:pPr>
            <a:endParaRPr lang="en-US" dirty="0"/>
          </a:p>
        </p:txBody>
      </p:sp>
      <p:pic>
        <p:nvPicPr>
          <p:cNvPr id="4" name="Picture 3"/>
          <p:cNvPicPr>
            <a:picLocks noChangeAspect="1"/>
          </p:cNvPicPr>
          <p:nvPr/>
        </p:nvPicPr>
        <p:blipFill>
          <a:blip r:embed="rId2"/>
          <a:stretch>
            <a:fillRect/>
          </a:stretch>
        </p:blipFill>
        <p:spPr>
          <a:xfrm>
            <a:off x="1206632" y="3270364"/>
            <a:ext cx="7022968" cy="2428875"/>
          </a:xfrm>
          <a:prstGeom prst="rect">
            <a:avLst/>
          </a:prstGeom>
        </p:spPr>
      </p:pic>
    </p:spTree>
    <p:extLst>
      <p:ext uri="{BB962C8B-B14F-4D97-AF65-F5344CB8AC3E}">
        <p14:creationId xmlns:p14="http://schemas.microsoft.com/office/powerpoint/2010/main" val="1774334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 Process</a:t>
            </a:r>
            <a:endParaRPr lang="en-US" b="1" dirty="0"/>
          </a:p>
        </p:txBody>
      </p:sp>
      <p:sp>
        <p:nvSpPr>
          <p:cNvPr id="3" name="Content Placeholder 2"/>
          <p:cNvSpPr>
            <a:spLocks noGrp="1"/>
          </p:cNvSpPr>
          <p:nvPr>
            <p:ph idx="1"/>
          </p:nvPr>
        </p:nvSpPr>
        <p:spPr/>
        <p:txBody>
          <a:bodyPr/>
          <a:lstStyle/>
          <a:p>
            <a:pPr marL="0" indent="0" fontAlgn="base">
              <a:buNone/>
            </a:pPr>
            <a:r>
              <a:rPr lang="en-US" dirty="0"/>
              <a:t>The software design process can be divided into the following three levels of phases of design:</a:t>
            </a:r>
          </a:p>
          <a:p>
            <a:pPr marL="514350" indent="-514350" fontAlgn="base">
              <a:buFont typeface="+mj-lt"/>
              <a:buAutoNum type="arabicPeriod"/>
            </a:pPr>
            <a:r>
              <a:rPr lang="en-US" dirty="0"/>
              <a:t>Interface Design</a:t>
            </a:r>
          </a:p>
          <a:p>
            <a:pPr marL="514350" indent="-514350" fontAlgn="base">
              <a:buFont typeface="+mj-lt"/>
              <a:buAutoNum type="arabicPeriod"/>
            </a:pPr>
            <a:r>
              <a:rPr lang="en-US" dirty="0"/>
              <a:t>Architectural Design</a:t>
            </a:r>
          </a:p>
          <a:p>
            <a:pPr marL="514350" indent="-514350" fontAlgn="base">
              <a:buFont typeface="+mj-lt"/>
              <a:buAutoNum type="arabicPeriod"/>
            </a:pPr>
            <a:r>
              <a:rPr lang="en-US" dirty="0"/>
              <a:t>Detailed Design</a:t>
            </a:r>
          </a:p>
          <a:p>
            <a:pPr marL="0" indent="0">
              <a:buNone/>
            </a:pPr>
            <a:r>
              <a:rPr lang="en-US" dirty="0"/>
              <a:t/>
            </a:r>
            <a:br>
              <a:rPr lang="en-US" dirty="0"/>
            </a:br>
            <a:endParaRPr lang="en-US" dirty="0"/>
          </a:p>
        </p:txBody>
      </p:sp>
    </p:spTree>
    <p:extLst>
      <p:ext uri="{BB962C8B-B14F-4D97-AF65-F5344CB8AC3E}">
        <p14:creationId xmlns:p14="http://schemas.microsoft.com/office/powerpoint/2010/main" val="22440707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Interface </a:t>
            </a:r>
            <a:r>
              <a:rPr lang="en-US" b="1" dirty="0" smtClean="0"/>
              <a:t>Design</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t>Specification </a:t>
            </a:r>
            <a:r>
              <a:rPr lang="en-US" dirty="0"/>
              <a:t>of the interaction between a system and its environment. </a:t>
            </a:r>
            <a:endParaRPr lang="en-US" dirty="0" smtClean="0"/>
          </a:p>
          <a:p>
            <a:pPr marL="0" indent="0" algn="just">
              <a:buNone/>
            </a:pPr>
            <a:r>
              <a:rPr lang="en-US" dirty="0"/>
              <a:t>T</a:t>
            </a:r>
            <a:r>
              <a:rPr lang="en-US" dirty="0" smtClean="0"/>
              <a:t>his </a:t>
            </a:r>
            <a:r>
              <a:rPr lang="en-US" dirty="0"/>
              <a:t>phase proceeds at a </a:t>
            </a:r>
            <a:r>
              <a:rPr lang="en-US" b="1" dirty="0"/>
              <a:t>high level of abstraction </a:t>
            </a:r>
            <a:r>
              <a:rPr lang="en-US" dirty="0"/>
              <a:t>with respect to the inner workings of the system </a:t>
            </a:r>
            <a:endParaRPr lang="en-US" dirty="0" smtClean="0"/>
          </a:p>
          <a:p>
            <a:pPr marL="0" indent="0" algn="just">
              <a:buNone/>
            </a:pPr>
            <a:r>
              <a:rPr lang="en-US" b="1" dirty="0"/>
              <a:t>D</a:t>
            </a:r>
            <a:r>
              <a:rPr lang="en-US" b="1" dirty="0" smtClean="0"/>
              <a:t>uring </a:t>
            </a:r>
            <a:r>
              <a:rPr lang="en-US" b="1" dirty="0"/>
              <a:t>interface design, the internal of the systems are completely ignored and the system is treated as a black box</a:t>
            </a:r>
            <a:r>
              <a:rPr lang="en-US" b="1" dirty="0" smtClean="0"/>
              <a:t>.</a:t>
            </a:r>
          </a:p>
          <a:p>
            <a:pPr marL="0" indent="0" algn="just">
              <a:buNone/>
            </a:pPr>
            <a:r>
              <a:rPr lang="en-US" dirty="0" smtClean="0"/>
              <a:t> </a:t>
            </a:r>
            <a:r>
              <a:rPr lang="en-US" dirty="0"/>
              <a:t>Attention is focused on the dialogue between the target system and the users, devices, </a:t>
            </a:r>
            <a:r>
              <a:rPr lang="en-US" dirty="0" smtClean="0"/>
              <a:t>other </a:t>
            </a:r>
            <a:r>
              <a:rPr lang="en-US" dirty="0"/>
              <a:t>systems with which it interacts. </a:t>
            </a:r>
            <a:endParaRPr lang="en-US" dirty="0" smtClean="0"/>
          </a:p>
          <a:p>
            <a:pPr marL="0" indent="0" algn="just">
              <a:buNone/>
            </a:pPr>
            <a:r>
              <a:rPr lang="en-US" dirty="0" smtClean="0"/>
              <a:t>The </a:t>
            </a:r>
            <a:r>
              <a:rPr lang="en-US" dirty="0"/>
              <a:t>design problem statement produced during the problem analysis step should identify the people, other systems, and devices which are collectively called </a:t>
            </a:r>
            <a:r>
              <a:rPr lang="en-US" i="1" dirty="0"/>
              <a:t>agents</a:t>
            </a:r>
            <a:r>
              <a:rPr lang="en-US" dirty="0"/>
              <a:t>.</a:t>
            </a:r>
          </a:p>
        </p:txBody>
      </p:sp>
    </p:spTree>
    <p:extLst>
      <p:ext uri="{BB962C8B-B14F-4D97-AF65-F5344CB8AC3E}">
        <p14:creationId xmlns:p14="http://schemas.microsoft.com/office/powerpoint/2010/main" val="26140564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Interface design should include the following details</a:t>
            </a:r>
          </a:p>
        </p:txBody>
      </p:sp>
      <p:sp>
        <p:nvSpPr>
          <p:cNvPr id="3" name="Content Placeholder 2"/>
          <p:cNvSpPr>
            <a:spLocks noGrp="1"/>
          </p:cNvSpPr>
          <p:nvPr>
            <p:ph idx="1"/>
          </p:nvPr>
        </p:nvSpPr>
        <p:spPr/>
        <p:txBody>
          <a:bodyPr/>
          <a:lstStyle/>
          <a:p>
            <a:pPr fontAlgn="base"/>
            <a:r>
              <a:rPr lang="en-US" dirty="0"/>
              <a:t>Precise description of events in the environment, or messages from agents to which the system must respond.</a:t>
            </a:r>
          </a:p>
          <a:p>
            <a:pPr fontAlgn="base"/>
            <a:r>
              <a:rPr lang="en-US" dirty="0"/>
              <a:t>Precise description of the events or messages that the system must produce.</a:t>
            </a:r>
          </a:p>
          <a:p>
            <a:pPr fontAlgn="base"/>
            <a:r>
              <a:rPr lang="en-US" dirty="0"/>
              <a:t>Specification on the data, and the formats of the data coming into and going out of the system.</a:t>
            </a:r>
          </a:p>
          <a:p>
            <a:pPr fontAlgn="base"/>
            <a:r>
              <a:rPr lang="en-US" dirty="0"/>
              <a:t>Specification of the ordering and timing relationships between incoming events or messages, and outgoing events or outputs.</a:t>
            </a:r>
          </a:p>
          <a:p>
            <a:endParaRPr lang="en-US" dirty="0"/>
          </a:p>
        </p:txBody>
      </p:sp>
    </p:spTree>
    <p:extLst>
      <p:ext uri="{BB962C8B-B14F-4D97-AF65-F5344CB8AC3E}">
        <p14:creationId xmlns:p14="http://schemas.microsoft.com/office/powerpoint/2010/main" val="6614916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a:t>
            </a:r>
            <a:r>
              <a:rPr lang="en-US" b="1" dirty="0" smtClean="0"/>
              <a:t>Design</a:t>
            </a:r>
            <a:endParaRPr lang="en-US" dirty="0"/>
          </a:p>
        </p:txBody>
      </p:sp>
      <p:sp>
        <p:nvSpPr>
          <p:cNvPr id="3" name="Content Placeholder 2"/>
          <p:cNvSpPr>
            <a:spLocks noGrp="1"/>
          </p:cNvSpPr>
          <p:nvPr>
            <p:ph idx="1"/>
          </p:nvPr>
        </p:nvSpPr>
        <p:spPr>
          <a:xfrm>
            <a:off x="1030705" y="2114383"/>
            <a:ext cx="10515600" cy="4351338"/>
          </a:xfrm>
        </p:spPr>
        <p:txBody>
          <a:bodyPr>
            <a:normAutofit/>
          </a:bodyPr>
          <a:lstStyle/>
          <a:p>
            <a:pPr algn="just" fontAlgn="base"/>
            <a:r>
              <a:rPr lang="en-US" dirty="0" smtClean="0"/>
              <a:t>Specification </a:t>
            </a:r>
            <a:r>
              <a:rPr lang="en-US" dirty="0"/>
              <a:t>of </a:t>
            </a:r>
            <a:r>
              <a:rPr lang="en-US" b="1" dirty="0"/>
              <a:t>the major components of a system</a:t>
            </a:r>
            <a:r>
              <a:rPr lang="en-US" dirty="0"/>
              <a:t>, </a:t>
            </a:r>
            <a:r>
              <a:rPr lang="en-US" b="1" dirty="0"/>
              <a:t>their responsibilities, properties, interfaces, and the relationships and interactions between them</a:t>
            </a:r>
            <a:r>
              <a:rPr lang="en-US" dirty="0" smtClean="0"/>
              <a:t>.</a:t>
            </a:r>
          </a:p>
          <a:p>
            <a:pPr algn="just" fontAlgn="base"/>
            <a:r>
              <a:rPr lang="en-US" dirty="0" smtClean="0"/>
              <a:t>The </a:t>
            </a:r>
            <a:r>
              <a:rPr lang="en-US" dirty="0"/>
              <a:t>overall structure of the system is chosen, but the internal details of major components are ignored.</a:t>
            </a:r>
          </a:p>
          <a:p>
            <a:pPr marL="514350" indent="-514350" algn="just">
              <a:buFont typeface="+mj-lt"/>
              <a:buAutoNum type="arabicPeriod"/>
            </a:pPr>
            <a:endParaRPr lang="en-US" dirty="0"/>
          </a:p>
        </p:txBody>
      </p:sp>
    </p:spTree>
    <p:extLst>
      <p:ext uri="{BB962C8B-B14F-4D97-AF65-F5344CB8AC3E}">
        <p14:creationId xmlns:p14="http://schemas.microsoft.com/office/powerpoint/2010/main" val="23499493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Detailed Design</a:t>
            </a:r>
            <a:r>
              <a:rPr lang="en-US" b="1" dirty="0" smtClean="0"/>
              <a:t>:</a:t>
            </a:r>
            <a:endParaRPr lang="en-US" dirty="0"/>
          </a:p>
        </p:txBody>
      </p:sp>
      <p:sp>
        <p:nvSpPr>
          <p:cNvPr id="3" name="Content Placeholder 2"/>
          <p:cNvSpPr>
            <a:spLocks noGrp="1"/>
          </p:cNvSpPr>
          <p:nvPr>
            <p:ph idx="1"/>
          </p:nvPr>
        </p:nvSpPr>
        <p:spPr/>
        <p:txBody>
          <a:bodyPr>
            <a:normAutofit fontScale="77500" lnSpcReduction="20000"/>
          </a:bodyPr>
          <a:lstStyle/>
          <a:p>
            <a:pPr marL="0" indent="0" fontAlgn="base">
              <a:buNone/>
            </a:pPr>
            <a:r>
              <a:rPr lang="en-US" i="1" dirty="0" smtClean="0"/>
              <a:t>Design</a:t>
            </a:r>
            <a:r>
              <a:rPr lang="en-US" dirty="0"/>
              <a:t> is the specification of the internal elements of all major system components, their properties, relationships, processing, and often their algorithms and the data structures.</a:t>
            </a:r>
          </a:p>
          <a:p>
            <a:pPr marL="0" indent="0" fontAlgn="base">
              <a:buNone/>
            </a:pPr>
            <a:r>
              <a:rPr lang="en-US" b="1" dirty="0"/>
              <a:t>The detailed design may includ</a:t>
            </a:r>
            <a:r>
              <a:rPr lang="en-US" dirty="0"/>
              <a:t>e:</a:t>
            </a:r>
          </a:p>
          <a:p>
            <a:pPr marL="514350" indent="-514350" fontAlgn="base">
              <a:buFont typeface="+mj-lt"/>
              <a:buAutoNum type="arabicPeriod"/>
            </a:pPr>
            <a:r>
              <a:rPr lang="en-US" dirty="0"/>
              <a:t>Decomposition of major system components into program units.</a:t>
            </a:r>
          </a:p>
          <a:p>
            <a:pPr marL="514350" indent="-514350" fontAlgn="base">
              <a:buFont typeface="+mj-lt"/>
              <a:buAutoNum type="arabicPeriod"/>
            </a:pPr>
            <a:r>
              <a:rPr lang="en-US" dirty="0"/>
              <a:t>Allocation of functional responsibilities to units.</a:t>
            </a:r>
          </a:p>
          <a:p>
            <a:pPr marL="514350" indent="-514350" fontAlgn="base">
              <a:buFont typeface="+mj-lt"/>
              <a:buAutoNum type="arabicPeriod"/>
            </a:pPr>
            <a:r>
              <a:rPr lang="en-US" dirty="0"/>
              <a:t>User interfaces</a:t>
            </a:r>
          </a:p>
          <a:p>
            <a:pPr marL="514350" indent="-514350" fontAlgn="base">
              <a:buFont typeface="+mj-lt"/>
              <a:buAutoNum type="arabicPeriod"/>
            </a:pPr>
            <a:r>
              <a:rPr lang="en-US" dirty="0"/>
              <a:t>Unit states and state changes</a:t>
            </a:r>
          </a:p>
          <a:p>
            <a:pPr marL="514350" indent="-514350" fontAlgn="base">
              <a:buFont typeface="+mj-lt"/>
              <a:buAutoNum type="arabicPeriod"/>
            </a:pPr>
            <a:r>
              <a:rPr lang="en-US" dirty="0"/>
              <a:t>Data and control interaction between units</a:t>
            </a:r>
          </a:p>
          <a:p>
            <a:pPr marL="514350" indent="-514350" fontAlgn="base">
              <a:buFont typeface="+mj-lt"/>
              <a:buAutoNum type="arabicPeriod"/>
            </a:pPr>
            <a:r>
              <a:rPr lang="en-US" dirty="0"/>
              <a:t>Data packaging and implementation, including issues of scope and visibility of program elements</a:t>
            </a:r>
          </a:p>
          <a:p>
            <a:pPr marL="514350" indent="-514350" fontAlgn="base">
              <a:buFont typeface="+mj-lt"/>
              <a:buAutoNum type="arabicPeriod"/>
            </a:pPr>
            <a:r>
              <a:rPr lang="en-US" dirty="0"/>
              <a:t>Algorithms and data structures</a:t>
            </a:r>
          </a:p>
          <a:p>
            <a:pPr marL="0" indent="0">
              <a:buNone/>
            </a:pPr>
            <a:r>
              <a:rPr lang="en-US" dirty="0"/>
              <a:t/>
            </a:r>
            <a:br>
              <a:rPr lang="en-US" dirty="0"/>
            </a:br>
            <a:endParaRPr lang="en-US" dirty="0"/>
          </a:p>
        </p:txBody>
      </p:sp>
    </p:spTree>
    <p:extLst>
      <p:ext uri="{BB962C8B-B14F-4D97-AF65-F5344CB8AC3E}">
        <p14:creationId xmlns:p14="http://schemas.microsoft.com/office/powerpoint/2010/main" val="22266732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Design Concepts </a:t>
            </a:r>
            <a:endParaRPr lang="en-US" dirty="0"/>
          </a:p>
        </p:txBody>
      </p:sp>
      <p:sp>
        <p:nvSpPr>
          <p:cNvPr id="3" name="Content Placeholder 2"/>
          <p:cNvSpPr>
            <a:spLocks noGrp="1"/>
          </p:cNvSpPr>
          <p:nvPr>
            <p:ph idx="1"/>
          </p:nvPr>
        </p:nvSpPr>
        <p:spPr/>
        <p:txBody>
          <a:bodyPr/>
          <a:lstStyle/>
          <a:p>
            <a:r>
              <a:rPr lang="en-US" dirty="0"/>
              <a:t> The </a:t>
            </a:r>
            <a:r>
              <a:rPr lang="en-US" b="1" dirty="0"/>
              <a:t>software design concept</a:t>
            </a:r>
            <a:r>
              <a:rPr lang="en-US" dirty="0"/>
              <a:t> simply means the idea or principle behind the design</a:t>
            </a:r>
            <a:r>
              <a:rPr lang="en-US" dirty="0" smtClean="0"/>
              <a:t>.</a:t>
            </a:r>
          </a:p>
          <a:p>
            <a:r>
              <a:rPr lang="en-US" dirty="0" smtClean="0"/>
              <a:t> How </a:t>
            </a:r>
            <a:r>
              <a:rPr lang="en-US" dirty="0"/>
              <a:t>you plan to solve the problem of designing software, the logic, or thinking behind how you will design software. </a:t>
            </a:r>
            <a:endParaRPr lang="en-US" dirty="0" smtClean="0"/>
          </a:p>
          <a:p>
            <a:r>
              <a:rPr lang="en-US" dirty="0" smtClean="0"/>
              <a:t>It </a:t>
            </a:r>
            <a:r>
              <a:rPr lang="en-US" dirty="0"/>
              <a:t>allows the software engineer to create the model of the system or software or product that is to be developed or built. </a:t>
            </a:r>
            <a:endParaRPr lang="en-US" dirty="0" smtClean="0"/>
          </a:p>
          <a:p>
            <a:r>
              <a:rPr lang="en-US" dirty="0" smtClean="0"/>
              <a:t>The </a:t>
            </a:r>
            <a:r>
              <a:rPr lang="en-US" dirty="0"/>
              <a:t>software design concept provides a supporting and essential structure or model for developing the right software.</a:t>
            </a:r>
          </a:p>
        </p:txBody>
      </p:sp>
    </p:spTree>
    <p:extLst>
      <p:ext uri="{BB962C8B-B14F-4D97-AF65-F5344CB8AC3E}">
        <p14:creationId xmlns:p14="http://schemas.microsoft.com/office/powerpoint/2010/main" val="39363214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r>
              <a:rPr lang="en-US" b="1" dirty="0" smtClean="0"/>
              <a:t>Design Concepts </a:t>
            </a:r>
          </a:p>
        </p:txBody>
      </p:sp>
      <p:pic>
        <p:nvPicPr>
          <p:cNvPr id="4" name="Content Placeholder 3"/>
          <p:cNvPicPr>
            <a:picLocks noGrp="1" noChangeAspect="1"/>
          </p:cNvPicPr>
          <p:nvPr>
            <p:ph idx="1"/>
          </p:nvPr>
        </p:nvPicPr>
        <p:blipFill>
          <a:blip r:embed="rId2"/>
          <a:stretch>
            <a:fillRect/>
          </a:stretch>
        </p:blipFill>
        <p:spPr>
          <a:xfrm>
            <a:off x="1190625" y="1929606"/>
            <a:ext cx="9782175" cy="4143375"/>
          </a:xfrm>
          <a:prstGeom prst="rect">
            <a:avLst/>
          </a:prstGeom>
        </p:spPr>
      </p:pic>
    </p:spTree>
    <p:extLst>
      <p:ext uri="{BB962C8B-B14F-4D97-AF65-F5344CB8AC3E}">
        <p14:creationId xmlns:p14="http://schemas.microsoft.com/office/powerpoint/2010/main" val="796450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Abstraction- hide Irrelevant data</a:t>
            </a:r>
            <a:r>
              <a:rPr lang="en-US" dirty="0"/>
              <a:t> </a:t>
            </a:r>
          </a:p>
        </p:txBody>
      </p:sp>
      <p:sp>
        <p:nvSpPr>
          <p:cNvPr id="3" name="Content Placeholder 2"/>
          <p:cNvSpPr>
            <a:spLocks noGrp="1"/>
          </p:cNvSpPr>
          <p:nvPr>
            <p:ph idx="1"/>
          </p:nvPr>
        </p:nvSpPr>
        <p:spPr/>
        <p:txBody>
          <a:bodyPr>
            <a:normAutofit/>
          </a:bodyPr>
          <a:lstStyle/>
          <a:p>
            <a:pPr algn="just" fontAlgn="base"/>
            <a:r>
              <a:rPr lang="en-US" dirty="0" smtClean="0"/>
              <a:t>Abstraction </a:t>
            </a:r>
            <a:r>
              <a:rPr lang="en-US" dirty="0"/>
              <a:t>simply means to hide the details to reduce complexity and increases efficiency or quality. </a:t>
            </a:r>
            <a:endParaRPr lang="en-US" dirty="0" smtClean="0"/>
          </a:p>
          <a:p>
            <a:pPr algn="just" fontAlgn="base"/>
            <a:r>
              <a:rPr lang="en-US" dirty="0" smtClean="0"/>
              <a:t>Different </a:t>
            </a:r>
            <a:r>
              <a:rPr lang="en-US" dirty="0"/>
              <a:t>levels of Abstraction are necessary and must be applied at each stage of the design process so that any error that is present can be removed to increase the efficiency of the software solution and to refine the software solution</a:t>
            </a:r>
            <a:r>
              <a:rPr lang="en-US" dirty="0" smtClean="0"/>
              <a:t>.</a:t>
            </a:r>
          </a:p>
          <a:p>
            <a:pPr algn="just" fontAlgn="base"/>
            <a:r>
              <a:rPr lang="en-US" dirty="0" smtClean="0"/>
              <a:t> </a:t>
            </a:r>
            <a:r>
              <a:rPr lang="en-US" dirty="0"/>
              <a:t>The solution should be described in broad ways that cover a wide range of different things at a higher level of abstraction and a more detailed description of a solution of software should be given at the lower level of abstraction</a:t>
            </a:r>
            <a:r>
              <a:rPr lang="en-US" dirty="0" smtClean="0"/>
              <a:t>.</a:t>
            </a:r>
            <a:endParaRPr lang="en-US" dirty="0"/>
          </a:p>
        </p:txBody>
      </p:sp>
    </p:spTree>
    <p:extLst>
      <p:ext uri="{BB962C8B-B14F-4D97-AF65-F5344CB8AC3E}">
        <p14:creationId xmlns:p14="http://schemas.microsoft.com/office/powerpoint/2010/main" val="117059696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Modularity- subdivide the system</a:t>
            </a:r>
            <a:r>
              <a:rPr lang="en-US" dirty="0"/>
              <a:t> </a:t>
            </a:r>
          </a:p>
        </p:txBody>
      </p:sp>
      <p:sp>
        <p:nvSpPr>
          <p:cNvPr id="3" name="Content Placeholder 2"/>
          <p:cNvSpPr>
            <a:spLocks noGrp="1"/>
          </p:cNvSpPr>
          <p:nvPr>
            <p:ph idx="1"/>
          </p:nvPr>
        </p:nvSpPr>
        <p:spPr/>
        <p:txBody>
          <a:bodyPr>
            <a:normAutofit fontScale="92500" lnSpcReduction="10000"/>
          </a:bodyPr>
          <a:lstStyle/>
          <a:p>
            <a:pPr algn="just"/>
            <a:r>
              <a:rPr lang="en-US" dirty="0" smtClean="0"/>
              <a:t>Modularity </a:t>
            </a:r>
            <a:r>
              <a:rPr lang="en-US" dirty="0"/>
              <a:t>simply means dividing the system or project into smaller parts to reduce the complexity of the system or project. </a:t>
            </a:r>
            <a:endParaRPr lang="en-US" dirty="0" smtClean="0"/>
          </a:p>
          <a:p>
            <a:pPr algn="just"/>
            <a:r>
              <a:rPr lang="en-US" dirty="0" smtClean="0"/>
              <a:t>In </a:t>
            </a:r>
            <a:r>
              <a:rPr lang="en-US" dirty="0"/>
              <a:t>the same way, modularity in design means subdividing a system into smaller parts so that these parts can be created independently and then use these parts in different systems to perform different functions</a:t>
            </a:r>
            <a:r>
              <a:rPr lang="en-US" dirty="0" smtClean="0"/>
              <a:t>.</a:t>
            </a:r>
          </a:p>
          <a:p>
            <a:pPr algn="just"/>
            <a:r>
              <a:rPr lang="en-US" dirty="0" smtClean="0"/>
              <a:t> </a:t>
            </a:r>
            <a:r>
              <a:rPr lang="en-US" dirty="0"/>
              <a:t>It is necessary to divide the software into components known as modules because nowadays there are different software available like Monolithic software that is hard to grasp for software engineers. </a:t>
            </a:r>
            <a:endParaRPr lang="en-US" dirty="0" smtClean="0"/>
          </a:p>
          <a:p>
            <a:pPr algn="just"/>
            <a:r>
              <a:rPr lang="en-US" dirty="0" smtClean="0"/>
              <a:t>So</a:t>
            </a:r>
            <a:r>
              <a:rPr lang="en-US" dirty="0"/>
              <a:t>, modularity in design has now become a trend and is also important. If the system contains fewer components then it would mean the system is complex which requires a lot of effort (cost) but if we are able to divide the system into components then the cost would be small.</a:t>
            </a:r>
          </a:p>
          <a:p>
            <a:pPr algn="just"/>
            <a:endParaRPr lang="en-US" dirty="0"/>
          </a:p>
        </p:txBody>
      </p:sp>
    </p:spTree>
    <p:extLst>
      <p:ext uri="{BB962C8B-B14F-4D97-AF65-F5344CB8AC3E}">
        <p14:creationId xmlns:p14="http://schemas.microsoft.com/office/powerpoint/2010/main" val="219396450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Architecture- design a structure  </a:t>
            </a:r>
            <a:endParaRPr lang="en-US" dirty="0"/>
          </a:p>
        </p:txBody>
      </p:sp>
      <p:sp>
        <p:nvSpPr>
          <p:cNvPr id="3" name="Content Placeholder 2"/>
          <p:cNvSpPr>
            <a:spLocks noGrp="1"/>
          </p:cNvSpPr>
          <p:nvPr>
            <p:ph idx="1"/>
          </p:nvPr>
        </p:nvSpPr>
        <p:spPr/>
        <p:txBody>
          <a:bodyPr>
            <a:normAutofit/>
          </a:bodyPr>
          <a:lstStyle/>
          <a:p>
            <a:pPr algn="just" fontAlgn="base"/>
            <a:r>
              <a:rPr lang="en-US" dirty="0" smtClean="0"/>
              <a:t>Architecture </a:t>
            </a:r>
            <a:r>
              <a:rPr lang="en-US" dirty="0"/>
              <a:t>simply means a technique to design a structure of something. Architecture in designing software is a concept that focuses on various elements and the data of the structure. </a:t>
            </a:r>
            <a:endParaRPr lang="en-US" dirty="0" smtClean="0"/>
          </a:p>
          <a:p>
            <a:pPr algn="just" fontAlgn="base"/>
            <a:r>
              <a:rPr lang="en-US" dirty="0" smtClean="0"/>
              <a:t>These </a:t>
            </a:r>
            <a:r>
              <a:rPr lang="en-US" dirty="0"/>
              <a:t>components interact with each other and use the data of the structure in architecture</a:t>
            </a:r>
            <a:r>
              <a:rPr lang="en-US" dirty="0" smtClean="0"/>
              <a:t>.</a:t>
            </a:r>
            <a:endParaRPr lang="en-US" dirty="0"/>
          </a:p>
        </p:txBody>
      </p:sp>
    </p:spTree>
    <p:extLst>
      <p:ext uri="{BB962C8B-B14F-4D97-AF65-F5344CB8AC3E}">
        <p14:creationId xmlns:p14="http://schemas.microsoft.com/office/powerpoint/2010/main" val="402198438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Refinement- removes impurities</a:t>
            </a:r>
            <a:endParaRPr lang="en-US" dirty="0"/>
          </a:p>
        </p:txBody>
      </p:sp>
      <p:sp>
        <p:nvSpPr>
          <p:cNvPr id="3" name="Content Placeholder 2"/>
          <p:cNvSpPr>
            <a:spLocks noGrp="1"/>
          </p:cNvSpPr>
          <p:nvPr>
            <p:ph idx="1"/>
          </p:nvPr>
        </p:nvSpPr>
        <p:spPr/>
        <p:txBody>
          <a:bodyPr/>
          <a:lstStyle/>
          <a:p>
            <a:pPr algn="just"/>
            <a:r>
              <a:rPr lang="en-US" dirty="0" smtClean="0"/>
              <a:t>Refinement </a:t>
            </a:r>
            <a:r>
              <a:rPr lang="en-US" dirty="0"/>
              <a:t>simply means to refine something to remove any impurities if present and increase the quality. </a:t>
            </a:r>
            <a:endParaRPr lang="en-US" dirty="0" smtClean="0"/>
          </a:p>
          <a:p>
            <a:pPr algn="just"/>
            <a:r>
              <a:rPr lang="en-US" dirty="0" smtClean="0"/>
              <a:t>The </a:t>
            </a:r>
            <a:r>
              <a:rPr lang="en-US" dirty="0"/>
              <a:t>refinement concept of software design is actually a process of developing or presenting the software or system in a detailed manner that means to elaborate a system or software. </a:t>
            </a:r>
            <a:endParaRPr lang="en-US" dirty="0" smtClean="0"/>
          </a:p>
          <a:p>
            <a:pPr algn="just"/>
            <a:r>
              <a:rPr lang="en-US" dirty="0" smtClean="0"/>
              <a:t>Refinement </a:t>
            </a:r>
            <a:r>
              <a:rPr lang="en-US" dirty="0"/>
              <a:t>is very necessary to find out any error if present and then to reduce it.</a:t>
            </a:r>
          </a:p>
          <a:p>
            <a:pPr algn="just"/>
            <a:endParaRPr lang="en-US" dirty="0"/>
          </a:p>
        </p:txBody>
      </p:sp>
    </p:spTree>
    <p:extLst>
      <p:ext uri="{BB962C8B-B14F-4D97-AF65-F5344CB8AC3E}">
        <p14:creationId xmlns:p14="http://schemas.microsoft.com/office/powerpoint/2010/main" val="4315649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Pattern- a repeated form</a:t>
            </a:r>
            <a:endParaRPr lang="en-US" dirty="0"/>
          </a:p>
        </p:txBody>
      </p:sp>
      <p:sp>
        <p:nvSpPr>
          <p:cNvPr id="3" name="Content Placeholder 2"/>
          <p:cNvSpPr>
            <a:spLocks noGrp="1"/>
          </p:cNvSpPr>
          <p:nvPr>
            <p:ph idx="1"/>
          </p:nvPr>
        </p:nvSpPr>
        <p:spPr/>
        <p:txBody>
          <a:bodyPr>
            <a:normAutofit/>
          </a:bodyPr>
          <a:lstStyle/>
          <a:p>
            <a:pPr algn="just" fontAlgn="base"/>
            <a:r>
              <a:rPr lang="en-US" dirty="0" smtClean="0"/>
              <a:t>The </a:t>
            </a:r>
            <a:r>
              <a:rPr lang="en-US" dirty="0"/>
              <a:t>pattern simply means a repeated form or design in which the same shape is repeated several times to form a pattern. </a:t>
            </a:r>
            <a:endParaRPr lang="en-US" dirty="0" smtClean="0"/>
          </a:p>
          <a:p>
            <a:pPr algn="just" fontAlgn="base"/>
            <a:r>
              <a:rPr lang="en-US" dirty="0" smtClean="0"/>
              <a:t>The </a:t>
            </a:r>
            <a:r>
              <a:rPr lang="en-US" dirty="0"/>
              <a:t>pattern in the design process means the repetition of a solution to a common recurring problem within a certain context</a:t>
            </a:r>
            <a:r>
              <a:rPr lang="en-US" dirty="0" smtClean="0"/>
              <a:t>.</a:t>
            </a:r>
            <a:endParaRPr lang="en-US" dirty="0"/>
          </a:p>
        </p:txBody>
      </p:sp>
    </p:spTree>
    <p:extLst>
      <p:ext uri="{BB962C8B-B14F-4D97-AF65-F5344CB8AC3E}">
        <p14:creationId xmlns:p14="http://schemas.microsoft.com/office/powerpoint/2010/main" val="29837686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Information Hiding- hide the information</a:t>
            </a:r>
            <a:r>
              <a:rPr lang="en-US" dirty="0"/>
              <a:t> </a:t>
            </a:r>
          </a:p>
        </p:txBody>
      </p:sp>
      <p:sp>
        <p:nvSpPr>
          <p:cNvPr id="3" name="Content Placeholder 2"/>
          <p:cNvSpPr>
            <a:spLocks noGrp="1"/>
          </p:cNvSpPr>
          <p:nvPr>
            <p:ph idx="1"/>
          </p:nvPr>
        </p:nvSpPr>
        <p:spPr/>
        <p:txBody>
          <a:bodyPr>
            <a:normAutofit/>
          </a:bodyPr>
          <a:lstStyle/>
          <a:p>
            <a:pPr algn="just" fontAlgn="base"/>
            <a:r>
              <a:rPr lang="en-US" dirty="0" smtClean="0"/>
              <a:t>Information </a:t>
            </a:r>
            <a:r>
              <a:rPr lang="en-US" dirty="0"/>
              <a:t>hiding simply means </a:t>
            </a:r>
            <a:r>
              <a:rPr lang="en-US" dirty="0" smtClean="0"/>
              <a:t>hiding </a:t>
            </a:r>
            <a:r>
              <a:rPr lang="en-US" dirty="0"/>
              <a:t>the information so that it cannot be accessed by an unwanted party</a:t>
            </a:r>
            <a:r>
              <a:rPr lang="en-US" dirty="0" smtClean="0"/>
              <a:t>.</a:t>
            </a:r>
          </a:p>
          <a:p>
            <a:pPr algn="just" fontAlgn="base"/>
            <a:r>
              <a:rPr lang="en-US" dirty="0" smtClean="0"/>
              <a:t> </a:t>
            </a:r>
            <a:r>
              <a:rPr lang="en-US" dirty="0"/>
              <a:t>In software design, information hiding is achieved by designing the modules in a manner that the information gathered or contained in one module is hidden and can’t be accessed by any other modules.</a:t>
            </a:r>
          </a:p>
          <a:p>
            <a:pPr algn="just"/>
            <a:endParaRPr lang="en-US" dirty="0"/>
          </a:p>
          <a:p>
            <a:pPr algn="just"/>
            <a:endParaRPr lang="en-US" dirty="0"/>
          </a:p>
        </p:txBody>
      </p:sp>
    </p:spTree>
    <p:extLst>
      <p:ext uri="{BB962C8B-B14F-4D97-AF65-F5344CB8AC3E}">
        <p14:creationId xmlns:p14="http://schemas.microsoft.com/office/powerpoint/2010/main" val="39090433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Refactoring- reconstruct something </a:t>
            </a:r>
          </a:p>
        </p:txBody>
      </p:sp>
      <p:sp>
        <p:nvSpPr>
          <p:cNvPr id="3" name="Content Placeholder 2"/>
          <p:cNvSpPr>
            <a:spLocks noGrp="1"/>
          </p:cNvSpPr>
          <p:nvPr>
            <p:ph idx="1"/>
          </p:nvPr>
        </p:nvSpPr>
        <p:spPr/>
        <p:txBody>
          <a:bodyPr/>
          <a:lstStyle/>
          <a:p>
            <a:pPr algn="just"/>
            <a:r>
              <a:rPr lang="en-US" dirty="0" smtClean="0"/>
              <a:t>Refactoring </a:t>
            </a:r>
            <a:r>
              <a:rPr lang="en-US" dirty="0"/>
              <a:t>simply means reconstructing something in such a way that it does not affect the behavior of any other features. </a:t>
            </a:r>
            <a:endParaRPr lang="en-US" dirty="0" smtClean="0"/>
          </a:p>
          <a:p>
            <a:pPr algn="just"/>
            <a:r>
              <a:rPr lang="en-US" dirty="0" smtClean="0"/>
              <a:t>Refactoring </a:t>
            </a:r>
            <a:r>
              <a:rPr lang="en-US" dirty="0"/>
              <a:t>in software design means reconstructing the design to reduce complexity and simplify it without affecting the behavior or its functions. </a:t>
            </a:r>
            <a:endParaRPr lang="en-US" dirty="0" smtClean="0"/>
          </a:p>
          <a:p>
            <a:pPr algn="just"/>
            <a:endParaRPr lang="en-US" dirty="0"/>
          </a:p>
        </p:txBody>
      </p:sp>
    </p:spTree>
    <p:extLst>
      <p:ext uri="{BB962C8B-B14F-4D97-AF65-F5344CB8AC3E}">
        <p14:creationId xmlns:p14="http://schemas.microsoft.com/office/powerpoint/2010/main" val="15071000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r>
              <a:rPr lang="en-US" b="1" dirty="0" smtClean="0"/>
              <a:t>Design Quality </a:t>
            </a:r>
          </a:p>
        </p:txBody>
      </p:sp>
      <p:sp>
        <p:nvSpPr>
          <p:cNvPr id="3" name="Content Placeholder 2"/>
          <p:cNvSpPr>
            <a:spLocks noGrp="1"/>
          </p:cNvSpPr>
          <p:nvPr>
            <p:ph idx="1"/>
          </p:nvPr>
        </p:nvSpPr>
        <p:spPr/>
        <p:txBody>
          <a:bodyPr>
            <a:normAutofit fontScale="92500" lnSpcReduction="10000"/>
          </a:bodyPr>
          <a:lstStyle/>
          <a:p>
            <a:pPr algn="just"/>
            <a:r>
              <a:rPr lang="en-US" dirty="0" smtClean="0"/>
              <a:t>A quality </a:t>
            </a:r>
            <a:r>
              <a:rPr lang="en-US" dirty="0"/>
              <a:t>product does precisely what the users want it to do</a:t>
            </a:r>
            <a:r>
              <a:rPr lang="en-US" dirty="0" smtClean="0"/>
              <a:t>.</a:t>
            </a:r>
          </a:p>
          <a:p>
            <a:pPr algn="just"/>
            <a:r>
              <a:rPr lang="en-US" dirty="0" smtClean="0"/>
              <a:t>For </a:t>
            </a:r>
            <a:r>
              <a:rPr lang="en-US" dirty="0"/>
              <a:t>software products, the fitness of use is generally explained in terms of </a:t>
            </a:r>
            <a:r>
              <a:rPr lang="en-US" b="1" dirty="0"/>
              <a:t>satisfaction of the requirements laid down in the SRS document</a:t>
            </a:r>
            <a:r>
              <a:rPr lang="en-US" dirty="0"/>
              <a:t>. </a:t>
            </a:r>
            <a:endParaRPr lang="en-US" dirty="0" smtClean="0"/>
          </a:p>
          <a:p>
            <a:pPr algn="just"/>
            <a:r>
              <a:rPr lang="en-US" dirty="0" smtClean="0"/>
              <a:t>Although </a:t>
            </a:r>
            <a:r>
              <a:rPr lang="en-US" dirty="0"/>
              <a:t>"fitness of purpose" is a satisfactory interpretation of quality for many devices such as a car, a table fan, a grinding machine, etc</a:t>
            </a:r>
            <a:r>
              <a:rPr lang="en-US" dirty="0" smtClean="0"/>
              <a:t>. </a:t>
            </a:r>
          </a:p>
          <a:p>
            <a:pPr algn="just"/>
            <a:r>
              <a:rPr lang="en-US" dirty="0" smtClean="0"/>
              <a:t>For </a:t>
            </a:r>
            <a:r>
              <a:rPr lang="en-US" dirty="0"/>
              <a:t>software products, "fitness of purpose" is not a wholly satisfactory definition of quality.</a:t>
            </a:r>
          </a:p>
          <a:p>
            <a:pPr algn="just"/>
            <a:r>
              <a:rPr lang="en-US" b="1" dirty="0"/>
              <a:t>Example:</a:t>
            </a:r>
            <a:r>
              <a:rPr lang="en-US" dirty="0"/>
              <a:t> Consider a functionally correct software product. That is, it performs all tasks as specified in the SRS document. But, has an almost unusable user interface. Even though it may be functionally right, we cannot consider it to be a quality product.</a:t>
            </a:r>
          </a:p>
          <a:p>
            <a:pPr algn="just"/>
            <a:endParaRPr lang="en-US" dirty="0"/>
          </a:p>
        </p:txBody>
      </p:sp>
    </p:spTree>
    <p:extLst>
      <p:ext uri="{BB962C8B-B14F-4D97-AF65-F5344CB8AC3E}">
        <p14:creationId xmlns:p14="http://schemas.microsoft.com/office/powerpoint/2010/main" val="245000960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r>
              <a:rPr lang="en-US" b="1" dirty="0" smtClean="0"/>
              <a:t>Software Architecture And Its Types</a:t>
            </a:r>
            <a:endParaRPr lang="en-US" b="1" dirty="0"/>
          </a:p>
        </p:txBody>
      </p:sp>
      <p:sp>
        <p:nvSpPr>
          <p:cNvPr id="3" name="Content Placeholder 2"/>
          <p:cNvSpPr>
            <a:spLocks noGrp="1"/>
          </p:cNvSpPr>
          <p:nvPr>
            <p:ph idx="1"/>
          </p:nvPr>
        </p:nvSpPr>
        <p:spPr/>
        <p:txBody>
          <a:bodyPr>
            <a:normAutofit/>
          </a:bodyPr>
          <a:lstStyle/>
          <a:p>
            <a:pPr algn="just" fontAlgn="base"/>
            <a:r>
              <a:rPr lang="en-US" dirty="0" smtClean="0"/>
              <a:t>Software </a:t>
            </a:r>
            <a:r>
              <a:rPr lang="en-US" dirty="0"/>
              <a:t>architecture is the blueprint of building software. </a:t>
            </a:r>
            <a:endParaRPr lang="en-US" dirty="0" smtClean="0"/>
          </a:p>
          <a:p>
            <a:pPr algn="just" fontAlgn="base"/>
            <a:r>
              <a:rPr lang="en-US" dirty="0" smtClean="0"/>
              <a:t>It </a:t>
            </a:r>
            <a:r>
              <a:rPr lang="en-US" dirty="0"/>
              <a:t>shows the overall </a:t>
            </a:r>
            <a:r>
              <a:rPr lang="en-US" b="1" dirty="0"/>
              <a:t>structure of the software</a:t>
            </a:r>
            <a:r>
              <a:rPr lang="en-US" dirty="0"/>
              <a:t>, the </a:t>
            </a:r>
            <a:r>
              <a:rPr lang="en-US" b="1" dirty="0"/>
              <a:t>collection of components</a:t>
            </a:r>
            <a:r>
              <a:rPr lang="en-US" dirty="0"/>
              <a:t> in it, and </a:t>
            </a:r>
            <a:r>
              <a:rPr lang="en-US" b="1" dirty="0"/>
              <a:t>how they interact with one another </a:t>
            </a:r>
            <a:r>
              <a:rPr lang="en-US" dirty="0"/>
              <a:t>while hiding the implementation.  </a:t>
            </a:r>
          </a:p>
          <a:p>
            <a:pPr algn="just" fontAlgn="base"/>
            <a:r>
              <a:rPr lang="en-US" dirty="0"/>
              <a:t>This helps the software development team to clearly communicate how the software is going to be built as per the requirements of customers.  </a:t>
            </a:r>
            <a:endParaRPr lang="en-US" dirty="0" smtClean="0"/>
          </a:p>
          <a:p>
            <a:pPr marL="0" indent="0" algn="just" fontAlgn="base">
              <a:buNone/>
            </a:pPr>
            <a:endParaRPr lang="en-US" dirty="0"/>
          </a:p>
          <a:p>
            <a:pPr algn="just" fontAlgn="base"/>
            <a:endParaRPr lang="en-US" dirty="0"/>
          </a:p>
          <a:p>
            <a:pPr algn="just"/>
            <a:endParaRPr lang="en-US" dirty="0"/>
          </a:p>
        </p:txBody>
      </p:sp>
    </p:spTree>
    <p:extLst>
      <p:ext uri="{BB962C8B-B14F-4D97-AF65-F5344CB8AC3E}">
        <p14:creationId xmlns:p14="http://schemas.microsoft.com/office/powerpoint/2010/main" val="90126421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Different Software Architecture Patterns :</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514350" indent="-514350" fontAlgn="base">
              <a:buFont typeface="+mj-lt"/>
              <a:buAutoNum type="arabicPeriod"/>
            </a:pPr>
            <a:r>
              <a:rPr lang="en-US" dirty="0" smtClean="0"/>
              <a:t>Layered </a:t>
            </a:r>
            <a:r>
              <a:rPr lang="en-US" dirty="0"/>
              <a:t>Pattern</a:t>
            </a:r>
          </a:p>
          <a:p>
            <a:pPr marL="514350" indent="-514350" fontAlgn="base">
              <a:buFont typeface="+mj-lt"/>
              <a:buAutoNum type="arabicPeriod"/>
            </a:pPr>
            <a:r>
              <a:rPr lang="en-US" dirty="0"/>
              <a:t>Client-Server Pattern</a:t>
            </a:r>
          </a:p>
          <a:p>
            <a:pPr marL="514350" indent="-514350" fontAlgn="base">
              <a:buFont typeface="+mj-lt"/>
              <a:buAutoNum type="arabicPeriod"/>
            </a:pPr>
            <a:r>
              <a:rPr lang="en-US" dirty="0" smtClean="0"/>
              <a:t>Repository Architecture</a:t>
            </a:r>
          </a:p>
          <a:p>
            <a:pPr marL="514350" indent="-514350" fontAlgn="base">
              <a:buFont typeface="+mj-lt"/>
              <a:buAutoNum type="arabicPeriod"/>
            </a:pPr>
            <a:endParaRPr lang="en-US" dirty="0"/>
          </a:p>
          <a:p>
            <a:endParaRPr lang="en-US" dirty="0"/>
          </a:p>
        </p:txBody>
      </p:sp>
    </p:spTree>
    <p:extLst>
      <p:ext uri="{BB962C8B-B14F-4D97-AF65-F5344CB8AC3E}">
        <p14:creationId xmlns:p14="http://schemas.microsoft.com/office/powerpoint/2010/main" val="156337475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Layered Pattern :</a:t>
            </a:r>
            <a:endParaRPr lang="en-US" dirty="0"/>
          </a:p>
        </p:txBody>
      </p:sp>
      <p:sp>
        <p:nvSpPr>
          <p:cNvPr id="3" name="Content Placeholder 2"/>
          <p:cNvSpPr>
            <a:spLocks noGrp="1"/>
          </p:cNvSpPr>
          <p:nvPr>
            <p:ph idx="1"/>
          </p:nvPr>
        </p:nvSpPr>
        <p:spPr/>
        <p:txBody>
          <a:bodyPr>
            <a:normAutofit/>
          </a:bodyPr>
          <a:lstStyle/>
          <a:p>
            <a:pPr algn="just" fontAlgn="base"/>
            <a:r>
              <a:rPr lang="en-US" dirty="0" smtClean="0"/>
              <a:t>As </a:t>
            </a:r>
            <a:r>
              <a:rPr lang="en-US" dirty="0"/>
              <a:t>the name suggests, components(code) in this pattern are separated into layers of subtasks and they are arranged one above another.  </a:t>
            </a:r>
          </a:p>
          <a:p>
            <a:pPr algn="just" fontAlgn="base"/>
            <a:r>
              <a:rPr lang="en-US" dirty="0"/>
              <a:t>Each layer has unique tasks to do and all the layers are independent of one another. </a:t>
            </a:r>
            <a:endParaRPr lang="en-US" dirty="0" smtClean="0"/>
          </a:p>
          <a:p>
            <a:pPr algn="just" fontAlgn="base"/>
            <a:r>
              <a:rPr lang="en-US" dirty="0"/>
              <a:t>O</a:t>
            </a:r>
            <a:r>
              <a:rPr lang="en-US" dirty="0" smtClean="0"/>
              <a:t>ne </a:t>
            </a:r>
            <a:r>
              <a:rPr lang="en-US" dirty="0"/>
              <a:t>can modify the code inside a layer without affecting others.  </a:t>
            </a:r>
          </a:p>
          <a:p>
            <a:pPr algn="just" fontAlgn="base"/>
            <a:r>
              <a:rPr lang="en-US" dirty="0"/>
              <a:t>C</a:t>
            </a:r>
            <a:r>
              <a:rPr lang="en-US" dirty="0" smtClean="0"/>
              <a:t>ommonly </a:t>
            </a:r>
            <a:r>
              <a:rPr lang="en-US" dirty="0"/>
              <a:t>used pattern for designing the majority of software. </a:t>
            </a:r>
            <a:endParaRPr lang="en-US" dirty="0" smtClean="0"/>
          </a:p>
          <a:p>
            <a:pPr algn="just" fontAlgn="base"/>
            <a:r>
              <a:rPr lang="en-US" dirty="0" smtClean="0"/>
              <a:t>This </a:t>
            </a:r>
            <a:r>
              <a:rPr lang="en-US" dirty="0"/>
              <a:t>layer is also known as ‘N-tier architecture’. </a:t>
            </a:r>
            <a:endParaRPr lang="en-US" dirty="0" smtClean="0"/>
          </a:p>
          <a:p>
            <a:pPr algn="just" fontAlgn="base"/>
            <a:r>
              <a:rPr lang="en-US" dirty="0" smtClean="0"/>
              <a:t>Basically</a:t>
            </a:r>
            <a:r>
              <a:rPr lang="en-US" dirty="0"/>
              <a:t>, this pattern has 4 layers.  </a:t>
            </a:r>
          </a:p>
          <a:p>
            <a:pPr algn="just"/>
            <a:endParaRPr lang="en-US" dirty="0"/>
          </a:p>
        </p:txBody>
      </p:sp>
    </p:spTree>
    <p:extLst>
      <p:ext uri="{BB962C8B-B14F-4D97-AF65-F5344CB8AC3E}">
        <p14:creationId xmlns:p14="http://schemas.microsoft.com/office/powerpoint/2010/main" val="11291822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Layered Pattern </a:t>
            </a:r>
            <a:endParaRPr lang="en-US" dirty="0"/>
          </a:p>
        </p:txBody>
      </p:sp>
      <p:pic>
        <p:nvPicPr>
          <p:cNvPr id="4" name="Content Placeholder 3"/>
          <p:cNvPicPr>
            <a:picLocks noGrp="1" noChangeAspect="1"/>
          </p:cNvPicPr>
          <p:nvPr>
            <p:ph idx="1"/>
          </p:nvPr>
        </p:nvPicPr>
        <p:blipFill>
          <a:blip r:embed="rId2"/>
          <a:stretch>
            <a:fillRect/>
          </a:stretch>
        </p:blipFill>
        <p:spPr>
          <a:xfrm>
            <a:off x="1963553" y="1690689"/>
            <a:ext cx="7276699" cy="3561620"/>
          </a:xfrm>
          <a:prstGeom prst="rect">
            <a:avLst/>
          </a:prstGeom>
        </p:spPr>
      </p:pic>
    </p:spTree>
    <p:extLst>
      <p:ext uri="{BB962C8B-B14F-4D97-AF65-F5344CB8AC3E}">
        <p14:creationId xmlns:p14="http://schemas.microsoft.com/office/powerpoint/2010/main" val="28195704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Layered Pattern :</a:t>
            </a:r>
            <a:endParaRPr lang="en-US" dirty="0"/>
          </a:p>
        </p:txBody>
      </p:sp>
      <p:sp>
        <p:nvSpPr>
          <p:cNvPr id="3" name="Content Placeholder 2"/>
          <p:cNvSpPr>
            <a:spLocks noGrp="1"/>
          </p:cNvSpPr>
          <p:nvPr>
            <p:ph idx="1"/>
          </p:nvPr>
        </p:nvSpPr>
        <p:spPr/>
        <p:txBody>
          <a:bodyPr/>
          <a:lstStyle/>
          <a:p>
            <a:pPr fontAlgn="base"/>
            <a:r>
              <a:rPr lang="en-US" b="1" dirty="0"/>
              <a:t>Presentation layer </a:t>
            </a:r>
            <a:r>
              <a:rPr lang="en-US" dirty="0"/>
              <a:t>(The user interface layer where we see and enter data into an application.)</a:t>
            </a:r>
          </a:p>
          <a:p>
            <a:pPr fontAlgn="base"/>
            <a:r>
              <a:rPr lang="en-US" b="1" dirty="0"/>
              <a:t>Business layer </a:t>
            </a:r>
            <a:r>
              <a:rPr lang="en-US" dirty="0"/>
              <a:t>(this layer is responsible for executing business logic as per the request.)</a:t>
            </a:r>
          </a:p>
          <a:p>
            <a:pPr fontAlgn="base"/>
            <a:r>
              <a:rPr lang="en-US" b="1" dirty="0"/>
              <a:t>Application layer </a:t>
            </a:r>
            <a:r>
              <a:rPr lang="en-US" dirty="0"/>
              <a:t>(this layer acts as a medium for communication between the ‘presentation layer’ and ‘data layer’.</a:t>
            </a:r>
          </a:p>
          <a:p>
            <a:pPr fontAlgn="base"/>
            <a:r>
              <a:rPr lang="en-US" b="1" dirty="0"/>
              <a:t>Data layer </a:t>
            </a:r>
            <a:r>
              <a:rPr lang="en-US" dirty="0"/>
              <a:t>(this layer has a database for managing data.)</a:t>
            </a:r>
          </a:p>
          <a:p>
            <a:pPr marL="0" indent="0" fontAlgn="base">
              <a:buNone/>
            </a:pPr>
            <a:r>
              <a:rPr lang="en-US" dirty="0"/>
              <a:t>Ideal for:  </a:t>
            </a:r>
          </a:p>
          <a:p>
            <a:pPr marL="0" indent="0" fontAlgn="base">
              <a:buNone/>
            </a:pPr>
            <a:r>
              <a:rPr lang="en-US" dirty="0"/>
              <a:t>E-commerce web applications development like Amazon.  </a:t>
            </a:r>
          </a:p>
          <a:p>
            <a:endParaRPr lang="en-US" dirty="0"/>
          </a:p>
        </p:txBody>
      </p:sp>
    </p:spTree>
    <p:extLst>
      <p:ext uri="{BB962C8B-B14F-4D97-AF65-F5344CB8AC3E}">
        <p14:creationId xmlns:p14="http://schemas.microsoft.com/office/powerpoint/2010/main" val="260943186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Client-Server </a:t>
            </a:r>
            <a:r>
              <a:rPr lang="en-US" b="1" dirty="0"/>
              <a:t>Pattern</a:t>
            </a:r>
            <a:endParaRPr lang="en-US" dirty="0"/>
          </a:p>
        </p:txBody>
      </p:sp>
      <p:sp>
        <p:nvSpPr>
          <p:cNvPr id="3" name="Content Placeholder 2"/>
          <p:cNvSpPr>
            <a:spLocks noGrp="1"/>
          </p:cNvSpPr>
          <p:nvPr>
            <p:ph idx="1"/>
          </p:nvPr>
        </p:nvSpPr>
        <p:spPr/>
        <p:txBody>
          <a:bodyPr>
            <a:normAutofit fontScale="85000" lnSpcReduction="20000"/>
          </a:bodyPr>
          <a:lstStyle/>
          <a:p>
            <a:pPr marL="0" indent="0" fontAlgn="base">
              <a:buNone/>
            </a:pPr>
            <a:r>
              <a:rPr lang="en-US" dirty="0"/>
              <a:t>C</a:t>
            </a:r>
            <a:r>
              <a:rPr lang="en-US" dirty="0" smtClean="0"/>
              <a:t>lient-server </a:t>
            </a:r>
            <a:r>
              <a:rPr lang="en-US" dirty="0"/>
              <a:t>pattern has two major entities. </a:t>
            </a:r>
            <a:endParaRPr lang="en-US" dirty="0" smtClean="0"/>
          </a:p>
          <a:p>
            <a:pPr marL="0" indent="0" fontAlgn="base">
              <a:buNone/>
            </a:pPr>
            <a:r>
              <a:rPr lang="en-US" dirty="0" smtClean="0"/>
              <a:t>There </a:t>
            </a:r>
            <a:r>
              <a:rPr lang="en-US" dirty="0"/>
              <a:t>are a server and multiple clients.  </a:t>
            </a:r>
          </a:p>
          <a:p>
            <a:pPr marL="0" indent="0" fontAlgn="base">
              <a:buNone/>
            </a:pPr>
            <a:r>
              <a:rPr lang="en-US" dirty="0"/>
              <a:t>Here the server has resources(data, files or services) and a client requests the server for a particular resource</a:t>
            </a:r>
            <a:r>
              <a:rPr lang="en-US" dirty="0" smtClean="0"/>
              <a:t>.</a:t>
            </a:r>
          </a:p>
          <a:p>
            <a:pPr marL="0" indent="0" fontAlgn="base">
              <a:buNone/>
            </a:pPr>
            <a:r>
              <a:rPr lang="en-US" dirty="0" smtClean="0"/>
              <a:t>Then </a:t>
            </a:r>
            <a:r>
              <a:rPr lang="en-US" dirty="0"/>
              <a:t>the server processes the request and responds back accordingly.</a:t>
            </a:r>
          </a:p>
          <a:p>
            <a:pPr marL="0" indent="0" fontAlgn="base">
              <a:buNone/>
            </a:pPr>
            <a:r>
              <a:rPr lang="en-US" dirty="0"/>
              <a:t>Examples of software developed in this pattern:  </a:t>
            </a:r>
          </a:p>
          <a:p>
            <a:pPr fontAlgn="base"/>
            <a:r>
              <a:rPr lang="en-US" dirty="0"/>
              <a:t>Email.</a:t>
            </a:r>
          </a:p>
          <a:p>
            <a:pPr fontAlgn="base"/>
            <a:r>
              <a:rPr lang="en-US" dirty="0"/>
              <a:t>WWW.</a:t>
            </a:r>
          </a:p>
          <a:p>
            <a:pPr fontAlgn="base"/>
            <a:r>
              <a:rPr lang="en-US" dirty="0"/>
              <a:t>File sharing apps.</a:t>
            </a:r>
          </a:p>
          <a:p>
            <a:pPr fontAlgn="base"/>
            <a:r>
              <a:rPr lang="en-US" dirty="0"/>
              <a:t>Banking, etc…</a:t>
            </a:r>
          </a:p>
          <a:p>
            <a:pPr marL="0" indent="0" fontAlgn="base">
              <a:buNone/>
            </a:pPr>
            <a:r>
              <a:rPr lang="en-US" dirty="0"/>
              <a:t>So this pattern is suitable for developing the kind of software listed in the examples.  </a:t>
            </a:r>
          </a:p>
          <a:p>
            <a:endParaRPr lang="en-US" dirty="0"/>
          </a:p>
        </p:txBody>
      </p:sp>
    </p:spTree>
    <p:extLst>
      <p:ext uri="{BB962C8B-B14F-4D97-AF65-F5344CB8AC3E}">
        <p14:creationId xmlns:p14="http://schemas.microsoft.com/office/powerpoint/2010/main" val="137039638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Client-Server Pattern</a:t>
            </a:r>
            <a:endParaRPr lang="en-US" dirty="0"/>
          </a:p>
        </p:txBody>
      </p:sp>
      <p:pic>
        <p:nvPicPr>
          <p:cNvPr id="4" name="Content Placeholder 3"/>
          <p:cNvPicPr>
            <a:picLocks noGrp="1" noChangeAspect="1"/>
          </p:cNvPicPr>
          <p:nvPr>
            <p:ph idx="1"/>
          </p:nvPr>
        </p:nvPicPr>
        <p:blipFill>
          <a:blip r:embed="rId2"/>
          <a:stretch>
            <a:fillRect/>
          </a:stretch>
        </p:blipFill>
        <p:spPr>
          <a:xfrm>
            <a:off x="2486855" y="1894943"/>
            <a:ext cx="7218290" cy="4212701"/>
          </a:xfrm>
          <a:prstGeom prst="rect">
            <a:avLst/>
          </a:prstGeom>
        </p:spPr>
      </p:pic>
    </p:spTree>
    <p:extLst>
      <p:ext uri="{BB962C8B-B14F-4D97-AF65-F5344CB8AC3E}">
        <p14:creationId xmlns:p14="http://schemas.microsoft.com/office/powerpoint/2010/main" val="23259702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a:t>
            </a:r>
            <a:r>
              <a:rPr lang="en-US" b="1" dirty="0" smtClean="0"/>
              <a:t>. </a:t>
            </a:r>
            <a:r>
              <a:rPr lang="en-US" b="1" dirty="0"/>
              <a:t>Repository Architecture</a:t>
            </a:r>
          </a:p>
        </p:txBody>
      </p:sp>
      <p:sp>
        <p:nvSpPr>
          <p:cNvPr id="3" name="Content Placeholder 2"/>
          <p:cNvSpPr>
            <a:spLocks noGrp="1"/>
          </p:cNvSpPr>
          <p:nvPr>
            <p:ph idx="1"/>
          </p:nvPr>
        </p:nvSpPr>
        <p:spPr/>
        <p:txBody>
          <a:bodyPr/>
          <a:lstStyle/>
          <a:p>
            <a:pPr marL="0" indent="0" algn="just">
              <a:buNone/>
            </a:pPr>
            <a:r>
              <a:rPr lang="en-US" dirty="0" smtClean="0"/>
              <a:t>• </a:t>
            </a:r>
            <a:r>
              <a:rPr lang="en-US" dirty="0"/>
              <a:t>Data is stored in a central shared repository. </a:t>
            </a:r>
            <a:endParaRPr lang="en-US" dirty="0" smtClean="0"/>
          </a:p>
          <a:p>
            <a:pPr marL="0" indent="0" algn="just">
              <a:buNone/>
            </a:pPr>
            <a:r>
              <a:rPr lang="en-US" dirty="0" smtClean="0"/>
              <a:t>• </a:t>
            </a:r>
            <a:r>
              <a:rPr lang="en-US" dirty="0"/>
              <a:t>Components interact through the repository only. </a:t>
            </a:r>
            <a:endParaRPr lang="en-US" dirty="0" smtClean="0"/>
          </a:p>
          <a:p>
            <a:pPr marL="0" indent="0" algn="just">
              <a:buNone/>
            </a:pPr>
            <a:r>
              <a:rPr lang="en-US" dirty="0" smtClean="0"/>
              <a:t>• </a:t>
            </a:r>
            <a:r>
              <a:rPr lang="en-US" dirty="0"/>
              <a:t>Suited to applications whose </a:t>
            </a:r>
            <a:r>
              <a:rPr lang="en-US" dirty="0" smtClean="0"/>
              <a:t>data </a:t>
            </a:r>
            <a:r>
              <a:rPr lang="en-US" dirty="0"/>
              <a:t>is generated by one component and used by another</a:t>
            </a:r>
            <a:r>
              <a:rPr lang="en-US" dirty="0" smtClean="0"/>
              <a:t>.</a:t>
            </a:r>
          </a:p>
          <a:p>
            <a:pPr marL="0" indent="0" algn="just">
              <a:buNone/>
            </a:pPr>
            <a:r>
              <a:rPr lang="en-US" dirty="0" smtClean="0"/>
              <a:t> </a:t>
            </a:r>
            <a:r>
              <a:rPr lang="en-US" b="1" dirty="0" smtClean="0"/>
              <a:t>Advantages</a:t>
            </a:r>
            <a:r>
              <a:rPr lang="en-US" dirty="0"/>
              <a:t>: - Components are independent/separate. - Changes to data are automatically available to other components. </a:t>
            </a:r>
            <a:endParaRPr lang="en-US" dirty="0" smtClean="0"/>
          </a:p>
          <a:p>
            <a:pPr marL="0" indent="0" algn="just">
              <a:buNone/>
            </a:pPr>
            <a:r>
              <a:rPr lang="en-US" dirty="0" smtClean="0"/>
              <a:t>• </a:t>
            </a:r>
            <a:r>
              <a:rPr lang="en-US" dirty="0"/>
              <a:t>Communication between components may be inefficient</a:t>
            </a:r>
          </a:p>
        </p:txBody>
      </p:sp>
    </p:spTree>
    <p:extLst>
      <p:ext uri="{BB962C8B-B14F-4D97-AF65-F5344CB8AC3E}">
        <p14:creationId xmlns:p14="http://schemas.microsoft.com/office/powerpoint/2010/main" val="112433648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Repository Architecture</a:t>
            </a:r>
            <a:endParaRPr lang="en-US" dirty="0"/>
          </a:p>
        </p:txBody>
      </p:sp>
      <p:pic>
        <p:nvPicPr>
          <p:cNvPr id="4" name="Content Placeholder 3"/>
          <p:cNvPicPr>
            <a:picLocks noGrp="1" noChangeAspect="1"/>
          </p:cNvPicPr>
          <p:nvPr>
            <p:ph idx="1"/>
          </p:nvPr>
        </p:nvPicPr>
        <p:blipFill>
          <a:blip r:embed="rId2"/>
          <a:stretch>
            <a:fillRect/>
          </a:stretch>
        </p:blipFill>
        <p:spPr>
          <a:xfrm>
            <a:off x="1713297" y="2010777"/>
            <a:ext cx="8004041" cy="3981033"/>
          </a:xfrm>
          <a:prstGeom prst="rect">
            <a:avLst/>
          </a:prstGeom>
        </p:spPr>
      </p:pic>
    </p:spTree>
    <p:extLst>
      <p:ext uri="{BB962C8B-B14F-4D97-AF65-F5344CB8AC3E}">
        <p14:creationId xmlns:p14="http://schemas.microsoft.com/office/powerpoint/2010/main" val="417929642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4.Model-View-Controller </a:t>
            </a:r>
            <a:r>
              <a:rPr lang="en-US" b="1" dirty="0"/>
              <a:t>(MVC)</a:t>
            </a:r>
            <a:r>
              <a:rPr lang="en-US" dirty="0"/>
              <a:t> </a:t>
            </a:r>
          </a:p>
        </p:txBody>
      </p:sp>
      <p:sp>
        <p:nvSpPr>
          <p:cNvPr id="3" name="Content Placeholder 2"/>
          <p:cNvSpPr>
            <a:spLocks noGrp="1"/>
          </p:cNvSpPr>
          <p:nvPr>
            <p:ph idx="1"/>
          </p:nvPr>
        </p:nvSpPr>
        <p:spPr/>
        <p:txBody>
          <a:bodyPr/>
          <a:lstStyle/>
          <a:p>
            <a:pPr algn="just"/>
            <a:r>
              <a:rPr lang="en-US" dirty="0"/>
              <a:t>The </a:t>
            </a:r>
            <a:r>
              <a:rPr lang="en-US" b="1" dirty="0"/>
              <a:t>Model-View-Controller (MVC)</a:t>
            </a:r>
            <a:r>
              <a:rPr lang="en-US" dirty="0"/>
              <a:t> is an architectural pattern that separates an application into three main logical components: the </a:t>
            </a:r>
            <a:r>
              <a:rPr lang="en-US" b="1" dirty="0"/>
              <a:t>model</a:t>
            </a:r>
            <a:r>
              <a:rPr lang="en-US" dirty="0"/>
              <a:t>, the view, and the controller. </a:t>
            </a:r>
            <a:endParaRPr lang="en-US" dirty="0" smtClean="0"/>
          </a:p>
          <a:p>
            <a:pPr algn="just"/>
            <a:r>
              <a:rPr lang="en-US" dirty="0" smtClean="0"/>
              <a:t>Each </a:t>
            </a:r>
            <a:r>
              <a:rPr lang="en-US" dirty="0"/>
              <a:t>of these components are built to handle specific development aspects of an application. </a:t>
            </a:r>
            <a:endParaRPr lang="en-US" dirty="0" smtClean="0"/>
          </a:p>
          <a:p>
            <a:pPr algn="just"/>
            <a:r>
              <a:rPr lang="en-US" dirty="0" smtClean="0"/>
              <a:t>MVC </a:t>
            </a:r>
            <a:r>
              <a:rPr lang="en-US" dirty="0"/>
              <a:t>is one of the most frequently used industry-standard web development framework to create scalable and extensible projects.</a:t>
            </a:r>
          </a:p>
        </p:txBody>
      </p:sp>
    </p:spTree>
    <p:extLst>
      <p:ext uri="{BB962C8B-B14F-4D97-AF65-F5344CB8AC3E}">
        <p14:creationId xmlns:p14="http://schemas.microsoft.com/office/powerpoint/2010/main" val="214678795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Model-View-Controller (MVC)</a:t>
            </a:r>
            <a:r>
              <a:rPr lang="en-US" dirty="0"/>
              <a:t> </a:t>
            </a:r>
          </a:p>
        </p:txBody>
      </p:sp>
      <p:sp>
        <p:nvSpPr>
          <p:cNvPr id="4" name="Content Placeholder 3"/>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1019059" y="1940613"/>
            <a:ext cx="8306227" cy="4121362"/>
          </a:xfrm>
          <a:prstGeom prst="rect">
            <a:avLst/>
          </a:prstGeom>
        </p:spPr>
      </p:pic>
    </p:spTree>
    <p:extLst>
      <p:ext uri="{BB962C8B-B14F-4D97-AF65-F5344CB8AC3E}">
        <p14:creationId xmlns:p14="http://schemas.microsoft.com/office/powerpoint/2010/main" val="88318648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Model</a:t>
            </a:r>
            <a:br>
              <a:rPr lang="en-US" b="1" dirty="0"/>
            </a:br>
            <a:endParaRPr lang="en-US" b="1" dirty="0"/>
          </a:p>
        </p:txBody>
      </p:sp>
      <p:sp>
        <p:nvSpPr>
          <p:cNvPr id="3" name="Content Placeholder 2"/>
          <p:cNvSpPr>
            <a:spLocks noGrp="1"/>
          </p:cNvSpPr>
          <p:nvPr>
            <p:ph idx="1"/>
          </p:nvPr>
        </p:nvSpPr>
        <p:spPr/>
        <p:txBody>
          <a:bodyPr/>
          <a:lstStyle/>
          <a:p>
            <a:pPr algn="just"/>
            <a:r>
              <a:rPr lang="en-US" dirty="0" smtClean="0"/>
              <a:t>The </a:t>
            </a:r>
            <a:r>
              <a:rPr lang="en-US" dirty="0"/>
              <a:t>Model component corresponds to all the data-related logic that the user works with. </a:t>
            </a:r>
            <a:endParaRPr lang="en-US" dirty="0" smtClean="0"/>
          </a:p>
          <a:p>
            <a:pPr algn="just"/>
            <a:r>
              <a:rPr lang="en-US" dirty="0" smtClean="0"/>
              <a:t>This </a:t>
            </a:r>
            <a:r>
              <a:rPr lang="en-US" dirty="0"/>
              <a:t>can represent either the data that is being transferred between the View and Controller components or any other business logic-related data</a:t>
            </a:r>
            <a:r>
              <a:rPr lang="en-US" dirty="0" smtClean="0"/>
              <a:t>.</a:t>
            </a:r>
          </a:p>
          <a:p>
            <a:pPr algn="just"/>
            <a:r>
              <a:rPr lang="en-US" dirty="0" smtClean="0"/>
              <a:t> </a:t>
            </a:r>
            <a:r>
              <a:rPr lang="en-US" dirty="0"/>
              <a:t>For example, a Customer object will retrieve the customer information from the database, manipulate it and update it data back to the database or use it to render data.</a:t>
            </a:r>
          </a:p>
          <a:p>
            <a:pPr algn="just"/>
            <a:endParaRPr lang="en-US" dirty="0"/>
          </a:p>
        </p:txBody>
      </p:sp>
    </p:spTree>
    <p:extLst>
      <p:ext uri="{BB962C8B-B14F-4D97-AF65-F5344CB8AC3E}">
        <p14:creationId xmlns:p14="http://schemas.microsoft.com/office/powerpoint/2010/main" val="348059738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View</a:t>
            </a:r>
            <a:br>
              <a:rPr lang="en-US" b="1" dirty="0"/>
            </a:br>
            <a:endParaRPr lang="en-US" b="1" dirty="0"/>
          </a:p>
        </p:txBody>
      </p:sp>
      <p:sp>
        <p:nvSpPr>
          <p:cNvPr id="3" name="Content Placeholder 2"/>
          <p:cNvSpPr>
            <a:spLocks noGrp="1"/>
          </p:cNvSpPr>
          <p:nvPr>
            <p:ph idx="1"/>
          </p:nvPr>
        </p:nvSpPr>
        <p:spPr/>
        <p:txBody>
          <a:bodyPr/>
          <a:lstStyle/>
          <a:p>
            <a:pPr algn="just"/>
            <a:r>
              <a:rPr lang="en-US" dirty="0" smtClean="0"/>
              <a:t>The </a:t>
            </a:r>
            <a:r>
              <a:rPr lang="en-US" dirty="0"/>
              <a:t>View component is used for all the UI logic of the application</a:t>
            </a:r>
            <a:r>
              <a:rPr lang="en-US" dirty="0" smtClean="0"/>
              <a:t>.</a:t>
            </a:r>
          </a:p>
          <a:p>
            <a:pPr algn="just"/>
            <a:r>
              <a:rPr lang="en-US" dirty="0" smtClean="0"/>
              <a:t> </a:t>
            </a:r>
            <a:r>
              <a:rPr lang="en-US" dirty="0"/>
              <a:t>For example, the Customer view will include all the UI components such as text boxes, dropdowns, etc. that the final user interacts with.</a:t>
            </a:r>
          </a:p>
          <a:p>
            <a:pPr algn="just"/>
            <a:endParaRPr lang="en-US" dirty="0"/>
          </a:p>
        </p:txBody>
      </p:sp>
    </p:spTree>
    <p:extLst>
      <p:ext uri="{BB962C8B-B14F-4D97-AF65-F5344CB8AC3E}">
        <p14:creationId xmlns:p14="http://schemas.microsoft.com/office/powerpoint/2010/main" val="163298454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Controller</a:t>
            </a:r>
          </a:p>
        </p:txBody>
      </p:sp>
      <p:sp>
        <p:nvSpPr>
          <p:cNvPr id="3" name="Content Placeholder 2"/>
          <p:cNvSpPr>
            <a:spLocks noGrp="1"/>
          </p:cNvSpPr>
          <p:nvPr>
            <p:ph idx="1"/>
          </p:nvPr>
        </p:nvSpPr>
        <p:spPr/>
        <p:txBody>
          <a:bodyPr/>
          <a:lstStyle/>
          <a:p>
            <a:r>
              <a:rPr lang="en-US" dirty="0" smtClean="0"/>
              <a:t>Controllers </a:t>
            </a:r>
            <a:r>
              <a:rPr lang="en-US" dirty="0"/>
              <a:t>act as an interface between Model and View components to process all the business logic and incoming requests, manipulate data using the Model component and interact with the Views to render the final output</a:t>
            </a:r>
            <a:r>
              <a:rPr lang="en-US" dirty="0" smtClean="0"/>
              <a:t>.</a:t>
            </a:r>
          </a:p>
          <a:p>
            <a:r>
              <a:rPr lang="en-US" dirty="0" smtClean="0"/>
              <a:t> </a:t>
            </a:r>
            <a:r>
              <a:rPr lang="en-US" dirty="0"/>
              <a:t>For example, the Customer controller will handle all the interactions and inputs from the Customer View and update the database using the Customer Model. </a:t>
            </a:r>
            <a:endParaRPr lang="en-US" dirty="0" smtClean="0"/>
          </a:p>
          <a:p>
            <a:r>
              <a:rPr lang="en-US" dirty="0" smtClean="0"/>
              <a:t>The </a:t>
            </a:r>
            <a:r>
              <a:rPr lang="en-US" dirty="0"/>
              <a:t>same controller will be used to view the Customer data.</a:t>
            </a:r>
          </a:p>
          <a:p>
            <a:endParaRPr lang="en-US" dirty="0"/>
          </a:p>
        </p:txBody>
      </p:sp>
    </p:spTree>
    <p:extLst>
      <p:ext uri="{BB962C8B-B14F-4D97-AF65-F5344CB8AC3E}">
        <p14:creationId xmlns:p14="http://schemas.microsoft.com/office/powerpoint/2010/main" val="42093398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architectures</a:t>
            </a:r>
            <a:br>
              <a:rPr lang="en-US" b="1" dirty="0"/>
            </a:br>
            <a:endParaRPr lang="en-US" b="1" dirty="0"/>
          </a:p>
        </p:txBody>
      </p:sp>
      <p:sp>
        <p:nvSpPr>
          <p:cNvPr id="3" name="Content Placeholder 2"/>
          <p:cNvSpPr>
            <a:spLocks noGrp="1"/>
          </p:cNvSpPr>
          <p:nvPr>
            <p:ph idx="1"/>
          </p:nvPr>
        </p:nvSpPr>
        <p:spPr/>
        <p:txBody>
          <a:bodyPr>
            <a:normAutofit fontScale="92500" lnSpcReduction="20000"/>
          </a:bodyPr>
          <a:lstStyle/>
          <a:p>
            <a:pPr algn="just" fontAlgn="base"/>
            <a:r>
              <a:rPr lang="en-US" dirty="0"/>
              <a:t>Pipe and Filter is a simple architectural style that connects a number of components that process a stream of </a:t>
            </a:r>
            <a:r>
              <a:rPr lang="en-US" dirty="0" smtClean="0"/>
              <a:t>data.</a:t>
            </a:r>
          </a:p>
          <a:p>
            <a:pPr algn="just" fontAlgn="base"/>
            <a:r>
              <a:rPr lang="en-US" dirty="0" smtClean="0"/>
              <a:t>Each is connected </a:t>
            </a:r>
            <a:r>
              <a:rPr lang="en-US" dirty="0"/>
              <a:t>to the next component in the processing pipeline via a </a:t>
            </a:r>
            <a:r>
              <a:rPr lang="en-US" b="1" dirty="0"/>
              <a:t>Pipe</a:t>
            </a:r>
            <a:r>
              <a:rPr lang="en-US" dirty="0"/>
              <a:t>.</a:t>
            </a:r>
          </a:p>
          <a:p>
            <a:pPr algn="just" fontAlgn="base"/>
            <a:r>
              <a:rPr lang="en-US" dirty="0"/>
              <a:t>The Pipe and Filter architecture is inspired by the Unix technique of connecting the output of an application to the input of another via pipes on the shell.</a:t>
            </a:r>
          </a:p>
          <a:p>
            <a:pPr algn="just" fontAlgn="base"/>
            <a:r>
              <a:rPr lang="en-US" dirty="0"/>
              <a:t>The pipe and filter architecture consists of one or more data sources. </a:t>
            </a:r>
            <a:endParaRPr lang="en-US" dirty="0" smtClean="0"/>
          </a:p>
          <a:p>
            <a:pPr algn="just" fontAlgn="base"/>
            <a:r>
              <a:rPr lang="en-US" dirty="0" smtClean="0"/>
              <a:t>The </a:t>
            </a:r>
            <a:r>
              <a:rPr lang="en-US" dirty="0"/>
              <a:t>data source is connected to data filters via pipes</a:t>
            </a:r>
            <a:r>
              <a:rPr lang="en-US" dirty="0" smtClean="0"/>
              <a:t>.</a:t>
            </a:r>
          </a:p>
          <a:p>
            <a:pPr algn="just" fontAlgn="base"/>
            <a:r>
              <a:rPr lang="en-US" dirty="0" smtClean="0"/>
              <a:t> </a:t>
            </a:r>
            <a:r>
              <a:rPr lang="en-US" dirty="0"/>
              <a:t>Filters process the data they receive, passing them to other filters in the pipeline. </a:t>
            </a:r>
            <a:endParaRPr lang="en-US" dirty="0" smtClean="0"/>
          </a:p>
          <a:p>
            <a:pPr algn="just" fontAlgn="base"/>
            <a:r>
              <a:rPr lang="en-US" dirty="0" smtClean="0"/>
              <a:t>The </a:t>
            </a:r>
            <a:r>
              <a:rPr lang="en-US" dirty="0"/>
              <a:t>final data is received at a </a:t>
            </a:r>
            <a:r>
              <a:rPr lang="en-US" b="1" dirty="0"/>
              <a:t>Data Sink</a:t>
            </a:r>
            <a:r>
              <a:rPr lang="en-US" dirty="0"/>
              <a:t>:</a:t>
            </a:r>
          </a:p>
          <a:p>
            <a:pPr algn="just"/>
            <a:endParaRPr lang="en-US" dirty="0"/>
          </a:p>
        </p:txBody>
      </p:sp>
    </p:spTree>
    <p:extLst>
      <p:ext uri="{BB962C8B-B14F-4D97-AF65-F5344CB8AC3E}">
        <p14:creationId xmlns:p14="http://schemas.microsoft.com/office/powerpoint/2010/main" val="407626195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Pipe and Filter architectures</a:t>
            </a:r>
            <a:br>
              <a:rPr lang="en-US" b="1" dirty="0"/>
            </a:br>
            <a:endParaRPr lang="en-US" dirty="0"/>
          </a:p>
        </p:txBody>
      </p:sp>
      <p:pic>
        <p:nvPicPr>
          <p:cNvPr id="2050" name="Picture 2" descr="Pipe and Filter architectur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7584" y="2017336"/>
            <a:ext cx="9203653" cy="3223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5651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Application Architecture</a:t>
            </a:r>
            <a:endParaRPr lang="en-US" b="1" dirty="0"/>
          </a:p>
        </p:txBody>
      </p:sp>
      <p:sp>
        <p:nvSpPr>
          <p:cNvPr id="3" name="Content Placeholder 2"/>
          <p:cNvSpPr>
            <a:spLocks noGrp="1"/>
          </p:cNvSpPr>
          <p:nvPr>
            <p:ph idx="1"/>
          </p:nvPr>
        </p:nvSpPr>
        <p:spPr/>
        <p:txBody>
          <a:bodyPr/>
          <a:lstStyle/>
          <a:p>
            <a:pPr algn="just"/>
            <a:r>
              <a:rPr lang="en-US" dirty="0"/>
              <a:t>An application architecture describes the patterns and techniques used to design and build an application. </a:t>
            </a:r>
            <a:endParaRPr lang="en-US" dirty="0" smtClean="0"/>
          </a:p>
          <a:p>
            <a:pPr algn="just"/>
            <a:r>
              <a:rPr lang="en-US" dirty="0" smtClean="0"/>
              <a:t>The </a:t>
            </a:r>
            <a:r>
              <a:rPr lang="en-US" dirty="0"/>
              <a:t>architecture gives you a roadmap and best practices to follow when building an application, so that you end up with a well-structured app</a:t>
            </a:r>
            <a:r>
              <a:rPr lang="en-US" dirty="0" smtClean="0"/>
              <a:t>.</a:t>
            </a:r>
          </a:p>
          <a:p>
            <a:pPr algn="just"/>
            <a:r>
              <a:rPr lang="en-US" dirty="0"/>
              <a:t>Patterns can be linked together to create more generic application architectures</a:t>
            </a:r>
            <a:r>
              <a:rPr lang="en-US" dirty="0" smtClean="0"/>
              <a:t>.</a:t>
            </a:r>
          </a:p>
          <a:p>
            <a:pPr algn="just"/>
            <a:r>
              <a:rPr lang="en-US" dirty="0" smtClean="0"/>
              <a:t> </a:t>
            </a:r>
            <a:r>
              <a:rPr lang="en-US" dirty="0"/>
              <a:t>Instead of completely creating the architecture yourself, you can use existing design </a:t>
            </a:r>
            <a:r>
              <a:rPr lang="en-US" dirty="0" smtClean="0"/>
              <a:t>patterns.</a:t>
            </a:r>
            <a:endParaRPr lang="en-US" dirty="0"/>
          </a:p>
        </p:txBody>
      </p:sp>
    </p:spTree>
    <p:extLst>
      <p:ext uri="{BB962C8B-B14F-4D97-AF65-F5344CB8AC3E}">
        <p14:creationId xmlns:p14="http://schemas.microsoft.com/office/powerpoint/2010/main" val="147052438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Architecture</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As part of an application architecture, there will be both front-end and back-end services. </a:t>
            </a:r>
            <a:endParaRPr lang="en-US" dirty="0" smtClean="0"/>
          </a:p>
          <a:p>
            <a:pPr algn="just"/>
            <a:r>
              <a:rPr lang="en-US" dirty="0" smtClean="0"/>
              <a:t>Front-end </a:t>
            </a:r>
            <a:r>
              <a:rPr lang="en-US" dirty="0"/>
              <a:t>development is concerned with the user experience of the app, while back-end development focuses on providing access to the data, services, and other existing systems that make the app work</a:t>
            </a:r>
            <a:r>
              <a:rPr lang="en-US" dirty="0" smtClean="0"/>
              <a:t>.</a:t>
            </a:r>
          </a:p>
          <a:p>
            <a:pPr algn="just"/>
            <a:r>
              <a:rPr lang="en-US" dirty="0"/>
              <a:t>The architecture is a starting point or roadmap for building an application, but you’ll need to make implementation choices not captured in an architecture</a:t>
            </a:r>
            <a:r>
              <a:rPr lang="en-US" dirty="0" smtClean="0"/>
              <a:t>.</a:t>
            </a:r>
          </a:p>
          <a:p>
            <a:pPr algn="just"/>
            <a:r>
              <a:rPr lang="en-US" dirty="0" smtClean="0"/>
              <a:t> </a:t>
            </a:r>
            <a:r>
              <a:rPr lang="en-US" dirty="0"/>
              <a:t>For example, a first step is to choose a programming language in which to write the application.</a:t>
            </a:r>
          </a:p>
          <a:p>
            <a:pPr algn="just"/>
            <a:r>
              <a:rPr lang="en-US" dirty="0"/>
              <a:t>There are many programming languages used for software development. Certain languages may be used to build certain types of applications, such as Swift for mobile apps or JavaScript for front-end development. </a:t>
            </a:r>
          </a:p>
          <a:p>
            <a:pPr algn="just"/>
            <a:endParaRPr lang="en-US" dirty="0"/>
          </a:p>
        </p:txBody>
      </p:sp>
    </p:spTree>
    <p:extLst>
      <p:ext uri="{BB962C8B-B14F-4D97-AF65-F5344CB8AC3E}">
        <p14:creationId xmlns:p14="http://schemas.microsoft.com/office/powerpoint/2010/main" val="19216868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User Interface Design</a:t>
            </a:r>
            <a:endParaRPr lang="en-US" dirty="0"/>
          </a:p>
        </p:txBody>
      </p:sp>
      <p:sp>
        <p:nvSpPr>
          <p:cNvPr id="3" name="Content Placeholder 2"/>
          <p:cNvSpPr>
            <a:spLocks noGrp="1"/>
          </p:cNvSpPr>
          <p:nvPr>
            <p:ph idx="1"/>
          </p:nvPr>
        </p:nvSpPr>
        <p:spPr/>
        <p:txBody>
          <a:bodyPr>
            <a:normAutofit fontScale="92500"/>
          </a:bodyPr>
          <a:lstStyle/>
          <a:p>
            <a:pPr algn="just"/>
            <a:r>
              <a:rPr lang="en-US" dirty="0"/>
              <a:t> </a:t>
            </a:r>
            <a:r>
              <a:rPr lang="en-US" dirty="0" smtClean="0"/>
              <a:t>Design </a:t>
            </a:r>
            <a:r>
              <a:rPr lang="en-US" dirty="0"/>
              <a:t>of the interface or system which is directly accessible by the user and they interact with in order to do a task. </a:t>
            </a:r>
            <a:endParaRPr lang="en-US" dirty="0" smtClean="0"/>
          </a:p>
          <a:p>
            <a:pPr algn="just"/>
            <a:r>
              <a:rPr lang="en-US" dirty="0" smtClean="0"/>
              <a:t>It </a:t>
            </a:r>
            <a:r>
              <a:rPr lang="en-US" dirty="0"/>
              <a:t>establishes the way with which the user will interact with the product.</a:t>
            </a:r>
          </a:p>
          <a:p>
            <a:pPr algn="just"/>
            <a:r>
              <a:rPr lang="en-US" dirty="0"/>
              <a:t>Its main aim is to enhance the appearance of the product, the quality of technology used and the usability of the product. </a:t>
            </a:r>
            <a:endParaRPr lang="en-US" dirty="0" smtClean="0"/>
          </a:p>
          <a:p>
            <a:pPr algn="just"/>
            <a:r>
              <a:rPr lang="en-US" dirty="0" smtClean="0"/>
              <a:t>It </a:t>
            </a:r>
            <a:r>
              <a:rPr lang="en-US" dirty="0"/>
              <a:t>refers to the software or the hardware of the system which the user can see and also the various ways or commands to control or use the product.</a:t>
            </a:r>
          </a:p>
          <a:p>
            <a:pPr algn="just"/>
            <a:r>
              <a:rPr lang="en-US" dirty="0"/>
              <a:t>It focuses on the looks or how the app or software is looking. Attributes like theme, animations, colors, </a:t>
            </a:r>
            <a:r>
              <a:rPr lang="en-US" dirty="0" err="1"/>
              <a:t>etc</a:t>
            </a:r>
            <a:r>
              <a:rPr lang="en-US" dirty="0"/>
              <a:t> constitute the user interface.</a:t>
            </a:r>
          </a:p>
          <a:p>
            <a:pPr algn="just"/>
            <a:endParaRPr lang="en-US" dirty="0"/>
          </a:p>
        </p:txBody>
      </p:sp>
    </p:spTree>
    <p:extLst>
      <p:ext uri="{BB962C8B-B14F-4D97-AF65-F5344CB8AC3E}">
        <p14:creationId xmlns:p14="http://schemas.microsoft.com/office/powerpoint/2010/main" val="159577723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Principles of User Interface Design</a:t>
            </a:r>
            <a:br>
              <a:rPr lang="en-US" b="1" dirty="0"/>
            </a:br>
            <a:endParaRPr lang="en-US" b="1" dirty="0"/>
          </a:p>
        </p:txBody>
      </p:sp>
      <p:sp>
        <p:nvSpPr>
          <p:cNvPr id="3" name="Content Placeholder 2"/>
          <p:cNvSpPr>
            <a:spLocks noGrp="1"/>
          </p:cNvSpPr>
          <p:nvPr>
            <p:ph idx="1"/>
          </p:nvPr>
        </p:nvSpPr>
        <p:spPr/>
        <p:txBody>
          <a:bodyPr>
            <a:normAutofit fontScale="77500" lnSpcReduction="20000"/>
          </a:bodyPr>
          <a:lstStyle/>
          <a:p>
            <a:r>
              <a:rPr lang="en-US" b="1" dirty="0"/>
              <a:t>Minimize actions</a:t>
            </a:r>
            <a:r>
              <a:rPr lang="en-US" dirty="0"/>
              <a:t> − Minimize action means steps per screen. The tasks and actions are streamlined so that they can be done in as few steps as possible. The interface should be designed keeping in mind to maintain the steps as few as possible for performing any tasks.</a:t>
            </a:r>
          </a:p>
          <a:p>
            <a:r>
              <a:rPr lang="en-US" b="1" dirty="0"/>
              <a:t>Simplicity</a:t>
            </a:r>
            <a:r>
              <a:rPr lang="en-US" dirty="0"/>
              <a:t> − The user interface should not be complex. It should always be designed simple and elegant.</a:t>
            </a:r>
          </a:p>
          <a:p>
            <a:r>
              <a:rPr lang="en-US" b="1" dirty="0"/>
              <a:t>Consistent</a:t>
            </a:r>
            <a:r>
              <a:rPr lang="en-US" dirty="0"/>
              <a:t> − The user interface should be consistent. The design should be consistent. Increasing consistency increases the familiarity, and hence increases the usability.</a:t>
            </a:r>
          </a:p>
          <a:p>
            <a:r>
              <a:rPr lang="en-US" b="1" dirty="0"/>
              <a:t>Proving useful feedback</a:t>
            </a:r>
            <a:r>
              <a:rPr lang="en-US" dirty="0"/>
              <a:t> − The user should be provided with feedback for every action. This keeps the user informed and helps them to know whether some action was successful or not.</a:t>
            </a:r>
          </a:p>
          <a:p>
            <a:r>
              <a:rPr lang="en-US" b="1" dirty="0"/>
              <a:t>Clarity</a:t>
            </a:r>
            <a:r>
              <a:rPr lang="en-US" dirty="0"/>
              <a:t> − Content should provide the user with clarity. There should not be anything which confuses the user, as it becomes an obstacle for the user in interacting with the product.</a:t>
            </a:r>
          </a:p>
          <a:p>
            <a:endParaRPr lang="en-US" dirty="0"/>
          </a:p>
        </p:txBody>
      </p:sp>
    </p:spTree>
    <p:extLst>
      <p:ext uri="{BB962C8B-B14F-4D97-AF65-F5344CB8AC3E}">
        <p14:creationId xmlns:p14="http://schemas.microsoft.com/office/powerpoint/2010/main" val="65249974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Human-Computer interaction</a:t>
            </a:r>
            <a:endParaRPr lang="en-US" b="1" dirty="0"/>
          </a:p>
        </p:txBody>
      </p:sp>
      <p:sp>
        <p:nvSpPr>
          <p:cNvPr id="3" name="Content Placeholder 2"/>
          <p:cNvSpPr>
            <a:spLocks noGrp="1"/>
          </p:cNvSpPr>
          <p:nvPr>
            <p:ph idx="1"/>
          </p:nvPr>
        </p:nvSpPr>
        <p:spPr/>
        <p:txBody>
          <a:bodyPr/>
          <a:lstStyle/>
          <a:p>
            <a:pPr algn="just"/>
            <a:r>
              <a:rPr lang="en-US" dirty="0" smtClean="0"/>
              <a:t>Cross-disciplinary area that deals with the theory design, implementation, and evaluation of the ways humans use and interact with computing devices.</a:t>
            </a:r>
          </a:p>
          <a:p>
            <a:pPr algn="just"/>
            <a:r>
              <a:rPr lang="en-US" dirty="0" smtClean="0"/>
              <a:t>User interaction means issuing commands and associated data to the computer system.</a:t>
            </a:r>
          </a:p>
          <a:p>
            <a:pPr algn="just"/>
            <a:r>
              <a:rPr lang="en-US" dirty="0" smtClean="0"/>
              <a:t>Designer focuses on how the information from the user be provided to the computer system and how can information from the computer system is presented to users.</a:t>
            </a:r>
          </a:p>
          <a:p>
            <a:pPr algn="just"/>
            <a:endParaRPr lang="en-US" dirty="0" smtClean="0"/>
          </a:p>
          <a:p>
            <a:pPr algn="just"/>
            <a:endParaRPr lang="en-US" dirty="0"/>
          </a:p>
        </p:txBody>
      </p:sp>
    </p:spTree>
    <p:extLst>
      <p:ext uri="{BB962C8B-B14F-4D97-AF65-F5344CB8AC3E}">
        <p14:creationId xmlns:p14="http://schemas.microsoft.com/office/powerpoint/2010/main" val="162434729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Five basic method of user interactions</a:t>
            </a:r>
            <a:endParaRPr lang="en-US" b="1" dirty="0"/>
          </a:p>
        </p:txBody>
      </p:sp>
      <p:sp>
        <p:nvSpPr>
          <p:cNvPr id="3" name="Content Placeholder 2"/>
          <p:cNvSpPr>
            <a:spLocks noGrp="1"/>
          </p:cNvSpPr>
          <p:nvPr>
            <p:ph idx="1"/>
          </p:nvPr>
        </p:nvSpPr>
        <p:spPr/>
        <p:txBody>
          <a:bodyPr/>
          <a:lstStyle/>
          <a:p>
            <a:r>
              <a:rPr lang="en-US" dirty="0" smtClean="0"/>
              <a:t>Direct Manipulation</a:t>
            </a:r>
          </a:p>
          <a:p>
            <a:r>
              <a:rPr lang="en-US" dirty="0" smtClean="0"/>
              <a:t>Menu selection</a:t>
            </a:r>
          </a:p>
          <a:p>
            <a:r>
              <a:rPr lang="en-US" dirty="0" smtClean="0"/>
              <a:t>Form fill-in</a:t>
            </a:r>
          </a:p>
          <a:p>
            <a:r>
              <a:rPr lang="en-US" dirty="0" smtClean="0"/>
              <a:t>Command language</a:t>
            </a:r>
          </a:p>
          <a:p>
            <a:r>
              <a:rPr lang="en-US" dirty="0" smtClean="0"/>
              <a:t>Natural Language</a:t>
            </a:r>
            <a:endParaRPr lang="en-US" dirty="0"/>
          </a:p>
        </p:txBody>
      </p:sp>
    </p:spTree>
    <p:extLst>
      <p:ext uri="{BB962C8B-B14F-4D97-AF65-F5344CB8AC3E}">
        <p14:creationId xmlns:p14="http://schemas.microsoft.com/office/powerpoint/2010/main" val="145105574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Information Presentation</a:t>
            </a:r>
            <a:endParaRPr lang="en-US" b="1" dirty="0"/>
          </a:p>
        </p:txBody>
      </p:sp>
      <p:sp>
        <p:nvSpPr>
          <p:cNvPr id="3" name="Content Placeholder 2"/>
          <p:cNvSpPr>
            <a:spLocks noGrp="1"/>
          </p:cNvSpPr>
          <p:nvPr>
            <p:ph idx="1"/>
          </p:nvPr>
        </p:nvSpPr>
        <p:spPr/>
        <p:txBody>
          <a:bodyPr/>
          <a:lstStyle/>
          <a:p>
            <a:pPr marL="0" indent="0" algn="just">
              <a:buNone/>
            </a:pPr>
            <a:r>
              <a:rPr lang="en-US" dirty="0"/>
              <a:t>Information presentation is concerned with presenting system information to system users </a:t>
            </a:r>
          </a:p>
          <a:p>
            <a:pPr marL="0" indent="0" algn="just">
              <a:buNone/>
            </a:pPr>
            <a:r>
              <a:rPr lang="en-US" dirty="0"/>
              <a:t>The information may be presented directly (e.g. text in a word processor) or may be transformed in some way for presentation (e.g. in some graphical form) </a:t>
            </a:r>
          </a:p>
          <a:p>
            <a:pPr marL="0" indent="0" algn="just">
              <a:buNone/>
            </a:pPr>
            <a:r>
              <a:rPr lang="en-US" dirty="0"/>
              <a:t>The Model-View-Controller approach is a way of supporting multiple presentations of data</a:t>
            </a:r>
          </a:p>
          <a:p>
            <a:pPr algn="just"/>
            <a:endParaRPr lang="en-US" dirty="0"/>
          </a:p>
        </p:txBody>
      </p:sp>
    </p:spTree>
    <p:extLst>
      <p:ext uri="{BB962C8B-B14F-4D97-AF65-F5344CB8AC3E}">
        <p14:creationId xmlns:p14="http://schemas.microsoft.com/office/powerpoint/2010/main" val="391991009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Information Presentation</a:t>
            </a:r>
            <a:endParaRPr lang="en-US" dirty="0"/>
          </a:p>
        </p:txBody>
      </p:sp>
      <p:pic>
        <p:nvPicPr>
          <p:cNvPr id="4" name="Content Placeholder 3"/>
          <p:cNvPicPr>
            <a:picLocks noGrp="1" noChangeAspect="1"/>
          </p:cNvPicPr>
          <p:nvPr>
            <p:ph idx="1"/>
          </p:nvPr>
        </p:nvPicPr>
        <p:blipFill>
          <a:blip r:embed="rId2"/>
          <a:stretch>
            <a:fillRect/>
          </a:stretch>
        </p:blipFill>
        <p:spPr>
          <a:xfrm>
            <a:off x="2063543" y="2458164"/>
            <a:ext cx="8064914" cy="3086259"/>
          </a:xfrm>
          <a:prstGeom prst="rect">
            <a:avLst/>
          </a:prstGeom>
        </p:spPr>
      </p:pic>
    </p:spTree>
    <p:extLst>
      <p:ext uri="{BB962C8B-B14F-4D97-AF65-F5344CB8AC3E}">
        <p14:creationId xmlns:p14="http://schemas.microsoft.com/office/powerpoint/2010/main" val="172427449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Interface evaluation</a:t>
            </a:r>
            <a:br>
              <a:rPr lang="en-US" b="1" dirty="0" smtClean="0"/>
            </a:br>
            <a:endParaRPr lang="en-US" b="1" dirty="0"/>
          </a:p>
        </p:txBody>
      </p:sp>
      <p:sp>
        <p:nvSpPr>
          <p:cNvPr id="3" name="Content Placeholder 2"/>
          <p:cNvSpPr>
            <a:spLocks noGrp="1"/>
          </p:cNvSpPr>
          <p:nvPr>
            <p:ph idx="1"/>
          </p:nvPr>
        </p:nvSpPr>
        <p:spPr/>
        <p:txBody>
          <a:bodyPr>
            <a:normAutofit fontScale="92500" lnSpcReduction="20000"/>
          </a:bodyPr>
          <a:lstStyle/>
          <a:p>
            <a:pPr algn="just"/>
            <a:r>
              <a:rPr lang="en-US" dirty="0"/>
              <a:t>Interface evaluation in software engineering is the process of assessing the effectiveness of the user interface (UI) design of a software application. The objective of interface evaluation is to determine whether the UI design meets the needs of the users and provides a positive user experience.</a:t>
            </a:r>
          </a:p>
          <a:p>
            <a:pPr algn="just"/>
            <a:r>
              <a:rPr lang="en-US" dirty="0"/>
              <a:t>There are various techniques that can be used to evaluate the interface of a software application. Some common techniques include:</a:t>
            </a:r>
          </a:p>
          <a:p>
            <a:pPr algn="just"/>
            <a:r>
              <a:rPr lang="en-US" dirty="0"/>
              <a:t>Heuristic evaluation: This technique involves a group of evaluators examining the interface of the software application and identifying potential usability issues based on a set of heuristics or guidelines.</a:t>
            </a:r>
          </a:p>
          <a:p>
            <a:pPr algn="just"/>
            <a:r>
              <a:rPr lang="en-US" dirty="0"/>
              <a:t>Usability testing: This technique involves observing users as they interact with the software application and collecting data on their interactions and feedback. This can be done in a controlled lab setting or in the user's natural environment.</a:t>
            </a:r>
          </a:p>
          <a:p>
            <a:pPr algn="just"/>
            <a:endParaRPr lang="en-US" dirty="0"/>
          </a:p>
        </p:txBody>
      </p:sp>
    </p:spTree>
    <p:extLst>
      <p:ext uri="{BB962C8B-B14F-4D97-AF65-F5344CB8AC3E}">
        <p14:creationId xmlns:p14="http://schemas.microsoft.com/office/powerpoint/2010/main" val="361151381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a:t>
            </a:r>
            <a:endParaRPr lang="en-US" b="1" dirty="0"/>
          </a:p>
        </p:txBody>
      </p:sp>
      <p:sp>
        <p:nvSpPr>
          <p:cNvPr id="3" name="Content Placeholder 2"/>
          <p:cNvSpPr>
            <a:spLocks noGrp="1"/>
          </p:cNvSpPr>
          <p:nvPr>
            <p:ph idx="1"/>
          </p:nvPr>
        </p:nvSpPr>
        <p:spPr/>
        <p:txBody>
          <a:bodyPr>
            <a:normAutofit fontScale="92500" lnSpcReduction="10000"/>
          </a:bodyPr>
          <a:lstStyle/>
          <a:p>
            <a:pPr algn="just"/>
            <a:r>
              <a:rPr lang="en-US" dirty="0"/>
              <a:t>Cognitive walkthrough: This technique involves a step-by-step analysis of how a user would complete specific tasks using the software application. This helps identify potential usability issues and areas for improvement.</a:t>
            </a:r>
          </a:p>
          <a:p>
            <a:pPr algn="just"/>
            <a:r>
              <a:rPr lang="en-US" dirty="0"/>
              <a:t>A/B testing: This technique involves comparing two different interface designs and collecting data on user behavior to determine which design is more effective.</a:t>
            </a:r>
          </a:p>
          <a:p>
            <a:pPr algn="just"/>
            <a:r>
              <a:rPr lang="en-US" dirty="0"/>
              <a:t>Surveys and questionnaires: This technique involves collecting feedback from users through surveys or questionnaires to assess their satisfaction with the interface design and identify areas for improvement.</a:t>
            </a:r>
          </a:p>
          <a:p>
            <a:pPr algn="just"/>
            <a:r>
              <a:rPr lang="en-US" dirty="0"/>
              <a:t>Overall, interface evaluation is an important aspect of software engineering as it helps ensure that software applications are user-friendly and meet the needs of their intended audience.</a:t>
            </a:r>
          </a:p>
          <a:p>
            <a:pPr algn="just"/>
            <a:endParaRPr lang="en-US" dirty="0"/>
          </a:p>
        </p:txBody>
      </p:sp>
    </p:spTree>
    <p:extLst>
      <p:ext uri="{BB962C8B-B14F-4D97-AF65-F5344CB8AC3E}">
        <p14:creationId xmlns:p14="http://schemas.microsoft.com/office/powerpoint/2010/main" val="37242446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 Notation</a:t>
            </a:r>
            <a:endParaRPr lang="en-US" b="1"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Design notation in software engineering is a standardized visual language used to represent and communicate the design of a software system. Design notations are used to describe the structure, behavior, and relationships between components of a software system</a:t>
            </a:r>
            <a:r>
              <a:rPr lang="en-US" dirty="0" smtClean="0"/>
              <a:t>.</a:t>
            </a:r>
          </a:p>
          <a:p>
            <a:pPr marL="0" indent="0">
              <a:buNone/>
            </a:pPr>
            <a:r>
              <a:rPr lang="en-US" dirty="0"/>
              <a:t>Some common design notations in software engineering include:</a:t>
            </a:r>
          </a:p>
          <a:p>
            <a:pPr marL="514350" indent="-514350">
              <a:buFont typeface="+mj-lt"/>
              <a:buAutoNum type="arabicPeriod"/>
            </a:pPr>
            <a:r>
              <a:rPr lang="en-US" dirty="0"/>
              <a:t>Unified Modeling Language (UML): UML is a standardized visual language used to represent the design of a software system. It includes a set of diagrams, such as class diagrams, sequence diagrams, and activity diagrams, which can be used to represent the various aspects of a software system.</a:t>
            </a:r>
          </a:p>
          <a:p>
            <a:pPr marL="514350" indent="-514350">
              <a:buFont typeface="+mj-lt"/>
              <a:buAutoNum type="arabicPeriod"/>
            </a:pPr>
            <a:r>
              <a:rPr lang="en-US" dirty="0"/>
              <a:t>Data Flow Diagrams (DFD): DFD is a diagrammatic representation of the flow of data within a software system. It shows how data is input, processed, and output from a system.</a:t>
            </a:r>
          </a:p>
          <a:p>
            <a:pPr marL="514350" indent="-514350" algn="just">
              <a:buFont typeface="+mj-lt"/>
              <a:buAutoNum type="arabicPeriod"/>
            </a:pPr>
            <a:endParaRPr lang="en-US" dirty="0"/>
          </a:p>
        </p:txBody>
      </p:sp>
    </p:spTree>
    <p:extLst>
      <p:ext uri="{BB962C8B-B14F-4D97-AF65-F5344CB8AC3E}">
        <p14:creationId xmlns:p14="http://schemas.microsoft.com/office/powerpoint/2010/main" val="53542509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a:t>
            </a:r>
            <a:endParaRPr lang="en-US" b="1" dirty="0"/>
          </a:p>
        </p:txBody>
      </p:sp>
      <p:sp>
        <p:nvSpPr>
          <p:cNvPr id="3" name="Content Placeholder 2"/>
          <p:cNvSpPr>
            <a:spLocks noGrp="1"/>
          </p:cNvSpPr>
          <p:nvPr>
            <p:ph idx="1"/>
          </p:nvPr>
        </p:nvSpPr>
        <p:spPr/>
        <p:txBody>
          <a:bodyPr/>
          <a:lstStyle/>
          <a:p>
            <a:pPr marL="514350" indent="-514350">
              <a:buFont typeface="+mj-lt"/>
              <a:buAutoNum type="arabicPeriod"/>
            </a:pPr>
            <a:r>
              <a:rPr lang="en-US" dirty="0"/>
              <a:t>Entity Relationship Diagrams (ERD): ERD is a diagrammatic representation of the relationships between different entities within a software system. It is commonly used to design relational databases.</a:t>
            </a:r>
          </a:p>
          <a:p>
            <a:pPr marL="514350" indent="-514350">
              <a:buFont typeface="+mj-lt"/>
              <a:buAutoNum type="arabicPeriod"/>
            </a:pPr>
            <a:r>
              <a:rPr lang="en-US" dirty="0"/>
              <a:t>State Transition Diagrams: State Transition Diagrams are used to represent the states and transitions of an object in a software system. It is commonly used to model the behavior of a system.</a:t>
            </a:r>
          </a:p>
          <a:p>
            <a:pPr marL="514350" indent="-514350">
              <a:buFont typeface="+mj-lt"/>
              <a:buAutoNum type="arabicPeriod"/>
            </a:pPr>
            <a:r>
              <a:rPr lang="en-US" dirty="0"/>
              <a:t>Flowcharts: Flowcharts are a graphical representation of the flow of control in a software system. It shows the steps involved in a process and the decision points that determine the flow of control.</a:t>
            </a:r>
          </a:p>
          <a:p>
            <a:endParaRPr lang="en-US" dirty="0"/>
          </a:p>
        </p:txBody>
      </p:sp>
    </p:spTree>
    <p:extLst>
      <p:ext uri="{BB962C8B-B14F-4D97-AF65-F5344CB8AC3E}">
        <p14:creationId xmlns:p14="http://schemas.microsoft.com/office/powerpoint/2010/main" val="17601820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582</TotalTime>
  <Words>3646</Words>
  <Application>Microsoft Office PowerPoint</Application>
  <PresentationFormat>Widescreen</PresentationFormat>
  <Paragraphs>341</Paragraphs>
  <Slides>68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68</vt:i4>
      </vt:variant>
    </vt:vector>
  </HeadingPairs>
  <TitlesOfParts>
    <vt:vector size="72" baseType="lpstr">
      <vt:lpstr>Arial</vt:lpstr>
      <vt:lpstr>Calibri</vt:lpstr>
      <vt:lpstr>Calibri Light</vt:lpstr>
      <vt:lpstr>Office Theme</vt:lpstr>
      <vt:lpstr>Chapter 4</vt:lpstr>
      <vt:lpstr>Introduction To Software Design</vt:lpstr>
      <vt:lpstr>Good software designs</vt:lpstr>
      <vt:lpstr>Objectives of Software Design </vt:lpstr>
      <vt:lpstr>Objectives of Software Design </vt:lpstr>
      <vt:lpstr>Design Principle  </vt:lpstr>
      <vt:lpstr>1. Problem Partitioning </vt:lpstr>
      <vt:lpstr>2. Abstraction </vt:lpstr>
      <vt:lpstr>Conti..</vt:lpstr>
      <vt:lpstr>4.Modularity </vt:lpstr>
      <vt:lpstr>The desirable properties of a modular system are: </vt:lpstr>
      <vt:lpstr>Advantages of Modularity</vt:lpstr>
      <vt:lpstr>Disadvantages of Modularity </vt:lpstr>
      <vt:lpstr>Modular design</vt:lpstr>
      <vt:lpstr>A. Functional Independence: </vt:lpstr>
      <vt:lpstr>I. Cohesion</vt:lpstr>
      <vt:lpstr>I. Cohesion</vt:lpstr>
      <vt:lpstr>II. Coupling</vt:lpstr>
      <vt:lpstr>II. Coupling</vt:lpstr>
      <vt:lpstr>II. Coupling</vt:lpstr>
      <vt:lpstr>B. Information hiding:</vt:lpstr>
      <vt:lpstr>Software Design Strategy</vt:lpstr>
      <vt:lpstr>a. Top-down Approach</vt:lpstr>
      <vt:lpstr>Conti..</vt:lpstr>
      <vt:lpstr>b. Bottom-up Approach:</vt:lpstr>
      <vt:lpstr>Design Process</vt:lpstr>
      <vt:lpstr>Interface Design</vt:lpstr>
      <vt:lpstr>Interface design should include the following details</vt:lpstr>
      <vt:lpstr>Architectural Design</vt:lpstr>
      <vt:lpstr>Detailed Design:</vt:lpstr>
      <vt:lpstr>Design Concepts </vt:lpstr>
      <vt:lpstr>Design Concepts </vt:lpstr>
      <vt:lpstr>Abstraction- hide Irrelevant data </vt:lpstr>
      <vt:lpstr>Modularity- subdivide the system </vt:lpstr>
      <vt:lpstr>Architecture- design a structure  </vt:lpstr>
      <vt:lpstr>Refinement- removes impurities</vt:lpstr>
      <vt:lpstr>Pattern- a repeated form</vt:lpstr>
      <vt:lpstr>Information Hiding- hide the information </vt:lpstr>
      <vt:lpstr>Refactoring- reconstruct something </vt:lpstr>
      <vt:lpstr>Design Quality </vt:lpstr>
      <vt:lpstr>Software Architecture And Its Types</vt:lpstr>
      <vt:lpstr>Different Software Architecture Patterns : </vt:lpstr>
      <vt:lpstr>1. Layered Pattern :</vt:lpstr>
      <vt:lpstr>1. Layered Pattern </vt:lpstr>
      <vt:lpstr>1. Layered Pattern :</vt:lpstr>
      <vt:lpstr>2. Client-Server Pattern</vt:lpstr>
      <vt:lpstr>2. Client-Server Pattern</vt:lpstr>
      <vt:lpstr>3. Repository Architecture</vt:lpstr>
      <vt:lpstr>3. Repository Architecture</vt:lpstr>
      <vt:lpstr>4.Model-View-Controller (MVC) </vt:lpstr>
      <vt:lpstr>Model-View-Controller (MVC) </vt:lpstr>
      <vt:lpstr>Model </vt:lpstr>
      <vt:lpstr>View </vt:lpstr>
      <vt:lpstr>Controller</vt:lpstr>
      <vt:lpstr>Pipe and Filter architectures </vt:lpstr>
      <vt:lpstr>Pipe and Filter architectures </vt:lpstr>
      <vt:lpstr>Application Architecture</vt:lpstr>
      <vt:lpstr>Application Architecture</vt:lpstr>
      <vt:lpstr>User Interface Design</vt:lpstr>
      <vt:lpstr>Principles of User Interface Design </vt:lpstr>
      <vt:lpstr>Human-Computer interaction</vt:lpstr>
      <vt:lpstr>Five basic method of user interactions</vt:lpstr>
      <vt:lpstr>Information Presentation</vt:lpstr>
      <vt:lpstr>Information Presentation</vt:lpstr>
      <vt:lpstr>Interface evaluation </vt:lpstr>
      <vt:lpstr>Conti..</vt:lpstr>
      <vt:lpstr>Design Notation</vt:lpstr>
      <vt:lpstr>Conti..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ASUS</dc:creator>
  <cp:lastModifiedBy>ASUS</cp:lastModifiedBy>
  <cp:revision>341</cp:revision>
  <dcterms:created xsi:type="dcterms:W3CDTF">2022-09-17T13:32:12Z</dcterms:created>
  <dcterms:modified xsi:type="dcterms:W3CDTF">2024-11-10T03:58:38Z</dcterms:modified>
</cp:coreProperties>
</file>