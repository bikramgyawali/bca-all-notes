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312" r:id="rId3"/>
    <p:sldId id="313" r:id="rId4"/>
    <p:sldId id="314" r:id="rId5"/>
    <p:sldId id="315" r:id="rId6"/>
    <p:sldId id="316" r:id="rId7"/>
    <p:sldId id="317" r:id="rId8"/>
    <p:sldId id="264" r:id="rId9"/>
    <p:sldId id="318" r:id="rId10"/>
    <p:sldId id="319" r:id="rId11"/>
    <p:sldId id="320" r:id="rId12"/>
    <p:sldId id="262" r:id="rId13"/>
    <p:sldId id="263" r:id="rId14"/>
    <p:sldId id="321" r:id="rId15"/>
    <p:sldId id="322" r:id="rId16"/>
    <p:sldId id="265" r:id="rId17"/>
    <p:sldId id="268" r:id="rId18"/>
    <p:sldId id="275" r:id="rId19"/>
    <p:sldId id="276" r:id="rId20"/>
    <p:sldId id="277" r:id="rId21"/>
    <p:sldId id="278" r:id="rId22"/>
    <p:sldId id="365" r:id="rId23"/>
    <p:sldId id="378" r:id="rId24"/>
    <p:sldId id="379" r:id="rId25"/>
    <p:sldId id="367" r:id="rId26"/>
    <p:sldId id="366" r:id="rId27"/>
    <p:sldId id="382" r:id="rId28"/>
    <p:sldId id="380" r:id="rId29"/>
    <p:sldId id="381" r:id="rId30"/>
    <p:sldId id="368" r:id="rId31"/>
    <p:sldId id="286" r:id="rId32"/>
    <p:sldId id="287" r:id="rId33"/>
    <p:sldId id="288" r:id="rId34"/>
    <p:sldId id="292" r:id="rId35"/>
    <p:sldId id="294" r:id="rId36"/>
    <p:sldId id="372" r:id="rId37"/>
    <p:sldId id="369" r:id="rId38"/>
    <p:sldId id="370" r:id="rId39"/>
    <p:sldId id="371" r:id="rId40"/>
    <p:sldId id="373" r:id="rId41"/>
    <p:sldId id="293" r:id="rId42"/>
    <p:sldId id="327" r:id="rId43"/>
    <p:sldId id="328" r:id="rId44"/>
    <p:sldId id="329" r:id="rId45"/>
    <p:sldId id="325" r:id="rId46"/>
    <p:sldId id="291" r:id="rId47"/>
    <p:sldId id="309" r:id="rId48"/>
    <p:sldId id="330" r:id="rId49"/>
    <p:sldId id="304" r:id="rId50"/>
    <p:sldId id="310" r:id="rId51"/>
    <p:sldId id="374" r:id="rId52"/>
    <p:sldId id="375" r:id="rId53"/>
    <p:sldId id="324" r:id="rId54"/>
    <p:sldId id="376" r:id="rId55"/>
    <p:sldId id="332" r:id="rId56"/>
    <p:sldId id="377" r:id="rId57"/>
    <p:sldId id="323" r:id="rId58"/>
    <p:sldId id="331" r:id="rId59"/>
    <p:sldId id="355" r:id="rId60"/>
    <p:sldId id="335" r:id="rId61"/>
    <p:sldId id="337" r:id="rId62"/>
    <p:sldId id="338" r:id="rId63"/>
    <p:sldId id="339" r:id="rId64"/>
    <p:sldId id="340" r:id="rId65"/>
    <p:sldId id="341" r:id="rId66"/>
    <p:sldId id="350" r:id="rId67"/>
    <p:sldId id="351" r:id="rId68"/>
    <p:sldId id="352" r:id="rId69"/>
    <p:sldId id="354" r:id="rId70"/>
    <p:sldId id="356" r:id="rId71"/>
    <p:sldId id="359" r:id="rId72"/>
    <p:sldId id="358" r:id="rId73"/>
    <p:sldId id="360" r:id="rId74"/>
    <p:sldId id="361" r:id="rId75"/>
    <p:sldId id="362" r:id="rId76"/>
    <p:sldId id="363" r:id="rId77"/>
    <p:sldId id="364" r:id="rId78"/>
    <p:sldId id="357"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334C8-07A1-0307-526B-FB2F15719F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BF32DB-383F-3CC7-76E5-49EDF71848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492C50-6E7A-217E-E403-5F94A16EF870}"/>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5" name="Footer Placeholder 4">
            <a:extLst>
              <a:ext uri="{FF2B5EF4-FFF2-40B4-BE49-F238E27FC236}">
                <a16:creationId xmlns:a16="http://schemas.microsoft.com/office/drawing/2014/main" id="{99D7EF19-461B-F4DB-7252-94980399E3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2C4E03-A955-9F2C-0D53-6E90C8AEE874}"/>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3018305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0287D-C6D4-7ACC-54B6-F06432CBC9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FABFA6-18BA-7F1D-CE7B-F5BC7B4ADB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11612-FF53-39B8-0969-9DD8BEA8E5E0}"/>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5" name="Footer Placeholder 4">
            <a:extLst>
              <a:ext uri="{FF2B5EF4-FFF2-40B4-BE49-F238E27FC236}">
                <a16:creationId xmlns:a16="http://schemas.microsoft.com/office/drawing/2014/main" id="{96109D4B-BFCF-379E-4704-3A5806078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0AACE7-6982-0562-0E52-38FC63F053BF}"/>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77356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F6123-9921-5E43-3948-8B8F2805F0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AF3A0F-8642-48BA-159A-A2CA877BBC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08B0AB-D3A8-D31A-43B4-168ED90CD119}"/>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5" name="Footer Placeholder 4">
            <a:extLst>
              <a:ext uri="{FF2B5EF4-FFF2-40B4-BE49-F238E27FC236}">
                <a16:creationId xmlns:a16="http://schemas.microsoft.com/office/drawing/2014/main" id="{2773AF8F-8F90-FE69-3FF1-08636A74F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50C7E4-CD5D-C7F3-CEB8-7839DCD0F05C}"/>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2481186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F855-E664-F59B-0147-FFBDEB4BFE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40D490-18C9-D407-8237-D518B7D9AF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255CAA9-515A-406B-CED7-9ACF594973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DEFEE1-CD7A-1047-C760-B29F21D3B9E3}"/>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6" name="Footer Placeholder 5">
            <a:extLst>
              <a:ext uri="{FF2B5EF4-FFF2-40B4-BE49-F238E27FC236}">
                <a16:creationId xmlns:a16="http://schemas.microsoft.com/office/drawing/2014/main" id="{65ED583F-24BC-FAD5-B988-3D8A66BBDE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FEF974-6258-815D-0CF9-C5991085E6A8}"/>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167162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AEC92-089B-37AC-6537-1740D1AECF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6E086A-F9F0-93E0-507A-1C8A6F17AD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5117A3-748D-53A2-B0C7-99F0D8E014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D0CBF3-DD9A-23BA-503B-41858E816A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7DA27C-6C52-613C-2722-EAB114B01E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8687A8-7A86-3FA2-6F24-030C717126D2}"/>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8" name="Footer Placeholder 7">
            <a:extLst>
              <a:ext uri="{FF2B5EF4-FFF2-40B4-BE49-F238E27FC236}">
                <a16:creationId xmlns:a16="http://schemas.microsoft.com/office/drawing/2014/main" id="{666C2C00-DD8F-3CF6-BD8A-1EC185906D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D26846-4ABD-0234-A5A2-036F379E50B5}"/>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366167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1FBF5-0A00-BF07-E056-7EA7C904C8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4D02B-2C80-4C45-0A67-315BF3B24E1E}"/>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4" name="Footer Placeholder 3">
            <a:extLst>
              <a:ext uri="{FF2B5EF4-FFF2-40B4-BE49-F238E27FC236}">
                <a16:creationId xmlns:a16="http://schemas.microsoft.com/office/drawing/2014/main" id="{23C48806-0FB7-8CA0-CBDE-29CCA1C088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043577-1F4B-3B8E-A424-05F65BC95B35}"/>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3874644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EEC6AD-E9D6-61CA-6D6C-2D82F0503BA4}"/>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3" name="Footer Placeholder 2">
            <a:extLst>
              <a:ext uri="{FF2B5EF4-FFF2-40B4-BE49-F238E27FC236}">
                <a16:creationId xmlns:a16="http://schemas.microsoft.com/office/drawing/2014/main" id="{626390D7-613B-8734-C532-9CB7ECBDDF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1CB708-9495-7E96-3817-7A1846AC412B}"/>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938977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24891-D522-D501-F89A-A022E2DF2E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54F7010-8111-530A-2883-3DF0CAD93D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B62795-7ED0-7EF1-55B6-EC6EA4CA0B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A2EF06-249F-E322-DD5D-46B45DDBACD8}"/>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6" name="Footer Placeholder 5">
            <a:extLst>
              <a:ext uri="{FF2B5EF4-FFF2-40B4-BE49-F238E27FC236}">
                <a16:creationId xmlns:a16="http://schemas.microsoft.com/office/drawing/2014/main" id="{A2820DB0-ED40-39E2-B981-64201DB8F8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8F2C11-5665-F5E8-4D7B-D867AEBCCF41}"/>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2100330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EC51-4C52-A554-E30D-D761F674F2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C8C947-FBF6-27D9-56BB-6F6A5FCAD5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2E6791-40DC-6061-6A88-0EC9155233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9D707C-B679-1FA4-3D9D-AB1E39A4C168}"/>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6" name="Footer Placeholder 5">
            <a:extLst>
              <a:ext uri="{FF2B5EF4-FFF2-40B4-BE49-F238E27FC236}">
                <a16:creationId xmlns:a16="http://schemas.microsoft.com/office/drawing/2014/main" id="{65D1D084-988B-A10A-000F-3F484D1075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22C02B-4A37-848F-D79C-1C83B631CD92}"/>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3086692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E31A8-6347-5CDA-72A1-0A2A565578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300C00-5190-F7A8-A608-2A3515589C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DC076B-966F-5FAD-6B70-05B6197FF5CC}"/>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5" name="Footer Placeholder 4">
            <a:extLst>
              <a:ext uri="{FF2B5EF4-FFF2-40B4-BE49-F238E27FC236}">
                <a16:creationId xmlns:a16="http://schemas.microsoft.com/office/drawing/2014/main" id="{E032FF85-6512-55AE-89E9-E1FBA9260A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9BA661-220B-98D8-1DC9-5A9A0089C6A5}"/>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1593100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EDD9C-D55E-7930-C8E0-7B0267846E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F6BFE7-A28B-8AD0-443F-6144F2A91E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32E3F1-836D-61BF-6B60-B35B976D54C7}"/>
              </a:ext>
            </a:extLst>
          </p:cNvPr>
          <p:cNvSpPr>
            <a:spLocks noGrp="1"/>
          </p:cNvSpPr>
          <p:nvPr>
            <p:ph type="dt" sz="half" idx="10"/>
          </p:nvPr>
        </p:nvSpPr>
        <p:spPr/>
        <p:txBody>
          <a:bodyPr/>
          <a:lstStyle/>
          <a:p>
            <a:fld id="{F4F701AC-2C31-452D-A00E-87E80DE287ED}" type="datetimeFigureOut">
              <a:rPr lang="en-US" smtClean="0"/>
              <a:t>11/13/2025</a:t>
            </a:fld>
            <a:endParaRPr lang="en-US"/>
          </a:p>
        </p:txBody>
      </p:sp>
      <p:sp>
        <p:nvSpPr>
          <p:cNvPr id="5" name="Footer Placeholder 4">
            <a:extLst>
              <a:ext uri="{FF2B5EF4-FFF2-40B4-BE49-F238E27FC236}">
                <a16:creationId xmlns:a16="http://schemas.microsoft.com/office/drawing/2014/main" id="{63B578B5-50C3-1DD3-55AC-D0B6B5CB6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DF7A81-88E7-54AB-EC9B-01F06AA0A25E}"/>
              </a:ext>
            </a:extLst>
          </p:cNvPr>
          <p:cNvSpPr>
            <a:spLocks noGrp="1"/>
          </p:cNvSpPr>
          <p:nvPr>
            <p:ph type="sldNum" sz="quarter" idx="12"/>
          </p:nvPr>
        </p:nvSpPr>
        <p:spPr/>
        <p:txBody>
          <a:bodyPr/>
          <a:lstStyle/>
          <a:p>
            <a:fld id="{AFC3FB61-7BAE-42E7-A29C-842386E95FF2}" type="slidenum">
              <a:rPr lang="en-US" smtClean="0"/>
              <a:t>‹#›</a:t>
            </a:fld>
            <a:endParaRPr lang="en-US"/>
          </a:p>
        </p:txBody>
      </p:sp>
    </p:spTree>
    <p:extLst>
      <p:ext uri="{BB962C8B-B14F-4D97-AF65-F5344CB8AC3E}">
        <p14:creationId xmlns:p14="http://schemas.microsoft.com/office/powerpoint/2010/main" val="4037821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93679B-0F85-2B3E-BADE-E84A6B20C8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B4A570-A3F5-0CAE-2541-B4B9656F00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1CA1F5-2186-2C48-F634-AC5C70B5D8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F701AC-2C31-452D-A00E-87E80DE287ED}" type="datetimeFigureOut">
              <a:rPr lang="en-US" smtClean="0"/>
              <a:t>11/13/2025</a:t>
            </a:fld>
            <a:endParaRPr lang="en-US"/>
          </a:p>
        </p:txBody>
      </p:sp>
      <p:sp>
        <p:nvSpPr>
          <p:cNvPr id="5" name="Footer Placeholder 4">
            <a:extLst>
              <a:ext uri="{FF2B5EF4-FFF2-40B4-BE49-F238E27FC236}">
                <a16:creationId xmlns:a16="http://schemas.microsoft.com/office/drawing/2014/main" id="{3FE6EC3F-EFB1-DFE3-0C56-D647E6FB05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C1E9A86-0D11-2001-6C70-AE5B0E35DC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C3FB61-7BAE-42E7-A29C-842386E95FF2}" type="slidenum">
              <a:rPr lang="en-US" smtClean="0"/>
              <a:t>‹#›</a:t>
            </a:fld>
            <a:endParaRPr lang="en-US"/>
          </a:p>
        </p:txBody>
      </p:sp>
    </p:spTree>
    <p:extLst>
      <p:ext uri="{BB962C8B-B14F-4D97-AF65-F5344CB8AC3E}">
        <p14:creationId xmlns:p14="http://schemas.microsoft.com/office/powerpoint/2010/main" val="12945549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6</a:t>
            </a:r>
          </a:p>
        </p:txBody>
      </p:sp>
      <p:sp>
        <p:nvSpPr>
          <p:cNvPr id="3" name="Subtitle 2"/>
          <p:cNvSpPr>
            <a:spLocks noGrp="1"/>
          </p:cNvSpPr>
          <p:nvPr>
            <p:ph type="subTitle" idx="1"/>
          </p:nvPr>
        </p:nvSpPr>
        <p:spPr/>
        <p:txBody>
          <a:bodyPr>
            <a:normAutofit/>
          </a:bodyPr>
          <a:lstStyle/>
          <a:p>
            <a:r>
              <a:rPr lang="en-US" sz="5400" b="1" dirty="0"/>
              <a:t>Software testing	</a:t>
            </a:r>
          </a:p>
        </p:txBody>
      </p:sp>
    </p:spTree>
    <p:extLst>
      <p:ext uri="{BB962C8B-B14F-4D97-AF65-F5344CB8AC3E}">
        <p14:creationId xmlns:p14="http://schemas.microsoft.com/office/powerpoint/2010/main" val="3841440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Software verification</a:t>
            </a:r>
          </a:p>
        </p:txBody>
      </p:sp>
      <p:sp>
        <p:nvSpPr>
          <p:cNvPr id="3" name="Content Placeholder 2"/>
          <p:cNvSpPr>
            <a:spLocks noGrp="1"/>
          </p:cNvSpPr>
          <p:nvPr>
            <p:ph idx="1"/>
          </p:nvPr>
        </p:nvSpPr>
        <p:spPr/>
        <p:txBody>
          <a:bodyPr/>
          <a:lstStyle/>
          <a:p>
            <a:pPr algn="just"/>
            <a:r>
              <a:rPr lang="en-US" dirty="0"/>
              <a:t>Verification testing includes different activities such as business requirements, system requirements, design review, and code walkthrough while developing a product.</a:t>
            </a:r>
          </a:p>
          <a:p>
            <a:pPr algn="just"/>
            <a:r>
              <a:rPr lang="en-US" dirty="0"/>
              <a:t>Static testing,  </a:t>
            </a:r>
            <a:r>
              <a:rPr lang="en-US" dirty="0" err="1"/>
              <a:t>cheks"</a:t>
            </a:r>
            <a:r>
              <a:rPr lang="en-US" b="1" dirty="0" err="1"/>
              <a:t>we</a:t>
            </a:r>
            <a:r>
              <a:rPr lang="en-US" b="1" dirty="0"/>
              <a:t> are developing the right product or not</a:t>
            </a:r>
            <a:r>
              <a:rPr lang="en-US" dirty="0"/>
              <a:t>".</a:t>
            </a:r>
          </a:p>
          <a:p>
            <a:pPr algn="just"/>
            <a:r>
              <a:rPr lang="en-US" dirty="0"/>
              <a:t>Ensures that the developed application is fulfilling all the requirements given by the client.</a:t>
            </a:r>
          </a:p>
          <a:p>
            <a:pPr algn="just"/>
            <a:endParaRPr lang="en-US" dirty="0"/>
          </a:p>
        </p:txBody>
      </p:sp>
    </p:spTree>
    <p:extLst>
      <p:ext uri="{BB962C8B-B14F-4D97-AF65-F5344CB8AC3E}">
        <p14:creationId xmlns:p14="http://schemas.microsoft.com/office/powerpoint/2010/main" val="449562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verification</a:t>
            </a:r>
            <a:endParaRPr lang="en-US" dirty="0"/>
          </a:p>
        </p:txBody>
      </p:sp>
      <p:pic>
        <p:nvPicPr>
          <p:cNvPr id="4" name="Content Placeholder 3"/>
          <p:cNvPicPr>
            <a:picLocks noGrp="1" noChangeAspect="1"/>
          </p:cNvPicPr>
          <p:nvPr>
            <p:ph idx="1"/>
          </p:nvPr>
        </p:nvPicPr>
        <p:blipFill>
          <a:blip r:embed="rId2"/>
          <a:stretch>
            <a:fillRect/>
          </a:stretch>
        </p:blipFill>
        <p:spPr>
          <a:xfrm>
            <a:off x="1649691" y="1829594"/>
            <a:ext cx="8795208" cy="4343400"/>
          </a:xfrm>
          <a:prstGeom prst="rect">
            <a:avLst/>
          </a:prstGeom>
        </p:spPr>
      </p:pic>
    </p:spTree>
    <p:extLst>
      <p:ext uri="{BB962C8B-B14F-4D97-AF65-F5344CB8AC3E}">
        <p14:creationId xmlns:p14="http://schemas.microsoft.com/office/powerpoint/2010/main" val="179746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Validation testing</a:t>
            </a:r>
            <a:br>
              <a:rPr lang="en-US" b="1" dirty="0"/>
            </a:br>
            <a:endParaRPr lang="en-US" b="1" dirty="0"/>
          </a:p>
        </p:txBody>
      </p:sp>
      <p:sp>
        <p:nvSpPr>
          <p:cNvPr id="3" name="Content Placeholder 2"/>
          <p:cNvSpPr>
            <a:spLocks noGrp="1"/>
          </p:cNvSpPr>
          <p:nvPr>
            <p:ph idx="1"/>
          </p:nvPr>
        </p:nvSpPr>
        <p:spPr/>
        <p:txBody>
          <a:bodyPr>
            <a:normAutofit fontScale="92500"/>
          </a:bodyPr>
          <a:lstStyle/>
          <a:p>
            <a:pPr algn="just"/>
            <a:r>
              <a:rPr lang="en-US" dirty="0"/>
              <a:t>Validation testing is testing where the tester performed functional and non-functional testing.</a:t>
            </a:r>
          </a:p>
          <a:p>
            <a:pPr algn="just"/>
            <a:r>
              <a:rPr lang="en-US" dirty="0"/>
              <a:t>Functional testing includes Unit Testing (UT), Integration Testing (IT), and System Testing (ST), </a:t>
            </a:r>
          </a:p>
          <a:p>
            <a:pPr algn="just"/>
            <a:r>
              <a:rPr lang="en-US" dirty="0"/>
              <a:t>Non-functional testing includes User acceptance testing (UAT).</a:t>
            </a:r>
          </a:p>
          <a:p>
            <a:pPr algn="just"/>
            <a:r>
              <a:rPr lang="en-US" dirty="0"/>
              <a:t>Validation testing is also known as dynamic testing, where we are ensuring that "we have developed the product right." </a:t>
            </a:r>
          </a:p>
          <a:p>
            <a:pPr algn="just"/>
            <a:r>
              <a:rPr lang="en-US" dirty="0"/>
              <a:t>And it also checks that the software meets the business needs of the client.</a:t>
            </a:r>
          </a:p>
          <a:p>
            <a:pPr marL="0" indent="0" algn="just">
              <a:buNone/>
            </a:pPr>
            <a:br>
              <a:rPr lang="en-US" dirty="0"/>
            </a:br>
            <a:endParaRPr lang="en-US" dirty="0"/>
          </a:p>
        </p:txBody>
      </p:sp>
    </p:spTree>
    <p:extLst>
      <p:ext uri="{BB962C8B-B14F-4D97-AF65-F5344CB8AC3E}">
        <p14:creationId xmlns:p14="http://schemas.microsoft.com/office/powerpoint/2010/main" val="3606830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Validation testing</a:t>
            </a:r>
            <a:br>
              <a:rPr lang="en-US" b="1" dirty="0"/>
            </a:br>
            <a:endParaRPr lang="en-US" dirty="0"/>
          </a:p>
        </p:txBody>
      </p:sp>
      <p:pic>
        <p:nvPicPr>
          <p:cNvPr id="4" name="Content Placeholder 3"/>
          <p:cNvPicPr>
            <a:picLocks noGrp="1" noChangeAspect="1"/>
          </p:cNvPicPr>
          <p:nvPr>
            <p:ph idx="1"/>
          </p:nvPr>
        </p:nvPicPr>
        <p:blipFill>
          <a:blip r:embed="rId2"/>
          <a:stretch>
            <a:fillRect/>
          </a:stretch>
        </p:blipFill>
        <p:spPr>
          <a:xfrm>
            <a:off x="2762250" y="2391569"/>
            <a:ext cx="6667500" cy="3219450"/>
          </a:xfrm>
          <a:prstGeom prst="rect">
            <a:avLst/>
          </a:prstGeom>
        </p:spPr>
      </p:pic>
    </p:spTree>
    <p:extLst>
      <p:ext uri="{BB962C8B-B14F-4D97-AF65-F5344CB8AC3E}">
        <p14:creationId xmlns:p14="http://schemas.microsoft.com/office/powerpoint/2010/main" val="3470489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Difference between verification and validation</a:t>
            </a:r>
          </a:p>
        </p:txBody>
      </p:sp>
      <p:sp>
        <p:nvSpPr>
          <p:cNvPr id="3" name="Text Placeholder 2"/>
          <p:cNvSpPr>
            <a:spLocks noGrp="1"/>
          </p:cNvSpPr>
          <p:nvPr>
            <p:ph type="body" idx="1"/>
          </p:nvPr>
        </p:nvSpPr>
        <p:spPr/>
        <p:txBody>
          <a:bodyPr/>
          <a:lstStyle/>
          <a:p>
            <a:r>
              <a:rPr lang="en-US" dirty="0"/>
              <a:t>Verification</a:t>
            </a:r>
          </a:p>
          <a:p>
            <a:endParaRPr lang="en-US" dirty="0"/>
          </a:p>
        </p:txBody>
      </p:sp>
      <p:sp>
        <p:nvSpPr>
          <p:cNvPr id="4" name="Content Placeholder 3"/>
          <p:cNvSpPr>
            <a:spLocks noGrp="1"/>
          </p:cNvSpPr>
          <p:nvPr>
            <p:ph sz="half" idx="2"/>
          </p:nvPr>
        </p:nvSpPr>
        <p:spPr>
          <a:xfrm>
            <a:off x="839788" y="1970202"/>
            <a:ext cx="5157787" cy="4219461"/>
          </a:xfrm>
        </p:spPr>
        <p:txBody>
          <a:bodyPr>
            <a:normAutofit fontScale="55000" lnSpcReduction="20000"/>
          </a:bodyPr>
          <a:lstStyle/>
          <a:p>
            <a:pPr fontAlgn="base"/>
            <a:r>
              <a:rPr lang="en-US" dirty="0"/>
              <a:t>It includes checking documents, design, codes and programs.</a:t>
            </a:r>
          </a:p>
          <a:p>
            <a:pPr fontAlgn="base"/>
            <a:r>
              <a:rPr lang="en-US" dirty="0"/>
              <a:t>Verification is the static testing.</a:t>
            </a:r>
          </a:p>
          <a:p>
            <a:pPr fontAlgn="base"/>
            <a:r>
              <a:rPr lang="en-US" dirty="0"/>
              <a:t>It does </a:t>
            </a:r>
            <a:r>
              <a:rPr lang="en-US" i="1" dirty="0"/>
              <a:t>not</a:t>
            </a:r>
            <a:r>
              <a:rPr lang="en-US" dirty="0"/>
              <a:t> include the execution of the code.</a:t>
            </a:r>
          </a:p>
          <a:p>
            <a:pPr fontAlgn="base"/>
            <a:r>
              <a:rPr lang="en-US" dirty="0"/>
              <a:t>Methods used in verification are reviews, walkthroughs, inspections and desk-checking.</a:t>
            </a:r>
          </a:p>
          <a:p>
            <a:pPr fontAlgn="base"/>
            <a:r>
              <a:rPr lang="en-US" dirty="0"/>
              <a:t>It checks whether the software conforms to specifications or not.</a:t>
            </a:r>
          </a:p>
          <a:p>
            <a:pPr fontAlgn="base"/>
            <a:r>
              <a:rPr lang="en-US" dirty="0"/>
              <a:t>It can find the bugs in the early stage of the development.</a:t>
            </a:r>
          </a:p>
          <a:p>
            <a:pPr fontAlgn="base"/>
            <a:r>
              <a:rPr lang="en-US" dirty="0"/>
              <a:t>The goal of verification is application and software architecture and specification.</a:t>
            </a:r>
          </a:p>
          <a:p>
            <a:pPr fontAlgn="base"/>
            <a:r>
              <a:rPr lang="en-US" dirty="0"/>
              <a:t>Quality assurance team does verification.</a:t>
            </a:r>
          </a:p>
          <a:p>
            <a:pPr fontAlgn="base"/>
            <a:r>
              <a:rPr lang="en-US" dirty="0"/>
              <a:t>It comes before validation.</a:t>
            </a:r>
          </a:p>
          <a:p>
            <a:pPr fontAlgn="base"/>
            <a:r>
              <a:rPr lang="en-US" dirty="0"/>
              <a:t>It consists of checking of documents/files and is performed by human.</a:t>
            </a:r>
          </a:p>
          <a:p>
            <a:endParaRPr lang="en-US" dirty="0"/>
          </a:p>
        </p:txBody>
      </p:sp>
      <p:sp>
        <p:nvSpPr>
          <p:cNvPr id="5" name="Text Placeholder 4"/>
          <p:cNvSpPr>
            <a:spLocks noGrp="1"/>
          </p:cNvSpPr>
          <p:nvPr>
            <p:ph type="body" sz="quarter" idx="3"/>
          </p:nvPr>
        </p:nvSpPr>
        <p:spPr/>
        <p:txBody>
          <a:bodyPr/>
          <a:lstStyle/>
          <a:p>
            <a:r>
              <a:rPr lang="en-US" dirty="0"/>
              <a:t>Validation</a:t>
            </a:r>
          </a:p>
          <a:p>
            <a:endParaRPr lang="en-US" dirty="0"/>
          </a:p>
        </p:txBody>
      </p:sp>
      <p:sp>
        <p:nvSpPr>
          <p:cNvPr id="6" name="Content Placeholder 5"/>
          <p:cNvSpPr>
            <a:spLocks noGrp="1"/>
          </p:cNvSpPr>
          <p:nvPr>
            <p:ph sz="quarter" idx="4"/>
          </p:nvPr>
        </p:nvSpPr>
        <p:spPr>
          <a:xfrm>
            <a:off x="6172200" y="1970202"/>
            <a:ext cx="5183188" cy="4219461"/>
          </a:xfrm>
        </p:spPr>
        <p:txBody>
          <a:bodyPr>
            <a:normAutofit fontScale="55000" lnSpcReduction="20000"/>
          </a:bodyPr>
          <a:lstStyle/>
          <a:p>
            <a:pPr fontAlgn="base"/>
            <a:r>
              <a:rPr lang="en-US" dirty="0"/>
              <a:t>It includes testing and validating the actual product.</a:t>
            </a:r>
          </a:p>
          <a:p>
            <a:pPr fontAlgn="base"/>
            <a:r>
              <a:rPr lang="en-US" dirty="0"/>
              <a:t>Validation is the dynamic testing.</a:t>
            </a:r>
          </a:p>
          <a:p>
            <a:pPr fontAlgn="base"/>
            <a:r>
              <a:rPr lang="en-US" dirty="0"/>
              <a:t>It includes the execution of the code.</a:t>
            </a:r>
          </a:p>
          <a:p>
            <a:pPr fontAlgn="base"/>
            <a:r>
              <a:rPr lang="en-US" dirty="0"/>
              <a:t>Methods used in validation are Black Box Testing, White Box Testing and non-functional testing.</a:t>
            </a:r>
          </a:p>
          <a:p>
            <a:pPr fontAlgn="base"/>
            <a:r>
              <a:rPr lang="en-US" dirty="0"/>
              <a:t>It checks whether the software meets the requirements and expectations of a customer or not.</a:t>
            </a:r>
          </a:p>
          <a:p>
            <a:pPr fontAlgn="base"/>
            <a:r>
              <a:rPr lang="en-US" dirty="0"/>
              <a:t>It can only find the bugs that could not be found by the verification process.</a:t>
            </a:r>
          </a:p>
          <a:p>
            <a:pPr fontAlgn="base"/>
            <a:r>
              <a:rPr lang="en-US" dirty="0"/>
              <a:t>The goal of validation is an actual product.</a:t>
            </a:r>
          </a:p>
          <a:p>
            <a:pPr fontAlgn="base"/>
            <a:r>
              <a:rPr lang="en-US" dirty="0"/>
              <a:t>Validation is executed on software code with the help of testing team.</a:t>
            </a:r>
          </a:p>
          <a:p>
            <a:pPr fontAlgn="base"/>
            <a:r>
              <a:rPr lang="en-US" dirty="0"/>
              <a:t>It comes after verification.</a:t>
            </a:r>
          </a:p>
          <a:p>
            <a:pPr fontAlgn="base"/>
            <a:r>
              <a:rPr lang="en-US" dirty="0"/>
              <a:t>It consists of execution of program and is performed by computer.</a:t>
            </a:r>
          </a:p>
          <a:p>
            <a:endParaRPr lang="en-US" dirty="0"/>
          </a:p>
        </p:txBody>
      </p:sp>
    </p:spTree>
    <p:extLst>
      <p:ext uri="{BB962C8B-B14F-4D97-AF65-F5344CB8AC3E}">
        <p14:creationId xmlns:p14="http://schemas.microsoft.com/office/powerpoint/2010/main" val="2520350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Testing</a:t>
            </a:r>
            <a:r>
              <a:rPr lang="en-US" dirty="0"/>
              <a:t> </a:t>
            </a:r>
            <a:endParaRPr lang="en-US" b="1" dirty="0"/>
          </a:p>
        </p:txBody>
      </p:sp>
      <p:sp>
        <p:nvSpPr>
          <p:cNvPr id="3" name="Content Placeholder 2"/>
          <p:cNvSpPr>
            <a:spLocks noGrp="1"/>
          </p:cNvSpPr>
          <p:nvPr>
            <p:ph idx="1"/>
          </p:nvPr>
        </p:nvSpPr>
        <p:spPr/>
        <p:txBody>
          <a:bodyPr/>
          <a:lstStyle/>
          <a:p>
            <a:pPr algn="just"/>
            <a:r>
              <a:rPr lang="en-US" dirty="0"/>
              <a:t>Method to check whether the actual software product matches expected requirements and to ensure that software product is Defect free. </a:t>
            </a:r>
          </a:p>
          <a:p>
            <a:pPr algn="just"/>
            <a:r>
              <a:rPr lang="en-US" dirty="0"/>
              <a:t>It involves the execution of software/system components using manual or automated tools to evaluate one or more properties of interest. </a:t>
            </a:r>
          </a:p>
          <a:p>
            <a:pPr algn="just"/>
            <a:r>
              <a:rPr lang="en-US" dirty="0"/>
              <a:t>The purpose of software testing is to identify errors, gaps or missing requirements in contrast to actual requirements.</a:t>
            </a:r>
          </a:p>
        </p:txBody>
      </p:sp>
    </p:spTree>
    <p:extLst>
      <p:ext uri="{BB962C8B-B14F-4D97-AF65-F5344CB8AC3E}">
        <p14:creationId xmlns:p14="http://schemas.microsoft.com/office/powerpoint/2010/main" val="1113459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testing process</a:t>
            </a:r>
            <a:endParaRPr lang="en-US" dirty="0"/>
          </a:p>
        </p:txBody>
      </p:sp>
      <p:sp>
        <p:nvSpPr>
          <p:cNvPr id="3" name="Content Placeholder 2"/>
          <p:cNvSpPr>
            <a:spLocks noGrp="1"/>
          </p:cNvSpPr>
          <p:nvPr>
            <p:ph idx="1"/>
          </p:nvPr>
        </p:nvSpPr>
        <p:spPr/>
        <p:txBody>
          <a:bodyPr/>
          <a:lstStyle/>
          <a:p>
            <a:pPr marL="0" indent="0">
              <a:buNone/>
            </a:pPr>
            <a:r>
              <a:rPr lang="en-US" dirty="0"/>
              <a:t>Widely used software testing process consists of five stages:</a:t>
            </a:r>
          </a:p>
          <a:p>
            <a:pPr marL="514350" indent="-514350">
              <a:buFont typeface="+mj-lt"/>
              <a:buAutoNum type="arabicPeriod"/>
            </a:pPr>
            <a:r>
              <a:rPr lang="en-US" dirty="0"/>
              <a:t>Unit testing</a:t>
            </a:r>
          </a:p>
          <a:p>
            <a:pPr marL="514350" indent="-514350">
              <a:buFont typeface="+mj-lt"/>
              <a:buAutoNum type="arabicPeriod"/>
            </a:pPr>
            <a:r>
              <a:rPr lang="en-US" dirty="0"/>
              <a:t>Module testing</a:t>
            </a:r>
          </a:p>
          <a:p>
            <a:pPr marL="514350" indent="-514350">
              <a:buFont typeface="+mj-lt"/>
              <a:buAutoNum type="arabicPeriod"/>
            </a:pPr>
            <a:r>
              <a:rPr lang="en-US" dirty="0"/>
              <a:t>Subsystem testing</a:t>
            </a:r>
          </a:p>
          <a:p>
            <a:pPr marL="514350" indent="-514350">
              <a:buFont typeface="+mj-lt"/>
              <a:buAutoNum type="arabicPeriod"/>
            </a:pPr>
            <a:r>
              <a:rPr lang="en-US" dirty="0"/>
              <a:t>System testing</a:t>
            </a:r>
          </a:p>
          <a:p>
            <a:pPr marL="514350" indent="-514350">
              <a:buFont typeface="+mj-lt"/>
              <a:buAutoNum type="arabicPeriod"/>
            </a:pPr>
            <a:r>
              <a:rPr lang="en-US" dirty="0"/>
              <a:t>Acceptance testing</a:t>
            </a:r>
          </a:p>
          <a:p>
            <a:pPr marL="514350" indent="-514350">
              <a:buFont typeface="+mj-lt"/>
              <a:buAutoNum type="arabicPeriod"/>
            </a:pPr>
            <a:endParaRPr lang="en-US" dirty="0"/>
          </a:p>
          <a:p>
            <a:endParaRPr lang="en-US" dirty="0"/>
          </a:p>
        </p:txBody>
      </p:sp>
    </p:spTree>
    <p:extLst>
      <p:ext uri="{BB962C8B-B14F-4D97-AF65-F5344CB8AC3E}">
        <p14:creationId xmlns:p14="http://schemas.microsoft.com/office/powerpoint/2010/main" val="3848130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Unit Testing</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Individual units or components of software are tested. </a:t>
            </a:r>
          </a:p>
          <a:p>
            <a:pPr algn="just"/>
            <a:r>
              <a:rPr lang="en-US" dirty="0"/>
              <a:t>Validate that each unit of the software code performs as expected.</a:t>
            </a:r>
          </a:p>
          <a:p>
            <a:pPr algn="just"/>
            <a:r>
              <a:rPr lang="en-US" dirty="0"/>
              <a:t> Unit Testing is done during the development (coding phase) of an application by the developers.</a:t>
            </a:r>
          </a:p>
          <a:p>
            <a:pPr algn="just"/>
            <a:r>
              <a:rPr lang="en-US" dirty="0"/>
              <a:t>Unit Tests isolate a section of code and verify its correctness.</a:t>
            </a:r>
          </a:p>
          <a:p>
            <a:pPr algn="just"/>
            <a:r>
              <a:rPr lang="en-US" dirty="0"/>
              <a:t> A unit may be an individual function, method, procedure, module, or object.</a:t>
            </a:r>
          </a:p>
          <a:p>
            <a:pPr algn="just"/>
            <a:r>
              <a:rPr lang="en-US" dirty="0"/>
              <a:t>In SDLC  Unit testing is first level of testing done before integration testing. </a:t>
            </a:r>
          </a:p>
          <a:p>
            <a:pPr algn="just"/>
            <a:r>
              <a:rPr lang="en-US" dirty="0"/>
              <a:t>Unit testing is a White Box testing technique that is usually performed by the developer. </a:t>
            </a:r>
          </a:p>
          <a:p>
            <a:pPr algn="just"/>
            <a:r>
              <a:rPr lang="en-US" dirty="0"/>
              <a:t>Though, in a practical world due to time crunch or reluctance of developers to tests, QA engineers also do unit testing.</a:t>
            </a:r>
          </a:p>
          <a:p>
            <a:pPr algn="just"/>
            <a:endParaRPr lang="en-US" dirty="0"/>
          </a:p>
        </p:txBody>
      </p:sp>
    </p:spTree>
    <p:extLst>
      <p:ext uri="{BB962C8B-B14F-4D97-AF65-F5344CB8AC3E}">
        <p14:creationId xmlns:p14="http://schemas.microsoft.com/office/powerpoint/2010/main" val="3071838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Module testing</a:t>
            </a:r>
          </a:p>
        </p:txBody>
      </p:sp>
      <p:sp>
        <p:nvSpPr>
          <p:cNvPr id="3" name="Content Placeholder 2"/>
          <p:cNvSpPr>
            <a:spLocks noGrp="1"/>
          </p:cNvSpPr>
          <p:nvPr>
            <p:ph idx="1"/>
          </p:nvPr>
        </p:nvSpPr>
        <p:spPr/>
        <p:txBody>
          <a:bodyPr>
            <a:normAutofit fontScale="92500" lnSpcReduction="10000"/>
          </a:bodyPr>
          <a:lstStyle/>
          <a:p>
            <a:pPr algn="just"/>
            <a:r>
              <a:rPr lang="en-US" dirty="0"/>
              <a:t>Module testing is defined as a software testing type, which checks individual subprograms, subroutines, classes, or procedures in a program.</a:t>
            </a:r>
          </a:p>
          <a:p>
            <a:pPr algn="just"/>
            <a:r>
              <a:rPr lang="en-US" dirty="0"/>
              <a:t>Instead of testing the whole software program at once, module testing recommends testing the smaller building blocks of the program.</a:t>
            </a:r>
          </a:p>
          <a:p>
            <a:pPr algn="just"/>
            <a:r>
              <a:rPr lang="en-US" dirty="0"/>
              <a:t>Module testing is largely a white-box oriented.</a:t>
            </a:r>
          </a:p>
          <a:p>
            <a:pPr algn="just"/>
            <a:r>
              <a:rPr lang="en-US" dirty="0"/>
              <a:t> The objective of doing Module, testing is not to demonstrate the proper functioning of the module but to demonstrate the presence of an error in the module.</a:t>
            </a:r>
          </a:p>
          <a:p>
            <a:pPr algn="just"/>
            <a:r>
              <a:rPr lang="en-US" dirty="0"/>
              <a:t>Module-level testing allows to implementation of parallelism into the testing process by giving the opportunity to test multiple modules simultaneously.</a:t>
            </a:r>
          </a:p>
          <a:p>
            <a:pPr algn="just"/>
            <a:endParaRPr lang="en-US" dirty="0"/>
          </a:p>
        </p:txBody>
      </p:sp>
    </p:spTree>
    <p:extLst>
      <p:ext uri="{BB962C8B-B14F-4D97-AF65-F5344CB8AC3E}">
        <p14:creationId xmlns:p14="http://schemas.microsoft.com/office/powerpoint/2010/main" val="2300173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Sub System Testing</a:t>
            </a:r>
          </a:p>
        </p:txBody>
      </p:sp>
      <p:sp>
        <p:nvSpPr>
          <p:cNvPr id="3" name="Content Placeholder 2"/>
          <p:cNvSpPr>
            <a:spLocks noGrp="1"/>
          </p:cNvSpPr>
          <p:nvPr>
            <p:ph idx="1"/>
          </p:nvPr>
        </p:nvSpPr>
        <p:spPr/>
        <p:txBody>
          <a:bodyPr/>
          <a:lstStyle/>
          <a:p>
            <a:pPr marL="0" indent="0" algn="just">
              <a:buNone/>
            </a:pPr>
            <a:r>
              <a:rPr lang="en-US" dirty="0"/>
              <a:t>The testing of the individual software application for functionality, independent of interactions with other applications or other software systems</a:t>
            </a:r>
          </a:p>
        </p:txBody>
      </p:sp>
    </p:spTree>
    <p:extLst>
      <p:ext uri="{BB962C8B-B14F-4D97-AF65-F5344CB8AC3E}">
        <p14:creationId xmlns:p14="http://schemas.microsoft.com/office/powerpoint/2010/main" val="4086982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Testing</a:t>
            </a:r>
          </a:p>
        </p:txBody>
      </p:sp>
      <p:sp>
        <p:nvSpPr>
          <p:cNvPr id="3" name="Content Placeholder 2"/>
          <p:cNvSpPr>
            <a:spLocks noGrp="1"/>
          </p:cNvSpPr>
          <p:nvPr>
            <p:ph idx="1"/>
          </p:nvPr>
        </p:nvSpPr>
        <p:spPr/>
        <p:txBody>
          <a:bodyPr/>
          <a:lstStyle/>
          <a:p>
            <a:r>
              <a:rPr lang="en-US" dirty="0"/>
              <a:t>System Testing is done to check whether the software or product meets the specified requirements or not.</a:t>
            </a:r>
          </a:p>
          <a:p>
            <a:r>
              <a:rPr lang="en-US" dirty="0"/>
              <a:t> It is done by both testers and developers.</a:t>
            </a:r>
          </a:p>
          <a:p>
            <a:r>
              <a:rPr lang="en-US" dirty="0"/>
              <a:t> It contains the Testing: System testing, Integration Testing. </a:t>
            </a:r>
          </a:p>
          <a:p>
            <a:r>
              <a:rPr lang="en-US" dirty="0"/>
              <a:t>It is done through more positive and negative test cases.</a:t>
            </a:r>
          </a:p>
        </p:txBody>
      </p:sp>
    </p:spTree>
    <p:extLst>
      <p:ext uri="{BB962C8B-B14F-4D97-AF65-F5344CB8AC3E}">
        <p14:creationId xmlns:p14="http://schemas.microsoft.com/office/powerpoint/2010/main" val="2229818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Acceptance Testing</a:t>
            </a:r>
          </a:p>
        </p:txBody>
      </p:sp>
      <p:sp>
        <p:nvSpPr>
          <p:cNvPr id="3" name="Content Placeholder 2"/>
          <p:cNvSpPr>
            <a:spLocks noGrp="1"/>
          </p:cNvSpPr>
          <p:nvPr>
            <p:ph idx="1"/>
          </p:nvPr>
        </p:nvSpPr>
        <p:spPr/>
        <p:txBody>
          <a:bodyPr/>
          <a:lstStyle/>
          <a:p>
            <a:pPr algn="just"/>
            <a:r>
              <a:rPr lang="en-US" dirty="0"/>
              <a:t>Testing is done after the system testing.</a:t>
            </a:r>
          </a:p>
          <a:p>
            <a:pPr algn="just"/>
            <a:r>
              <a:rPr lang="en-US" dirty="0"/>
              <a:t>Checks whether the software meets the customer’s requirements or not. </a:t>
            </a:r>
          </a:p>
          <a:p>
            <a:pPr algn="just"/>
            <a:r>
              <a:rPr lang="en-US" dirty="0"/>
              <a:t>Acceptance testing is used by testers, stakeholders as well as clients. </a:t>
            </a:r>
          </a:p>
          <a:p>
            <a:pPr algn="just"/>
            <a:r>
              <a:rPr lang="en-US" dirty="0"/>
              <a:t>It includes only Functional Testing and it contain two testing Alpha Testing and Beta Testing.</a:t>
            </a:r>
          </a:p>
        </p:txBody>
      </p:sp>
    </p:spTree>
    <p:extLst>
      <p:ext uri="{BB962C8B-B14F-4D97-AF65-F5344CB8AC3E}">
        <p14:creationId xmlns:p14="http://schemas.microsoft.com/office/powerpoint/2010/main" val="3659194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64434"/>
          </a:xfrm>
        </p:spPr>
        <p:txBody>
          <a:bodyPr>
            <a:normAutofit fontScale="90000"/>
          </a:bodyPr>
          <a:lstStyle/>
          <a:p>
            <a:r>
              <a:rPr lang="en-US" b="1" dirty="0"/>
              <a:t>Difference between Alfa Testing and Beta Testing</a:t>
            </a:r>
          </a:p>
        </p:txBody>
      </p:sp>
      <p:graphicFrame>
        <p:nvGraphicFramePr>
          <p:cNvPr id="5" name="Content Placeholder 4"/>
          <p:cNvGraphicFramePr>
            <a:graphicFrameLocks noGrp="1"/>
          </p:cNvGraphicFramePr>
          <p:nvPr>
            <p:ph idx="1"/>
          </p:nvPr>
        </p:nvGraphicFramePr>
        <p:xfrm>
          <a:off x="716435" y="829557"/>
          <a:ext cx="10840826" cy="4279770"/>
        </p:xfrm>
        <a:graphic>
          <a:graphicData uri="http://schemas.openxmlformats.org/drawingml/2006/table">
            <a:tbl>
              <a:tblPr/>
              <a:tblGrid>
                <a:gridCol w="5420413">
                  <a:extLst>
                    <a:ext uri="{9D8B030D-6E8A-4147-A177-3AD203B41FA5}">
                      <a16:colId xmlns:a16="http://schemas.microsoft.com/office/drawing/2014/main" val="3468934889"/>
                    </a:ext>
                  </a:extLst>
                </a:gridCol>
                <a:gridCol w="5420413">
                  <a:extLst>
                    <a:ext uri="{9D8B030D-6E8A-4147-A177-3AD203B41FA5}">
                      <a16:colId xmlns:a16="http://schemas.microsoft.com/office/drawing/2014/main" val="1124636597"/>
                    </a:ext>
                  </a:extLst>
                </a:gridCol>
              </a:tblGrid>
              <a:tr h="621215">
                <a:tc>
                  <a:txBody>
                    <a:bodyPr/>
                    <a:lstStyle/>
                    <a:p>
                      <a:r>
                        <a:rPr lang="en-US" sz="2000" b="1" dirty="0">
                          <a:solidFill>
                            <a:srgbClr val="515358"/>
                          </a:solidFill>
                          <a:effectLst/>
                        </a:rPr>
                        <a:t>Alpha Testing</a:t>
                      </a:r>
                      <a:endParaRPr lang="en-US" sz="2000" dirty="0">
                        <a:effectLst/>
                      </a:endParaRPr>
                    </a:p>
                  </a:txBody>
                  <a:tcPr marL="62663" marR="62663" marT="50131" marB="50131" anchor="ctr">
                    <a:lnL>
                      <a:noFill/>
                    </a:lnL>
                    <a:lnR>
                      <a:noFill/>
                    </a:lnR>
                    <a:lnT>
                      <a:noFill/>
                    </a:lnT>
                    <a:lnB>
                      <a:noFill/>
                    </a:lnB>
                    <a:solidFill>
                      <a:srgbClr val="337AB7"/>
                    </a:solidFill>
                  </a:tcPr>
                </a:tc>
                <a:tc>
                  <a:txBody>
                    <a:bodyPr/>
                    <a:lstStyle/>
                    <a:p>
                      <a:r>
                        <a:rPr lang="en-US" sz="2000" b="1" dirty="0">
                          <a:solidFill>
                            <a:srgbClr val="515358"/>
                          </a:solidFill>
                          <a:effectLst/>
                        </a:rPr>
                        <a:t>Beta Testing</a:t>
                      </a:r>
                      <a:endParaRPr lang="en-US" sz="2000" dirty="0">
                        <a:effectLst/>
                      </a:endParaRPr>
                    </a:p>
                  </a:txBody>
                  <a:tcPr marL="62663" marR="62663" marT="50131" marB="50131" anchor="ctr">
                    <a:lnL>
                      <a:noFill/>
                    </a:lnL>
                    <a:lnR>
                      <a:noFill/>
                    </a:lnR>
                    <a:lnT>
                      <a:noFill/>
                    </a:lnT>
                    <a:lnB>
                      <a:noFill/>
                    </a:lnB>
                    <a:solidFill>
                      <a:srgbClr val="337AB7"/>
                    </a:solidFill>
                  </a:tcPr>
                </a:tc>
                <a:extLst>
                  <a:ext uri="{0D108BD9-81ED-4DB2-BD59-A6C34878D82A}">
                    <a16:rowId xmlns:a16="http://schemas.microsoft.com/office/drawing/2014/main" val="1583432313"/>
                  </a:ext>
                </a:extLst>
              </a:tr>
              <a:tr h="531257">
                <a:tc>
                  <a:txBody>
                    <a:bodyPr/>
                    <a:lstStyle/>
                    <a:p>
                      <a:r>
                        <a:rPr lang="en-US" sz="2000" dirty="0">
                          <a:effectLst/>
                        </a:rPr>
                        <a:t>It is done by internal testers of the organization.</a:t>
                      </a:r>
                    </a:p>
                  </a:txBody>
                  <a:tcPr marL="62663" marR="62663" marT="50131" marB="50131" anchor="ctr">
                    <a:lnL>
                      <a:noFill/>
                    </a:lnL>
                    <a:lnR>
                      <a:noFill/>
                    </a:lnR>
                    <a:lnT>
                      <a:noFill/>
                    </a:lnT>
                    <a:lnB w="6350" cap="flat" cmpd="sng" algn="ctr">
                      <a:solidFill>
                        <a:srgbClr val="DDDDDD"/>
                      </a:solidFill>
                      <a:prstDash val="solid"/>
                      <a:round/>
                      <a:headEnd type="none" w="med" len="med"/>
                      <a:tailEnd type="none" w="med" len="med"/>
                    </a:lnB>
                    <a:solidFill>
                      <a:srgbClr val="FFFFFF"/>
                    </a:solidFill>
                  </a:tcPr>
                </a:tc>
                <a:tc>
                  <a:txBody>
                    <a:bodyPr/>
                    <a:lstStyle/>
                    <a:p>
                      <a:r>
                        <a:rPr lang="en-US" sz="2000">
                          <a:effectLst/>
                        </a:rPr>
                        <a:t>It is done by real users.</a:t>
                      </a:r>
                    </a:p>
                  </a:txBody>
                  <a:tcPr marL="62663" marR="62663" marT="50131" marB="50131" anchor="ctr">
                    <a:lnL>
                      <a:noFill/>
                    </a:lnL>
                    <a:lnR>
                      <a:noFill/>
                    </a:lnR>
                    <a:lnT>
                      <a:noFill/>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214550934"/>
                  </a:ext>
                </a:extLst>
              </a:tr>
              <a:tr h="865347">
                <a:tc>
                  <a:txBody>
                    <a:bodyPr/>
                    <a:lstStyle/>
                    <a:p>
                      <a:r>
                        <a:rPr lang="en-US" sz="2000" dirty="0">
                          <a:effectLst/>
                        </a:rPr>
                        <a:t>It is an internal test, performed within the organization.</a:t>
                      </a:r>
                    </a:p>
                  </a:txBody>
                  <a:tcPr marL="62663" marR="62663" marT="50131" marB="50131"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sz="2000">
                          <a:effectLst/>
                        </a:rPr>
                        <a:t>It is an external test, carried out in the user's environment.</a:t>
                      </a:r>
                    </a:p>
                  </a:txBody>
                  <a:tcPr marL="62663" marR="62663" marT="50131" marB="50131"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238190827"/>
                  </a:ext>
                </a:extLst>
              </a:tr>
              <a:tr h="865347">
                <a:tc>
                  <a:txBody>
                    <a:bodyPr/>
                    <a:lstStyle/>
                    <a:p>
                      <a:r>
                        <a:rPr lang="en-US" sz="2000">
                          <a:effectLst/>
                        </a:rPr>
                        <a:t>Alpha Testing uses both black box and white box testing techniques</a:t>
                      </a:r>
                    </a:p>
                  </a:txBody>
                  <a:tcPr marL="62663" marR="62663" marT="50131" marB="50131"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sz="2000" dirty="0">
                          <a:effectLst/>
                        </a:rPr>
                        <a:t>Beta Testing only uses the black box testing technique.</a:t>
                      </a:r>
                    </a:p>
                  </a:txBody>
                  <a:tcPr marL="62663" marR="62663" marT="50131" marB="50131"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273291989"/>
                  </a:ext>
                </a:extLst>
              </a:tr>
              <a:tr h="531257">
                <a:tc>
                  <a:txBody>
                    <a:bodyPr/>
                    <a:lstStyle/>
                    <a:p>
                      <a:r>
                        <a:rPr lang="en-US" sz="2000" dirty="0">
                          <a:effectLst/>
                        </a:rPr>
                        <a:t>Identifies possible errors.</a:t>
                      </a:r>
                    </a:p>
                  </a:txBody>
                  <a:tcPr marL="62663" marR="62663" marT="50131" marB="50131"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sz="2000" dirty="0">
                          <a:effectLst/>
                        </a:rPr>
                        <a:t>Checks the quality of the product.</a:t>
                      </a:r>
                    </a:p>
                  </a:txBody>
                  <a:tcPr marL="62663" marR="62663" marT="50131" marB="50131"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153000841"/>
                  </a:ext>
                </a:extLst>
              </a:tr>
              <a:tr h="865347">
                <a:tc>
                  <a:txBody>
                    <a:bodyPr/>
                    <a:lstStyle/>
                    <a:p>
                      <a:r>
                        <a:rPr lang="en-US" sz="2000">
                          <a:effectLst/>
                        </a:rPr>
                        <a:t>Developers start fixing bugs as soon as they are identified.</a:t>
                      </a:r>
                    </a:p>
                  </a:txBody>
                  <a:tcPr marL="62663" marR="62663" marT="50131" marB="50131"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sz="2000" dirty="0">
                          <a:effectLst/>
                        </a:rPr>
                        <a:t>Errors are found by users and feedback is necessary.</a:t>
                      </a:r>
                    </a:p>
                  </a:txBody>
                  <a:tcPr marL="62663" marR="62663" marT="50131" marB="50131"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95840426"/>
                  </a:ext>
                </a:extLst>
              </a:tr>
            </a:tbl>
          </a:graphicData>
        </a:graphic>
      </p:graphicFrame>
    </p:spTree>
    <p:extLst>
      <p:ext uri="{BB962C8B-B14F-4D97-AF65-F5344CB8AC3E}">
        <p14:creationId xmlns:p14="http://schemas.microsoft.com/office/powerpoint/2010/main" val="56897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870" y="355699"/>
            <a:ext cx="10515600" cy="1325563"/>
          </a:xfrm>
        </p:spPr>
        <p:txBody>
          <a:bodyPr/>
          <a:lstStyle/>
          <a:p>
            <a:r>
              <a:rPr lang="en-US" b="1" dirty="0"/>
              <a:t>Difference between Alfa Testing and Beta Testing</a:t>
            </a:r>
          </a:p>
        </p:txBody>
      </p:sp>
      <p:graphicFrame>
        <p:nvGraphicFramePr>
          <p:cNvPr id="4" name="Content Placeholder 3"/>
          <p:cNvGraphicFramePr>
            <a:graphicFrameLocks noGrp="1"/>
          </p:cNvGraphicFramePr>
          <p:nvPr>
            <p:ph idx="1"/>
          </p:nvPr>
        </p:nvGraphicFramePr>
        <p:xfrm>
          <a:off x="838200" y="2385854"/>
          <a:ext cx="10515600" cy="3230880"/>
        </p:xfrm>
        <a:graphic>
          <a:graphicData uri="http://schemas.openxmlformats.org/drawingml/2006/table">
            <a:tbl>
              <a:tblPr/>
              <a:tblGrid>
                <a:gridCol w="5257800">
                  <a:extLst>
                    <a:ext uri="{9D8B030D-6E8A-4147-A177-3AD203B41FA5}">
                      <a16:colId xmlns:a16="http://schemas.microsoft.com/office/drawing/2014/main" val="1609657250"/>
                    </a:ext>
                  </a:extLst>
                </a:gridCol>
                <a:gridCol w="5257800">
                  <a:extLst>
                    <a:ext uri="{9D8B030D-6E8A-4147-A177-3AD203B41FA5}">
                      <a16:colId xmlns:a16="http://schemas.microsoft.com/office/drawing/2014/main" val="376442422"/>
                    </a:ext>
                  </a:extLst>
                </a:gridCol>
              </a:tblGrid>
              <a:tr h="0">
                <a:tc>
                  <a:txBody>
                    <a:bodyPr/>
                    <a:lstStyle/>
                    <a:p>
                      <a:r>
                        <a:rPr lang="en-US">
                          <a:effectLst/>
                        </a:rPr>
                        <a:t>Long execution cycles.</a:t>
                      </a:r>
                    </a:p>
                  </a:txBody>
                  <a:tcPr marL="95250" marR="95250" marT="76200" marB="76200" anchor="ctr">
                    <a:lnL>
                      <a:noFill/>
                    </a:lnL>
                    <a:lnR>
                      <a:noFill/>
                    </a:lnR>
                    <a:lnT>
                      <a:noFill/>
                    </a:lnT>
                    <a:lnB w="6350" cap="flat" cmpd="sng" algn="ctr">
                      <a:solidFill>
                        <a:srgbClr val="DDDDDD"/>
                      </a:solidFill>
                      <a:prstDash val="solid"/>
                      <a:round/>
                      <a:headEnd type="none" w="med" len="med"/>
                      <a:tailEnd type="none" w="med" len="med"/>
                    </a:lnB>
                    <a:solidFill>
                      <a:srgbClr val="FFFFFF"/>
                    </a:solidFill>
                  </a:tcPr>
                </a:tc>
                <a:tc>
                  <a:txBody>
                    <a:bodyPr/>
                    <a:lstStyle/>
                    <a:p>
                      <a:r>
                        <a:rPr lang="en-US">
                          <a:effectLst/>
                        </a:rPr>
                        <a:t>It only takes a few weeks.</a:t>
                      </a:r>
                    </a:p>
                  </a:txBody>
                  <a:tcPr marL="95250" marR="95250" marT="76200" marB="76200" anchor="ctr">
                    <a:lnL>
                      <a:noFill/>
                    </a:lnL>
                    <a:lnR>
                      <a:noFill/>
                    </a:lnR>
                    <a:lnT>
                      <a:noFill/>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906325186"/>
                  </a:ext>
                </a:extLst>
              </a:tr>
              <a:tr h="0">
                <a:tc>
                  <a:txBody>
                    <a:bodyPr/>
                    <a:lstStyle/>
                    <a:p>
                      <a:r>
                        <a:rPr lang="en-US">
                          <a:effectLst/>
                        </a:rPr>
                        <a:t>It can be easily implemented as it is done before the near end of development.</a:t>
                      </a:r>
                    </a:p>
                  </a:txBody>
                  <a:tcPr marL="95250" marR="95250" marT="76200" marB="76200"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a:effectLst/>
                        </a:rPr>
                        <a:t>It will be implemented in the future version of the product.</a:t>
                      </a:r>
                    </a:p>
                  </a:txBody>
                  <a:tcPr marL="95250" marR="95250" marT="76200" marB="76200"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939517696"/>
                  </a:ext>
                </a:extLst>
              </a:tr>
              <a:tr h="0">
                <a:tc>
                  <a:txBody>
                    <a:bodyPr/>
                    <a:lstStyle/>
                    <a:p>
                      <a:r>
                        <a:rPr lang="en-US">
                          <a:effectLst/>
                        </a:rPr>
                        <a:t>It is performed before Beta Testing.</a:t>
                      </a:r>
                    </a:p>
                  </a:txBody>
                  <a:tcPr marL="95250" marR="95250" marT="76200" marB="76200"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a:effectLst/>
                        </a:rPr>
                        <a:t>It is the final test before launching the product on the market.</a:t>
                      </a:r>
                    </a:p>
                  </a:txBody>
                  <a:tcPr marL="95250" marR="95250" marT="76200" marB="76200"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46483049"/>
                  </a:ext>
                </a:extLst>
              </a:tr>
              <a:tr h="0">
                <a:tc>
                  <a:txBody>
                    <a:bodyPr/>
                    <a:lstStyle/>
                    <a:p>
                      <a:r>
                        <a:rPr lang="en-US">
                          <a:effectLst/>
                        </a:rPr>
                        <a:t>It answers the question: Does the product work?</a:t>
                      </a:r>
                    </a:p>
                  </a:txBody>
                  <a:tcPr marL="95250" marR="95250" marT="76200" marB="76200"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a:effectLst/>
                        </a:rPr>
                        <a:t>It answers the question: Do customers like the product?</a:t>
                      </a:r>
                    </a:p>
                  </a:txBody>
                  <a:tcPr marL="95250" marR="95250" marT="76200" marB="76200"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592975923"/>
                  </a:ext>
                </a:extLst>
              </a:tr>
              <a:tr h="0">
                <a:tc>
                  <a:txBody>
                    <a:bodyPr/>
                    <a:lstStyle/>
                    <a:p>
                      <a:r>
                        <a:rPr lang="en-US">
                          <a:effectLst/>
                        </a:rPr>
                        <a:t>Functionality and usability are tested.</a:t>
                      </a:r>
                    </a:p>
                  </a:txBody>
                  <a:tcPr marL="95250" marR="95250" marT="76200" marB="76200"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dirty="0">
                          <a:effectLst/>
                        </a:rPr>
                        <a:t>Usability, functionality, security and reliability are tested with the same depth.</a:t>
                      </a:r>
                    </a:p>
                  </a:txBody>
                  <a:tcPr marL="95250" marR="95250" marT="76200" marB="76200" anchor="ctr">
                    <a:lnL>
                      <a:noFill/>
                    </a:lnL>
                    <a:lnR>
                      <a:noFill/>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467092858"/>
                  </a:ext>
                </a:extLst>
              </a:tr>
            </a:tbl>
          </a:graphicData>
        </a:graphic>
      </p:graphicFrame>
    </p:spTree>
    <p:extLst>
      <p:ext uri="{BB962C8B-B14F-4D97-AF65-F5344CB8AC3E}">
        <p14:creationId xmlns:p14="http://schemas.microsoft.com/office/powerpoint/2010/main" val="2511567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Principle of testing</a:t>
            </a:r>
          </a:p>
        </p:txBody>
      </p:sp>
      <p:sp>
        <p:nvSpPr>
          <p:cNvPr id="3" name="Content Placeholder 2"/>
          <p:cNvSpPr>
            <a:spLocks noGrp="1"/>
          </p:cNvSpPr>
          <p:nvPr>
            <p:ph idx="1"/>
          </p:nvPr>
        </p:nvSpPr>
        <p:spPr/>
        <p:txBody>
          <a:bodyPr/>
          <a:lstStyle/>
          <a:p>
            <a:r>
              <a:rPr lang="en-US" dirty="0"/>
              <a:t>All test should be based on customer or user requirements</a:t>
            </a:r>
          </a:p>
          <a:p>
            <a:r>
              <a:rPr lang="en-US" dirty="0"/>
              <a:t>Test should be planned long before testing begins</a:t>
            </a:r>
          </a:p>
          <a:p>
            <a:r>
              <a:rPr lang="en-US" dirty="0"/>
              <a:t>Testing should begin in small and progress toward testing in the large.</a:t>
            </a:r>
          </a:p>
          <a:p>
            <a:r>
              <a:rPr lang="en-US" dirty="0"/>
              <a:t>Since time and resources are limited, so avoid redundant tests.</a:t>
            </a:r>
          </a:p>
          <a:p>
            <a:r>
              <a:rPr lang="en-US" dirty="0"/>
              <a:t>It is impossible to test everything.</a:t>
            </a:r>
          </a:p>
          <a:p>
            <a:r>
              <a:rPr lang="en-US" dirty="0"/>
              <a:t>Use effective resource to test</a:t>
            </a:r>
          </a:p>
          <a:p>
            <a:r>
              <a:rPr lang="en-US" dirty="0"/>
              <a:t>Testing must be done by independent </a:t>
            </a:r>
            <a:r>
              <a:rPr lang="en-US" dirty="0" err="1"/>
              <a:t>party.s</a:t>
            </a:r>
            <a:endParaRPr lang="en-US" dirty="0"/>
          </a:p>
          <a:p>
            <a:endParaRPr lang="en-US" dirty="0"/>
          </a:p>
        </p:txBody>
      </p:sp>
    </p:spTree>
    <p:extLst>
      <p:ext uri="{BB962C8B-B14F-4D97-AF65-F5344CB8AC3E}">
        <p14:creationId xmlns:p14="http://schemas.microsoft.com/office/powerpoint/2010/main" val="4243351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White-box testing</a:t>
            </a:r>
          </a:p>
        </p:txBody>
      </p:sp>
      <p:sp>
        <p:nvSpPr>
          <p:cNvPr id="3" name="Content Placeholder 2"/>
          <p:cNvSpPr>
            <a:spLocks noGrp="1"/>
          </p:cNvSpPr>
          <p:nvPr>
            <p:ph idx="1"/>
          </p:nvPr>
        </p:nvSpPr>
        <p:spPr/>
        <p:txBody>
          <a:bodyPr/>
          <a:lstStyle/>
          <a:p>
            <a:pPr marL="0" indent="0" algn="just">
              <a:buNone/>
            </a:pPr>
            <a:r>
              <a:rPr lang="en-US" dirty="0"/>
              <a:t>Testing technique in which software’s internal structure, design, and coding are tested to verify input-output flow and improve design, usability, and security. </a:t>
            </a:r>
          </a:p>
          <a:p>
            <a:pPr marL="0" indent="0" algn="just">
              <a:buNone/>
            </a:pPr>
            <a:r>
              <a:rPr lang="en-US" dirty="0"/>
              <a:t>Code is visible to testers, so it is also called Clear box testing, Open box testing, Transparent box testing, Code-based testing, and Glass box testing.</a:t>
            </a:r>
          </a:p>
        </p:txBody>
      </p:sp>
    </p:spTree>
    <p:extLst>
      <p:ext uri="{BB962C8B-B14F-4D97-AF65-F5344CB8AC3E}">
        <p14:creationId xmlns:p14="http://schemas.microsoft.com/office/powerpoint/2010/main" val="297566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White-box testing</a:t>
            </a:r>
            <a:endParaRPr lang="en-US" dirty="0"/>
          </a:p>
        </p:txBody>
      </p:sp>
      <p:sp>
        <p:nvSpPr>
          <p:cNvPr id="3" name="Content Placeholder 2"/>
          <p:cNvSpPr>
            <a:spLocks noGrp="1"/>
          </p:cNvSpPr>
          <p:nvPr>
            <p:ph idx="1"/>
          </p:nvPr>
        </p:nvSpPr>
        <p:spPr/>
        <p:txBody>
          <a:bodyPr>
            <a:normAutofit/>
          </a:bodyPr>
          <a:lstStyle/>
          <a:p>
            <a:pPr algn="just"/>
            <a:r>
              <a:rPr lang="en-US" dirty="0"/>
              <a:t>White box testing in software engineering is based on the inner workings of an application and revolves around internal testing.</a:t>
            </a:r>
          </a:p>
          <a:p>
            <a:pPr algn="just"/>
            <a:r>
              <a:rPr lang="en-US" dirty="0"/>
              <a:t>The term “</a:t>
            </a:r>
            <a:r>
              <a:rPr lang="en-US" dirty="0" err="1"/>
              <a:t>WhiteBox</a:t>
            </a:r>
            <a:r>
              <a:rPr lang="en-US" dirty="0"/>
              <a:t>” was used because of the see-through box concept. </a:t>
            </a:r>
          </a:p>
          <a:p>
            <a:pPr algn="just"/>
            <a:r>
              <a:rPr lang="en-US" dirty="0"/>
              <a:t>The clear box or </a:t>
            </a:r>
            <a:r>
              <a:rPr lang="en-US" dirty="0" err="1"/>
              <a:t>WhiteBox</a:t>
            </a:r>
            <a:r>
              <a:rPr lang="en-US" dirty="0"/>
              <a:t> name symbolizes the ability to see through the software’s outer shell (or “box”) into its inner workings. </a:t>
            </a:r>
          </a:p>
          <a:p>
            <a:pPr algn="just"/>
            <a:endParaRPr lang="en-US" dirty="0"/>
          </a:p>
        </p:txBody>
      </p:sp>
    </p:spTree>
    <p:extLst>
      <p:ext uri="{BB962C8B-B14F-4D97-AF65-F5344CB8AC3E}">
        <p14:creationId xmlns:p14="http://schemas.microsoft.com/office/powerpoint/2010/main" val="2459087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do we verify in White Box Testing?</a:t>
            </a:r>
          </a:p>
        </p:txBody>
      </p:sp>
      <p:sp>
        <p:nvSpPr>
          <p:cNvPr id="3" name="Content Placeholder 2"/>
          <p:cNvSpPr>
            <a:spLocks noGrp="1"/>
          </p:cNvSpPr>
          <p:nvPr>
            <p:ph idx="1"/>
          </p:nvPr>
        </p:nvSpPr>
        <p:spPr/>
        <p:txBody>
          <a:bodyPr>
            <a:normAutofit/>
          </a:bodyPr>
          <a:lstStyle/>
          <a:p>
            <a:r>
              <a:rPr lang="en-US" dirty="0"/>
              <a:t>Internal security holes</a:t>
            </a:r>
          </a:p>
          <a:p>
            <a:r>
              <a:rPr lang="en-US" dirty="0"/>
              <a:t>Broken or poorly structured paths in the coding processes</a:t>
            </a:r>
          </a:p>
          <a:p>
            <a:r>
              <a:rPr lang="en-US" dirty="0"/>
              <a:t>The flow of specific inputs through the code</a:t>
            </a:r>
          </a:p>
          <a:p>
            <a:r>
              <a:rPr lang="en-US" dirty="0"/>
              <a:t>Expected output</a:t>
            </a:r>
          </a:p>
          <a:p>
            <a:r>
              <a:rPr lang="en-US" dirty="0"/>
              <a:t>The functionality of conditional loops</a:t>
            </a:r>
          </a:p>
          <a:p>
            <a:r>
              <a:rPr lang="en-US" dirty="0"/>
              <a:t>Testing of each statement, object, and function on an individual basis</a:t>
            </a:r>
          </a:p>
          <a:p>
            <a:endParaRPr lang="en-US" dirty="0"/>
          </a:p>
        </p:txBody>
      </p:sp>
    </p:spTree>
    <p:extLst>
      <p:ext uri="{BB962C8B-B14F-4D97-AF65-F5344CB8AC3E}">
        <p14:creationId xmlns:p14="http://schemas.microsoft.com/office/powerpoint/2010/main" val="2470641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do we verify in White Box Testing?</a:t>
            </a:r>
            <a:endParaRPr lang="en-US" dirty="0"/>
          </a:p>
        </p:txBody>
      </p:sp>
      <p:sp>
        <p:nvSpPr>
          <p:cNvPr id="3" name="Content Placeholder 2"/>
          <p:cNvSpPr>
            <a:spLocks noGrp="1"/>
          </p:cNvSpPr>
          <p:nvPr>
            <p:ph idx="1"/>
          </p:nvPr>
        </p:nvSpPr>
        <p:spPr/>
        <p:txBody>
          <a:bodyPr/>
          <a:lstStyle/>
          <a:p>
            <a:pPr marL="0" indent="0" algn="just">
              <a:buNone/>
            </a:pPr>
            <a:r>
              <a:rPr lang="en-US" dirty="0"/>
              <a:t> </a:t>
            </a:r>
          </a:p>
          <a:p>
            <a:pPr algn="just"/>
            <a:r>
              <a:rPr lang="en-US" dirty="0"/>
              <a:t>One of the basic goals of white-box testing is to verify a working flow for an application. </a:t>
            </a:r>
          </a:p>
          <a:p>
            <a:pPr algn="just"/>
            <a:r>
              <a:rPr lang="en-US" dirty="0"/>
              <a:t>It involves testing a series of predefined inputs against expected or desired outputs so that when a specific input does not result in the expected output, you have encountered a bug.</a:t>
            </a:r>
          </a:p>
          <a:p>
            <a:pPr algn="just"/>
            <a:endParaRPr lang="en-US" dirty="0"/>
          </a:p>
        </p:txBody>
      </p:sp>
    </p:spTree>
    <p:extLst>
      <p:ext uri="{BB962C8B-B14F-4D97-AF65-F5344CB8AC3E}">
        <p14:creationId xmlns:p14="http://schemas.microsoft.com/office/powerpoint/2010/main" val="44591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White Box Testing Technique</a:t>
            </a:r>
          </a:p>
        </p:txBody>
      </p:sp>
      <p:sp>
        <p:nvSpPr>
          <p:cNvPr id="3" name="Content Placeholder 2"/>
          <p:cNvSpPr>
            <a:spLocks noGrp="1"/>
          </p:cNvSpPr>
          <p:nvPr>
            <p:ph idx="1"/>
          </p:nvPr>
        </p:nvSpPr>
        <p:spPr/>
        <p:txBody>
          <a:bodyPr/>
          <a:lstStyle/>
          <a:p>
            <a:pPr marL="514350" indent="-514350">
              <a:buFont typeface="+mj-lt"/>
              <a:buAutoNum type="arabicPeriod"/>
            </a:pPr>
            <a:r>
              <a:rPr lang="en-US" dirty="0"/>
              <a:t>Statement coverage</a:t>
            </a:r>
          </a:p>
          <a:p>
            <a:pPr marL="514350" indent="-514350">
              <a:buFont typeface="+mj-lt"/>
              <a:buAutoNum type="arabicPeriod"/>
            </a:pPr>
            <a:r>
              <a:rPr lang="en-US" dirty="0"/>
              <a:t>Path coverage</a:t>
            </a:r>
          </a:p>
          <a:p>
            <a:pPr marL="514350" indent="-514350">
              <a:buFont typeface="+mj-lt"/>
              <a:buAutoNum type="arabicPeriod"/>
            </a:pPr>
            <a:r>
              <a:rPr lang="en-US" dirty="0"/>
              <a:t>Condition coverage</a:t>
            </a:r>
          </a:p>
          <a:p>
            <a:pPr marL="514350" indent="-514350">
              <a:buFont typeface="+mj-lt"/>
              <a:buAutoNum type="arabicPeriod"/>
            </a:pPr>
            <a:r>
              <a:rPr lang="en-US" dirty="0"/>
              <a:t>Branch/Decision coverage</a:t>
            </a:r>
          </a:p>
          <a:p>
            <a:pPr marL="514350" indent="-514350">
              <a:buFont typeface="+mj-lt"/>
              <a:buAutoNum type="arabicPeriod"/>
            </a:pPr>
            <a:r>
              <a:rPr lang="en-US" dirty="0"/>
              <a:t>Loop coverage</a:t>
            </a:r>
          </a:p>
          <a:p>
            <a:pPr marL="514350" indent="-514350">
              <a:buFont typeface="+mj-lt"/>
              <a:buAutoNum type="arabicPeriod"/>
            </a:pPr>
            <a:r>
              <a:rPr lang="en-US" dirty="0"/>
              <a:t>Domain and Boundary testing</a:t>
            </a:r>
          </a:p>
          <a:p>
            <a:pPr marL="514350" indent="-514350">
              <a:buFont typeface="+mj-lt"/>
              <a:buAutoNum type="arabicPeriod"/>
            </a:pPr>
            <a:r>
              <a:rPr lang="en-US" dirty="0"/>
              <a:t>Data flow testing</a:t>
            </a:r>
          </a:p>
          <a:p>
            <a:pPr marL="514350" indent="-51435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869409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White Box Testing Technique</a:t>
            </a:r>
            <a:endParaRPr lang="en-US" dirty="0"/>
          </a:p>
        </p:txBody>
      </p:sp>
      <p:sp>
        <p:nvSpPr>
          <p:cNvPr id="3" name="Content Placeholder 2"/>
          <p:cNvSpPr>
            <a:spLocks noGrp="1"/>
          </p:cNvSpPr>
          <p:nvPr>
            <p:ph idx="1"/>
          </p:nvPr>
        </p:nvSpPr>
        <p:spPr/>
        <p:txBody>
          <a:bodyPr>
            <a:normAutofit/>
          </a:bodyPr>
          <a:lstStyle/>
          <a:p>
            <a:pPr marL="0" indent="0" algn="just">
              <a:buNone/>
            </a:pPr>
            <a:r>
              <a:rPr lang="en-US" b="1" dirty="0"/>
              <a:t>Statement Coverage</a:t>
            </a:r>
          </a:p>
          <a:p>
            <a:pPr marL="0" indent="0" algn="just">
              <a:buNone/>
            </a:pPr>
            <a:r>
              <a:rPr lang="en-US" dirty="0"/>
              <a:t>Statement coverage is a metric used in software testing to determine the number of executable statements in the code that have been executed by a set of test cases.</a:t>
            </a:r>
          </a:p>
          <a:p>
            <a:pPr marL="0" indent="0" algn="just">
              <a:buNone/>
            </a:pPr>
            <a:r>
              <a:rPr lang="en-US" dirty="0"/>
              <a:t> It helps ensure that all parts of the code are tested at least once.</a:t>
            </a:r>
          </a:p>
          <a:p>
            <a:pPr marL="0" indent="0" algn="just">
              <a:buNone/>
            </a:pPr>
            <a:r>
              <a:rPr lang="en-US" dirty="0"/>
              <a:t>if (x &gt; 0):</a:t>
            </a:r>
          </a:p>
          <a:p>
            <a:pPr marL="0" indent="0" algn="just">
              <a:buNone/>
            </a:pPr>
            <a:r>
              <a:rPr lang="en-US" dirty="0"/>
              <a:t>    print("Positive")</a:t>
            </a:r>
          </a:p>
          <a:p>
            <a:pPr marL="0" indent="0" algn="just">
              <a:buNone/>
            </a:pPr>
            <a:r>
              <a:rPr lang="en-US" dirty="0"/>
              <a:t>print("Done")</a:t>
            </a:r>
          </a:p>
          <a:p>
            <a:pPr marL="0" indent="0" algn="just">
              <a:buNone/>
            </a:pPr>
            <a:r>
              <a:rPr lang="en-US" dirty="0"/>
              <a:t>Test case: x = 5 will execute both statements.</a:t>
            </a:r>
          </a:p>
        </p:txBody>
      </p:sp>
    </p:spTree>
    <p:extLst>
      <p:ext uri="{BB962C8B-B14F-4D97-AF65-F5344CB8AC3E}">
        <p14:creationId xmlns:p14="http://schemas.microsoft.com/office/powerpoint/2010/main" val="9016697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4215D-22E1-1729-7F65-7D5336421B4E}"/>
              </a:ext>
            </a:extLst>
          </p:cNvPr>
          <p:cNvSpPr>
            <a:spLocks noGrp="1"/>
          </p:cNvSpPr>
          <p:nvPr>
            <p:ph type="title"/>
          </p:nvPr>
        </p:nvSpPr>
        <p:spPr/>
        <p:txBody>
          <a:bodyPr/>
          <a:lstStyle/>
          <a:p>
            <a:r>
              <a:rPr lang="en-US" b="1" dirty="0"/>
              <a:t>White Box Testing Technique</a:t>
            </a:r>
            <a:endParaRPr lang="en-US" dirty="0"/>
          </a:p>
        </p:txBody>
      </p:sp>
      <p:sp>
        <p:nvSpPr>
          <p:cNvPr id="3" name="Content Placeholder 2">
            <a:extLst>
              <a:ext uri="{FF2B5EF4-FFF2-40B4-BE49-F238E27FC236}">
                <a16:creationId xmlns:a16="http://schemas.microsoft.com/office/drawing/2014/main" id="{4438C652-23F9-0E37-8F4D-C474C60D1313}"/>
              </a:ext>
            </a:extLst>
          </p:cNvPr>
          <p:cNvSpPr>
            <a:spLocks noGrp="1"/>
          </p:cNvSpPr>
          <p:nvPr>
            <p:ph idx="1"/>
          </p:nvPr>
        </p:nvSpPr>
        <p:spPr/>
        <p:txBody>
          <a:bodyPr/>
          <a:lstStyle/>
          <a:p>
            <a:pPr marL="0" indent="0" algn="just">
              <a:buNone/>
            </a:pPr>
            <a:r>
              <a:rPr lang="en-US" b="1" dirty="0"/>
              <a:t>Path Coverage</a:t>
            </a:r>
          </a:p>
          <a:p>
            <a:pPr marL="0" indent="0" algn="just">
              <a:buNone/>
            </a:pPr>
            <a:r>
              <a:rPr lang="en-US" dirty="0"/>
              <a:t>Path coverage is a testing method that ensures all possible paths through a given part of the code are executed at least once. </a:t>
            </a:r>
          </a:p>
          <a:p>
            <a:pPr marL="0" indent="0" algn="just">
              <a:buNone/>
            </a:pPr>
            <a:r>
              <a:rPr lang="en-US" dirty="0"/>
              <a:t>This includes all possible combinations of branches and loops.</a:t>
            </a:r>
          </a:p>
          <a:p>
            <a:pPr marL="0" indent="0">
              <a:buNone/>
            </a:pPr>
            <a:r>
              <a:rPr lang="en-US" dirty="0"/>
              <a:t>Example: If a program has nested decisions, all combinations of paths must be tested.</a:t>
            </a:r>
          </a:p>
        </p:txBody>
      </p:sp>
    </p:spTree>
    <p:extLst>
      <p:ext uri="{BB962C8B-B14F-4D97-AF65-F5344CB8AC3E}">
        <p14:creationId xmlns:p14="http://schemas.microsoft.com/office/powerpoint/2010/main" val="3223685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A8CD2-5570-7B3F-9FD9-3C59BEE6F8B7}"/>
              </a:ext>
            </a:extLst>
          </p:cNvPr>
          <p:cNvSpPr>
            <a:spLocks noGrp="1"/>
          </p:cNvSpPr>
          <p:nvPr>
            <p:ph type="title"/>
          </p:nvPr>
        </p:nvSpPr>
        <p:spPr/>
        <p:txBody>
          <a:bodyPr/>
          <a:lstStyle/>
          <a:p>
            <a:r>
              <a:rPr lang="en-US" b="1" dirty="0"/>
              <a:t>White Box Testing Technique</a:t>
            </a:r>
            <a:endParaRPr lang="en-US" dirty="0"/>
          </a:p>
        </p:txBody>
      </p:sp>
      <p:sp>
        <p:nvSpPr>
          <p:cNvPr id="3" name="Content Placeholder 2">
            <a:extLst>
              <a:ext uri="{FF2B5EF4-FFF2-40B4-BE49-F238E27FC236}">
                <a16:creationId xmlns:a16="http://schemas.microsoft.com/office/drawing/2014/main" id="{8EE397E7-A5B2-F6AB-D94C-18646BD875B3}"/>
              </a:ext>
            </a:extLst>
          </p:cNvPr>
          <p:cNvSpPr>
            <a:spLocks noGrp="1"/>
          </p:cNvSpPr>
          <p:nvPr>
            <p:ph idx="1"/>
          </p:nvPr>
        </p:nvSpPr>
        <p:spPr/>
        <p:txBody>
          <a:bodyPr>
            <a:normAutofit lnSpcReduction="10000"/>
          </a:bodyPr>
          <a:lstStyle/>
          <a:p>
            <a:pPr marL="0" indent="0" algn="just">
              <a:buNone/>
            </a:pPr>
            <a:r>
              <a:rPr lang="en-US" b="1" dirty="0"/>
              <a:t>Condition Coverage</a:t>
            </a:r>
          </a:p>
          <a:p>
            <a:pPr marL="0" indent="0" algn="just">
              <a:buNone/>
            </a:pPr>
            <a:r>
              <a:rPr lang="en-US" dirty="0"/>
              <a:t>Condition coverage, also known as predicate coverage, measures the true or false outcomes of each Boolean sub-expression in the code. </a:t>
            </a:r>
          </a:p>
          <a:p>
            <a:pPr marL="0" indent="0" algn="just">
              <a:buNone/>
            </a:pPr>
            <a:r>
              <a:rPr lang="en-US" dirty="0"/>
              <a:t>It ensures that each condition in a decision statement has been tested for both true and false outcomes.</a:t>
            </a:r>
          </a:p>
          <a:p>
            <a:pPr marL="0" indent="0" algn="just">
              <a:buNone/>
            </a:pPr>
            <a:r>
              <a:rPr lang="en-US" dirty="0"/>
              <a:t>if (x &gt; 0 and y &lt; 10):</a:t>
            </a:r>
          </a:p>
          <a:p>
            <a:pPr marL="0" indent="0" algn="just">
              <a:buNone/>
            </a:pPr>
            <a:r>
              <a:rPr lang="en-US" dirty="0"/>
              <a:t>    print("Valid")</a:t>
            </a:r>
          </a:p>
          <a:p>
            <a:pPr marL="0" indent="0">
              <a:buNone/>
            </a:pPr>
            <a:r>
              <a:rPr lang="en-US" dirty="0"/>
              <a:t>Test cases must make:</a:t>
            </a:r>
          </a:p>
          <a:p>
            <a:pPr lvl="1"/>
            <a:r>
              <a:rPr lang="en-US" dirty="0"/>
              <a:t>x &gt; 0 True and False</a:t>
            </a:r>
          </a:p>
          <a:p>
            <a:pPr lvl="1"/>
            <a:r>
              <a:rPr lang="en-US" dirty="0"/>
              <a:t>y &lt; 10 True and False</a:t>
            </a:r>
          </a:p>
          <a:p>
            <a:pPr marL="0" indent="0" algn="just">
              <a:buNone/>
            </a:pPr>
            <a:endParaRPr lang="en-US" dirty="0"/>
          </a:p>
          <a:p>
            <a:endParaRPr lang="en-US" dirty="0"/>
          </a:p>
        </p:txBody>
      </p:sp>
    </p:spTree>
    <p:extLst>
      <p:ext uri="{BB962C8B-B14F-4D97-AF65-F5344CB8AC3E}">
        <p14:creationId xmlns:p14="http://schemas.microsoft.com/office/powerpoint/2010/main" val="4288626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White Box Testing Technique</a:t>
            </a:r>
            <a:endParaRPr lang="en-US" dirty="0"/>
          </a:p>
        </p:txBody>
      </p:sp>
      <p:sp>
        <p:nvSpPr>
          <p:cNvPr id="3" name="Content Placeholder 2"/>
          <p:cNvSpPr>
            <a:spLocks noGrp="1"/>
          </p:cNvSpPr>
          <p:nvPr>
            <p:ph idx="1"/>
          </p:nvPr>
        </p:nvSpPr>
        <p:spPr/>
        <p:txBody>
          <a:bodyPr>
            <a:normAutofit fontScale="85000" lnSpcReduction="20000"/>
          </a:bodyPr>
          <a:lstStyle/>
          <a:p>
            <a:pPr marL="0" indent="0" algn="just">
              <a:buNone/>
            </a:pPr>
            <a:r>
              <a:rPr lang="en-US" b="1" dirty="0"/>
              <a:t>Branch/Decision Coverage</a:t>
            </a:r>
          </a:p>
          <a:p>
            <a:pPr marL="0" indent="0" algn="just">
              <a:buNone/>
            </a:pPr>
            <a:r>
              <a:rPr lang="en-US" dirty="0"/>
              <a:t>Branch or decision coverage is a testing method that ensures each possible branch (true/false) from each decision point in the code is executed at least once. </a:t>
            </a:r>
          </a:p>
          <a:p>
            <a:pPr marL="0" indent="0" algn="just">
              <a:buNone/>
            </a:pPr>
            <a:r>
              <a:rPr lang="en-US" dirty="0"/>
              <a:t>It helps in identifying any branches that are not covered by the test cases.</a:t>
            </a:r>
          </a:p>
          <a:p>
            <a:pPr marL="0" indent="0" algn="just">
              <a:buNone/>
            </a:pPr>
            <a:r>
              <a:rPr lang="en-US" dirty="0"/>
              <a:t>if (x &gt; 0):</a:t>
            </a:r>
          </a:p>
          <a:p>
            <a:pPr marL="0" indent="0" algn="just">
              <a:buNone/>
            </a:pPr>
            <a:r>
              <a:rPr lang="en-US" dirty="0"/>
              <a:t>    print("Positive")</a:t>
            </a:r>
          </a:p>
          <a:p>
            <a:pPr marL="0" indent="0" algn="just">
              <a:buNone/>
            </a:pPr>
            <a:r>
              <a:rPr lang="en-US" dirty="0"/>
              <a:t>else:</a:t>
            </a:r>
          </a:p>
          <a:p>
            <a:pPr marL="0" indent="0" algn="just">
              <a:buNone/>
            </a:pPr>
            <a:r>
              <a:rPr lang="en-US" dirty="0"/>
              <a:t>    print("Non-positive")</a:t>
            </a:r>
          </a:p>
          <a:p>
            <a:r>
              <a:rPr lang="en-US" dirty="0"/>
              <a:t>Test cases:</a:t>
            </a:r>
          </a:p>
          <a:p>
            <a:r>
              <a:rPr lang="en-US" dirty="0"/>
              <a:t>x = 5 → True branch</a:t>
            </a:r>
          </a:p>
          <a:p>
            <a:r>
              <a:rPr lang="en-US" dirty="0"/>
              <a:t>x = -3 → False branch</a:t>
            </a:r>
          </a:p>
          <a:p>
            <a:pPr marL="0" indent="0" algn="just">
              <a:buNone/>
            </a:pPr>
            <a:endParaRPr lang="en-US" dirty="0"/>
          </a:p>
          <a:p>
            <a:pPr marL="0" indent="0" algn="just">
              <a:buNone/>
            </a:pPr>
            <a:endParaRPr lang="en-US" dirty="0"/>
          </a:p>
          <a:p>
            <a:endParaRPr lang="en-US" dirty="0"/>
          </a:p>
        </p:txBody>
      </p:sp>
    </p:spTree>
    <p:extLst>
      <p:ext uri="{BB962C8B-B14F-4D97-AF65-F5344CB8AC3E}">
        <p14:creationId xmlns:p14="http://schemas.microsoft.com/office/powerpoint/2010/main" val="3784279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White Box Testing Technique</a:t>
            </a:r>
            <a:endParaRPr lang="en-US" dirty="0"/>
          </a:p>
        </p:txBody>
      </p:sp>
      <p:sp>
        <p:nvSpPr>
          <p:cNvPr id="3" name="Content Placeholder 2"/>
          <p:cNvSpPr>
            <a:spLocks noGrp="1"/>
          </p:cNvSpPr>
          <p:nvPr>
            <p:ph idx="1"/>
          </p:nvPr>
        </p:nvSpPr>
        <p:spPr/>
        <p:txBody>
          <a:bodyPr>
            <a:normAutofit/>
          </a:bodyPr>
          <a:lstStyle/>
          <a:p>
            <a:pPr marL="0" indent="0" algn="just">
              <a:buNone/>
            </a:pPr>
            <a:r>
              <a:rPr lang="en-US" b="1" dirty="0"/>
              <a:t>Loop Coverage</a:t>
            </a:r>
          </a:p>
          <a:p>
            <a:pPr marL="0" indent="0" algn="just">
              <a:buNone/>
            </a:pPr>
            <a:r>
              <a:rPr lang="en-US" dirty="0"/>
              <a:t>Ensures all loops in the code are executed. </a:t>
            </a:r>
          </a:p>
          <a:p>
            <a:pPr marL="0" indent="0" algn="just">
              <a:buNone/>
            </a:pPr>
            <a:r>
              <a:rPr lang="en-US" dirty="0"/>
              <a:t>Involves testing loops for zero iterations, one iteration, and multiple iterations to ensure they function correctly under different conditions.</a:t>
            </a:r>
          </a:p>
          <a:p>
            <a:pPr marL="0" indent="0" algn="just">
              <a:buNone/>
            </a:pPr>
            <a:endParaRPr lang="en-US" dirty="0"/>
          </a:p>
        </p:txBody>
      </p:sp>
    </p:spTree>
    <p:extLst>
      <p:ext uri="{BB962C8B-B14F-4D97-AF65-F5344CB8AC3E}">
        <p14:creationId xmlns:p14="http://schemas.microsoft.com/office/powerpoint/2010/main" val="2185373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E7C16-9ED4-6151-853F-70AE98A78B9E}"/>
              </a:ext>
            </a:extLst>
          </p:cNvPr>
          <p:cNvSpPr>
            <a:spLocks noGrp="1"/>
          </p:cNvSpPr>
          <p:nvPr>
            <p:ph type="title"/>
          </p:nvPr>
        </p:nvSpPr>
        <p:spPr/>
        <p:txBody>
          <a:bodyPr/>
          <a:lstStyle/>
          <a:p>
            <a:r>
              <a:rPr lang="en-US" b="1" dirty="0"/>
              <a:t>White Box Testing Technique</a:t>
            </a:r>
            <a:endParaRPr lang="en-US" dirty="0"/>
          </a:p>
        </p:txBody>
      </p:sp>
      <p:sp>
        <p:nvSpPr>
          <p:cNvPr id="3" name="Content Placeholder 2">
            <a:extLst>
              <a:ext uri="{FF2B5EF4-FFF2-40B4-BE49-F238E27FC236}">
                <a16:creationId xmlns:a16="http://schemas.microsoft.com/office/drawing/2014/main" id="{E5193CEE-FB93-BB0D-5024-5BD9EF2EBEA6}"/>
              </a:ext>
            </a:extLst>
          </p:cNvPr>
          <p:cNvSpPr>
            <a:spLocks noGrp="1"/>
          </p:cNvSpPr>
          <p:nvPr>
            <p:ph idx="1"/>
          </p:nvPr>
        </p:nvSpPr>
        <p:spPr/>
        <p:txBody>
          <a:bodyPr/>
          <a:lstStyle/>
          <a:p>
            <a:pPr marL="0" indent="0">
              <a:buNone/>
            </a:pPr>
            <a:r>
              <a:rPr lang="en-US" dirty="0"/>
              <a:t>for </a:t>
            </a:r>
            <a:r>
              <a:rPr lang="en-US" dirty="0" err="1"/>
              <a:t>i</a:t>
            </a:r>
            <a:r>
              <a:rPr lang="en-US" dirty="0"/>
              <a:t> in range(0, n):</a:t>
            </a:r>
          </a:p>
          <a:p>
            <a:pPr marL="0" indent="0">
              <a:buNone/>
            </a:pPr>
            <a:r>
              <a:rPr lang="en-US" dirty="0"/>
              <a:t>print(</a:t>
            </a:r>
            <a:r>
              <a:rPr lang="en-US" dirty="0" err="1"/>
              <a:t>i</a:t>
            </a:r>
            <a:r>
              <a:rPr lang="en-US" dirty="0"/>
              <a:t>)</a:t>
            </a:r>
          </a:p>
          <a:p>
            <a:pPr marL="0" indent="0">
              <a:buNone/>
            </a:pPr>
            <a:endParaRPr lang="en-US" dirty="0"/>
          </a:p>
          <a:p>
            <a:pPr marL="0" indent="0">
              <a:buNone/>
            </a:pPr>
            <a:endParaRPr lang="en-US" dirty="0"/>
          </a:p>
          <a:p>
            <a:endParaRPr lang="en-US" dirty="0"/>
          </a:p>
        </p:txBody>
      </p:sp>
      <p:graphicFrame>
        <p:nvGraphicFramePr>
          <p:cNvPr id="4" name="Table 3">
            <a:extLst>
              <a:ext uri="{FF2B5EF4-FFF2-40B4-BE49-F238E27FC236}">
                <a16:creationId xmlns:a16="http://schemas.microsoft.com/office/drawing/2014/main" id="{6CC20C06-0653-03AE-8E48-80F8F4A348AF}"/>
              </a:ext>
            </a:extLst>
          </p:cNvPr>
          <p:cNvGraphicFramePr>
            <a:graphicFrameLocks noGrp="1"/>
          </p:cNvGraphicFramePr>
          <p:nvPr/>
        </p:nvGraphicFramePr>
        <p:xfrm>
          <a:off x="838200" y="2812574"/>
          <a:ext cx="10515600" cy="2377440"/>
        </p:xfrm>
        <a:graphic>
          <a:graphicData uri="http://schemas.openxmlformats.org/drawingml/2006/table">
            <a:tbl>
              <a:tblPr/>
              <a:tblGrid>
                <a:gridCol w="2628900">
                  <a:extLst>
                    <a:ext uri="{9D8B030D-6E8A-4147-A177-3AD203B41FA5}">
                      <a16:colId xmlns:a16="http://schemas.microsoft.com/office/drawing/2014/main" val="53303647"/>
                    </a:ext>
                  </a:extLst>
                </a:gridCol>
                <a:gridCol w="2628900">
                  <a:extLst>
                    <a:ext uri="{9D8B030D-6E8A-4147-A177-3AD203B41FA5}">
                      <a16:colId xmlns:a16="http://schemas.microsoft.com/office/drawing/2014/main" val="154554411"/>
                    </a:ext>
                  </a:extLst>
                </a:gridCol>
                <a:gridCol w="2628900">
                  <a:extLst>
                    <a:ext uri="{9D8B030D-6E8A-4147-A177-3AD203B41FA5}">
                      <a16:colId xmlns:a16="http://schemas.microsoft.com/office/drawing/2014/main" val="2324667877"/>
                    </a:ext>
                  </a:extLst>
                </a:gridCol>
                <a:gridCol w="2628900">
                  <a:extLst>
                    <a:ext uri="{9D8B030D-6E8A-4147-A177-3AD203B41FA5}">
                      <a16:colId xmlns:a16="http://schemas.microsoft.com/office/drawing/2014/main" val="774010382"/>
                    </a:ext>
                  </a:extLst>
                </a:gridCol>
              </a:tblGrid>
              <a:tr h="0">
                <a:tc>
                  <a:txBody>
                    <a:bodyPr/>
                    <a:lstStyle/>
                    <a:p>
                      <a:pPr>
                        <a:buNone/>
                      </a:pPr>
                      <a:r>
                        <a:rPr lang="en-US"/>
                        <a:t>Test Case</a:t>
                      </a:r>
                    </a:p>
                  </a:txBody>
                  <a:tcPr anchor="ctr">
                    <a:lnL>
                      <a:noFill/>
                    </a:lnL>
                    <a:lnR>
                      <a:noFill/>
                    </a:lnR>
                    <a:lnT>
                      <a:noFill/>
                    </a:lnT>
                    <a:lnB>
                      <a:noFill/>
                    </a:lnB>
                    <a:noFill/>
                  </a:tcPr>
                </a:tc>
                <a:tc>
                  <a:txBody>
                    <a:bodyPr/>
                    <a:lstStyle/>
                    <a:p>
                      <a:pPr>
                        <a:buNone/>
                      </a:pPr>
                      <a:r>
                        <a:rPr lang="en-US"/>
                        <a:t>Input (n)</a:t>
                      </a:r>
                    </a:p>
                  </a:txBody>
                  <a:tcPr anchor="ctr">
                    <a:lnL>
                      <a:noFill/>
                    </a:lnL>
                    <a:lnR>
                      <a:noFill/>
                    </a:lnR>
                    <a:lnT>
                      <a:noFill/>
                    </a:lnT>
                    <a:lnB>
                      <a:noFill/>
                    </a:lnB>
                    <a:noFill/>
                  </a:tcPr>
                </a:tc>
                <a:tc>
                  <a:txBody>
                    <a:bodyPr/>
                    <a:lstStyle/>
                    <a:p>
                      <a:pPr>
                        <a:buNone/>
                      </a:pPr>
                      <a:r>
                        <a:rPr lang="en-US"/>
                        <a:t>Description</a:t>
                      </a:r>
                    </a:p>
                  </a:txBody>
                  <a:tcPr anchor="ctr">
                    <a:lnL>
                      <a:noFill/>
                    </a:lnL>
                    <a:lnR>
                      <a:noFill/>
                    </a:lnR>
                    <a:lnT>
                      <a:noFill/>
                    </a:lnT>
                    <a:lnB>
                      <a:noFill/>
                    </a:lnB>
                    <a:noFill/>
                  </a:tcPr>
                </a:tc>
                <a:tc>
                  <a:txBody>
                    <a:bodyPr/>
                    <a:lstStyle/>
                    <a:p>
                      <a:pPr>
                        <a:buNone/>
                      </a:pPr>
                      <a:r>
                        <a:rPr lang="en-US"/>
                        <a:t>Expected Behavior</a:t>
                      </a:r>
                    </a:p>
                  </a:txBody>
                  <a:tcPr anchor="ctr">
                    <a:lnL>
                      <a:noFill/>
                    </a:lnL>
                    <a:lnR>
                      <a:noFill/>
                    </a:lnR>
                    <a:lnT>
                      <a:noFill/>
                    </a:lnT>
                    <a:lnB>
                      <a:noFill/>
                    </a:lnB>
                    <a:noFill/>
                  </a:tcPr>
                </a:tc>
                <a:extLst>
                  <a:ext uri="{0D108BD9-81ED-4DB2-BD59-A6C34878D82A}">
                    <a16:rowId xmlns:a16="http://schemas.microsoft.com/office/drawing/2014/main" val="2427429388"/>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n = 0</a:t>
                      </a:r>
                    </a:p>
                  </a:txBody>
                  <a:tcPr anchor="ctr">
                    <a:lnL>
                      <a:noFill/>
                    </a:lnL>
                    <a:lnR>
                      <a:noFill/>
                    </a:lnR>
                    <a:lnT>
                      <a:noFill/>
                    </a:lnT>
                    <a:lnB>
                      <a:noFill/>
                    </a:lnB>
                    <a:noFill/>
                  </a:tcPr>
                </a:tc>
                <a:tc>
                  <a:txBody>
                    <a:bodyPr/>
                    <a:lstStyle/>
                    <a:p>
                      <a:pPr>
                        <a:buNone/>
                      </a:pPr>
                      <a:r>
                        <a:rPr lang="en-US"/>
                        <a:t>Loop executes </a:t>
                      </a:r>
                      <a:r>
                        <a:rPr lang="en-US" b="1"/>
                        <a:t>zero times</a:t>
                      </a:r>
                      <a:endParaRPr lang="en-US"/>
                    </a:p>
                  </a:txBody>
                  <a:tcPr anchor="ctr">
                    <a:lnL>
                      <a:noFill/>
                    </a:lnL>
                    <a:lnR>
                      <a:noFill/>
                    </a:lnR>
                    <a:lnT>
                      <a:noFill/>
                    </a:lnT>
                    <a:lnB>
                      <a:noFill/>
                    </a:lnB>
                    <a:noFill/>
                  </a:tcPr>
                </a:tc>
                <a:tc>
                  <a:txBody>
                    <a:bodyPr/>
                    <a:lstStyle/>
                    <a:p>
                      <a:pPr>
                        <a:buNone/>
                      </a:pPr>
                      <a:r>
                        <a:rPr lang="en-US"/>
                        <a:t>Nothing printed</a:t>
                      </a:r>
                    </a:p>
                  </a:txBody>
                  <a:tcPr anchor="ctr">
                    <a:lnL>
                      <a:noFill/>
                    </a:lnL>
                    <a:lnR>
                      <a:noFill/>
                    </a:lnR>
                    <a:lnT>
                      <a:noFill/>
                    </a:lnT>
                    <a:lnB>
                      <a:noFill/>
                    </a:lnB>
                    <a:noFill/>
                  </a:tcPr>
                </a:tc>
                <a:extLst>
                  <a:ext uri="{0D108BD9-81ED-4DB2-BD59-A6C34878D82A}">
                    <a16:rowId xmlns:a16="http://schemas.microsoft.com/office/drawing/2014/main" val="2310265524"/>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n = 1</a:t>
                      </a:r>
                    </a:p>
                  </a:txBody>
                  <a:tcPr anchor="ctr">
                    <a:lnL>
                      <a:noFill/>
                    </a:lnL>
                    <a:lnR>
                      <a:noFill/>
                    </a:lnR>
                    <a:lnT>
                      <a:noFill/>
                    </a:lnT>
                    <a:lnB>
                      <a:noFill/>
                    </a:lnB>
                    <a:noFill/>
                  </a:tcPr>
                </a:tc>
                <a:tc>
                  <a:txBody>
                    <a:bodyPr/>
                    <a:lstStyle/>
                    <a:p>
                      <a:pPr>
                        <a:buNone/>
                      </a:pPr>
                      <a:r>
                        <a:rPr lang="en-US"/>
                        <a:t>Loop executes </a:t>
                      </a:r>
                      <a:r>
                        <a:rPr lang="en-US" b="1"/>
                        <a:t>once</a:t>
                      </a:r>
                      <a:endParaRPr lang="en-US"/>
                    </a:p>
                  </a:txBody>
                  <a:tcPr anchor="ctr">
                    <a:lnL>
                      <a:noFill/>
                    </a:lnL>
                    <a:lnR>
                      <a:noFill/>
                    </a:lnR>
                    <a:lnT>
                      <a:noFill/>
                    </a:lnT>
                    <a:lnB>
                      <a:noFill/>
                    </a:lnB>
                    <a:noFill/>
                  </a:tcPr>
                </a:tc>
                <a:tc>
                  <a:txBody>
                    <a:bodyPr/>
                    <a:lstStyle/>
                    <a:p>
                      <a:pPr>
                        <a:buNone/>
                      </a:pPr>
                      <a:r>
                        <a:rPr lang="en-US"/>
                        <a:t>Prints </a:t>
                      </a:r>
                      <a:r>
                        <a:rPr lang="en-US">
                          <a:latin typeface="Courier New" panose="02070309020205020404" pitchFamily="49" charset="0"/>
                        </a:rPr>
                        <a:t>0</a:t>
                      </a:r>
                      <a:endParaRPr lang="en-US"/>
                    </a:p>
                  </a:txBody>
                  <a:tcPr anchor="ctr">
                    <a:lnL>
                      <a:noFill/>
                    </a:lnL>
                    <a:lnR>
                      <a:noFill/>
                    </a:lnR>
                    <a:lnT>
                      <a:noFill/>
                    </a:lnT>
                    <a:lnB>
                      <a:noFill/>
                    </a:lnB>
                    <a:noFill/>
                  </a:tcPr>
                </a:tc>
                <a:extLst>
                  <a:ext uri="{0D108BD9-81ED-4DB2-BD59-A6C34878D82A}">
                    <a16:rowId xmlns:a16="http://schemas.microsoft.com/office/drawing/2014/main" val="4121337516"/>
                  </a:ext>
                </a:extLst>
              </a:tr>
              <a:tr h="0">
                <a:tc>
                  <a:txBody>
                    <a:bodyPr/>
                    <a:lstStyle/>
                    <a:p>
                      <a:pPr>
                        <a:buNone/>
                      </a:pPr>
                      <a:r>
                        <a:rPr lang="en-US"/>
                        <a:t>3</a:t>
                      </a:r>
                    </a:p>
                  </a:txBody>
                  <a:tcPr anchor="ctr">
                    <a:lnL>
                      <a:noFill/>
                    </a:lnL>
                    <a:lnR>
                      <a:noFill/>
                    </a:lnR>
                    <a:lnT>
                      <a:noFill/>
                    </a:lnT>
                    <a:lnB>
                      <a:noFill/>
                    </a:lnB>
                    <a:noFill/>
                  </a:tcPr>
                </a:tc>
                <a:tc>
                  <a:txBody>
                    <a:bodyPr/>
                    <a:lstStyle/>
                    <a:p>
                      <a:pPr>
                        <a:buNone/>
                      </a:pPr>
                      <a:r>
                        <a:rPr lang="en-US"/>
                        <a:t>n = 3</a:t>
                      </a:r>
                    </a:p>
                  </a:txBody>
                  <a:tcPr anchor="ctr">
                    <a:lnL>
                      <a:noFill/>
                    </a:lnL>
                    <a:lnR>
                      <a:noFill/>
                    </a:lnR>
                    <a:lnT>
                      <a:noFill/>
                    </a:lnT>
                    <a:lnB>
                      <a:noFill/>
                    </a:lnB>
                    <a:noFill/>
                  </a:tcPr>
                </a:tc>
                <a:tc>
                  <a:txBody>
                    <a:bodyPr/>
                    <a:lstStyle/>
                    <a:p>
                      <a:pPr>
                        <a:buNone/>
                      </a:pPr>
                      <a:r>
                        <a:rPr lang="en-US"/>
                        <a:t>Loop executes </a:t>
                      </a:r>
                      <a:r>
                        <a:rPr lang="en-US" b="1"/>
                        <a:t>multiple times</a:t>
                      </a:r>
                      <a:endParaRPr lang="en-US"/>
                    </a:p>
                  </a:txBody>
                  <a:tcPr anchor="ctr">
                    <a:lnL>
                      <a:noFill/>
                    </a:lnL>
                    <a:lnR>
                      <a:noFill/>
                    </a:lnR>
                    <a:lnT>
                      <a:noFill/>
                    </a:lnT>
                    <a:lnB>
                      <a:noFill/>
                    </a:lnB>
                    <a:noFill/>
                  </a:tcPr>
                </a:tc>
                <a:tc>
                  <a:txBody>
                    <a:bodyPr/>
                    <a:lstStyle/>
                    <a:p>
                      <a:pPr>
                        <a:buNone/>
                      </a:pPr>
                      <a:r>
                        <a:rPr lang="en-US"/>
                        <a:t>Prints </a:t>
                      </a:r>
                      <a:r>
                        <a:rPr lang="en-US">
                          <a:latin typeface="Courier New" panose="02070309020205020404" pitchFamily="49" charset="0"/>
                        </a:rPr>
                        <a:t>0 1 2</a:t>
                      </a:r>
                      <a:endParaRPr lang="en-US"/>
                    </a:p>
                  </a:txBody>
                  <a:tcPr anchor="ctr">
                    <a:lnL>
                      <a:noFill/>
                    </a:lnL>
                    <a:lnR>
                      <a:noFill/>
                    </a:lnR>
                    <a:lnT>
                      <a:noFill/>
                    </a:lnT>
                    <a:lnB>
                      <a:noFill/>
                    </a:lnB>
                    <a:noFill/>
                  </a:tcPr>
                </a:tc>
                <a:extLst>
                  <a:ext uri="{0D108BD9-81ED-4DB2-BD59-A6C34878D82A}">
                    <a16:rowId xmlns:a16="http://schemas.microsoft.com/office/drawing/2014/main" val="1398834914"/>
                  </a:ext>
                </a:extLst>
              </a:tr>
              <a:tr h="0">
                <a:tc>
                  <a:txBody>
                    <a:bodyPr/>
                    <a:lstStyle/>
                    <a:p>
                      <a:pPr>
                        <a:buNone/>
                      </a:pPr>
                      <a:r>
                        <a:rPr lang="en-US"/>
                        <a:t>4</a:t>
                      </a:r>
                    </a:p>
                  </a:txBody>
                  <a:tcPr anchor="ctr">
                    <a:lnL>
                      <a:noFill/>
                    </a:lnL>
                    <a:lnR>
                      <a:noFill/>
                    </a:lnR>
                    <a:lnT>
                      <a:noFill/>
                    </a:lnT>
                    <a:lnB>
                      <a:noFill/>
                    </a:lnB>
                    <a:noFill/>
                  </a:tcPr>
                </a:tc>
                <a:tc>
                  <a:txBody>
                    <a:bodyPr/>
                    <a:lstStyle/>
                    <a:p>
                      <a:pPr>
                        <a:buNone/>
                      </a:pPr>
                      <a:r>
                        <a:rPr lang="en-US"/>
                        <a:t>n = 100</a:t>
                      </a:r>
                    </a:p>
                  </a:txBody>
                  <a:tcPr anchor="ctr">
                    <a:lnL>
                      <a:noFill/>
                    </a:lnL>
                    <a:lnR>
                      <a:noFill/>
                    </a:lnR>
                    <a:lnT>
                      <a:noFill/>
                    </a:lnT>
                    <a:lnB>
                      <a:noFill/>
                    </a:lnB>
                    <a:noFill/>
                  </a:tcPr>
                </a:tc>
                <a:tc>
                  <a:txBody>
                    <a:bodyPr/>
                    <a:lstStyle/>
                    <a:p>
                      <a:pPr>
                        <a:buNone/>
                      </a:pPr>
                      <a:r>
                        <a:rPr lang="en-US"/>
                        <a:t>Loop executes </a:t>
                      </a:r>
                      <a:r>
                        <a:rPr lang="en-US" b="1"/>
                        <a:t>maximum limit</a:t>
                      </a:r>
                      <a:r>
                        <a:rPr lang="en-US"/>
                        <a:t> (if defined)</a:t>
                      </a:r>
                    </a:p>
                  </a:txBody>
                  <a:tcPr anchor="ctr">
                    <a:lnL>
                      <a:noFill/>
                    </a:lnL>
                    <a:lnR>
                      <a:noFill/>
                    </a:lnR>
                    <a:lnT>
                      <a:noFill/>
                    </a:lnT>
                    <a:lnB>
                      <a:noFill/>
                    </a:lnB>
                    <a:noFill/>
                  </a:tcPr>
                </a:tc>
                <a:tc>
                  <a:txBody>
                    <a:bodyPr/>
                    <a:lstStyle/>
                    <a:p>
                      <a:pPr>
                        <a:buNone/>
                      </a:pPr>
                      <a:r>
                        <a:rPr lang="en-US" dirty="0"/>
                        <a:t>Prints 0–99</a:t>
                      </a:r>
                    </a:p>
                  </a:txBody>
                  <a:tcPr anchor="ctr">
                    <a:lnL>
                      <a:noFill/>
                    </a:lnL>
                    <a:lnR>
                      <a:noFill/>
                    </a:lnR>
                    <a:lnT>
                      <a:noFill/>
                    </a:lnT>
                    <a:lnB>
                      <a:noFill/>
                    </a:lnB>
                    <a:noFill/>
                  </a:tcPr>
                </a:tc>
                <a:extLst>
                  <a:ext uri="{0D108BD9-81ED-4DB2-BD59-A6C34878D82A}">
                    <a16:rowId xmlns:a16="http://schemas.microsoft.com/office/drawing/2014/main" val="2670283348"/>
                  </a:ext>
                </a:extLst>
              </a:tr>
            </a:tbl>
          </a:graphicData>
        </a:graphic>
      </p:graphicFrame>
    </p:spTree>
    <p:extLst>
      <p:ext uri="{BB962C8B-B14F-4D97-AF65-F5344CB8AC3E}">
        <p14:creationId xmlns:p14="http://schemas.microsoft.com/office/powerpoint/2010/main" val="2202779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2AC5-7690-84AF-21C8-A9B29CE4B67A}"/>
              </a:ext>
            </a:extLst>
          </p:cNvPr>
          <p:cNvSpPr>
            <a:spLocks noGrp="1"/>
          </p:cNvSpPr>
          <p:nvPr>
            <p:ph type="title"/>
          </p:nvPr>
        </p:nvSpPr>
        <p:spPr/>
        <p:txBody>
          <a:bodyPr/>
          <a:lstStyle/>
          <a:p>
            <a:r>
              <a:rPr lang="en-US" b="1" dirty="0"/>
              <a:t>White Box Testing Technique</a:t>
            </a:r>
            <a:endParaRPr lang="en-US" dirty="0"/>
          </a:p>
        </p:txBody>
      </p:sp>
      <p:sp>
        <p:nvSpPr>
          <p:cNvPr id="3" name="Content Placeholder 2">
            <a:extLst>
              <a:ext uri="{FF2B5EF4-FFF2-40B4-BE49-F238E27FC236}">
                <a16:creationId xmlns:a16="http://schemas.microsoft.com/office/drawing/2014/main" id="{0F1A8204-3B6B-4D2D-F582-983AA6A20A3F}"/>
              </a:ext>
            </a:extLst>
          </p:cNvPr>
          <p:cNvSpPr>
            <a:spLocks noGrp="1"/>
          </p:cNvSpPr>
          <p:nvPr>
            <p:ph idx="1"/>
          </p:nvPr>
        </p:nvSpPr>
        <p:spPr/>
        <p:txBody>
          <a:bodyPr/>
          <a:lstStyle/>
          <a:p>
            <a:pPr marL="0" indent="0" algn="just">
              <a:buNone/>
            </a:pPr>
            <a:r>
              <a:rPr lang="en-US" b="1" dirty="0"/>
              <a:t>Domain and Boundary Testing</a:t>
            </a:r>
          </a:p>
          <a:p>
            <a:pPr marL="0" indent="0" algn="just">
              <a:buNone/>
            </a:pPr>
            <a:r>
              <a:rPr lang="en-US" dirty="0"/>
              <a:t>Used to identify errors at the boundaries of input domains rather than within the ranges.</a:t>
            </a:r>
          </a:p>
          <a:p>
            <a:pPr marL="0" indent="0" algn="just">
              <a:buNone/>
            </a:pPr>
            <a:r>
              <a:rPr lang="en-US" dirty="0"/>
              <a:t> It involves testing the upper and lower limits of input values to ensure the software handles edge cases correctly.</a:t>
            </a:r>
          </a:p>
          <a:p>
            <a:endParaRPr lang="en-US" dirty="0"/>
          </a:p>
        </p:txBody>
      </p:sp>
    </p:spTree>
    <p:extLst>
      <p:ext uri="{BB962C8B-B14F-4D97-AF65-F5344CB8AC3E}">
        <p14:creationId xmlns:p14="http://schemas.microsoft.com/office/powerpoint/2010/main" val="121956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3D848-9CE3-6460-6601-C96F3DB63B67}"/>
              </a:ext>
            </a:extLst>
          </p:cNvPr>
          <p:cNvSpPr>
            <a:spLocks noGrp="1"/>
          </p:cNvSpPr>
          <p:nvPr>
            <p:ph type="title"/>
          </p:nvPr>
        </p:nvSpPr>
        <p:spPr/>
        <p:txBody>
          <a:bodyPr/>
          <a:lstStyle/>
          <a:p>
            <a:r>
              <a:rPr lang="en-US" b="1" dirty="0"/>
              <a:t>White Box Testing Technique</a:t>
            </a:r>
            <a:endParaRPr lang="en-US" dirty="0"/>
          </a:p>
        </p:txBody>
      </p:sp>
      <p:sp>
        <p:nvSpPr>
          <p:cNvPr id="3" name="Content Placeholder 2">
            <a:extLst>
              <a:ext uri="{FF2B5EF4-FFF2-40B4-BE49-F238E27FC236}">
                <a16:creationId xmlns:a16="http://schemas.microsoft.com/office/drawing/2014/main" id="{8A9A6BA7-BBFE-3D3C-729C-80E2D693DC46}"/>
              </a:ext>
            </a:extLst>
          </p:cNvPr>
          <p:cNvSpPr>
            <a:spLocks noGrp="1"/>
          </p:cNvSpPr>
          <p:nvPr>
            <p:ph idx="1"/>
          </p:nvPr>
        </p:nvSpPr>
        <p:spPr/>
        <p:txBody>
          <a:bodyPr>
            <a:normAutofit fontScale="77500" lnSpcReduction="20000"/>
          </a:bodyPr>
          <a:lstStyle/>
          <a:p>
            <a:pPr marL="0" indent="0">
              <a:buNone/>
            </a:pPr>
            <a:r>
              <a:rPr lang="en-US" dirty="0" err="1"/>
              <a:t>Example:Suppose</a:t>
            </a:r>
            <a:r>
              <a:rPr lang="en-US" dirty="0"/>
              <a:t> you have a function that accepts </a:t>
            </a:r>
            <a:r>
              <a:rPr lang="en-US" b="1" dirty="0"/>
              <a:t>marks between 0 and 100</a:t>
            </a:r>
            <a:endParaRPr lang="en-US" dirty="0"/>
          </a:p>
          <a:p>
            <a:pPr marL="0" indent="0">
              <a:buNone/>
            </a:pPr>
            <a:r>
              <a:rPr lang="en-US" dirty="0"/>
              <a:t>def grade(marks):</a:t>
            </a:r>
          </a:p>
          <a:p>
            <a:pPr marL="0" indent="0">
              <a:buNone/>
            </a:pPr>
            <a:r>
              <a:rPr lang="en-US" dirty="0"/>
              <a:t>    if marks &lt; 0 or marks &gt; 100:</a:t>
            </a:r>
          </a:p>
          <a:p>
            <a:pPr marL="0" indent="0">
              <a:buNone/>
            </a:pPr>
            <a:r>
              <a:rPr lang="en-US" dirty="0"/>
              <a:t>        return "Invalid"</a:t>
            </a:r>
          </a:p>
          <a:p>
            <a:pPr marL="0" indent="0">
              <a:buNone/>
            </a:pPr>
            <a:r>
              <a:rPr lang="en-US" dirty="0"/>
              <a:t>    </a:t>
            </a:r>
            <a:r>
              <a:rPr lang="en-US" dirty="0" err="1"/>
              <a:t>elif</a:t>
            </a:r>
            <a:r>
              <a:rPr lang="en-US" dirty="0"/>
              <a:t> marks &gt;= 90:</a:t>
            </a:r>
          </a:p>
          <a:p>
            <a:pPr marL="0" indent="0">
              <a:buNone/>
            </a:pPr>
            <a:r>
              <a:rPr lang="en-US" dirty="0"/>
              <a:t>        return "A"</a:t>
            </a:r>
          </a:p>
          <a:p>
            <a:pPr marL="0" indent="0">
              <a:buNone/>
            </a:pPr>
            <a:r>
              <a:rPr lang="en-US" dirty="0"/>
              <a:t>    </a:t>
            </a:r>
            <a:r>
              <a:rPr lang="en-US" dirty="0" err="1"/>
              <a:t>elif</a:t>
            </a:r>
            <a:r>
              <a:rPr lang="en-US" dirty="0"/>
              <a:t> marks &gt;= 75:</a:t>
            </a:r>
          </a:p>
          <a:p>
            <a:pPr marL="0" indent="0">
              <a:buNone/>
            </a:pPr>
            <a:r>
              <a:rPr lang="en-US" dirty="0"/>
              <a:t>        return "B"</a:t>
            </a:r>
          </a:p>
          <a:p>
            <a:pPr marL="0" indent="0">
              <a:buNone/>
            </a:pPr>
            <a:r>
              <a:rPr lang="en-US" dirty="0"/>
              <a:t>    </a:t>
            </a:r>
            <a:r>
              <a:rPr lang="en-US" dirty="0" err="1"/>
              <a:t>elif</a:t>
            </a:r>
            <a:r>
              <a:rPr lang="en-US" dirty="0"/>
              <a:t> marks &gt;= 50:</a:t>
            </a:r>
          </a:p>
          <a:p>
            <a:pPr marL="0" indent="0">
              <a:buNone/>
            </a:pPr>
            <a:r>
              <a:rPr lang="en-US" dirty="0"/>
              <a:t>        return "C"</a:t>
            </a:r>
          </a:p>
          <a:p>
            <a:pPr marL="0" indent="0">
              <a:buNone/>
            </a:pPr>
            <a:r>
              <a:rPr lang="en-US" dirty="0"/>
              <a:t>    else:</a:t>
            </a:r>
          </a:p>
          <a:p>
            <a:pPr marL="0" indent="0">
              <a:buNone/>
            </a:pPr>
            <a:r>
              <a:rPr lang="en-US" dirty="0"/>
              <a:t>        return "Fail"</a:t>
            </a:r>
          </a:p>
          <a:p>
            <a:pPr marL="0" indent="0">
              <a:buNone/>
            </a:pPr>
            <a:endParaRPr lang="en-US" dirty="0"/>
          </a:p>
        </p:txBody>
      </p:sp>
    </p:spTree>
    <p:extLst>
      <p:ext uri="{BB962C8B-B14F-4D97-AF65-F5344CB8AC3E}">
        <p14:creationId xmlns:p14="http://schemas.microsoft.com/office/powerpoint/2010/main" val="596951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White Box Testing Technique</a:t>
            </a:r>
            <a:endParaRPr lang="en-US" dirty="0"/>
          </a:p>
        </p:txBody>
      </p:sp>
      <p:sp>
        <p:nvSpPr>
          <p:cNvPr id="3" name="Content Placeholder 2"/>
          <p:cNvSpPr>
            <a:spLocks noGrp="1"/>
          </p:cNvSpPr>
          <p:nvPr>
            <p:ph idx="1"/>
          </p:nvPr>
        </p:nvSpPr>
        <p:spPr/>
        <p:txBody>
          <a:bodyPr/>
          <a:lstStyle/>
          <a:p>
            <a:pPr marL="0" indent="0" algn="just">
              <a:buNone/>
            </a:pPr>
            <a:r>
              <a:rPr lang="en-US" b="1" dirty="0"/>
              <a:t>Data Flow Testing</a:t>
            </a:r>
          </a:p>
          <a:p>
            <a:pPr marL="0" indent="0" algn="just">
              <a:buNone/>
            </a:pPr>
            <a:r>
              <a:rPr lang="en-US" dirty="0"/>
              <a:t>Data flow testing is a white-box testing technique that focuses on the points at which variables receive values and the points at which these values are used. It helps in identifying potential issues related to the improper use of data within the code.</a:t>
            </a:r>
          </a:p>
          <a:p>
            <a:endParaRPr lang="en-US" dirty="0"/>
          </a:p>
        </p:txBody>
      </p:sp>
    </p:spTree>
    <p:extLst>
      <p:ext uri="{BB962C8B-B14F-4D97-AF65-F5344CB8AC3E}">
        <p14:creationId xmlns:p14="http://schemas.microsoft.com/office/powerpoint/2010/main" val="34719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Advantages:</a:t>
            </a:r>
            <a:endParaRPr lang="en-US" dirty="0"/>
          </a:p>
        </p:txBody>
      </p:sp>
      <p:sp>
        <p:nvSpPr>
          <p:cNvPr id="3" name="Content Placeholder 2"/>
          <p:cNvSpPr>
            <a:spLocks noGrp="1"/>
          </p:cNvSpPr>
          <p:nvPr>
            <p:ph idx="1"/>
          </p:nvPr>
        </p:nvSpPr>
        <p:spPr/>
        <p:txBody>
          <a:bodyPr>
            <a:normAutofit/>
          </a:bodyPr>
          <a:lstStyle/>
          <a:p>
            <a:pPr fontAlgn="base"/>
            <a:r>
              <a:rPr lang="en-US" dirty="0"/>
              <a:t>White box testing is very thorough as the entire code and structures are tested.</a:t>
            </a:r>
          </a:p>
          <a:p>
            <a:pPr fontAlgn="base"/>
            <a:r>
              <a:rPr lang="en-US" dirty="0"/>
              <a:t>It results in the optimization of code removing error and helps in removing extra lines of code.</a:t>
            </a:r>
          </a:p>
          <a:p>
            <a:pPr fontAlgn="base"/>
            <a:r>
              <a:rPr lang="en-US" dirty="0"/>
              <a:t>It can start at an earlier stage as it doesn’t require any interface as in case of black box testing.</a:t>
            </a:r>
          </a:p>
          <a:p>
            <a:pPr fontAlgn="base"/>
            <a:r>
              <a:rPr lang="en-US" dirty="0"/>
              <a:t>Easy to automate.</a:t>
            </a:r>
          </a:p>
        </p:txBody>
      </p:sp>
    </p:spTree>
    <p:extLst>
      <p:ext uri="{BB962C8B-B14F-4D97-AF65-F5344CB8AC3E}">
        <p14:creationId xmlns:p14="http://schemas.microsoft.com/office/powerpoint/2010/main" val="534407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a:t>
            </a:r>
            <a:br>
              <a:rPr lang="en-US" dirty="0"/>
            </a:br>
            <a:endParaRPr lang="en-US" dirty="0"/>
          </a:p>
        </p:txBody>
      </p:sp>
      <p:sp>
        <p:nvSpPr>
          <p:cNvPr id="3" name="Content Placeholder 2"/>
          <p:cNvSpPr>
            <a:spLocks noGrp="1"/>
          </p:cNvSpPr>
          <p:nvPr>
            <p:ph idx="1"/>
          </p:nvPr>
        </p:nvSpPr>
        <p:spPr/>
        <p:txBody>
          <a:bodyPr>
            <a:normAutofit lnSpcReduction="10000"/>
          </a:bodyPr>
          <a:lstStyle/>
          <a:p>
            <a:pPr fontAlgn="base"/>
            <a:r>
              <a:rPr lang="en-US" dirty="0"/>
              <a:t>Main disadvantage is that it is very expensive.</a:t>
            </a:r>
          </a:p>
          <a:p>
            <a:pPr fontAlgn="base"/>
            <a:r>
              <a:rPr lang="en-US" dirty="0"/>
              <a:t>Redesign of code and rewriting code needs test cases to be written again.</a:t>
            </a:r>
          </a:p>
          <a:p>
            <a:pPr fontAlgn="base"/>
            <a:r>
              <a:rPr lang="en-US" dirty="0"/>
              <a:t>Testers are required to have in-depth knowledge of the code and programming language as opposed to black box testing.</a:t>
            </a:r>
          </a:p>
          <a:p>
            <a:pPr fontAlgn="base"/>
            <a:r>
              <a:rPr lang="en-US" dirty="0"/>
              <a:t>Missing functionalities cannot be detected as the code that exists is tested.</a:t>
            </a:r>
          </a:p>
          <a:p>
            <a:pPr fontAlgn="base"/>
            <a:r>
              <a:rPr lang="en-US" dirty="0"/>
              <a:t>Very complex and at times not realistic.</a:t>
            </a:r>
          </a:p>
          <a:p>
            <a:pPr marL="0" indent="0">
              <a:buNone/>
            </a:pPr>
            <a:br>
              <a:rPr lang="en-US" dirty="0"/>
            </a:br>
            <a:endParaRPr lang="en-US" dirty="0"/>
          </a:p>
          <a:p>
            <a:endParaRPr lang="en-US" dirty="0"/>
          </a:p>
        </p:txBody>
      </p:sp>
    </p:spTree>
    <p:extLst>
      <p:ext uri="{BB962C8B-B14F-4D97-AF65-F5344CB8AC3E}">
        <p14:creationId xmlns:p14="http://schemas.microsoft.com/office/powerpoint/2010/main" val="2163814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Black-box Testing</a:t>
            </a:r>
          </a:p>
        </p:txBody>
      </p:sp>
      <p:sp>
        <p:nvSpPr>
          <p:cNvPr id="3" name="Content Placeholder 2"/>
          <p:cNvSpPr>
            <a:spLocks noGrp="1"/>
          </p:cNvSpPr>
          <p:nvPr>
            <p:ph idx="1"/>
          </p:nvPr>
        </p:nvSpPr>
        <p:spPr/>
        <p:txBody>
          <a:bodyPr/>
          <a:lstStyle/>
          <a:p>
            <a:pPr fontAlgn="base"/>
            <a:r>
              <a:rPr lang="en-US" dirty="0"/>
              <a:t>Black Box Testing is testing technique having no knowledge of the internal functionality/structure of the system</a:t>
            </a:r>
          </a:p>
          <a:p>
            <a:pPr fontAlgn="base"/>
            <a:r>
              <a:rPr lang="en-US" dirty="0"/>
              <a:t>It is also called Behavioral, Functional, Opaque-Box, Closed-Box </a:t>
            </a:r>
            <a:r>
              <a:rPr lang="en-US" dirty="0" err="1"/>
              <a:t>etc</a:t>
            </a:r>
            <a:endParaRPr lang="en-US" dirty="0"/>
          </a:p>
          <a:p>
            <a:pPr fontAlgn="base"/>
            <a:r>
              <a:rPr lang="en-US" dirty="0"/>
              <a:t>Focuses on testing the function of the program or application against its specifications</a:t>
            </a:r>
          </a:p>
          <a:p>
            <a:pPr fontAlgn="base"/>
            <a:r>
              <a:rPr lang="en-US" dirty="0"/>
              <a:t>Determines whether combinations of inputs and operations produce expected results</a:t>
            </a:r>
          </a:p>
          <a:p>
            <a:pPr marL="0" indent="0">
              <a:buNone/>
            </a:pPr>
            <a:endParaRPr lang="en-US" dirty="0"/>
          </a:p>
        </p:txBody>
      </p:sp>
    </p:spTree>
    <p:extLst>
      <p:ext uri="{BB962C8B-B14F-4D97-AF65-F5344CB8AC3E}">
        <p14:creationId xmlns:p14="http://schemas.microsoft.com/office/powerpoint/2010/main" val="2944303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Black-box Testing</a:t>
            </a:r>
            <a:endParaRPr lang="en-US" dirty="0"/>
          </a:p>
        </p:txBody>
      </p:sp>
      <p:pic>
        <p:nvPicPr>
          <p:cNvPr id="4" name="Content Placeholder 3"/>
          <p:cNvPicPr>
            <a:picLocks noGrp="1" noChangeAspect="1"/>
          </p:cNvPicPr>
          <p:nvPr>
            <p:ph idx="1"/>
          </p:nvPr>
        </p:nvPicPr>
        <p:blipFill>
          <a:blip r:embed="rId2"/>
          <a:stretch>
            <a:fillRect/>
          </a:stretch>
        </p:blipFill>
        <p:spPr>
          <a:xfrm>
            <a:off x="1402110" y="1825625"/>
            <a:ext cx="9387780" cy="4351338"/>
          </a:xfrm>
          <a:prstGeom prst="rect">
            <a:avLst/>
          </a:prstGeom>
        </p:spPr>
      </p:pic>
    </p:spTree>
    <p:extLst>
      <p:ext uri="{BB962C8B-B14F-4D97-AF65-F5344CB8AC3E}">
        <p14:creationId xmlns:p14="http://schemas.microsoft.com/office/powerpoint/2010/main" val="11445617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Black box Testing Techniques</a:t>
            </a:r>
            <a:br>
              <a:rPr lang="en-US" dirty="0"/>
            </a:br>
            <a:endParaRPr lang="en-US" dirty="0"/>
          </a:p>
        </p:txBody>
      </p:sp>
      <p:sp>
        <p:nvSpPr>
          <p:cNvPr id="3" name="Content Placeholder 2"/>
          <p:cNvSpPr>
            <a:spLocks noGrp="1"/>
          </p:cNvSpPr>
          <p:nvPr>
            <p:ph idx="1"/>
          </p:nvPr>
        </p:nvSpPr>
        <p:spPr/>
        <p:txBody>
          <a:bodyPr/>
          <a:lstStyle/>
          <a:p>
            <a:pPr marL="514350" indent="-514350" fontAlgn="base">
              <a:buFont typeface="+mj-lt"/>
              <a:buAutoNum type="arabicPeriod"/>
            </a:pPr>
            <a:r>
              <a:rPr lang="en-US" dirty="0"/>
              <a:t>Equivalence partitioning.</a:t>
            </a:r>
          </a:p>
          <a:p>
            <a:pPr marL="514350" indent="-514350" fontAlgn="base">
              <a:buFont typeface="+mj-lt"/>
              <a:buAutoNum type="arabicPeriod"/>
            </a:pPr>
            <a:r>
              <a:rPr lang="en-US" dirty="0"/>
              <a:t>Boundary Value Analysis</a:t>
            </a:r>
          </a:p>
          <a:p>
            <a:pPr marL="514350" indent="-514350" fontAlgn="base">
              <a:buFont typeface="+mj-lt"/>
              <a:buAutoNum type="arabicPeriod"/>
            </a:pPr>
            <a:r>
              <a:rPr lang="en-US" dirty="0"/>
              <a:t>Decision table testing</a:t>
            </a:r>
          </a:p>
          <a:p>
            <a:pPr marL="514350" indent="-514350" fontAlgn="base">
              <a:buFont typeface="+mj-lt"/>
              <a:buAutoNum type="arabicPeriod"/>
            </a:pPr>
            <a:r>
              <a:rPr lang="en-US" dirty="0"/>
              <a:t>State Transition Testing</a:t>
            </a:r>
          </a:p>
          <a:p>
            <a:pPr marL="514350" indent="-514350" fontAlgn="base">
              <a:buFont typeface="+mj-lt"/>
              <a:buAutoNum type="arabicPeriod"/>
            </a:pPr>
            <a:r>
              <a:rPr lang="en-US" dirty="0"/>
              <a:t>Error Guessing</a:t>
            </a:r>
          </a:p>
        </p:txBody>
      </p:sp>
    </p:spTree>
    <p:extLst>
      <p:ext uri="{BB962C8B-B14F-4D97-AF65-F5344CB8AC3E}">
        <p14:creationId xmlns:p14="http://schemas.microsoft.com/office/powerpoint/2010/main" val="40008924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Equivalence Partitioning</a:t>
            </a:r>
            <a:br>
              <a:rPr lang="en-US" b="1" dirty="0"/>
            </a:br>
            <a:endParaRPr lang="en-US" dirty="0"/>
          </a:p>
        </p:txBody>
      </p:sp>
      <p:sp>
        <p:nvSpPr>
          <p:cNvPr id="3" name="Content Placeholder 2"/>
          <p:cNvSpPr>
            <a:spLocks noGrp="1"/>
          </p:cNvSpPr>
          <p:nvPr>
            <p:ph idx="1"/>
          </p:nvPr>
        </p:nvSpPr>
        <p:spPr/>
        <p:txBody>
          <a:bodyPr>
            <a:normAutofit/>
          </a:bodyPr>
          <a:lstStyle/>
          <a:p>
            <a:pPr algn="just"/>
            <a:r>
              <a:rPr lang="en-US" dirty="0"/>
              <a:t>Equivalence partitioning divides input data into partitions of equivalent data from which test cases can be derived.</a:t>
            </a:r>
          </a:p>
          <a:p>
            <a:pPr algn="just"/>
            <a:r>
              <a:rPr lang="en-US" dirty="0"/>
              <a:t> It assumes that all values in each partition should behave the same way.</a:t>
            </a:r>
          </a:p>
          <a:p>
            <a:pPr algn="just"/>
            <a:r>
              <a:rPr lang="en-US" b="1" dirty="0"/>
              <a:t>Example</a:t>
            </a:r>
            <a:r>
              <a:rPr lang="en-US" dirty="0"/>
              <a:t>: For a field accepting ages between 1 and 100:</a:t>
            </a:r>
          </a:p>
          <a:p>
            <a:pPr algn="just"/>
            <a:r>
              <a:rPr lang="en-US" dirty="0"/>
              <a:t>Equivalence partitions: [1-50], [51-100], [&lt;1 (invalid)], and [&gt;100 (invalid)]</a:t>
            </a:r>
          </a:p>
        </p:txBody>
      </p:sp>
    </p:spTree>
    <p:extLst>
      <p:ext uri="{BB962C8B-B14F-4D97-AF65-F5344CB8AC3E}">
        <p14:creationId xmlns:p14="http://schemas.microsoft.com/office/powerpoint/2010/main" val="34594770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Boundary Value Analysis</a:t>
            </a:r>
            <a:br>
              <a:rPr lang="en-US" b="1" dirty="0"/>
            </a:br>
            <a:endParaRPr lang="en-US" dirty="0"/>
          </a:p>
        </p:txBody>
      </p:sp>
      <p:sp>
        <p:nvSpPr>
          <p:cNvPr id="3" name="Content Placeholder 2"/>
          <p:cNvSpPr>
            <a:spLocks noGrp="1"/>
          </p:cNvSpPr>
          <p:nvPr>
            <p:ph idx="1"/>
          </p:nvPr>
        </p:nvSpPr>
        <p:spPr/>
        <p:txBody>
          <a:bodyPr/>
          <a:lstStyle/>
          <a:p>
            <a:pPr algn="just"/>
            <a:r>
              <a:rPr lang="en-US" dirty="0"/>
              <a:t>Boundary Value Analysis focuses on the values at the boundaries of the input domains. It tests the edges of the input ranges as errors often occur at the boundaries.</a:t>
            </a:r>
          </a:p>
          <a:p>
            <a:pPr algn="just"/>
            <a:r>
              <a:rPr lang="en-US" b="1" dirty="0"/>
              <a:t>Example</a:t>
            </a:r>
            <a:r>
              <a:rPr lang="en-US" dirty="0"/>
              <a:t>: For a field accepting ages between 1 and 100:</a:t>
            </a:r>
          </a:p>
          <a:p>
            <a:pPr algn="just"/>
            <a:r>
              <a:rPr lang="en-US" dirty="0"/>
              <a:t>Test cases: 0 (invalid), 1 (valid), 100 (valid), and 101 (invalid)</a:t>
            </a:r>
          </a:p>
          <a:p>
            <a:pPr algn="just"/>
            <a:endParaRPr lang="en-US" dirty="0"/>
          </a:p>
          <a:p>
            <a:pPr algn="just"/>
            <a:endParaRPr lang="en-US" dirty="0"/>
          </a:p>
        </p:txBody>
      </p:sp>
    </p:spTree>
    <p:extLst>
      <p:ext uri="{BB962C8B-B14F-4D97-AF65-F5344CB8AC3E}">
        <p14:creationId xmlns:p14="http://schemas.microsoft.com/office/powerpoint/2010/main" val="41791480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Decision Table Testing</a:t>
            </a:r>
            <a:br>
              <a:rPr lang="en-US" b="1" dirty="0"/>
            </a:br>
            <a:endParaRPr lang="en-US" dirty="0"/>
          </a:p>
        </p:txBody>
      </p:sp>
      <p:sp>
        <p:nvSpPr>
          <p:cNvPr id="3" name="Content Placeholder 2"/>
          <p:cNvSpPr>
            <a:spLocks noGrp="1"/>
          </p:cNvSpPr>
          <p:nvPr>
            <p:ph idx="1"/>
          </p:nvPr>
        </p:nvSpPr>
        <p:spPr/>
        <p:txBody>
          <a:bodyPr/>
          <a:lstStyle/>
          <a:p>
            <a:r>
              <a:rPr lang="en-US" dirty="0"/>
              <a:t>Decision table testing uses a table to represent combinations of inputs and their corresponding outputs, ensuring all possible scenarios are tested.</a:t>
            </a:r>
          </a:p>
          <a:p>
            <a:r>
              <a:rPr lang="en-US" dirty="0"/>
              <a:t>For a simple login system:</a:t>
            </a:r>
          </a:p>
          <a:p>
            <a:endParaRPr lang="en-US" dirty="0"/>
          </a:p>
          <a:p>
            <a:endParaRPr lang="en-US" dirty="0"/>
          </a:p>
        </p:txBody>
      </p:sp>
      <p:pic>
        <p:nvPicPr>
          <p:cNvPr id="4" name="Picture 3"/>
          <p:cNvPicPr>
            <a:picLocks noChangeAspect="1"/>
          </p:cNvPicPr>
          <p:nvPr/>
        </p:nvPicPr>
        <p:blipFill>
          <a:blip r:embed="rId2"/>
          <a:stretch>
            <a:fillRect/>
          </a:stretch>
        </p:blipFill>
        <p:spPr>
          <a:xfrm>
            <a:off x="1036949" y="3714161"/>
            <a:ext cx="8672660" cy="2462802"/>
          </a:xfrm>
          <a:prstGeom prst="rect">
            <a:avLst/>
          </a:prstGeom>
        </p:spPr>
      </p:pic>
    </p:spTree>
    <p:extLst>
      <p:ext uri="{BB962C8B-B14F-4D97-AF65-F5344CB8AC3E}">
        <p14:creationId xmlns:p14="http://schemas.microsoft.com/office/powerpoint/2010/main" val="31031635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State Transition Testing</a:t>
            </a:r>
          </a:p>
        </p:txBody>
      </p:sp>
      <p:sp>
        <p:nvSpPr>
          <p:cNvPr id="3" name="Content Placeholder 2"/>
          <p:cNvSpPr>
            <a:spLocks noGrp="1"/>
          </p:cNvSpPr>
          <p:nvPr>
            <p:ph idx="1"/>
          </p:nvPr>
        </p:nvSpPr>
        <p:spPr/>
        <p:txBody>
          <a:bodyPr/>
          <a:lstStyle/>
          <a:p>
            <a:pPr algn="just"/>
            <a:r>
              <a:rPr lang="en-US" dirty="0"/>
              <a:t>State Transition Testing examines the transitions between different states in a system, ensuring that all possible state changes are tested.</a:t>
            </a:r>
          </a:p>
          <a:p>
            <a:pPr algn="just"/>
            <a:r>
              <a:rPr lang="en-US" dirty="0"/>
              <a:t>Example: For a login system:</a:t>
            </a:r>
          </a:p>
          <a:p>
            <a:pPr algn="just"/>
            <a:r>
              <a:rPr lang="en-US" dirty="0"/>
              <a:t>States: Logged Out, Logging In, Logged In</a:t>
            </a:r>
          </a:p>
          <a:p>
            <a:pPr algn="just"/>
            <a:r>
              <a:rPr lang="en-US" dirty="0"/>
              <a:t>Transitions: Logged Out -&gt; Logging In -&gt; Logged In, Logged In -&gt; Logged Out</a:t>
            </a:r>
          </a:p>
        </p:txBody>
      </p:sp>
    </p:spTree>
    <p:extLst>
      <p:ext uri="{BB962C8B-B14F-4D97-AF65-F5344CB8AC3E}">
        <p14:creationId xmlns:p14="http://schemas.microsoft.com/office/powerpoint/2010/main" val="8349523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Error Guessing</a:t>
            </a:r>
          </a:p>
        </p:txBody>
      </p:sp>
      <p:sp>
        <p:nvSpPr>
          <p:cNvPr id="3" name="Content Placeholder 2"/>
          <p:cNvSpPr>
            <a:spLocks noGrp="1"/>
          </p:cNvSpPr>
          <p:nvPr>
            <p:ph idx="1"/>
          </p:nvPr>
        </p:nvSpPr>
        <p:spPr>
          <a:xfrm>
            <a:off x="838200" y="1690688"/>
            <a:ext cx="10515600" cy="4351338"/>
          </a:xfrm>
        </p:spPr>
        <p:txBody>
          <a:bodyPr/>
          <a:lstStyle/>
          <a:p>
            <a:r>
              <a:rPr lang="en-US" dirty="0"/>
              <a:t>Error guessing involves using experience to guess the problematic areas of the application and focusing testing efforts on these areas.</a:t>
            </a:r>
          </a:p>
          <a:p>
            <a:r>
              <a:rPr lang="en-US" dirty="0"/>
              <a:t>Example: If a field often has issues with special characters, test cases might include inputs like #%&amp;*.</a:t>
            </a:r>
          </a:p>
        </p:txBody>
      </p:sp>
    </p:spTree>
    <p:extLst>
      <p:ext uri="{BB962C8B-B14F-4D97-AF65-F5344CB8AC3E}">
        <p14:creationId xmlns:p14="http://schemas.microsoft.com/office/powerpoint/2010/main" val="22769445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Black-Box Testing</a:t>
            </a:r>
            <a:br>
              <a:rPr lang="en-US" dirty="0"/>
            </a:br>
            <a:endParaRPr lang="en-US" dirty="0"/>
          </a:p>
        </p:txBody>
      </p:sp>
      <p:sp>
        <p:nvSpPr>
          <p:cNvPr id="3" name="Content Placeholder 2"/>
          <p:cNvSpPr>
            <a:spLocks noGrp="1"/>
          </p:cNvSpPr>
          <p:nvPr>
            <p:ph idx="1"/>
          </p:nvPr>
        </p:nvSpPr>
        <p:spPr/>
        <p:txBody>
          <a:bodyPr/>
          <a:lstStyle/>
          <a:p>
            <a:pPr fontAlgn="base"/>
            <a:r>
              <a:rPr lang="en-US" dirty="0"/>
              <a:t>More effective on larger units of code than glass box testing</a:t>
            </a:r>
          </a:p>
          <a:p>
            <a:pPr fontAlgn="base"/>
            <a:r>
              <a:rPr lang="en-US" dirty="0"/>
              <a:t>Tester needs no knowledge of implementation, including specific programming languages</a:t>
            </a:r>
          </a:p>
          <a:p>
            <a:pPr fontAlgn="base"/>
            <a:r>
              <a:rPr lang="en-US" dirty="0"/>
              <a:t>Tester and programmer are independent of each other</a:t>
            </a:r>
          </a:p>
          <a:p>
            <a:endParaRPr lang="en-US" dirty="0"/>
          </a:p>
        </p:txBody>
      </p:sp>
    </p:spTree>
    <p:extLst>
      <p:ext uri="{BB962C8B-B14F-4D97-AF65-F5344CB8AC3E}">
        <p14:creationId xmlns:p14="http://schemas.microsoft.com/office/powerpoint/2010/main" val="20930538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Black box testing is further divided into </a:t>
            </a:r>
            <a:br>
              <a:rPr lang="en-US" b="1" dirty="0"/>
            </a:br>
            <a:endParaRPr lang="en-US" b="1" dirty="0"/>
          </a:p>
        </p:txBody>
      </p:sp>
      <p:sp>
        <p:nvSpPr>
          <p:cNvPr id="3" name="Content Placeholder 2"/>
          <p:cNvSpPr>
            <a:spLocks noGrp="1"/>
          </p:cNvSpPr>
          <p:nvPr>
            <p:ph idx="1"/>
          </p:nvPr>
        </p:nvSpPr>
        <p:spPr/>
        <p:txBody>
          <a:bodyPr/>
          <a:lstStyle/>
          <a:p>
            <a:pPr marL="514350" indent="-514350">
              <a:buAutoNum type="arabicPeriod"/>
            </a:pPr>
            <a:r>
              <a:rPr lang="en-US" dirty="0"/>
              <a:t>Functional Testing</a:t>
            </a:r>
          </a:p>
          <a:p>
            <a:pPr marL="514350" indent="-514350">
              <a:buAutoNum type="arabicPeriod"/>
            </a:pPr>
            <a:r>
              <a:rPr lang="en-US" dirty="0"/>
              <a:t>Non functional Testing</a:t>
            </a:r>
          </a:p>
          <a:p>
            <a:endParaRPr lang="en-US" dirty="0"/>
          </a:p>
        </p:txBody>
      </p:sp>
    </p:spTree>
    <p:extLst>
      <p:ext uri="{BB962C8B-B14F-4D97-AF65-F5344CB8AC3E}">
        <p14:creationId xmlns:p14="http://schemas.microsoft.com/office/powerpoint/2010/main" val="6493046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Functional Testing</a:t>
            </a:r>
            <a:br>
              <a:rPr lang="en-US" b="1" dirty="0"/>
            </a:br>
            <a:endParaRPr lang="en-US" b="1" dirty="0"/>
          </a:p>
        </p:txBody>
      </p:sp>
      <p:sp>
        <p:nvSpPr>
          <p:cNvPr id="3" name="Content Placeholder 2"/>
          <p:cNvSpPr>
            <a:spLocks noGrp="1"/>
          </p:cNvSpPr>
          <p:nvPr>
            <p:ph idx="1"/>
          </p:nvPr>
        </p:nvSpPr>
        <p:spPr/>
        <p:txBody>
          <a:bodyPr>
            <a:normAutofit lnSpcReduction="10000"/>
          </a:bodyPr>
          <a:lstStyle/>
          <a:p>
            <a:pPr marL="0" indent="0" algn="just" fontAlgn="base">
              <a:buNone/>
            </a:pPr>
            <a:r>
              <a:rPr lang="en-US" dirty="0"/>
              <a:t>Functional testing aims to verify that there are no gaps between developed features/functions and required features/functions.</a:t>
            </a:r>
          </a:p>
          <a:p>
            <a:pPr marL="0" indent="0" algn="just" fontAlgn="base">
              <a:buNone/>
            </a:pPr>
            <a:r>
              <a:rPr lang="en-US" dirty="0"/>
              <a:t>The QA team writes functional test cases. After providing the input, the outputs are verified and the actual results are compared with the expected outcomes.</a:t>
            </a:r>
          </a:p>
          <a:p>
            <a:pPr marL="0" indent="0" algn="just" fontAlgn="base">
              <a:buNone/>
            </a:pPr>
            <a:r>
              <a:rPr lang="en-US" dirty="0"/>
              <a:t>Functional testing is performed at various levels like</a:t>
            </a:r>
          </a:p>
          <a:p>
            <a:pPr algn="just" fontAlgn="base"/>
            <a:r>
              <a:rPr lang="en-US" dirty="0"/>
              <a:t>Unit Testing</a:t>
            </a:r>
          </a:p>
          <a:p>
            <a:pPr algn="just" fontAlgn="base"/>
            <a:r>
              <a:rPr lang="en-US" dirty="0"/>
              <a:t>Integration Testing</a:t>
            </a:r>
          </a:p>
          <a:p>
            <a:pPr algn="just" fontAlgn="base"/>
            <a:r>
              <a:rPr lang="en-US" dirty="0"/>
              <a:t>System Testing</a:t>
            </a:r>
          </a:p>
          <a:p>
            <a:pPr algn="just" fontAlgn="base"/>
            <a:r>
              <a:rPr lang="en-US" dirty="0"/>
              <a:t>Acceptance Testing</a:t>
            </a:r>
          </a:p>
          <a:p>
            <a:pPr algn="just"/>
            <a:endParaRPr lang="en-US" dirty="0"/>
          </a:p>
        </p:txBody>
      </p:sp>
    </p:spTree>
    <p:extLst>
      <p:ext uri="{BB962C8B-B14F-4D97-AF65-F5344CB8AC3E}">
        <p14:creationId xmlns:p14="http://schemas.microsoft.com/office/powerpoint/2010/main" val="23383451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Non functional Testing</a:t>
            </a:r>
            <a:br>
              <a:rPr lang="en-US" b="1" dirty="0"/>
            </a:br>
            <a:endParaRPr lang="en-US" b="1" dirty="0"/>
          </a:p>
        </p:txBody>
      </p:sp>
      <p:sp>
        <p:nvSpPr>
          <p:cNvPr id="3" name="Content Placeholder 2"/>
          <p:cNvSpPr>
            <a:spLocks noGrp="1"/>
          </p:cNvSpPr>
          <p:nvPr>
            <p:ph idx="1"/>
          </p:nvPr>
        </p:nvSpPr>
        <p:spPr/>
        <p:txBody>
          <a:bodyPr>
            <a:normAutofit lnSpcReduction="10000"/>
          </a:bodyPr>
          <a:lstStyle/>
          <a:p>
            <a:pPr marL="0" indent="0" fontAlgn="base">
              <a:buNone/>
            </a:pPr>
            <a:r>
              <a:rPr lang="en-US" dirty="0"/>
              <a:t>Non-functional testing aims to focus on the non-functional parts of the software like:</a:t>
            </a:r>
          </a:p>
          <a:p>
            <a:pPr fontAlgn="base"/>
            <a:r>
              <a:rPr lang="en-US" dirty="0"/>
              <a:t>Memory leaks</a:t>
            </a:r>
          </a:p>
          <a:p>
            <a:pPr fontAlgn="base"/>
            <a:r>
              <a:rPr lang="en-US" dirty="0"/>
              <a:t>Performance</a:t>
            </a:r>
          </a:p>
          <a:p>
            <a:pPr fontAlgn="base"/>
            <a:r>
              <a:rPr lang="en-US" dirty="0"/>
              <a:t>Toughness</a:t>
            </a:r>
          </a:p>
          <a:p>
            <a:pPr fontAlgn="base"/>
            <a:r>
              <a:rPr lang="en-US" dirty="0"/>
              <a:t>Load</a:t>
            </a:r>
          </a:p>
          <a:p>
            <a:pPr fontAlgn="base"/>
            <a:r>
              <a:rPr lang="en-US" dirty="0"/>
              <a:t>Volume</a:t>
            </a:r>
          </a:p>
          <a:p>
            <a:pPr fontAlgn="base"/>
            <a:r>
              <a:rPr lang="en-US" dirty="0"/>
              <a:t>Scalability</a:t>
            </a:r>
          </a:p>
          <a:p>
            <a:pPr fontAlgn="base"/>
            <a:r>
              <a:rPr lang="en-US" dirty="0"/>
              <a:t>Usability</a:t>
            </a:r>
          </a:p>
          <a:p>
            <a:endParaRPr lang="en-US" dirty="0"/>
          </a:p>
        </p:txBody>
      </p:sp>
    </p:spTree>
    <p:extLst>
      <p:ext uri="{BB962C8B-B14F-4D97-AF65-F5344CB8AC3E}">
        <p14:creationId xmlns:p14="http://schemas.microsoft.com/office/powerpoint/2010/main" val="16834537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Testing Process</a:t>
            </a:r>
          </a:p>
        </p:txBody>
      </p:sp>
      <p:sp>
        <p:nvSpPr>
          <p:cNvPr id="3" name="Content Placeholder 2"/>
          <p:cNvSpPr>
            <a:spLocks noGrp="1"/>
          </p:cNvSpPr>
          <p:nvPr>
            <p:ph idx="1"/>
          </p:nvPr>
        </p:nvSpPr>
        <p:spPr/>
        <p:txBody>
          <a:bodyPr/>
          <a:lstStyle/>
          <a:p>
            <a:r>
              <a:rPr lang="en-US" dirty="0"/>
              <a:t>Test case</a:t>
            </a:r>
          </a:p>
          <a:p>
            <a:r>
              <a:rPr lang="en-US" dirty="0"/>
              <a:t>Test data</a:t>
            </a:r>
          </a:p>
        </p:txBody>
      </p:sp>
    </p:spTree>
    <p:extLst>
      <p:ext uri="{BB962C8B-B14F-4D97-AF65-F5344CB8AC3E}">
        <p14:creationId xmlns:p14="http://schemas.microsoft.com/office/powerpoint/2010/main" val="36820371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84566"/>
          </a:xfrm>
        </p:spPr>
        <p:txBody>
          <a:bodyPr/>
          <a:lstStyle/>
          <a:p>
            <a:r>
              <a:rPr lang="en-US" b="1" dirty="0"/>
              <a:t>Test case design</a:t>
            </a:r>
          </a:p>
        </p:txBody>
      </p:sp>
      <p:sp>
        <p:nvSpPr>
          <p:cNvPr id="3" name="Content Placeholder 2"/>
          <p:cNvSpPr>
            <a:spLocks noGrp="1"/>
          </p:cNvSpPr>
          <p:nvPr>
            <p:ph idx="1"/>
          </p:nvPr>
        </p:nvSpPr>
        <p:spPr>
          <a:xfrm>
            <a:off x="838200" y="2130459"/>
            <a:ext cx="10515600" cy="4046504"/>
          </a:xfrm>
        </p:spPr>
        <p:txBody>
          <a:bodyPr/>
          <a:lstStyle/>
          <a:p>
            <a:pPr algn="just"/>
            <a:r>
              <a:rPr lang="en-US" dirty="0"/>
              <a:t>A </a:t>
            </a:r>
            <a:r>
              <a:rPr lang="en-US" b="1" dirty="0"/>
              <a:t>Test Case</a:t>
            </a:r>
            <a:r>
              <a:rPr lang="en-US" dirty="0"/>
              <a:t> is a set of actions executed to verify a particular feature or functionality of software application. </a:t>
            </a:r>
          </a:p>
          <a:p>
            <a:pPr algn="just"/>
            <a:r>
              <a:rPr lang="en-US" dirty="0"/>
              <a:t>A Test Case contains test steps, test data, precondition, post condition developed for specific test scenario to verify any requirement. </a:t>
            </a:r>
          </a:p>
          <a:p>
            <a:pPr algn="just"/>
            <a:r>
              <a:rPr lang="en-US" dirty="0"/>
              <a:t>The test case includes specific variables or conditions, using which a testing engineer can compare expected and actual results to determine whether a software product is functioning as per the requirements of the customer.</a:t>
            </a:r>
          </a:p>
        </p:txBody>
      </p:sp>
    </p:spTree>
    <p:extLst>
      <p:ext uri="{BB962C8B-B14F-4D97-AF65-F5344CB8AC3E}">
        <p14:creationId xmlns:p14="http://schemas.microsoft.com/office/powerpoint/2010/main" val="16340405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 Case vs Test Data</a:t>
            </a:r>
            <a:br>
              <a:rPr lang="en-US" b="1" dirty="0"/>
            </a:br>
            <a:endParaRPr lang="en-US" dirty="0"/>
          </a:p>
        </p:txBody>
      </p:sp>
      <p:sp>
        <p:nvSpPr>
          <p:cNvPr id="3" name="Content Placeholder 2"/>
          <p:cNvSpPr>
            <a:spLocks noGrp="1"/>
          </p:cNvSpPr>
          <p:nvPr>
            <p:ph idx="1"/>
          </p:nvPr>
        </p:nvSpPr>
        <p:spPr/>
        <p:txBody>
          <a:bodyPr>
            <a:normAutofit/>
          </a:bodyPr>
          <a:lstStyle/>
          <a:p>
            <a:pPr marL="0" indent="0">
              <a:buNone/>
            </a:pPr>
            <a:r>
              <a:rPr lang="en-US" dirty="0"/>
              <a:t>Test scenarios cover a wide range of possibilities. </a:t>
            </a:r>
          </a:p>
          <a:p>
            <a:pPr marL="0" indent="0">
              <a:buNone/>
            </a:pPr>
            <a:r>
              <a:rPr lang="en-US" dirty="0"/>
              <a:t>Testing is all about being very specific.</a:t>
            </a:r>
          </a:p>
          <a:p>
            <a:pPr marL="0" indent="0">
              <a:buNone/>
            </a:pPr>
            <a:r>
              <a:rPr lang="en-US" dirty="0"/>
              <a:t>For a Test Scenario: Check Login Functionality there many possible test cases are:</a:t>
            </a:r>
          </a:p>
          <a:p>
            <a:pPr marL="0" indent="0">
              <a:buNone/>
            </a:pPr>
            <a:r>
              <a:rPr lang="en-US" dirty="0"/>
              <a:t>Test Case 1: Check results on entering valid User Id &amp; Password</a:t>
            </a:r>
          </a:p>
          <a:p>
            <a:pPr marL="0" indent="0">
              <a:buNone/>
            </a:pPr>
            <a:r>
              <a:rPr lang="en-US" dirty="0"/>
              <a:t>Test Case 2: Check results on entering Invalid User ID &amp; Password</a:t>
            </a:r>
          </a:p>
          <a:p>
            <a:pPr marL="0" indent="0">
              <a:buNone/>
            </a:pPr>
            <a:r>
              <a:rPr lang="en-US" dirty="0"/>
              <a:t>Test Case 3: Check response when a User ID is Empty &amp; Login Button is pressed, and many more</a:t>
            </a:r>
          </a:p>
          <a:p>
            <a:pPr marL="0" indent="0">
              <a:buNone/>
            </a:pPr>
            <a:r>
              <a:rPr lang="en-US" dirty="0"/>
              <a:t>This is nothing but a Test Case.</a:t>
            </a:r>
          </a:p>
          <a:p>
            <a:endParaRPr lang="en-US" dirty="0"/>
          </a:p>
        </p:txBody>
      </p:sp>
      <p:sp>
        <p:nvSpPr>
          <p:cNvPr id="4" name="Title 1"/>
          <p:cNvSpPr txBox="1">
            <a:spLocks/>
          </p:cNvSpPr>
          <p:nvPr/>
        </p:nvSpPr>
        <p:spPr>
          <a:xfrm>
            <a:off x="838200" y="3274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p>
        </p:txBody>
      </p:sp>
    </p:spTree>
    <p:extLst>
      <p:ext uri="{BB962C8B-B14F-4D97-AF65-F5344CB8AC3E}">
        <p14:creationId xmlns:p14="http://schemas.microsoft.com/office/powerpoint/2010/main" val="35657003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Test Case vs Test data</a:t>
            </a:r>
            <a:br>
              <a:rPr lang="en-US" b="1" dirty="0"/>
            </a:br>
            <a:endParaRPr lang="en-US" dirty="0"/>
          </a:p>
        </p:txBody>
      </p:sp>
      <p:pic>
        <p:nvPicPr>
          <p:cNvPr id="4" name="Content Placeholder 3"/>
          <p:cNvPicPr>
            <a:picLocks noGrp="1" noChangeAspect="1"/>
          </p:cNvPicPr>
          <p:nvPr>
            <p:ph idx="1"/>
          </p:nvPr>
        </p:nvPicPr>
        <p:blipFill>
          <a:blip r:embed="rId2"/>
          <a:stretch>
            <a:fillRect/>
          </a:stretch>
        </p:blipFill>
        <p:spPr>
          <a:xfrm>
            <a:off x="1796829" y="2581996"/>
            <a:ext cx="8598342" cy="2838596"/>
          </a:xfrm>
          <a:prstGeom prst="rect">
            <a:avLst/>
          </a:prstGeom>
        </p:spPr>
      </p:pic>
    </p:spTree>
    <p:extLst>
      <p:ext uri="{BB962C8B-B14F-4D97-AF65-F5344CB8AC3E}">
        <p14:creationId xmlns:p14="http://schemas.microsoft.com/office/powerpoint/2010/main" val="12045692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Regression testing</a:t>
            </a:r>
          </a:p>
        </p:txBody>
      </p:sp>
      <p:sp>
        <p:nvSpPr>
          <p:cNvPr id="3" name="Content Placeholder 2"/>
          <p:cNvSpPr>
            <a:spLocks noGrp="1"/>
          </p:cNvSpPr>
          <p:nvPr>
            <p:ph idx="1"/>
          </p:nvPr>
        </p:nvSpPr>
        <p:spPr/>
        <p:txBody>
          <a:bodyPr/>
          <a:lstStyle/>
          <a:p>
            <a:pPr algn="just"/>
            <a:r>
              <a:rPr lang="en-US" b="1" dirty="0"/>
              <a:t>Regression Testing</a:t>
            </a:r>
            <a:r>
              <a:rPr lang="en-US" dirty="0"/>
              <a:t> is defined as a type of software testing to confirm that a recent program or code change has not adversely affected existing features. </a:t>
            </a:r>
          </a:p>
          <a:p>
            <a:pPr algn="just"/>
            <a:r>
              <a:rPr lang="en-US" dirty="0"/>
              <a:t>Regression Testing is nothing but a full or partial selection of already executed test cases that are re-executed to ensure existing functionalities work fine.</a:t>
            </a:r>
          </a:p>
          <a:p>
            <a:pPr algn="just"/>
            <a:r>
              <a:rPr lang="en-US" dirty="0"/>
              <a:t>This testing is done to ensure that new code changes do not have side effects on the existing </a:t>
            </a:r>
            <a:r>
              <a:rPr lang="en-US"/>
              <a:t>functionalities.</a:t>
            </a:r>
          </a:p>
          <a:p>
            <a:pPr algn="just"/>
            <a:r>
              <a:rPr lang="en-US"/>
              <a:t> </a:t>
            </a:r>
            <a:r>
              <a:rPr lang="en-US" dirty="0"/>
              <a:t>It ensures that the old code still works once the latest code changes are done.</a:t>
            </a:r>
          </a:p>
          <a:p>
            <a:pPr algn="just"/>
            <a:endParaRPr lang="en-US" dirty="0"/>
          </a:p>
        </p:txBody>
      </p:sp>
    </p:spTree>
    <p:extLst>
      <p:ext uri="{BB962C8B-B14F-4D97-AF65-F5344CB8AC3E}">
        <p14:creationId xmlns:p14="http://schemas.microsoft.com/office/powerpoint/2010/main" val="5311055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inspection</a:t>
            </a:r>
          </a:p>
        </p:txBody>
      </p:sp>
      <p:sp>
        <p:nvSpPr>
          <p:cNvPr id="3" name="Content Placeholder 2"/>
          <p:cNvSpPr>
            <a:spLocks noGrp="1"/>
          </p:cNvSpPr>
          <p:nvPr>
            <p:ph idx="1"/>
          </p:nvPr>
        </p:nvSpPr>
        <p:spPr/>
        <p:txBody>
          <a:bodyPr/>
          <a:lstStyle/>
          <a:p>
            <a:pPr algn="just" fontAlgn="base"/>
            <a:r>
              <a:rPr lang="en-US" dirty="0"/>
              <a:t>The term software inspection was developed by IBM in the early 1970s, when it was noticed that the testing was not enough sufficient to attain high quality software for large applications. </a:t>
            </a:r>
            <a:br>
              <a:rPr lang="en-US" dirty="0"/>
            </a:br>
            <a:r>
              <a:rPr lang="en-US" dirty="0"/>
              <a:t> </a:t>
            </a:r>
          </a:p>
          <a:p>
            <a:pPr algn="just" fontAlgn="base"/>
            <a:r>
              <a:rPr lang="en-US" dirty="0"/>
              <a:t>Software inspection is a process in which other developers or team members review the code written by a developer to identify potential errors or areas for improvement.</a:t>
            </a:r>
          </a:p>
          <a:p>
            <a:pPr algn="just" fontAlgn="base"/>
            <a:r>
              <a:rPr lang="en-US" dirty="0"/>
              <a:t> This process can help improve the overall quality of the software by identifying and resolving faults early in the development process.</a:t>
            </a:r>
          </a:p>
          <a:p>
            <a:pPr algn="just"/>
            <a:endParaRPr lang="en-US" dirty="0"/>
          </a:p>
        </p:txBody>
      </p:sp>
    </p:spTree>
    <p:extLst>
      <p:ext uri="{BB962C8B-B14F-4D97-AF65-F5344CB8AC3E}">
        <p14:creationId xmlns:p14="http://schemas.microsoft.com/office/powerpoint/2010/main" val="31750858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Inspection key Points</a:t>
            </a:r>
          </a:p>
        </p:txBody>
      </p:sp>
      <p:sp>
        <p:nvSpPr>
          <p:cNvPr id="3" name="Content Placeholder 2"/>
          <p:cNvSpPr>
            <a:spLocks noGrp="1"/>
          </p:cNvSpPr>
          <p:nvPr>
            <p:ph idx="1"/>
          </p:nvPr>
        </p:nvSpPr>
        <p:spPr/>
        <p:txBody>
          <a:bodyPr>
            <a:normAutofit/>
          </a:bodyPr>
          <a:lstStyle/>
          <a:p>
            <a:pPr algn="just" fontAlgn="base"/>
            <a:r>
              <a:rPr lang="en-US" b="1" dirty="0"/>
              <a:t>Identifying and resolving defects early</a:t>
            </a:r>
            <a:r>
              <a:rPr lang="en-US" dirty="0"/>
              <a:t>: By identifying and resolving defects early in the development process, inspection can prevent costly rework and delays later in the project.</a:t>
            </a:r>
          </a:p>
          <a:p>
            <a:pPr algn="just" fontAlgn="base"/>
            <a:r>
              <a:rPr lang="en-US" b="1" dirty="0"/>
              <a:t>Enhancing code readability: </a:t>
            </a:r>
            <a:r>
              <a:rPr lang="en-US" dirty="0"/>
              <a:t>Inspection can help improve the readability of the code, making it easier for other developers to understand and maintain.</a:t>
            </a:r>
          </a:p>
          <a:p>
            <a:pPr algn="just" fontAlgn="base"/>
            <a:r>
              <a:rPr lang="en-US" b="1" dirty="0"/>
              <a:t>Improving team collaboration:</a:t>
            </a:r>
            <a:r>
              <a:rPr lang="en-US" dirty="0"/>
              <a:t> Inspection can help improve team collaboration by encouraging developers to share their ideas and knowledge.</a:t>
            </a:r>
          </a:p>
          <a:p>
            <a:pPr algn="just"/>
            <a:endParaRPr lang="en-US" dirty="0"/>
          </a:p>
        </p:txBody>
      </p:sp>
    </p:spTree>
    <p:extLst>
      <p:ext uri="{BB962C8B-B14F-4D97-AF65-F5344CB8AC3E}">
        <p14:creationId xmlns:p14="http://schemas.microsoft.com/office/powerpoint/2010/main" val="9604497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Inspection key Points</a:t>
            </a:r>
            <a:endParaRPr lang="en-US" dirty="0"/>
          </a:p>
        </p:txBody>
      </p:sp>
      <p:sp>
        <p:nvSpPr>
          <p:cNvPr id="3" name="Content Placeholder 2"/>
          <p:cNvSpPr>
            <a:spLocks noGrp="1"/>
          </p:cNvSpPr>
          <p:nvPr>
            <p:ph idx="1"/>
          </p:nvPr>
        </p:nvSpPr>
        <p:spPr/>
        <p:txBody>
          <a:bodyPr>
            <a:normAutofit fontScale="92500" lnSpcReduction="10000"/>
          </a:bodyPr>
          <a:lstStyle/>
          <a:p>
            <a:pPr algn="just" fontAlgn="base"/>
            <a:r>
              <a:rPr lang="en-US" b="1" dirty="0"/>
              <a:t>Enhancing code maintainability:</a:t>
            </a:r>
            <a:r>
              <a:rPr lang="en-US" dirty="0"/>
              <a:t> Inspection can help identify areas where code is difficult to maintain and suggest improvements to make it more maintainable.</a:t>
            </a:r>
          </a:p>
          <a:p>
            <a:pPr algn="just" fontAlgn="base"/>
            <a:r>
              <a:rPr lang="en-US" b="1" dirty="0"/>
              <a:t>Improving code efficiency: </a:t>
            </a:r>
            <a:r>
              <a:rPr lang="en-US" dirty="0"/>
              <a:t>Inspection can help identify areas where code is inefficient and suggest improvements to make it more efficient.</a:t>
            </a:r>
          </a:p>
          <a:p>
            <a:pPr algn="just" fontAlgn="base"/>
            <a:r>
              <a:rPr lang="en-US" b="1" dirty="0"/>
              <a:t>Enhancing security</a:t>
            </a:r>
            <a:r>
              <a:rPr lang="en-US" dirty="0"/>
              <a:t>: Inspection can help identify security vulnerabilities in the code and suggest improvements to make the software more secure.</a:t>
            </a:r>
          </a:p>
          <a:p>
            <a:pPr algn="just" fontAlgn="base"/>
            <a:r>
              <a:rPr lang="en-US" b="1" dirty="0"/>
              <a:t>Improving the overall quality of the software:</a:t>
            </a:r>
            <a:r>
              <a:rPr lang="en-US" dirty="0"/>
              <a:t> By identifying and resolving defects early in the development process, inspection can help improve the overall quality of the software and ensure that it meets the needs of its users.</a:t>
            </a:r>
          </a:p>
          <a:p>
            <a:pPr algn="just"/>
            <a:endParaRPr lang="en-US" dirty="0"/>
          </a:p>
        </p:txBody>
      </p:sp>
    </p:spTree>
    <p:extLst>
      <p:ext uri="{BB962C8B-B14F-4D97-AF65-F5344CB8AC3E}">
        <p14:creationId xmlns:p14="http://schemas.microsoft.com/office/powerpoint/2010/main" val="22275977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Inspection Roles</a:t>
            </a:r>
          </a:p>
        </p:txBody>
      </p:sp>
      <p:sp>
        <p:nvSpPr>
          <p:cNvPr id="3" name="Content Placeholder 2"/>
          <p:cNvSpPr>
            <a:spLocks noGrp="1"/>
          </p:cNvSpPr>
          <p:nvPr>
            <p:ph idx="1"/>
          </p:nvPr>
        </p:nvSpPr>
        <p:spPr/>
        <p:txBody>
          <a:bodyPr>
            <a:normAutofit fontScale="92500" lnSpcReduction="20000"/>
          </a:bodyPr>
          <a:lstStyle/>
          <a:p>
            <a:pPr algn="just"/>
            <a:r>
              <a:rPr lang="en-US" b="1" dirty="0"/>
              <a:t>Author or owner. </a:t>
            </a:r>
            <a:r>
              <a:rPr lang="en-US" dirty="0"/>
              <a:t>The programmer or designer responsible for producing the program or document. Responsible for fixing defects discovered during the inspection process.</a:t>
            </a:r>
          </a:p>
          <a:p>
            <a:pPr algn="just"/>
            <a:r>
              <a:rPr lang="en-US" b="1" dirty="0"/>
              <a:t>Inspector</a:t>
            </a:r>
            <a:r>
              <a:rPr lang="en-US" dirty="0"/>
              <a:t>. Finds errors, omissions and inconsistencies in programs and documents. May also identify broader issues with the code being inspected such as lack of portability.</a:t>
            </a:r>
          </a:p>
          <a:p>
            <a:pPr algn="just"/>
            <a:r>
              <a:rPr lang="en-US" b="1" dirty="0"/>
              <a:t>Reader</a:t>
            </a:r>
            <a:r>
              <a:rPr lang="en-US" dirty="0"/>
              <a:t>. Presents the code or document at an inspection meeting.</a:t>
            </a:r>
          </a:p>
          <a:p>
            <a:pPr algn="just"/>
            <a:r>
              <a:rPr lang="en-US" b="1" dirty="0"/>
              <a:t>Chairman or moderator. </a:t>
            </a:r>
            <a:r>
              <a:rPr lang="en-US" dirty="0"/>
              <a:t>Manages the process and facilitates the inspection. Reports process results to the chief moderator.</a:t>
            </a:r>
          </a:p>
          <a:p>
            <a:pPr algn="just"/>
            <a:r>
              <a:rPr lang="en-US" b="1" dirty="0"/>
              <a:t>Scribe</a:t>
            </a:r>
            <a:r>
              <a:rPr lang="en-US" dirty="0"/>
              <a:t>. Records the results of the inspection meeting.</a:t>
            </a:r>
          </a:p>
          <a:p>
            <a:pPr algn="just"/>
            <a:r>
              <a:rPr lang="en-US" b="1" dirty="0"/>
              <a:t>Chief moderator. </a:t>
            </a:r>
            <a:r>
              <a:rPr lang="en-US" dirty="0"/>
              <a:t>Responsible for inspection process improvements, checklist updating, standards development, etc. Not necessarily involved in all inspections.</a:t>
            </a:r>
          </a:p>
          <a:p>
            <a:pPr algn="just"/>
            <a:endParaRPr lang="en-US" dirty="0"/>
          </a:p>
        </p:txBody>
      </p:sp>
    </p:spTree>
    <p:extLst>
      <p:ext uri="{BB962C8B-B14F-4D97-AF65-F5344CB8AC3E}">
        <p14:creationId xmlns:p14="http://schemas.microsoft.com/office/powerpoint/2010/main" val="2618612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Stages In The Software Inspection Process</a:t>
            </a:r>
          </a:p>
        </p:txBody>
      </p:sp>
      <p:sp>
        <p:nvSpPr>
          <p:cNvPr id="3" name="Content Placeholder 2"/>
          <p:cNvSpPr>
            <a:spLocks noGrp="1"/>
          </p:cNvSpPr>
          <p:nvPr>
            <p:ph idx="1"/>
          </p:nvPr>
        </p:nvSpPr>
        <p:spPr/>
        <p:txBody>
          <a:bodyPr>
            <a:normAutofit fontScale="92500" lnSpcReduction="20000"/>
          </a:bodyPr>
          <a:lstStyle/>
          <a:p>
            <a:pPr fontAlgn="base"/>
            <a:r>
              <a:rPr lang="en-US" b="1" dirty="0"/>
              <a:t>Planning :</a:t>
            </a:r>
            <a:r>
              <a:rPr lang="en-US" dirty="0"/>
              <a:t> The moderator plan the inspection. </a:t>
            </a:r>
          </a:p>
          <a:p>
            <a:pPr fontAlgn="base"/>
            <a:r>
              <a:rPr lang="en-US" b="1" dirty="0"/>
              <a:t>Overview Meeting: </a:t>
            </a:r>
            <a:r>
              <a:rPr lang="en-US" dirty="0"/>
              <a:t>The background of the work product is described by the author. </a:t>
            </a:r>
          </a:p>
          <a:p>
            <a:pPr fontAlgn="base"/>
            <a:r>
              <a:rPr lang="en-US" b="1" dirty="0"/>
              <a:t>Preparation: </a:t>
            </a:r>
            <a:r>
              <a:rPr lang="en-US" dirty="0"/>
              <a:t>The examination of the work product is done by inspector to identify the possible defects. </a:t>
            </a:r>
          </a:p>
          <a:p>
            <a:pPr fontAlgn="base"/>
            <a:r>
              <a:rPr lang="en-US" b="1" dirty="0"/>
              <a:t>Inspection Meeting: </a:t>
            </a:r>
            <a:r>
              <a:rPr lang="en-US" dirty="0"/>
              <a:t>The reader reads the work product part by part during this meeting and the inspectors the faults of each part. </a:t>
            </a:r>
          </a:p>
          <a:p>
            <a:pPr fontAlgn="base"/>
            <a:r>
              <a:rPr lang="en-US" b="1" dirty="0"/>
              <a:t>Rework:</a:t>
            </a:r>
            <a:r>
              <a:rPr lang="en-US" dirty="0"/>
              <a:t> After the inspection meeting, the writer changes the work product according to the work plans. </a:t>
            </a:r>
          </a:p>
          <a:p>
            <a:pPr fontAlgn="base"/>
            <a:r>
              <a:rPr lang="en-US" b="1" dirty="0"/>
              <a:t>Follow Up: </a:t>
            </a:r>
            <a:r>
              <a:rPr lang="en-US" dirty="0"/>
              <a:t>The changes done by the author are checked to make sure that everything is correct. </a:t>
            </a:r>
            <a:br>
              <a:rPr lang="en-US" dirty="0"/>
            </a:br>
            <a:r>
              <a:rPr lang="en-US" dirty="0"/>
              <a:t> </a:t>
            </a:r>
          </a:p>
          <a:p>
            <a:endParaRPr lang="en-US" dirty="0"/>
          </a:p>
        </p:txBody>
      </p:sp>
    </p:spTree>
    <p:extLst>
      <p:ext uri="{BB962C8B-B14F-4D97-AF65-F5344CB8AC3E}">
        <p14:creationId xmlns:p14="http://schemas.microsoft.com/office/powerpoint/2010/main" val="3814071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Quality Management</a:t>
            </a:r>
          </a:p>
        </p:txBody>
      </p:sp>
      <p:sp>
        <p:nvSpPr>
          <p:cNvPr id="3" name="Content Placeholder 2"/>
          <p:cNvSpPr>
            <a:spLocks noGrp="1"/>
          </p:cNvSpPr>
          <p:nvPr>
            <p:ph idx="1"/>
          </p:nvPr>
        </p:nvSpPr>
        <p:spPr/>
        <p:txBody>
          <a:bodyPr/>
          <a:lstStyle/>
          <a:p>
            <a:pPr algn="just"/>
            <a:r>
              <a:rPr lang="en-US" dirty="0"/>
              <a:t>Quality software refers to a software which is reasonably bug or defect free, is delivered in time and within the specified budget, meets the requirements and/or expectations, and is maintainable. </a:t>
            </a:r>
          </a:p>
          <a:p>
            <a:pPr algn="just"/>
            <a:r>
              <a:rPr lang="en-US" dirty="0"/>
              <a:t>In the software engineering context, software quality reflects both functional quality as well as structural quality.</a:t>
            </a:r>
          </a:p>
        </p:txBody>
      </p:sp>
    </p:spTree>
    <p:extLst>
      <p:ext uri="{BB962C8B-B14F-4D97-AF65-F5344CB8AC3E}">
        <p14:creationId xmlns:p14="http://schemas.microsoft.com/office/powerpoint/2010/main" val="20794492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Quality Planning</a:t>
            </a:r>
            <a:br>
              <a:rPr lang="en-US" b="1" dirty="0"/>
            </a:br>
            <a:endParaRPr lang="en-US" b="1" dirty="0"/>
          </a:p>
        </p:txBody>
      </p:sp>
      <p:sp>
        <p:nvSpPr>
          <p:cNvPr id="3" name="Content Placeholder 2"/>
          <p:cNvSpPr>
            <a:spLocks noGrp="1"/>
          </p:cNvSpPr>
          <p:nvPr>
            <p:ph idx="1"/>
          </p:nvPr>
        </p:nvSpPr>
        <p:spPr/>
        <p:txBody>
          <a:bodyPr>
            <a:normAutofit/>
          </a:bodyPr>
          <a:lstStyle/>
          <a:p>
            <a:r>
              <a:rPr lang="en-US" dirty="0"/>
              <a:t>Before software development begins, quality planning must take place. </a:t>
            </a:r>
          </a:p>
          <a:p>
            <a:r>
              <a:rPr lang="en-US" dirty="0"/>
              <a:t>During quality planning, testers create goals and objectives for your software, as well as a strategic plan that will help you to successfully meet those objectives. </a:t>
            </a:r>
          </a:p>
          <a:p>
            <a:r>
              <a:rPr lang="en-US" dirty="0"/>
              <a:t>Quality planning is considered the most important aspect of SQM, as it develops a strong blueprint for the rest of the process to follow.</a:t>
            </a:r>
          </a:p>
        </p:txBody>
      </p:sp>
    </p:spTree>
    <p:extLst>
      <p:ext uri="{BB962C8B-B14F-4D97-AF65-F5344CB8AC3E}">
        <p14:creationId xmlns:p14="http://schemas.microsoft.com/office/powerpoint/2010/main" val="37969401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Quality Assurance</a:t>
            </a:r>
            <a:br>
              <a:rPr lang="en-US" b="1" dirty="0"/>
            </a:br>
            <a:endParaRPr lang="en-US" b="1" dirty="0"/>
          </a:p>
        </p:txBody>
      </p:sp>
      <p:sp>
        <p:nvSpPr>
          <p:cNvPr id="3" name="Content Placeholder 2"/>
          <p:cNvSpPr>
            <a:spLocks noGrp="1"/>
          </p:cNvSpPr>
          <p:nvPr>
            <p:ph idx="1"/>
          </p:nvPr>
        </p:nvSpPr>
        <p:spPr/>
        <p:txBody>
          <a:bodyPr>
            <a:normAutofit/>
          </a:bodyPr>
          <a:lstStyle/>
          <a:p>
            <a:r>
              <a:rPr lang="en-US" dirty="0"/>
              <a:t>The quality assurance phase of SQM involves the actual building of the software program.</a:t>
            </a:r>
          </a:p>
          <a:p>
            <a:r>
              <a:rPr lang="en-US" dirty="0"/>
              <a:t> With good SQM in place, product performance will be checked along the way to ensure that all standards are being followed. </a:t>
            </a:r>
          </a:p>
          <a:p>
            <a:r>
              <a:rPr lang="en-US" dirty="0"/>
              <a:t>Testers will audit and collect data throughout the entire process.</a:t>
            </a:r>
          </a:p>
        </p:txBody>
      </p:sp>
    </p:spTree>
    <p:extLst>
      <p:ext uri="{BB962C8B-B14F-4D97-AF65-F5344CB8AC3E}">
        <p14:creationId xmlns:p14="http://schemas.microsoft.com/office/powerpoint/2010/main" val="23378007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Quality Control</a:t>
            </a:r>
            <a:br>
              <a:rPr lang="en-US" b="1" dirty="0"/>
            </a:br>
            <a:endParaRPr lang="en-US" b="1" dirty="0"/>
          </a:p>
        </p:txBody>
      </p:sp>
      <p:sp>
        <p:nvSpPr>
          <p:cNvPr id="3" name="Content Placeholder 2"/>
          <p:cNvSpPr>
            <a:spLocks noGrp="1"/>
          </p:cNvSpPr>
          <p:nvPr>
            <p:ph idx="1"/>
          </p:nvPr>
        </p:nvSpPr>
        <p:spPr/>
        <p:txBody>
          <a:bodyPr/>
          <a:lstStyle/>
          <a:p>
            <a:pPr algn="just"/>
            <a:r>
              <a:rPr lang="en-US" dirty="0"/>
              <a:t>Quality control is the step of SQM where testing finally comes into play.</a:t>
            </a:r>
          </a:p>
          <a:p>
            <a:pPr algn="just"/>
            <a:r>
              <a:rPr lang="en-US" dirty="0"/>
              <a:t> It is when testers discover bugs, evaluate functionality, and more. Depending on the results, you may need to go back to development to iron out kinks and make some small final adjustments. </a:t>
            </a:r>
          </a:p>
          <a:p>
            <a:pPr algn="just"/>
            <a:r>
              <a:rPr lang="en-US" dirty="0"/>
              <a:t>Having a software quality management plan in place can guarantee that you’re following all industry standards and that your end-user will receive a well-developed, high quality product.</a:t>
            </a:r>
          </a:p>
          <a:p>
            <a:pPr algn="just"/>
            <a:endParaRPr lang="en-US" dirty="0"/>
          </a:p>
          <a:p>
            <a:pPr algn="just"/>
            <a:endParaRPr lang="en-US" dirty="0"/>
          </a:p>
        </p:txBody>
      </p:sp>
    </p:spTree>
    <p:extLst>
      <p:ext uri="{BB962C8B-B14F-4D97-AF65-F5344CB8AC3E}">
        <p14:creationId xmlns:p14="http://schemas.microsoft.com/office/powerpoint/2010/main" val="24509799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2"/>
            <a:ext cx="9144000" cy="1686825"/>
          </a:xfrm>
        </p:spPr>
        <p:txBody>
          <a:bodyPr/>
          <a:lstStyle/>
          <a:p>
            <a:r>
              <a:rPr lang="en-US" b="1" dirty="0"/>
              <a:t>Part -2</a:t>
            </a:r>
          </a:p>
        </p:txBody>
      </p:sp>
      <p:sp>
        <p:nvSpPr>
          <p:cNvPr id="3" name="Subtitle 2"/>
          <p:cNvSpPr>
            <a:spLocks noGrp="1"/>
          </p:cNvSpPr>
          <p:nvPr>
            <p:ph type="subTitle" idx="1"/>
          </p:nvPr>
        </p:nvSpPr>
        <p:spPr>
          <a:xfrm>
            <a:off x="1524000" y="3620892"/>
            <a:ext cx="9144000" cy="1655762"/>
          </a:xfrm>
        </p:spPr>
        <p:txBody>
          <a:bodyPr>
            <a:normAutofit/>
          </a:bodyPr>
          <a:lstStyle/>
          <a:p>
            <a:r>
              <a:rPr lang="en-US" sz="4400" b="1" dirty="0"/>
              <a:t>Software Measurement and </a:t>
            </a:r>
            <a:r>
              <a:rPr lang="en-US" sz="4400" b="1" dirty="0" err="1"/>
              <a:t>Metrices</a:t>
            </a:r>
            <a:endParaRPr lang="en-US" sz="4400" dirty="0"/>
          </a:p>
        </p:txBody>
      </p:sp>
    </p:spTree>
    <p:extLst>
      <p:ext uri="{BB962C8B-B14F-4D97-AF65-F5344CB8AC3E}">
        <p14:creationId xmlns:p14="http://schemas.microsoft.com/office/powerpoint/2010/main" val="21302047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measurement</a:t>
            </a:r>
          </a:p>
        </p:txBody>
      </p:sp>
      <p:sp>
        <p:nvSpPr>
          <p:cNvPr id="3" name="Content Placeholder 2"/>
          <p:cNvSpPr>
            <a:spLocks noGrp="1"/>
          </p:cNvSpPr>
          <p:nvPr>
            <p:ph idx="1"/>
          </p:nvPr>
        </p:nvSpPr>
        <p:spPr/>
        <p:txBody>
          <a:bodyPr/>
          <a:lstStyle/>
          <a:p>
            <a:r>
              <a:rPr lang="en-US" dirty="0"/>
              <a:t> A measurement is a manifestation of the size, quantity, amount, or dimension of a particular attribute of a product or process.</a:t>
            </a:r>
          </a:p>
          <a:p>
            <a:r>
              <a:rPr lang="en-US" dirty="0"/>
              <a:t>It is an authority within software engineering. </a:t>
            </a:r>
          </a:p>
          <a:p>
            <a:r>
              <a:rPr lang="en-US" dirty="0"/>
              <a:t>The software measurement process is defined and governed by ISO Standard. </a:t>
            </a:r>
          </a:p>
        </p:txBody>
      </p:sp>
    </p:spTree>
    <p:extLst>
      <p:ext uri="{BB962C8B-B14F-4D97-AF65-F5344CB8AC3E}">
        <p14:creationId xmlns:p14="http://schemas.microsoft.com/office/powerpoint/2010/main" val="23239237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Need for Software Measurement: </a:t>
            </a:r>
            <a:br>
              <a:rPr lang="en-US" b="1" dirty="0"/>
            </a:br>
            <a:endParaRPr lang="en-US" dirty="0"/>
          </a:p>
        </p:txBody>
      </p:sp>
      <p:sp>
        <p:nvSpPr>
          <p:cNvPr id="3" name="Content Placeholder 2"/>
          <p:cNvSpPr>
            <a:spLocks noGrp="1"/>
          </p:cNvSpPr>
          <p:nvPr>
            <p:ph idx="1"/>
          </p:nvPr>
        </p:nvSpPr>
        <p:spPr/>
        <p:txBody>
          <a:bodyPr/>
          <a:lstStyle/>
          <a:p>
            <a:pPr marL="0" indent="0" fontAlgn="base">
              <a:buNone/>
            </a:pPr>
            <a:r>
              <a:rPr lang="en-US" dirty="0"/>
              <a:t>Software is measured to: </a:t>
            </a:r>
          </a:p>
          <a:p>
            <a:pPr fontAlgn="base"/>
            <a:r>
              <a:rPr lang="en-US" dirty="0"/>
              <a:t>Create the quality of the current product or process.</a:t>
            </a:r>
          </a:p>
          <a:p>
            <a:pPr fontAlgn="base"/>
            <a:r>
              <a:rPr lang="en-US" dirty="0"/>
              <a:t>Anticipate future qualities of the product or process.</a:t>
            </a:r>
          </a:p>
          <a:p>
            <a:pPr fontAlgn="base"/>
            <a:r>
              <a:rPr lang="en-US" dirty="0"/>
              <a:t>Enhance the quality of a product or process.</a:t>
            </a:r>
          </a:p>
          <a:p>
            <a:pPr fontAlgn="base"/>
            <a:r>
              <a:rPr lang="en-US" dirty="0"/>
              <a:t>Regulate the state of the project in relation to budget and schedule.</a:t>
            </a:r>
          </a:p>
        </p:txBody>
      </p:sp>
    </p:spTree>
    <p:extLst>
      <p:ext uri="{BB962C8B-B14F-4D97-AF65-F5344CB8AC3E}">
        <p14:creationId xmlns:p14="http://schemas.microsoft.com/office/powerpoint/2010/main" val="7986779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Classification of Software Measurement: </a:t>
            </a:r>
            <a:br>
              <a:rPr lang="en-US" b="1" dirty="0"/>
            </a:br>
            <a:endParaRPr lang="en-US" dirty="0"/>
          </a:p>
        </p:txBody>
      </p:sp>
      <p:sp>
        <p:nvSpPr>
          <p:cNvPr id="3" name="Content Placeholder 2"/>
          <p:cNvSpPr>
            <a:spLocks noGrp="1"/>
          </p:cNvSpPr>
          <p:nvPr>
            <p:ph idx="1"/>
          </p:nvPr>
        </p:nvSpPr>
        <p:spPr/>
        <p:txBody>
          <a:bodyPr/>
          <a:lstStyle/>
          <a:p>
            <a:pPr algn="just" fontAlgn="base"/>
            <a:r>
              <a:rPr lang="en-US" b="1" dirty="0"/>
              <a:t>Direct Measurement:</a:t>
            </a:r>
            <a:r>
              <a:rPr lang="en-US" dirty="0"/>
              <a:t> In direct measurement, the product, process, or thing is measured directly using a standard scale.</a:t>
            </a:r>
          </a:p>
          <a:p>
            <a:pPr algn="just" fontAlgn="base"/>
            <a:r>
              <a:rPr lang="en-US" b="1" dirty="0"/>
              <a:t>Indirect Measurement:</a:t>
            </a:r>
            <a:r>
              <a:rPr lang="en-US" dirty="0"/>
              <a:t> In indirect measurement, the quantity or quality to be measured is measured using related parameters i.e. by use of reference.</a:t>
            </a:r>
          </a:p>
          <a:p>
            <a:pPr algn="just"/>
            <a:endParaRPr lang="en-US" dirty="0"/>
          </a:p>
        </p:txBody>
      </p:sp>
    </p:spTree>
    <p:extLst>
      <p:ext uri="{BB962C8B-B14F-4D97-AF65-F5344CB8AC3E}">
        <p14:creationId xmlns:p14="http://schemas.microsoft.com/office/powerpoint/2010/main" val="21981064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Metrics: </a:t>
            </a:r>
            <a:br>
              <a:rPr lang="en-US" b="1" dirty="0"/>
            </a:br>
            <a:endParaRPr lang="en-US" dirty="0"/>
          </a:p>
        </p:txBody>
      </p:sp>
      <p:sp>
        <p:nvSpPr>
          <p:cNvPr id="3" name="Content Placeholder 2"/>
          <p:cNvSpPr>
            <a:spLocks noGrp="1"/>
          </p:cNvSpPr>
          <p:nvPr>
            <p:ph idx="1"/>
          </p:nvPr>
        </p:nvSpPr>
        <p:spPr/>
        <p:txBody>
          <a:bodyPr>
            <a:normAutofit/>
          </a:bodyPr>
          <a:lstStyle/>
          <a:p>
            <a:pPr algn="just" fontAlgn="base"/>
            <a:r>
              <a:rPr lang="en-US" dirty="0"/>
              <a:t>A metric is a measurement of the level at which any impute belongs to a system product or process. </a:t>
            </a:r>
          </a:p>
          <a:p>
            <a:pPr algn="just" fontAlgn="base"/>
            <a:r>
              <a:rPr lang="en-US" dirty="0"/>
              <a:t>Software metrics will be useful only if they are characterized effectively and validated so that their worth is proven. </a:t>
            </a:r>
          </a:p>
          <a:p>
            <a:pPr algn="just" fontAlgn="base"/>
            <a:r>
              <a:rPr lang="en-US" dirty="0"/>
              <a:t>There are 4 functions related to software metrics: </a:t>
            </a:r>
          </a:p>
          <a:p>
            <a:pPr marL="514350" indent="-514350" algn="just" fontAlgn="base">
              <a:buFont typeface="+mj-lt"/>
              <a:buAutoNum type="arabicPeriod"/>
            </a:pPr>
            <a:r>
              <a:rPr lang="en-US" dirty="0"/>
              <a:t>Planning</a:t>
            </a:r>
          </a:p>
          <a:p>
            <a:pPr marL="514350" indent="-514350" algn="just" fontAlgn="base">
              <a:buFont typeface="+mj-lt"/>
              <a:buAutoNum type="arabicPeriod"/>
            </a:pPr>
            <a:r>
              <a:rPr lang="en-US" dirty="0"/>
              <a:t>Organizing</a:t>
            </a:r>
          </a:p>
          <a:p>
            <a:pPr marL="514350" indent="-514350" algn="just" fontAlgn="base">
              <a:buFont typeface="+mj-lt"/>
              <a:buAutoNum type="arabicPeriod"/>
            </a:pPr>
            <a:r>
              <a:rPr lang="en-US" dirty="0"/>
              <a:t>Controlling</a:t>
            </a:r>
          </a:p>
          <a:p>
            <a:pPr marL="514350" indent="-514350" algn="just" fontAlgn="base">
              <a:buFont typeface="+mj-lt"/>
              <a:buAutoNum type="arabicPeriod"/>
            </a:pPr>
            <a:r>
              <a:rPr lang="en-US" dirty="0"/>
              <a:t>Improving</a:t>
            </a:r>
          </a:p>
          <a:p>
            <a:pPr algn="just"/>
            <a:endParaRPr lang="en-US" dirty="0"/>
          </a:p>
        </p:txBody>
      </p:sp>
    </p:spTree>
    <p:extLst>
      <p:ext uri="{BB962C8B-B14F-4D97-AF65-F5344CB8AC3E}">
        <p14:creationId xmlns:p14="http://schemas.microsoft.com/office/powerpoint/2010/main" val="122295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Characteristics of software Metrics: </a:t>
            </a:r>
          </a:p>
        </p:txBody>
      </p:sp>
      <p:sp>
        <p:nvSpPr>
          <p:cNvPr id="3" name="Content Placeholder 2"/>
          <p:cNvSpPr>
            <a:spLocks noGrp="1"/>
          </p:cNvSpPr>
          <p:nvPr>
            <p:ph idx="1"/>
          </p:nvPr>
        </p:nvSpPr>
        <p:spPr/>
        <p:txBody>
          <a:bodyPr>
            <a:normAutofit fontScale="92500" lnSpcReduction="10000"/>
          </a:bodyPr>
          <a:lstStyle/>
          <a:p>
            <a:pPr marL="514350" indent="-514350" fontAlgn="base">
              <a:buFont typeface="+mj-lt"/>
              <a:buAutoNum type="arabicPeriod"/>
            </a:pPr>
            <a:r>
              <a:rPr lang="en-US" b="1" dirty="0"/>
              <a:t>Quantitative:</a:t>
            </a:r>
            <a:r>
              <a:rPr lang="en-US" dirty="0"/>
              <a:t> Metrics must possess quantitative nature. It means metrics can be expressed in values.</a:t>
            </a:r>
          </a:p>
          <a:p>
            <a:pPr marL="514350" indent="-514350" fontAlgn="base">
              <a:buFont typeface="+mj-lt"/>
              <a:buAutoNum type="arabicPeriod"/>
            </a:pPr>
            <a:r>
              <a:rPr lang="en-US" b="1" dirty="0"/>
              <a:t>Understandable:</a:t>
            </a:r>
            <a:r>
              <a:rPr lang="en-US" dirty="0"/>
              <a:t> Metric computation should be easily understood, and the method of computing metrics should be clearly defined.</a:t>
            </a:r>
          </a:p>
          <a:p>
            <a:pPr marL="514350" indent="-514350" fontAlgn="base">
              <a:buFont typeface="+mj-lt"/>
              <a:buAutoNum type="arabicPeriod"/>
            </a:pPr>
            <a:r>
              <a:rPr lang="en-US" b="1" dirty="0"/>
              <a:t>Applicability:</a:t>
            </a:r>
            <a:r>
              <a:rPr lang="en-US" dirty="0"/>
              <a:t> Metrics should be applicable in the initial phases of the development of the software.</a:t>
            </a:r>
          </a:p>
          <a:p>
            <a:pPr marL="514350" indent="-514350" fontAlgn="base">
              <a:buFont typeface="+mj-lt"/>
              <a:buAutoNum type="arabicPeriod"/>
            </a:pPr>
            <a:r>
              <a:rPr lang="en-US" b="1" dirty="0"/>
              <a:t>Repeatable:</a:t>
            </a:r>
            <a:r>
              <a:rPr lang="en-US" dirty="0"/>
              <a:t> The metric values should be the same when measured repeatedly and consistent in nature.</a:t>
            </a:r>
          </a:p>
          <a:p>
            <a:pPr marL="514350" indent="-514350" fontAlgn="base">
              <a:buFont typeface="+mj-lt"/>
              <a:buAutoNum type="arabicPeriod"/>
            </a:pPr>
            <a:r>
              <a:rPr lang="en-US" b="1" dirty="0"/>
              <a:t>Economical:</a:t>
            </a:r>
            <a:r>
              <a:rPr lang="en-US" dirty="0"/>
              <a:t> The computation of metrics should be economical.</a:t>
            </a:r>
          </a:p>
          <a:p>
            <a:pPr marL="514350" indent="-514350" fontAlgn="base">
              <a:buFont typeface="+mj-lt"/>
              <a:buAutoNum type="arabicPeriod"/>
            </a:pPr>
            <a:r>
              <a:rPr lang="en-US" b="1" dirty="0"/>
              <a:t>Language Independent:</a:t>
            </a:r>
            <a:r>
              <a:rPr lang="en-US" dirty="0"/>
              <a:t> Metrics should not depend on any programming language.</a:t>
            </a:r>
          </a:p>
          <a:p>
            <a:endParaRPr lang="en-US" dirty="0"/>
          </a:p>
        </p:txBody>
      </p:sp>
    </p:spTree>
    <p:extLst>
      <p:ext uri="{BB962C8B-B14F-4D97-AF65-F5344CB8AC3E}">
        <p14:creationId xmlns:p14="http://schemas.microsoft.com/office/powerpoint/2010/main" val="33840624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Classification of Software Metrics(Software Quality Metrics)</a:t>
            </a:r>
            <a:br>
              <a:rPr lang="en-US" b="1" dirty="0"/>
            </a:br>
            <a:endParaRPr lang="en-US" dirty="0"/>
          </a:p>
        </p:txBody>
      </p:sp>
      <p:sp>
        <p:nvSpPr>
          <p:cNvPr id="3" name="Content Placeholder 2"/>
          <p:cNvSpPr>
            <a:spLocks noGrp="1"/>
          </p:cNvSpPr>
          <p:nvPr>
            <p:ph idx="1"/>
          </p:nvPr>
        </p:nvSpPr>
        <p:spPr/>
        <p:txBody>
          <a:bodyPr>
            <a:normAutofit fontScale="92500" lnSpcReduction="10000"/>
          </a:bodyPr>
          <a:lstStyle/>
          <a:p>
            <a:pPr marL="0" indent="0" fontAlgn="base">
              <a:buNone/>
            </a:pPr>
            <a:r>
              <a:rPr lang="en-US" dirty="0"/>
              <a:t>There are 3 types of software metrics:  </a:t>
            </a:r>
          </a:p>
          <a:p>
            <a:pPr marL="514350" indent="-514350" fontAlgn="base">
              <a:buFont typeface="+mj-lt"/>
              <a:buAutoNum type="arabicPeriod"/>
            </a:pPr>
            <a:r>
              <a:rPr lang="en-US" b="1" dirty="0"/>
              <a:t>Product Metrics:</a:t>
            </a:r>
            <a:r>
              <a:rPr lang="en-US" dirty="0"/>
              <a:t> Product metrics are used to evaluate the state of the product, tracing risks and undercover prospective problem areas. The ability of the team to control quality is evaluated.</a:t>
            </a:r>
          </a:p>
          <a:p>
            <a:pPr marL="514350" indent="-514350" fontAlgn="base">
              <a:buFont typeface="+mj-lt"/>
              <a:buAutoNum type="arabicPeriod"/>
            </a:pPr>
            <a:r>
              <a:rPr lang="en-US" b="1" dirty="0"/>
              <a:t>Process Metrics:</a:t>
            </a:r>
            <a:r>
              <a:rPr lang="en-US" dirty="0"/>
              <a:t> Process metrics pay particular attention to enhancing the long-term process of the team or organization.</a:t>
            </a:r>
          </a:p>
          <a:p>
            <a:pPr marL="514350" indent="-514350" fontAlgn="base">
              <a:buFont typeface="+mj-lt"/>
              <a:buAutoNum type="arabicPeriod"/>
            </a:pPr>
            <a:r>
              <a:rPr lang="en-US" b="1" dirty="0"/>
              <a:t>Project Metrics:</a:t>
            </a:r>
            <a:r>
              <a:rPr lang="en-US" dirty="0"/>
              <a:t> The project matrix describes the project characteristic and execution process. </a:t>
            </a:r>
          </a:p>
          <a:p>
            <a:pPr marL="914400" lvl="1" indent="-457200" fontAlgn="base">
              <a:buFont typeface="+mj-lt"/>
              <a:buAutoNum type="alphaLcParenR"/>
            </a:pPr>
            <a:r>
              <a:rPr lang="en-US" dirty="0"/>
              <a:t>Number of software developer</a:t>
            </a:r>
          </a:p>
          <a:p>
            <a:pPr marL="914400" lvl="1" indent="-457200" fontAlgn="base">
              <a:buFont typeface="+mj-lt"/>
              <a:buAutoNum type="alphaLcParenR"/>
            </a:pPr>
            <a:r>
              <a:rPr lang="en-US" dirty="0"/>
              <a:t>Staffing patterns over the life cycle of software</a:t>
            </a:r>
          </a:p>
          <a:p>
            <a:pPr marL="914400" lvl="1" indent="-457200" fontAlgn="base">
              <a:buFont typeface="+mj-lt"/>
              <a:buAutoNum type="alphaLcParenR"/>
            </a:pPr>
            <a:r>
              <a:rPr lang="en-US" dirty="0"/>
              <a:t>Cost and schedule</a:t>
            </a:r>
          </a:p>
          <a:p>
            <a:pPr marL="914400" lvl="1" indent="-457200" fontAlgn="base">
              <a:buFont typeface="+mj-lt"/>
              <a:buAutoNum type="alphaLcParenR"/>
            </a:pPr>
            <a:r>
              <a:rPr lang="en-US" dirty="0"/>
              <a:t>Productivity</a:t>
            </a:r>
          </a:p>
          <a:p>
            <a:endParaRPr lang="en-US" dirty="0"/>
          </a:p>
        </p:txBody>
      </p:sp>
    </p:spTree>
    <p:extLst>
      <p:ext uri="{BB962C8B-B14F-4D97-AF65-F5344CB8AC3E}">
        <p14:creationId xmlns:p14="http://schemas.microsoft.com/office/powerpoint/2010/main" val="40430074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ISO9000 quality standards</a:t>
            </a:r>
          </a:p>
        </p:txBody>
      </p:sp>
      <p:sp>
        <p:nvSpPr>
          <p:cNvPr id="3" name="Content Placeholder 2"/>
          <p:cNvSpPr>
            <a:spLocks noGrp="1"/>
          </p:cNvSpPr>
          <p:nvPr>
            <p:ph idx="1"/>
          </p:nvPr>
        </p:nvSpPr>
        <p:spPr/>
        <p:txBody>
          <a:bodyPr>
            <a:normAutofit fontScale="92500"/>
          </a:bodyPr>
          <a:lstStyle/>
          <a:p>
            <a:pPr algn="just"/>
            <a:r>
              <a:rPr lang="en-US" dirty="0"/>
              <a:t>ISO (International Standards Organization) is a group of 63 countries established to plan standardization. </a:t>
            </a:r>
          </a:p>
          <a:p>
            <a:pPr algn="just"/>
            <a:r>
              <a:rPr lang="en-US" dirty="0"/>
              <a:t>ISO declared its 9000 series of standards in 1987.</a:t>
            </a:r>
          </a:p>
          <a:p>
            <a:pPr algn="just"/>
            <a:r>
              <a:rPr lang="en-US" dirty="0"/>
              <a:t> It serves as a reference for the contract between independent parties. </a:t>
            </a:r>
          </a:p>
          <a:p>
            <a:pPr algn="just"/>
            <a:r>
              <a:rPr lang="en-US" dirty="0"/>
              <a:t>The ISO 9000 standard determines the guidelines for maintaining a quality system.</a:t>
            </a:r>
          </a:p>
          <a:p>
            <a:pPr algn="just"/>
            <a:r>
              <a:rPr lang="en-US" dirty="0"/>
              <a:t> The ISO standard mainly addresses operational methods and organizational methods such as responsibilities, reporting, etc.</a:t>
            </a:r>
          </a:p>
          <a:p>
            <a:pPr algn="just"/>
            <a:r>
              <a:rPr lang="en-US" dirty="0"/>
              <a:t> ISO 9000 defines a set of guidelines for the production process and is not directly concerned about the product itself.</a:t>
            </a:r>
          </a:p>
          <a:p>
            <a:pPr algn="just"/>
            <a:endParaRPr lang="en-US" dirty="0"/>
          </a:p>
        </p:txBody>
      </p:sp>
    </p:spTree>
    <p:extLst>
      <p:ext uri="{BB962C8B-B14F-4D97-AF65-F5344CB8AC3E}">
        <p14:creationId xmlns:p14="http://schemas.microsoft.com/office/powerpoint/2010/main" val="1001030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ISO 9000 Quality Standards</a:t>
            </a:r>
            <a:br>
              <a:rPr lang="en-US" b="1" dirty="0"/>
            </a:br>
            <a:br>
              <a:rPr lang="en-US" b="1" dirty="0"/>
            </a:br>
            <a:endParaRPr lang="en-US" b="1" dirty="0"/>
          </a:p>
        </p:txBody>
      </p:sp>
      <p:pic>
        <p:nvPicPr>
          <p:cNvPr id="4" name="Content Placeholder 3"/>
          <p:cNvPicPr>
            <a:picLocks noGrp="1" noChangeAspect="1"/>
          </p:cNvPicPr>
          <p:nvPr>
            <p:ph idx="1"/>
          </p:nvPr>
        </p:nvPicPr>
        <p:blipFill>
          <a:blip r:embed="rId2"/>
          <a:stretch>
            <a:fillRect/>
          </a:stretch>
        </p:blipFill>
        <p:spPr>
          <a:xfrm>
            <a:off x="3124200" y="2682081"/>
            <a:ext cx="5943600" cy="2638425"/>
          </a:xfrm>
          <a:prstGeom prst="rect">
            <a:avLst/>
          </a:prstGeom>
        </p:spPr>
      </p:pic>
    </p:spTree>
    <p:extLst>
      <p:ext uri="{BB962C8B-B14F-4D97-AF65-F5344CB8AC3E}">
        <p14:creationId xmlns:p14="http://schemas.microsoft.com/office/powerpoint/2010/main" val="12487097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22169"/>
            <a:ext cx="10515600" cy="1203456"/>
          </a:xfrm>
        </p:spPr>
        <p:txBody>
          <a:bodyPr>
            <a:normAutofit fontScale="90000"/>
          </a:bodyPr>
          <a:lstStyle/>
          <a:p>
            <a:r>
              <a:rPr lang="en-US" b="1" dirty="0"/>
              <a:t>Types of ISO 9000 Quality Standards</a:t>
            </a:r>
            <a:br>
              <a:rPr lang="en-US" b="1" dirty="0"/>
            </a:br>
            <a:br>
              <a:rPr lang="en-US" b="1" dirty="0"/>
            </a:br>
            <a:endParaRPr lang="en-US" b="1" dirty="0"/>
          </a:p>
        </p:txBody>
      </p:sp>
      <p:sp>
        <p:nvSpPr>
          <p:cNvPr id="3" name="Content Placeholder 2"/>
          <p:cNvSpPr>
            <a:spLocks noGrp="1"/>
          </p:cNvSpPr>
          <p:nvPr>
            <p:ph idx="1"/>
          </p:nvPr>
        </p:nvSpPr>
        <p:spPr/>
        <p:txBody>
          <a:bodyPr>
            <a:normAutofit fontScale="92500"/>
          </a:bodyPr>
          <a:lstStyle/>
          <a:p>
            <a:pPr algn="just"/>
            <a:r>
              <a:rPr lang="en-US" b="1" dirty="0"/>
              <a:t>ISO 9001:</a:t>
            </a:r>
            <a:r>
              <a:rPr lang="en-US" dirty="0"/>
              <a:t> This standard applies to the organizations engaged in design, development, production, and servicing of goods. This is the standard that applies to most software development organizations.</a:t>
            </a:r>
          </a:p>
          <a:p>
            <a:pPr algn="just"/>
            <a:r>
              <a:rPr lang="en-US" b="1" dirty="0"/>
              <a:t>ISO 9002:</a:t>
            </a:r>
            <a:r>
              <a:rPr lang="en-US" dirty="0"/>
              <a:t> This standard applies to those organizations which do not design products but are only involved in the production. Examples of these category industries contain steel and car manufacturing industries that buy the product and plants designs from external sources and are engaged in only manufacturing those products. Therefore, ISO 9002 does not apply to software development organizations.</a:t>
            </a:r>
          </a:p>
          <a:p>
            <a:pPr algn="just"/>
            <a:r>
              <a:rPr lang="en-US" b="1" dirty="0"/>
              <a:t>ISO 9003:</a:t>
            </a:r>
            <a:r>
              <a:rPr lang="en-US" dirty="0"/>
              <a:t> This standard applies to organizations that are involved only in the installation and testing of the products. For example, Gas companies.</a:t>
            </a:r>
          </a:p>
          <a:p>
            <a:pPr algn="just"/>
            <a:endParaRPr lang="en-US" dirty="0"/>
          </a:p>
        </p:txBody>
      </p:sp>
    </p:spTree>
    <p:extLst>
      <p:ext uri="{BB962C8B-B14F-4D97-AF65-F5344CB8AC3E}">
        <p14:creationId xmlns:p14="http://schemas.microsoft.com/office/powerpoint/2010/main" val="24899868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get ISO 9000 Certification?</a:t>
            </a:r>
            <a:br>
              <a:rPr lang="en-US" b="1" dirty="0"/>
            </a:br>
            <a:endParaRPr lang="en-US" b="1" dirty="0"/>
          </a:p>
        </p:txBody>
      </p:sp>
      <p:sp>
        <p:nvSpPr>
          <p:cNvPr id="3" name="Content Placeholder 2"/>
          <p:cNvSpPr>
            <a:spLocks noGrp="1"/>
          </p:cNvSpPr>
          <p:nvPr>
            <p:ph idx="1"/>
          </p:nvPr>
        </p:nvSpPr>
        <p:spPr/>
        <p:txBody>
          <a:bodyPr>
            <a:normAutofit fontScale="85000" lnSpcReduction="10000"/>
          </a:bodyPr>
          <a:lstStyle/>
          <a:p>
            <a:r>
              <a:rPr lang="en-US" b="1" dirty="0"/>
              <a:t>Application:</a:t>
            </a:r>
            <a:r>
              <a:rPr lang="en-US" dirty="0"/>
              <a:t> Once an organization decided to go for ISO certification, it applies to the registrar for registration.</a:t>
            </a:r>
          </a:p>
          <a:p>
            <a:r>
              <a:rPr lang="en-US" b="1" dirty="0"/>
              <a:t>Pre-Assessment:</a:t>
            </a:r>
            <a:r>
              <a:rPr lang="en-US" dirty="0"/>
              <a:t> During this stage, the registrar makes a rough assessment of the organization.</a:t>
            </a:r>
          </a:p>
          <a:p>
            <a:r>
              <a:rPr lang="en-US" b="1" dirty="0"/>
              <a:t>Document review and Adequacy of Audit:</a:t>
            </a:r>
            <a:r>
              <a:rPr lang="en-US" dirty="0"/>
              <a:t> During this stage, the registrar reviews the document submitted by the organization and suggest an improvement.</a:t>
            </a:r>
          </a:p>
          <a:p>
            <a:r>
              <a:rPr lang="en-US" b="1" dirty="0"/>
              <a:t>Compliance Audit:</a:t>
            </a:r>
            <a:r>
              <a:rPr lang="en-US" dirty="0"/>
              <a:t> During this stage, the registrar checks whether the organization has compiled the suggestion made by it during the review or not.</a:t>
            </a:r>
          </a:p>
          <a:p>
            <a:r>
              <a:rPr lang="en-US" b="1" dirty="0"/>
              <a:t>Registration:</a:t>
            </a:r>
            <a:r>
              <a:rPr lang="en-US" dirty="0"/>
              <a:t> The Registrar awards the ISO certification after the successful completion of all the phases.</a:t>
            </a:r>
          </a:p>
          <a:p>
            <a:r>
              <a:rPr lang="en-US" b="1" dirty="0"/>
              <a:t>Continued Inspection:</a:t>
            </a:r>
            <a:r>
              <a:rPr lang="en-US" dirty="0"/>
              <a:t> The registrar continued to monitor the organization time by time.</a:t>
            </a:r>
          </a:p>
          <a:p>
            <a:endParaRPr lang="en-US" dirty="0"/>
          </a:p>
        </p:txBody>
      </p:sp>
    </p:spTree>
    <p:extLst>
      <p:ext uri="{BB962C8B-B14F-4D97-AF65-F5344CB8AC3E}">
        <p14:creationId xmlns:p14="http://schemas.microsoft.com/office/powerpoint/2010/main" val="29895323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Capability Maturity Model</a:t>
            </a:r>
          </a:p>
        </p:txBody>
      </p:sp>
      <p:sp>
        <p:nvSpPr>
          <p:cNvPr id="3" name="Content Placeholder 2"/>
          <p:cNvSpPr>
            <a:spLocks noGrp="1"/>
          </p:cNvSpPr>
          <p:nvPr>
            <p:ph idx="1"/>
          </p:nvPr>
        </p:nvSpPr>
        <p:spPr/>
        <p:txBody>
          <a:bodyPr>
            <a:normAutofit fontScale="92500" lnSpcReduction="10000"/>
          </a:bodyPr>
          <a:lstStyle/>
          <a:p>
            <a:pPr marL="0" indent="0" fontAlgn="base">
              <a:buNone/>
            </a:pPr>
            <a:r>
              <a:rPr lang="en-US" b="1" dirty="0"/>
              <a:t>CMM </a:t>
            </a:r>
            <a:r>
              <a:rPr lang="en-US" dirty="0"/>
              <a:t>was developed by the Software Engineering Institute (SEI) at Carnegie Mellon University in 1987. </a:t>
            </a:r>
          </a:p>
          <a:p>
            <a:pPr fontAlgn="base"/>
            <a:r>
              <a:rPr lang="en-US" dirty="0"/>
              <a:t>It is not a software process model. It is a framework that is used to analyze the approach and techniques followed by any organization to develop software products.</a:t>
            </a:r>
          </a:p>
          <a:p>
            <a:pPr fontAlgn="base"/>
            <a:r>
              <a:rPr lang="en-US" dirty="0"/>
              <a:t>It also provides guidelines to further enhance the maturity of the process used to develop those software products.</a:t>
            </a:r>
          </a:p>
          <a:p>
            <a:pPr fontAlgn="base"/>
            <a:r>
              <a:rPr lang="en-US" dirty="0"/>
              <a:t>It is based on profound feedback and development practices adopted by the most successful organizations worldwide.</a:t>
            </a:r>
          </a:p>
          <a:p>
            <a:pPr fontAlgn="base"/>
            <a:r>
              <a:rPr lang="en-US" dirty="0"/>
              <a:t>This model describes a strategy for software process improvement that should be followed by moving through 5 different levels.</a:t>
            </a:r>
          </a:p>
          <a:p>
            <a:endParaRPr lang="en-US" dirty="0"/>
          </a:p>
        </p:txBody>
      </p:sp>
    </p:spTree>
    <p:extLst>
      <p:ext uri="{BB962C8B-B14F-4D97-AF65-F5344CB8AC3E}">
        <p14:creationId xmlns:p14="http://schemas.microsoft.com/office/powerpoint/2010/main" val="4341002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Process Areas (KPA’s):</a:t>
            </a:r>
            <a:endParaRPr lang="en-US" dirty="0"/>
          </a:p>
        </p:txBody>
      </p:sp>
      <p:sp>
        <p:nvSpPr>
          <p:cNvPr id="3" name="Content Placeholder 2"/>
          <p:cNvSpPr>
            <a:spLocks noGrp="1"/>
          </p:cNvSpPr>
          <p:nvPr>
            <p:ph idx="1"/>
          </p:nvPr>
        </p:nvSpPr>
        <p:spPr/>
        <p:txBody>
          <a:bodyPr/>
          <a:lstStyle/>
          <a:p>
            <a:pPr marL="0" indent="0" algn="just">
              <a:buNone/>
            </a:pPr>
            <a:r>
              <a:rPr lang="en-US" dirty="0"/>
              <a:t>Each of these KPA’s defines the basic requirements that should be met by a software process in order to satisfy the KPA and achieve that level of maturity. </a:t>
            </a:r>
          </a:p>
        </p:txBody>
      </p:sp>
    </p:spTree>
    <p:extLst>
      <p:ext uri="{BB962C8B-B14F-4D97-AF65-F5344CB8AC3E}">
        <p14:creationId xmlns:p14="http://schemas.microsoft.com/office/powerpoint/2010/main" val="1304063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Five levels of CMM</a:t>
            </a:r>
          </a:p>
        </p:txBody>
      </p:sp>
      <p:pic>
        <p:nvPicPr>
          <p:cNvPr id="4" name="Content Placeholder 3"/>
          <p:cNvPicPr>
            <a:picLocks noGrp="1" noChangeAspect="1"/>
          </p:cNvPicPr>
          <p:nvPr>
            <p:ph idx="1"/>
          </p:nvPr>
        </p:nvPicPr>
        <p:blipFill>
          <a:blip r:embed="rId2"/>
          <a:stretch>
            <a:fillRect/>
          </a:stretch>
        </p:blipFill>
        <p:spPr>
          <a:xfrm>
            <a:off x="631596" y="1778491"/>
            <a:ext cx="9634193" cy="4351338"/>
          </a:xfrm>
          <a:prstGeom prst="rect">
            <a:avLst/>
          </a:prstGeom>
        </p:spPr>
      </p:pic>
    </p:spTree>
    <p:extLst>
      <p:ext uri="{BB962C8B-B14F-4D97-AF65-F5344CB8AC3E}">
        <p14:creationId xmlns:p14="http://schemas.microsoft.com/office/powerpoint/2010/main" val="2674733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Level-1: Initial </a:t>
            </a:r>
            <a:br>
              <a:rPr lang="en-US" b="1" dirty="0"/>
            </a:br>
            <a:endParaRPr lang="en-US" b="1" dirty="0"/>
          </a:p>
        </p:txBody>
      </p:sp>
      <p:sp>
        <p:nvSpPr>
          <p:cNvPr id="3" name="Content Placeholder 2"/>
          <p:cNvSpPr>
            <a:spLocks noGrp="1"/>
          </p:cNvSpPr>
          <p:nvPr>
            <p:ph idx="1"/>
          </p:nvPr>
        </p:nvSpPr>
        <p:spPr/>
        <p:txBody>
          <a:bodyPr>
            <a:normAutofit fontScale="85000" lnSpcReduction="20000"/>
          </a:bodyPr>
          <a:lstStyle/>
          <a:p>
            <a:pPr algn="just" fontAlgn="base"/>
            <a:r>
              <a:rPr lang="en-US" dirty="0"/>
              <a:t>Processes are </a:t>
            </a:r>
            <a:r>
              <a:rPr lang="en-US" dirty="0" err="1"/>
              <a:t>Adhoc</a:t>
            </a:r>
            <a:r>
              <a:rPr lang="en-US" dirty="0"/>
              <a:t> and immature and are not well defined.</a:t>
            </a:r>
          </a:p>
          <a:p>
            <a:pPr algn="just" fontAlgn="base"/>
            <a:r>
              <a:rPr lang="en-US" dirty="0"/>
              <a:t>Unstable environment for software development.</a:t>
            </a:r>
          </a:p>
          <a:p>
            <a:pPr algn="just" fontAlgn="base"/>
            <a:r>
              <a:rPr lang="en-US" dirty="0"/>
              <a:t>No basis for predicting product quality, time for completion, etc.</a:t>
            </a:r>
          </a:p>
          <a:p>
            <a:pPr algn="just" fontAlgn="base"/>
            <a:r>
              <a:rPr lang="en-US" dirty="0"/>
              <a:t>Limited project management capabilities, such as no systematic tracking of schedules, budgets, or progress.</a:t>
            </a:r>
          </a:p>
          <a:p>
            <a:pPr algn="just" fontAlgn="base"/>
            <a:r>
              <a:rPr lang="en-US" dirty="0"/>
              <a:t>Limited communication and coordination among team members and stakeholders.</a:t>
            </a:r>
          </a:p>
          <a:p>
            <a:pPr algn="just" fontAlgn="base"/>
            <a:r>
              <a:rPr lang="en-US" dirty="0"/>
              <a:t>No formal training or orientation for new team members.</a:t>
            </a:r>
          </a:p>
          <a:p>
            <a:pPr algn="just" fontAlgn="base"/>
            <a:r>
              <a:rPr lang="en-US" dirty="0"/>
              <a:t>Little or no use of software development tools or automation.</a:t>
            </a:r>
          </a:p>
          <a:p>
            <a:pPr algn="just" fontAlgn="base"/>
            <a:r>
              <a:rPr lang="en-US" dirty="0"/>
              <a:t>Highly dependent on individual skills and knowledge rather than standardized processes.</a:t>
            </a:r>
          </a:p>
          <a:p>
            <a:pPr algn="just" fontAlgn="base"/>
            <a:r>
              <a:rPr lang="en-US" dirty="0"/>
              <a:t>High risk of project failure or delays due to lack of process control and stability.</a:t>
            </a:r>
          </a:p>
          <a:p>
            <a:pPr algn="just"/>
            <a:endParaRPr lang="en-US" dirty="0"/>
          </a:p>
        </p:txBody>
      </p:sp>
    </p:spTree>
    <p:extLst>
      <p:ext uri="{BB962C8B-B14F-4D97-AF65-F5344CB8AC3E}">
        <p14:creationId xmlns:p14="http://schemas.microsoft.com/office/powerpoint/2010/main" val="2035538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Level-2: Repeatable </a:t>
            </a:r>
            <a:br>
              <a:rPr lang="en-US" dirty="0"/>
            </a:br>
            <a:endParaRPr lang="en-US" dirty="0"/>
          </a:p>
        </p:txBody>
      </p:sp>
      <p:sp>
        <p:nvSpPr>
          <p:cNvPr id="3" name="Content Placeholder 2"/>
          <p:cNvSpPr>
            <a:spLocks noGrp="1"/>
          </p:cNvSpPr>
          <p:nvPr>
            <p:ph idx="1"/>
          </p:nvPr>
        </p:nvSpPr>
        <p:spPr/>
        <p:txBody>
          <a:bodyPr>
            <a:normAutofit fontScale="70000" lnSpcReduction="20000"/>
          </a:bodyPr>
          <a:lstStyle/>
          <a:p>
            <a:pPr algn="just" fontAlgn="base"/>
            <a:r>
              <a:rPr lang="en-US" dirty="0"/>
              <a:t>Focuses on establishing basic project management policies.</a:t>
            </a:r>
          </a:p>
          <a:p>
            <a:pPr algn="just" fontAlgn="base"/>
            <a:r>
              <a:rPr lang="en-US" dirty="0"/>
              <a:t>Experience with earlier projects is used for managing new similar natured projects.</a:t>
            </a:r>
          </a:p>
          <a:p>
            <a:pPr algn="just" fontAlgn="base"/>
            <a:r>
              <a:rPr lang="en-US" b="1" dirty="0"/>
              <a:t>Project Planning- </a:t>
            </a:r>
            <a:r>
              <a:rPr lang="en-US" dirty="0"/>
              <a:t>It includes defining resources required, goals, constraints, etc. for the project. It presents a detailed plan to be followed systematically for the successful completion of good quality software.</a:t>
            </a:r>
          </a:p>
          <a:p>
            <a:pPr algn="just" fontAlgn="base"/>
            <a:r>
              <a:rPr lang="en-US" b="1" dirty="0"/>
              <a:t>Configuration Management-</a:t>
            </a:r>
            <a:r>
              <a:rPr lang="en-US" dirty="0"/>
              <a:t> The focus is on maintaining the performance of the software product, including all its components, for the entire lifecycle.</a:t>
            </a:r>
          </a:p>
          <a:p>
            <a:pPr algn="just" fontAlgn="base"/>
            <a:r>
              <a:rPr lang="en-US" b="1" dirty="0"/>
              <a:t>Requirements Management-</a:t>
            </a:r>
            <a:r>
              <a:rPr lang="en-US" dirty="0"/>
              <a:t> It includes the management of customer reviews and feedback which result in some changes in the requirement set. It also consists of accommodation of those modified requirements.</a:t>
            </a:r>
          </a:p>
          <a:p>
            <a:pPr algn="just" fontAlgn="base"/>
            <a:r>
              <a:rPr lang="en-US" b="1" dirty="0"/>
              <a:t>Subcontract Management- </a:t>
            </a:r>
            <a:r>
              <a:rPr lang="en-US" dirty="0"/>
              <a:t>It focuses on the effective management of qualified software contractors i.e. it manages the parts of the software which are developed by third parties.</a:t>
            </a:r>
          </a:p>
          <a:p>
            <a:pPr algn="just" fontAlgn="base"/>
            <a:r>
              <a:rPr lang="en-US" b="1" dirty="0"/>
              <a:t>Software Quality Assurance-</a:t>
            </a:r>
            <a:r>
              <a:rPr lang="en-US" dirty="0"/>
              <a:t> It guarantees a good quality software product by following certain rules and quality standard guidelines while developing.</a:t>
            </a:r>
          </a:p>
          <a:p>
            <a:pPr algn="just"/>
            <a:endParaRPr lang="en-US" dirty="0"/>
          </a:p>
        </p:txBody>
      </p:sp>
    </p:spTree>
    <p:extLst>
      <p:ext uri="{BB962C8B-B14F-4D97-AF65-F5344CB8AC3E}">
        <p14:creationId xmlns:p14="http://schemas.microsoft.com/office/powerpoint/2010/main" val="288992313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Level-3: Defined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algn="just" fontAlgn="base"/>
            <a:r>
              <a:rPr lang="en-US" dirty="0"/>
              <a:t>At this level, documentation of the standard guidelines and procedures takes place.</a:t>
            </a:r>
          </a:p>
          <a:p>
            <a:pPr algn="just" fontAlgn="base"/>
            <a:r>
              <a:rPr lang="en-US" dirty="0"/>
              <a:t>It is a well-defined integrated set of project-specific software engineering and management processes.</a:t>
            </a:r>
          </a:p>
          <a:p>
            <a:pPr algn="just" fontAlgn="base"/>
            <a:r>
              <a:rPr lang="en-US" b="1" dirty="0"/>
              <a:t>Peer Reviews-</a:t>
            </a:r>
            <a:r>
              <a:rPr lang="en-US" dirty="0"/>
              <a:t> In this method, defects are removed by using a number of review methods like walkthroughs, inspections, buddy checks, etc.</a:t>
            </a:r>
          </a:p>
          <a:p>
            <a:pPr algn="just" fontAlgn="base"/>
            <a:r>
              <a:rPr lang="en-US" b="1" dirty="0"/>
              <a:t>Intergroup Coordination-</a:t>
            </a:r>
            <a:r>
              <a:rPr lang="en-US" dirty="0"/>
              <a:t> It consists of planned interactions between different development teams to ensure efficient and proper fulfillment of customer needs.</a:t>
            </a:r>
          </a:p>
          <a:p>
            <a:pPr algn="just" fontAlgn="base"/>
            <a:r>
              <a:rPr lang="en-US" b="1" dirty="0"/>
              <a:t>Organization Process Definition-</a:t>
            </a:r>
            <a:r>
              <a:rPr lang="en-US" dirty="0"/>
              <a:t> Its key focus is on the development and maintenance of the standard development processes.</a:t>
            </a:r>
          </a:p>
          <a:p>
            <a:pPr algn="just" fontAlgn="base"/>
            <a:r>
              <a:rPr lang="en-US" b="1" dirty="0"/>
              <a:t>Organization Process Focus- </a:t>
            </a:r>
            <a:r>
              <a:rPr lang="en-US" dirty="0"/>
              <a:t>It includes activities and practices that should be followed to improve the process capabilities of an organization.</a:t>
            </a:r>
          </a:p>
          <a:p>
            <a:pPr algn="just" fontAlgn="base"/>
            <a:r>
              <a:rPr lang="en-US" b="1" dirty="0"/>
              <a:t>Training Programs-</a:t>
            </a:r>
            <a:r>
              <a:rPr lang="en-US" dirty="0"/>
              <a:t> It focuses on the enhancement of knowledge and skills of the team members including the developers and ensuring an increase in work efficiency.</a:t>
            </a:r>
          </a:p>
          <a:p>
            <a:pPr algn="just"/>
            <a:endParaRPr lang="en-US" dirty="0"/>
          </a:p>
        </p:txBody>
      </p:sp>
    </p:spTree>
    <p:extLst>
      <p:ext uri="{BB962C8B-B14F-4D97-AF65-F5344CB8AC3E}">
        <p14:creationId xmlns:p14="http://schemas.microsoft.com/office/powerpoint/2010/main" val="33040244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Level-4: Managed </a:t>
            </a:r>
            <a:r>
              <a:rPr lang="en-US" dirty="0"/>
              <a:t> </a:t>
            </a:r>
            <a:br>
              <a:rPr lang="en-US" dirty="0"/>
            </a:br>
            <a:endParaRPr lang="en-US" dirty="0"/>
          </a:p>
        </p:txBody>
      </p:sp>
      <p:sp>
        <p:nvSpPr>
          <p:cNvPr id="3" name="Content Placeholder 2"/>
          <p:cNvSpPr>
            <a:spLocks noGrp="1"/>
          </p:cNvSpPr>
          <p:nvPr>
            <p:ph idx="1"/>
          </p:nvPr>
        </p:nvSpPr>
        <p:spPr/>
        <p:txBody>
          <a:bodyPr>
            <a:normAutofit/>
          </a:bodyPr>
          <a:lstStyle/>
          <a:p>
            <a:pPr algn="just" fontAlgn="base"/>
            <a:r>
              <a:rPr lang="en-US" dirty="0"/>
              <a:t>At this stage, quantitative quality goals are set for the organization for software products as well as software processes.</a:t>
            </a:r>
          </a:p>
          <a:p>
            <a:pPr algn="just" fontAlgn="base"/>
            <a:r>
              <a:rPr lang="en-US" dirty="0"/>
              <a:t>The measurements made help the organization to predict the product and process quality within some limits defined quantitatively.</a:t>
            </a:r>
          </a:p>
          <a:p>
            <a:pPr algn="just" fontAlgn="base"/>
            <a:r>
              <a:rPr lang="en-US" b="1" dirty="0"/>
              <a:t>Software Quality Management-</a:t>
            </a:r>
            <a:r>
              <a:rPr lang="en-US" dirty="0"/>
              <a:t> It includes the establishment of plans and strategies to develop quantitative analysis and understanding of the product’s quality.</a:t>
            </a:r>
          </a:p>
          <a:p>
            <a:pPr algn="just" fontAlgn="base"/>
            <a:r>
              <a:rPr lang="en-US" b="1" dirty="0"/>
              <a:t>Quantitative Management-</a:t>
            </a:r>
            <a:r>
              <a:rPr lang="en-US" dirty="0"/>
              <a:t> It focuses on controlling the project performance in a quantitative manner.</a:t>
            </a:r>
          </a:p>
          <a:p>
            <a:pPr algn="just"/>
            <a:endParaRPr lang="en-US" dirty="0"/>
          </a:p>
        </p:txBody>
      </p:sp>
    </p:spTree>
    <p:extLst>
      <p:ext uri="{BB962C8B-B14F-4D97-AF65-F5344CB8AC3E}">
        <p14:creationId xmlns:p14="http://schemas.microsoft.com/office/powerpoint/2010/main" val="2863034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Level-5: </a:t>
            </a:r>
            <a:r>
              <a:rPr lang="en-US" b="1"/>
              <a:t>Optimizing </a:t>
            </a:r>
            <a:r>
              <a:rPr lang="en-US" dirty="0"/>
              <a:t>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algn="just" fontAlgn="base"/>
            <a:r>
              <a:rPr lang="en-US" dirty="0"/>
              <a:t>This is the highest level of process maturity in CMM and focuses on continuous process improvement in the organization using quantitative feedback.</a:t>
            </a:r>
          </a:p>
          <a:p>
            <a:pPr algn="just" fontAlgn="base"/>
            <a:r>
              <a:rPr lang="en-US" dirty="0"/>
              <a:t>Use of new tools, techniques, and evaluation of software processes is done to prevent recurrence of known defects.</a:t>
            </a:r>
          </a:p>
          <a:p>
            <a:pPr algn="just" fontAlgn="base"/>
            <a:r>
              <a:rPr lang="en-US" b="1" dirty="0"/>
              <a:t>Process Change Management-</a:t>
            </a:r>
            <a:r>
              <a:rPr lang="en-US" dirty="0"/>
              <a:t> Its focus is on the continuous improvement of the organization’s software processes to improve productivity, quality, and cycle time for the software product.</a:t>
            </a:r>
          </a:p>
          <a:p>
            <a:pPr algn="just" fontAlgn="base"/>
            <a:r>
              <a:rPr lang="en-US" b="1" dirty="0"/>
              <a:t>Technology Change Management-</a:t>
            </a:r>
            <a:r>
              <a:rPr lang="en-US" dirty="0"/>
              <a:t> It consists of the identification and use of new technologies to improve product quality and decrease product development time.</a:t>
            </a:r>
          </a:p>
          <a:p>
            <a:pPr algn="just" fontAlgn="base"/>
            <a:r>
              <a:rPr lang="en-US" b="1" dirty="0"/>
              <a:t>Defect Prevention-</a:t>
            </a:r>
            <a:r>
              <a:rPr lang="en-US" dirty="0"/>
              <a:t> It focuses on the identification of causes of defects and prevents them from recurring in future projects by improving project-defined processes.</a:t>
            </a:r>
          </a:p>
          <a:p>
            <a:pPr algn="just"/>
            <a:endParaRPr lang="en-US" dirty="0"/>
          </a:p>
        </p:txBody>
      </p:sp>
    </p:spTree>
    <p:extLst>
      <p:ext uri="{BB962C8B-B14F-4D97-AF65-F5344CB8AC3E}">
        <p14:creationId xmlns:p14="http://schemas.microsoft.com/office/powerpoint/2010/main" val="26324528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Assignment </a:t>
            </a:r>
            <a:endParaRPr lang="en-US" b="1"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1. What is programming language? Explain various software development tools.</a:t>
            </a:r>
          </a:p>
          <a:p>
            <a:pPr marL="0" indent="0">
              <a:buNone/>
            </a:pPr>
            <a:r>
              <a:rPr lang="en-US" dirty="0"/>
              <a:t>2.Explain good programming practices used in software development?</a:t>
            </a:r>
          </a:p>
          <a:p>
            <a:pPr marL="0" indent="0">
              <a:buNone/>
            </a:pPr>
            <a:r>
              <a:rPr lang="en-US" dirty="0"/>
              <a:t>3. What do you mean by verification and validation? Explain software inspection process with block diagram.</a:t>
            </a:r>
          </a:p>
          <a:p>
            <a:pPr marL="0" indent="0">
              <a:buNone/>
            </a:pPr>
            <a:r>
              <a:rPr lang="en-US" dirty="0"/>
              <a:t>4. What do you mean by software testing? Differentiate between black box testing and white box testing.</a:t>
            </a:r>
          </a:p>
          <a:p>
            <a:pPr marL="0" indent="0">
              <a:buNone/>
            </a:pPr>
            <a:r>
              <a:rPr lang="en-US" dirty="0"/>
              <a:t>5. Explain different levels of software testing.</a:t>
            </a:r>
          </a:p>
          <a:p>
            <a:pPr marL="0" indent="0">
              <a:buNone/>
            </a:pPr>
            <a:r>
              <a:rPr lang="en-US" dirty="0"/>
              <a:t>6. What do you mean by test case and test data? Explain software testing process.</a:t>
            </a:r>
          </a:p>
          <a:p>
            <a:pPr marL="0" indent="0">
              <a:buNone/>
            </a:pPr>
            <a:r>
              <a:rPr lang="en-US" dirty="0"/>
              <a:t>7. Define quality management. Explain quality management activities.</a:t>
            </a:r>
          </a:p>
          <a:p>
            <a:pPr marL="0" indent="0">
              <a:buNone/>
            </a:pPr>
            <a:r>
              <a:rPr lang="en-US" dirty="0"/>
              <a:t>8. Explain Capability maturity model with block diagram?</a:t>
            </a:r>
          </a:p>
          <a:p>
            <a:pPr marL="0" indent="0">
              <a:buNone/>
            </a:pPr>
            <a:r>
              <a:rPr lang="en-US" dirty="0"/>
              <a:t>9. What do you mean by quality standard? Explain ISO9000 model.</a:t>
            </a:r>
          </a:p>
          <a:p>
            <a:pPr marL="0" indent="0">
              <a:buNone/>
            </a:pPr>
            <a:r>
              <a:rPr lang="en-US" dirty="0"/>
              <a:t>10. What is regression testing.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933604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5289</Words>
  <Application>Microsoft Office PowerPoint</Application>
  <PresentationFormat>Widescreen</PresentationFormat>
  <Paragraphs>463</Paragraphs>
  <Slides>78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78</vt:i4>
      </vt:variant>
    </vt:vector>
  </HeadingPairs>
  <TitlesOfParts>
    <vt:vector size="83" baseType="lpstr">
      <vt:lpstr>Arial</vt:lpstr>
      <vt:lpstr>Calibri</vt:lpstr>
      <vt:lpstr>Calibri Light</vt:lpstr>
      <vt:lpstr>Courier New</vt:lpstr>
      <vt:lpstr>Office Theme</vt:lpstr>
      <vt:lpstr>Chapter 6</vt:lpstr>
      <vt:lpstr>Software verification</vt:lpstr>
      <vt:lpstr>Software verification</vt:lpstr>
      <vt:lpstr>Validation testing </vt:lpstr>
      <vt:lpstr>Validation testing </vt:lpstr>
      <vt:lpstr>Difference between verification and validation</vt:lpstr>
      <vt:lpstr>Software Testing </vt:lpstr>
      <vt:lpstr>Software testing process</vt:lpstr>
      <vt:lpstr>Unit Testing</vt:lpstr>
      <vt:lpstr>Module testing</vt:lpstr>
      <vt:lpstr>Sub System Testing</vt:lpstr>
      <vt:lpstr>System Testing</vt:lpstr>
      <vt:lpstr>Acceptance Testing</vt:lpstr>
      <vt:lpstr>Difference between Alfa Testing and Beta Testing</vt:lpstr>
      <vt:lpstr>Difference between Alfa Testing and Beta Testing</vt:lpstr>
      <vt:lpstr>Principle of testing</vt:lpstr>
      <vt:lpstr>White-box testing</vt:lpstr>
      <vt:lpstr>White-box testing</vt:lpstr>
      <vt:lpstr>What do we verify in White Box Testing?</vt:lpstr>
      <vt:lpstr>What do we verify in White Box Testing?</vt:lpstr>
      <vt:lpstr>White Box Testing Technique</vt:lpstr>
      <vt:lpstr>White Box Testing Technique</vt:lpstr>
      <vt:lpstr>White Box Testing Technique</vt:lpstr>
      <vt:lpstr>White Box Testing Technique</vt:lpstr>
      <vt:lpstr>White Box Testing Technique</vt:lpstr>
      <vt:lpstr>White Box Testing Technique</vt:lpstr>
      <vt:lpstr>White Box Testing Technique</vt:lpstr>
      <vt:lpstr>White Box Testing Technique</vt:lpstr>
      <vt:lpstr>White Box Testing Technique</vt:lpstr>
      <vt:lpstr>White Box Testing Technique</vt:lpstr>
      <vt:lpstr>Advantages:</vt:lpstr>
      <vt:lpstr>Disadvantages: </vt:lpstr>
      <vt:lpstr>Black-box Testing</vt:lpstr>
      <vt:lpstr>Black-box Testing</vt:lpstr>
      <vt:lpstr>Black box Testing Techniques </vt:lpstr>
      <vt:lpstr>Equivalence Partitioning </vt:lpstr>
      <vt:lpstr>Boundary Value Analysis </vt:lpstr>
      <vt:lpstr>Decision Table Testing </vt:lpstr>
      <vt:lpstr>State Transition Testing</vt:lpstr>
      <vt:lpstr>Error Guessing</vt:lpstr>
      <vt:lpstr>Advantages of Black-Box Testing </vt:lpstr>
      <vt:lpstr>Black box testing is further divided into  </vt:lpstr>
      <vt:lpstr>Functional Testing </vt:lpstr>
      <vt:lpstr>Non functional Testing </vt:lpstr>
      <vt:lpstr>Software Testing Process</vt:lpstr>
      <vt:lpstr>Test case design</vt:lpstr>
      <vt:lpstr>Test Case vs Test Data </vt:lpstr>
      <vt:lpstr>Test Case vs Test data </vt:lpstr>
      <vt:lpstr>Regression testing</vt:lpstr>
      <vt:lpstr>Software inspection</vt:lpstr>
      <vt:lpstr>Inspection key Points</vt:lpstr>
      <vt:lpstr>Inspection key Points</vt:lpstr>
      <vt:lpstr>Inspection Roles</vt:lpstr>
      <vt:lpstr>Stages In The Software Inspection Process</vt:lpstr>
      <vt:lpstr>Quality Management</vt:lpstr>
      <vt:lpstr>Quality Planning </vt:lpstr>
      <vt:lpstr>Quality Assurance </vt:lpstr>
      <vt:lpstr>Quality Control </vt:lpstr>
      <vt:lpstr>Part -2</vt:lpstr>
      <vt:lpstr>Software measurement</vt:lpstr>
      <vt:lpstr>Need for Software Measurement:  </vt:lpstr>
      <vt:lpstr>Classification of Software Measurement:  </vt:lpstr>
      <vt:lpstr>Metrics:  </vt:lpstr>
      <vt:lpstr>Characteristics of software Metrics: </vt:lpstr>
      <vt:lpstr>Classification of Software Metrics(Software Quality Metrics) </vt:lpstr>
      <vt:lpstr>The ISO9000 quality standards</vt:lpstr>
      <vt:lpstr>Types of ISO 9000 Quality Standards  </vt:lpstr>
      <vt:lpstr>Types of ISO 9000 Quality Standards  </vt:lpstr>
      <vt:lpstr>How to get ISO 9000 Certification? </vt:lpstr>
      <vt:lpstr>Capability Maturity Model</vt:lpstr>
      <vt:lpstr>Key Process Areas (KPA’s):</vt:lpstr>
      <vt:lpstr>Five levels of CMM</vt:lpstr>
      <vt:lpstr>Level-1: Initial  </vt:lpstr>
      <vt:lpstr>Level-2: Repeatable  </vt:lpstr>
      <vt:lpstr>Level-3: Defined  </vt:lpstr>
      <vt:lpstr>Level-4: Managed   </vt:lpstr>
      <vt:lpstr>Level-5: Optimizing   </vt:lpstr>
      <vt:lpstr>Assignment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abita kunwar</dc:creator>
  <cp:lastModifiedBy>abita kunwar</cp:lastModifiedBy>
  <cp:revision>12</cp:revision>
  <dcterms:created xsi:type="dcterms:W3CDTF">2025-11-11T02:13:02Z</dcterms:created>
  <dcterms:modified xsi:type="dcterms:W3CDTF">2025-11-13T05:53:27Z</dcterms:modified>
</cp:coreProperties>
</file>