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9"/>
  </p:notesMasterIdLst>
  <p:sldIdLst>
    <p:sldId id="256" r:id="rId5"/>
    <p:sldId id="257" r:id="rId6"/>
    <p:sldId id="258" r:id="rId7"/>
    <p:sldId id="259" r:id="rId8"/>
    <p:sldId id="260" r:id="rId9"/>
    <p:sldId id="261" r:id="rId10"/>
    <p:sldId id="262" r:id="rId11"/>
    <p:sldId id="263" r:id="rId12"/>
    <p:sldId id="264" r:id="rId13"/>
    <p:sldId id="265" r:id="rId14"/>
    <p:sldId id="266" r:id="rId15"/>
    <p:sldId id="285" r:id="rId16"/>
    <p:sldId id="286" r:id="rId17"/>
    <p:sldId id="287" r:id="rId18"/>
    <p:sldId id="288" r:id="rId19"/>
    <p:sldId id="289" r:id="rId20"/>
    <p:sldId id="290" r:id="rId21"/>
    <p:sldId id="267" r:id="rId22"/>
    <p:sldId id="291" r:id="rId23"/>
    <p:sldId id="292" r:id="rId24"/>
    <p:sldId id="293" r:id="rId25"/>
    <p:sldId id="294" r:id="rId26"/>
    <p:sldId id="268" r:id="rId27"/>
    <p:sldId id="269" r:id="rId28"/>
    <p:sldId id="270" r:id="rId29"/>
    <p:sldId id="271" r:id="rId30"/>
    <p:sldId id="272" r:id="rId31"/>
    <p:sldId id="273" r:id="rId32"/>
    <p:sldId id="274" r:id="rId33"/>
    <p:sldId id="295" r:id="rId34"/>
    <p:sldId id="276" r:id="rId35"/>
    <p:sldId id="277" r:id="rId36"/>
    <p:sldId id="296" r:id="rId37"/>
    <p:sldId id="297" r:id="rId38"/>
    <p:sldId id="298" r:id="rId39"/>
    <p:sldId id="299" r:id="rId40"/>
    <p:sldId id="278" r:id="rId41"/>
    <p:sldId id="279" r:id="rId42"/>
    <p:sldId id="300" r:id="rId43"/>
    <p:sldId id="301" r:id="rId44"/>
    <p:sldId id="302" r:id="rId45"/>
    <p:sldId id="281" r:id="rId46"/>
    <p:sldId id="303" r:id="rId47"/>
    <p:sldId id="304" r:id="rId48"/>
    <p:sldId id="305" r:id="rId49"/>
    <p:sldId id="306" r:id="rId50"/>
    <p:sldId id="307" r:id="rId51"/>
    <p:sldId id="308" r:id="rId52"/>
    <p:sldId id="309" r:id="rId53"/>
    <p:sldId id="310" r:id="rId54"/>
    <p:sldId id="311" r:id="rId55"/>
    <p:sldId id="280" r:id="rId56"/>
    <p:sldId id="312" r:id="rId57"/>
    <p:sldId id="313" r:id="rId58"/>
    <p:sldId id="314" r:id="rId59"/>
    <p:sldId id="315" r:id="rId60"/>
    <p:sldId id="282" r:id="rId61"/>
    <p:sldId id="283" r:id="rId62"/>
    <p:sldId id="284" r:id="rId63"/>
    <p:sldId id="316" r:id="rId64"/>
    <p:sldId id="317" r:id="rId65"/>
    <p:sldId id="318" r:id="rId66"/>
    <p:sldId id="319" r:id="rId67"/>
    <p:sldId id="320" r:id="rId68"/>
  </p:sldIdLst>
  <p:sldSz cx="12065000" cy="6858000"/>
  <p:notesSz cx="12065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4"/>
  </p:normalViewPr>
  <p:slideViewPr>
    <p:cSldViewPr>
      <p:cViewPr varScale="1">
        <p:scale>
          <a:sx n="67" d="100"/>
          <a:sy n="67" d="100"/>
        </p:scale>
        <p:origin x="780"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27638"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834188" y="0"/>
            <a:ext cx="5227637" cy="344488"/>
          </a:xfrm>
          <a:prstGeom prst="rect">
            <a:avLst/>
          </a:prstGeom>
        </p:spPr>
        <p:txBody>
          <a:bodyPr vert="horz" lIns="91440" tIns="45720" rIns="91440" bIns="45720" rtlCol="0"/>
          <a:lstStyle>
            <a:lvl1pPr algn="r">
              <a:defRPr sz="1200"/>
            </a:lvl1pPr>
          </a:lstStyle>
          <a:p>
            <a:fld id="{2EFDB461-3A24-2841-AEA8-71699516665C}" type="datetimeFigureOut">
              <a:rPr lang="en-US" smtClean="0"/>
              <a:t>4/12/2023</a:t>
            </a:fld>
            <a:endParaRPr lang="en-US"/>
          </a:p>
        </p:txBody>
      </p:sp>
      <p:sp>
        <p:nvSpPr>
          <p:cNvPr id="4" name="Slide Image Placeholder 3"/>
          <p:cNvSpPr>
            <a:spLocks noGrp="1" noRot="1" noChangeAspect="1"/>
          </p:cNvSpPr>
          <p:nvPr>
            <p:ph type="sldImg" idx="2"/>
          </p:nvPr>
        </p:nvSpPr>
        <p:spPr>
          <a:xfrm>
            <a:off x="3995738" y="857250"/>
            <a:ext cx="407352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06500" y="3300413"/>
            <a:ext cx="96520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27638"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834188" y="6513513"/>
            <a:ext cx="5227637" cy="344487"/>
          </a:xfrm>
          <a:prstGeom prst="rect">
            <a:avLst/>
          </a:prstGeom>
        </p:spPr>
        <p:txBody>
          <a:bodyPr vert="horz" lIns="91440" tIns="45720" rIns="91440" bIns="45720" rtlCol="0" anchor="b"/>
          <a:lstStyle>
            <a:lvl1pPr algn="r">
              <a:defRPr sz="1200"/>
            </a:lvl1pPr>
          </a:lstStyle>
          <a:p>
            <a:fld id="{8DA20F99-9F34-E843-909F-EC562487BB3F}" type="slidenum">
              <a:rPr lang="en-US" smtClean="0"/>
              <a:t>‹#›</a:t>
            </a:fld>
            <a:endParaRPr lang="en-US"/>
          </a:p>
        </p:txBody>
      </p:sp>
    </p:spTree>
    <p:extLst>
      <p:ext uri="{BB962C8B-B14F-4D97-AF65-F5344CB8AC3E}">
        <p14:creationId xmlns:p14="http://schemas.microsoft.com/office/powerpoint/2010/main" val="3917096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6656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264DE21-DE59-44BD-9BE6-DF028FA1A6E1}" type="slidenum">
              <a:rPr lang="en-US" altLang="en-US" smtClean="0"/>
              <a:pPr>
                <a:spcBef>
                  <a:spcPct val="0"/>
                </a:spcBef>
              </a:pPr>
              <a:t>12</a:t>
            </a:fld>
            <a:endParaRPr lang="en-US" altLang="en-US" smtClean="0"/>
          </a:p>
        </p:txBody>
      </p:sp>
    </p:spTree>
    <p:extLst>
      <p:ext uri="{BB962C8B-B14F-4D97-AF65-F5344CB8AC3E}">
        <p14:creationId xmlns:p14="http://schemas.microsoft.com/office/powerpoint/2010/main" val="3064394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6861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84C1E236-080C-4E2B-AEE2-F7192F1B6872}" type="slidenum">
              <a:rPr lang="en-US" altLang="en-US" smtClean="0"/>
              <a:pPr>
                <a:spcBef>
                  <a:spcPct val="0"/>
                </a:spcBef>
              </a:pPr>
              <a:t>13</a:t>
            </a:fld>
            <a:endParaRPr lang="en-US" altLang="en-US" smtClean="0"/>
          </a:p>
        </p:txBody>
      </p:sp>
    </p:spTree>
    <p:extLst>
      <p:ext uri="{BB962C8B-B14F-4D97-AF65-F5344CB8AC3E}">
        <p14:creationId xmlns:p14="http://schemas.microsoft.com/office/powerpoint/2010/main" val="3080445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7066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E96C6303-807C-461F-AE66-5894B8834AE3}" type="slidenum">
              <a:rPr lang="en-US" altLang="en-US" smtClean="0"/>
              <a:pPr>
                <a:spcBef>
                  <a:spcPct val="0"/>
                </a:spcBef>
              </a:pPr>
              <a:t>14</a:t>
            </a:fld>
            <a:endParaRPr lang="en-US" altLang="en-US" smtClean="0"/>
          </a:p>
        </p:txBody>
      </p:sp>
    </p:spTree>
    <p:extLst>
      <p:ext uri="{BB962C8B-B14F-4D97-AF65-F5344CB8AC3E}">
        <p14:creationId xmlns:p14="http://schemas.microsoft.com/office/powerpoint/2010/main" val="2223518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7270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B8D31906-7FF6-4361-8C8A-06CEFB20A1BF}" type="slidenum">
              <a:rPr lang="en-US" altLang="en-US" smtClean="0"/>
              <a:pPr>
                <a:spcBef>
                  <a:spcPct val="0"/>
                </a:spcBef>
              </a:pPr>
              <a:t>15</a:t>
            </a:fld>
            <a:endParaRPr lang="en-US" altLang="en-US" smtClean="0"/>
          </a:p>
        </p:txBody>
      </p:sp>
    </p:spTree>
    <p:extLst>
      <p:ext uri="{BB962C8B-B14F-4D97-AF65-F5344CB8AC3E}">
        <p14:creationId xmlns:p14="http://schemas.microsoft.com/office/powerpoint/2010/main" val="1746486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7475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DBDEAC05-F0CD-43F4-857E-C17186FEDFA1}" type="slidenum">
              <a:rPr lang="en-US" altLang="en-US" smtClean="0"/>
              <a:pPr>
                <a:spcBef>
                  <a:spcPct val="0"/>
                </a:spcBef>
              </a:pPr>
              <a:t>16</a:t>
            </a:fld>
            <a:endParaRPr lang="en-US" altLang="en-US" smtClean="0"/>
          </a:p>
        </p:txBody>
      </p:sp>
    </p:spTree>
    <p:extLst>
      <p:ext uri="{BB962C8B-B14F-4D97-AF65-F5344CB8AC3E}">
        <p14:creationId xmlns:p14="http://schemas.microsoft.com/office/powerpoint/2010/main" val="3170177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7680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EE256E57-D8F3-4816-BA28-8E73DBB9091F}" type="slidenum">
              <a:rPr lang="en-US" altLang="en-US" smtClean="0"/>
              <a:pPr>
                <a:spcBef>
                  <a:spcPct val="0"/>
                </a:spcBef>
              </a:pPr>
              <a:t>17</a:t>
            </a:fld>
            <a:endParaRPr lang="en-US" altLang="en-US" smtClean="0"/>
          </a:p>
        </p:txBody>
      </p:sp>
    </p:spTree>
    <p:extLst>
      <p:ext uri="{BB962C8B-B14F-4D97-AF65-F5344CB8AC3E}">
        <p14:creationId xmlns:p14="http://schemas.microsoft.com/office/powerpoint/2010/main" val="1387704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8090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E4C83DCC-26E5-4570-ADB8-2FB9CC28784A}" type="slidenum">
              <a:rPr lang="en-US" altLang="en-US" smtClean="0"/>
              <a:pPr>
                <a:spcBef>
                  <a:spcPct val="0"/>
                </a:spcBef>
              </a:pPr>
              <a:t>19</a:t>
            </a:fld>
            <a:endParaRPr lang="en-US" altLang="en-US" smtClean="0"/>
          </a:p>
        </p:txBody>
      </p:sp>
    </p:spTree>
    <p:extLst>
      <p:ext uri="{BB962C8B-B14F-4D97-AF65-F5344CB8AC3E}">
        <p14:creationId xmlns:p14="http://schemas.microsoft.com/office/powerpoint/2010/main" val="3153591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8294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D547C34-79A5-44C9-A76E-53F117A0BF58}" type="slidenum">
              <a:rPr lang="en-US" altLang="en-US" smtClean="0"/>
              <a:pPr>
                <a:spcBef>
                  <a:spcPct val="0"/>
                </a:spcBef>
              </a:pPr>
              <a:t>20</a:t>
            </a:fld>
            <a:endParaRPr lang="en-US" altLang="en-US" smtClean="0"/>
          </a:p>
        </p:txBody>
      </p:sp>
    </p:spTree>
    <p:extLst>
      <p:ext uri="{BB962C8B-B14F-4D97-AF65-F5344CB8AC3E}">
        <p14:creationId xmlns:p14="http://schemas.microsoft.com/office/powerpoint/2010/main" val="1999597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8499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7D2FEE82-F68F-4F7A-8C46-8CC13065340F}" type="slidenum">
              <a:rPr lang="en-US" altLang="en-US" smtClean="0"/>
              <a:pPr>
                <a:spcBef>
                  <a:spcPct val="0"/>
                </a:spcBef>
              </a:pPr>
              <a:t>21</a:t>
            </a:fld>
            <a:endParaRPr lang="en-US" altLang="en-US" smtClean="0"/>
          </a:p>
        </p:txBody>
      </p:sp>
    </p:spTree>
    <p:extLst>
      <p:ext uri="{BB962C8B-B14F-4D97-AF65-F5344CB8AC3E}">
        <p14:creationId xmlns:p14="http://schemas.microsoft.com/office/powerpoint/2010/main" val="2297241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8704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F2E8A91C-3226-4F20-BC6C-AA4D4730F574}" type="slidenum">
              <a:rPr lang="en-US" altLang="en-US" smtClean="0"/>
              <a:pPr>
                <a:spcBef>
                  <a:spcPct val="0"/>
                </a:spcBef>
              </a:pPr>
              <a:t>22</a:t>
            </a:fld>
            <a:endParaRPr lang="en-US" altLang="en-US" smtClean="0"/>
          </a:p>
        </p:txBody>
      </p:sp>
    </p:spTree>
    <p:extLst>
      <p:ext uri="{BB962C8B-B14F-4D97-AF65-F5344CB8AC3E}">
        <p14:creationId xmlns:p14="http://schemas.microsoft.com/office/powerpoint/2010/main" val="1892946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A20F99-9F34-E843-909F-EC562487BB3F}" type="slidenum">
              <a:rPr lang="en-US" smtClean="0"/>
              <a:t>23</a:t>
            </a:fld>
            <a:endParaRPr lang="en-US"/>
          </a:p>
        </p:txBody>
      </p:sp>
    </p:spTree>
    <p:extLst>
      <p:ext uri="{BB962C8B-B14F-4D97-AF65-F5344CB8AC3E}">
        <p14:creationId xmlns:p14="http://schemas.microsoft.com/office/powerpoint/2010/main" val="3189417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9933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9E8C2B22-2F20-46B2-81BD-C2A9600412D5}" type="slidenum">
              <a:rPr lang="en-US" altLang="en-US" smtClean="0"/>
              <a:pPr>
                <a:spcBef>
                  <a:spcPct val="0"/>
                </a:spcBef>
              </a:pPr>
              <a:t>30</a:t>
            </a:fld>
            <a:endParaRPr lang="en-US" altLang="en-US" smtClean="0"/>
          </a:p>
        </p:txBody>
      </p:sp>
    </p:spTree>
    <p:extLst>
      <p:ext uri="{BB962C8B-B14F-4D97-AF65-F5344CB8AC3E}">
        <p14:creationId xmlns:p14="http://schemas.microsoft.com/office/powerpoint/2010/main" val="623297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0342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17A6C44-BC6C-46AF-9816-FA275CB89614}" type="slidenum">
              <a:rPr lang="en-US" altLang="en-US" smtClean="0"/>
              <a:pPr>
                <a:spcBef>
                  <a:spcPct val="0"/>
                </a:spcBef>
              </a:pPr>
              <a:t>33</a:t>
            </a:fld>
            <a:endParaRPr lang="en-US" altLang="en-US" smtClean="0"/>
          </a:p>
        </p:txBody>
      </p:sp>
    </p:spTree>
    <p:extLst>
      <p:ext uri="{BB962C8B-B14F-4D97-AF65-F5344CB8AC3E}">
        <p14:creationId xmlns:p14="http://schemas.microsoft.com/office/powerpoint/2010/main" val="2604124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0547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FEAEAB09-1A2F-41EA-9E1A-43103EE4261D}" type="slidenum">
              <a:rPr lang="en-US" altLang="en-US" smtClean="0"/>
              <a:pPr>
                <a:spcBef>
                  <a:spcPct val="0"/>
                </a:spcBef>
              </a:pPr>
              <a:t>34</a:t>
            </a:fld>
            <a:endParaRPr lang="en-US" altLang="en-US" smtClean="0"/>
          </a:p>
        </p:txBody>
      </p:sp>
    </p:spTree>
    <p:extLst>
      <p:ext uri="{BB962C8B-B14F-4D97-AF65-F5344CB8AC3E}">
        <p14:creationId xmlns:p14="http://schemas.microsoft.com/office/powerpoint/2010/main" val="3860325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0752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7FF02599-0E4B-448B-BE3D-7C8E4BFB8F36}" type="slidenum">
              <a:rPr lang="en-US" altLang="en-US" smtClean="0"/>
              <a:pPr>
                <a:spcBef>
                  <a:spcPct val="0"/>
                </a:spcBef>
              </a:pPr>
              <a:t>35</a:t>
            </a:fld>
            <a:endParaRPr lang="en-US" altLang="en-US" smtClean="0"/>
          </a:p>
        </p:txBody>
      </p:sp>
    </p:spTree>
    <p:extLst>
      <p:ext uri="{BB962C8B-B14F-4D97-AF65-F5344CB8AC3E}">
        <p14:creationId xmlns:p14="http://schemas.microsoft.com/office/powerpoint/2010/main" val="1643730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0957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D370872D-362E-4DFD-8137-69C2B26FB529}" type="slidenum">
              <a:rPr lang="en-US" altLang="en-US" smtClean="0"/>
              <a:pPr>
                <a:spcBef>
                  <a:spcPct val="0"/>
                </a:spcBef>
              </a:pPr>
              <a:t>36</a:t>
            </a:fld>
            <a:endParaRPr lang="en-US" altLang="en-US" smtClean="0"/>
          </a:p>
        </p:txBody>
      </p:sp>
    </p:spTree>
    <p:extLst>
      <p:ext uri="{BB962C8B-B14F-4D97-AF65-F5344CB8AC3E}">
        <p14:creationId xmlns:p14="http://schemas.microsoft.com/office/powerpoint/2010/main" val="3821189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1162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FD1B9450-FEB9-405D-84EB-B4FC70B1D333}" type="slidenum">
              <a:rPr lang="en-US" altLang="en-US" smtClean="0"/>
              <a:pPr>
                <a:spcBef>
                  <a:spcPct val="0"/>
                </a:spcBef>
              </a:pPr>
              <a:t>39</a:t>
            </a:fld>
            <a:endParaRPr lang="en-US" altLang="en-US" smtClean="0"/>
          </a:p>
        </p:txBody>
      </p:sp>
    </p:spTree>
    <p:extLst>
      <p:ext uri="{BB962C8B-B14F-4D97-AF65-F5344CB8AC3E}">
        <p14:creationId xmlns:p14="http://schemas.microsoft.com/office/powerpoint/2010/main" val="3046882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1366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F42D761E-C4CA-4939-AA7F-8F51E34FCEFF}" type="slidenum">
              <a:rPr lang="en-US" altLang="en-US" smtClean="0"/>
              <a:pPr>
                <a:spcBef>
                  <a:spcPct val="0"/>
                </a:spcBef>
              </a:pPr>
              <a:t>40</a:t>
            </a:fld>
            <a:endParaRPr lang="en-US" altLang="en-US" smtClean="0"/>
          </a:p>
        </p:txBody>
      </p:sp>
    </p:spTree>
    <p:extLst>
      <p:ext uri="{BB962C8B-B14F-4D97-AF65-F5344CB8AC3E}">
        <p14:creationId xmlns:p14="http://schemas.microsoft.com/office/powerpoint/2010/main" val="2000198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1571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21D6CAE-DB02-46EE-8CCD-3BBC838D6113}" type="slidenum">
              <a:rPr lang="en-US" altLang="en-US" smtClean="0"/>
              <a:pPr>
                <a:spcBef>
                  <a:spcPct val="0"/>
                </a:spcBef>
              </a:pPr>
              <a:t>41</a:t>
            </a:fld>
            <a:endParaRPr lang="en-US" altLang="en-US" smtClean="0"/>
          </a:p>
        </p:txBody>
      </p:sp>
    </p:spTree>
    <p:extLst>
      <p:ext uri="{BB962C8B-B14F-4D97-AF65-F5344CB8AC3E}">
        <p14:creationId xmlns:p14="http://schemas.microsoft.com/office/powerpoint/2010/main" val="2550150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1776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BDFC802B-9430-454E-9F9B-4811852661FA}" type="slidenum">
              <a:rPr lang="en-US" altLang="en-US" smtClean="0"/>
              <a:pPr>
                <a:spcBef>
                  <a:spcPct val="0"/>
                </a:spcBef>
              </a:pPr>
              <a:t>43</a:t>
            </a:fld>
            <a:endParaRPr lang="en-US" altLang="en-US" smtClean="0"/>
          </a:p>
        </p:txBody>
      </p:sp>
    </p:spTree>
    <p:extLst>
      <p:ext uri="{BB962C8B-B14F-4D97-AF65-F5344CB8AC3E}">
        <p14:creationId xmlns:p14="http://schemas.microsoft.com/office/powerpoint/2010/main" val="3231191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1981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1CBB2740-14E3-4927-9992-C7E5F7E9DC6F}" type="slidenum">
              <a:rPr lang="en-US" altLang="en-US" smtClean="0"/>
              <a:pPr>
                <a:spcBef>
                  <a:spcPct val="0"/>
                </a:spcBef>
              </a:pPr>
              <a:t>44</a:t>
            </a:fld>
            <a:endParaRPr lang="en-US" altLang="en-US" smtClean="0"/>
          </a:p>
        </p:txBody>
      </p:sp>
    </p:spTree>
    <p:extLst>
      <p:ext uri="{BB962C8B-B14F-4D97-AF65-F5344CB8AC3E}">
        <p14:creationId xmlns:p14="http://schemas.microsoft.com/office/powerpoint/2010/main" val="3813982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a:ln/>
        </p:spPr>
      </p:sp>
      <p:sp>
        <p:nvSpPr>
          <p:cNvPr id="1218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2186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05F547A3-0DC8-4244-A708-48BA5D62CB74}" type="slidenum">
              <a:rPr lang="en-US" altLang="en-US" smtClean="0"/>
              <a:pPr>
                <a:spcBef>
                  <a:spcPct val="0"/>
                </a:spcBef>
              </a:pPr>
              <a:t>45</a:t>
            </a:fld>
            <a:endParaRPr lang="en-US" altLang="en-US" smtClean="0"/>
          </a:p>
        </p:txBody>
      </p:sp>
    </p:spTree>
    <p:extLst>
      <p:ext uri="{BB962C8B-B14F-4D97-AF65-F5344CB8AC3E}">
        <p14:creationId xmlns:p14="http://schemas.microsoft.com/office/powerpoint/2010/main" val="41777068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1239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2390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3E786DA0-791A-465C-AF70-E4C92D4EC21F}" type="slidenum">
              <a:rPr lang="en-US" altLang="en-US" smtClean="0"/>
              <a:pPr>
                <a:spcBef>
                  <a:spcPct val="0"/>
                </a:spcBef>
              </a:pPr>
              <a:t>46</a:t>
            </a:fld>
            <a:endParaRPr lang="en-US" altLang="en-US" smtClean="0"/>
          </a:p>
        </p:txBody>
      </p:sp>
    </p:spTree>
    <p:extLst>
      <p:ext uri="{BB962C8B-B14F-4D97-AF65-F5344CB8AC3E}">
        <p14:creationId xmlns:p14="http://schemas.microsoft.com/office/powerpoint/2010/main" val="76759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a:ln/>
        </p:spPr>
      </p:sp>
      <p:sp>
        <p:nvSpPr>
          <p:cNvPr id="1259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2595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C900F9C7-CAB5-4D12-A490-91E4F5525BDD}" type="slidenum">
              <a:rPr lang="en-US" altLang="en-US" smtClean="0"/>
              <a:pPr>
                <a:spcBef>
                  <a:spcPct val="0"/>
                </a:spcBef>
              </a:pPr>
              <a:t>47</a:t>
            </a:fld>
            <a:endParaRPr lang="en-US" altLang="en-US" smtClean="0"/>
          </a:p>
        </p:txBody>
      </p:sp>
    </p:spTree>
    <p:extLst>
      <p:ext uri="{BB962C8B-B14F-4D97-AF65-F5344CB8AC3E}">
        <p14:creationId xmlns:p14="http://schemas.microsoft.com/office/powerpoint/2010/main" val="22861332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a:ln/>
        </p:spPr>
      </p:sp>
      <p:sp>
        <p:nvSpPr>
          <p:cNvPr id="1280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2800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DB2DD2D6-67E4-4337-8AAA-30B9C494C0D9}" type="slidenum">
              <a:rPr lang="en-US" altLang="en-US" smtClean="0"/>
              <a:pPr>
                <a:spcBef>
                  <a:spcPct val="0"/>
                </a:spcBef>
              </a:pPr>
              <a:t>48</a:t>
            </a:fld>
            <a:endParaRPr lang="en-US" altLang="en-US" smtClean="0"/>
          </a:p>
        </p:txBody>
      </p:sp>
    </p:spTree>
    <p:extLst>
      <p:ext uri="{BB962C8B-B14F-4D97-AF65-F5344CB8AC3E}">
        <p14:creationId xmlns:p14="http://schemas.microsoft.com/office/powerpoint/2010/main" val="27045874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a:ln/>
        </p:spPr>
      </p:sp>
      <p:sp>
        <p:nvSpPr>
          <p:cNvPr id="1300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3005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E4A70A44-3DE9-4DD3-B319-6AFA916FFEA6}" type="slidenum">
              <a:rPr lang="en-US" altLang="en-US" smtClean="0"/>
              <a:pPr>
                <a:spcBef>
                  <a:spcPct val="0"/>
                </a:spcBef>
              </a:pPr>
              <a:t>49</a:t>
            </a:fld>
            <a:endParaRPr lang="en-US" altLang="en-US" smtClean="0"/>
          </a:p>
        </p:txBody>
      </p:sp>
    </p:spTree>
    <p:extLst>
      <p:ext uri="{BB962C8B-B14F-4D97-AF65-F5344CB8AC3E}">
        <p14:creationId xmlns:p14="http://schemas.microsoft.com/office/powerpoint/2010/main" val="18020823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3210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3BFB7080-BBF5-4874-87E9-807064E42899}" type="slidenum">
              <a:rPr lang="en-US" altLang="en-US" smtClean="0"/>
              <a:pPr>
                <a:spcBef>
                  <a:spcPct val="0"/>
                </a:spcBef>
              </a:pPr>
              <a:t>50</a:t>
            </a:fld>
            <a:endParaRPr lang="en-US" altLang="en-US" smtClean="0"/>
          </a:p>
        </p:txBody>
      </p:sp>
    </p:spTree>
    <p:extLst>
      <p:ext uri="{BB962C8B-B14F-4D97-AF65-F5344CB8AC3E}">
        <p14:creationId xmlns:p14="http://schemas.microsoft.com/office/powerpoint/2010/main" val="8718481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3414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631B6D6B-5ECA-41D1-9FE5-A70553112A6C}" type="slidenum">
              <a:rPr lang="en-US" altLang="en-US" smtClean="0"/>
              <a:pPr>
                <a:spcBef>
                  <a:spcPct val="0"/>
                </a:spcBef>
              </a:pPr>
              <a:t>51</a:t>
            </a:fld>
            <a:endParaRPr lang="en-US" altLang="en-US" smtClean="0"/>
          </a:p>
        </p:txBody>
      </p:sp>
    </p:spTree>
    <p:extLst>
      <p:ext uri="{BB962C8B-B14F-4D97-AF65-F5344CB8AC3E}">
        <p14:creationId xmlns:p14="http://schemas.microsoft.com/office/powerpoint/2010/main" val="3013896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p:spPr>
      </p:sp>
      <p:sp>
        <p:nvSpPr>
          <p:cNvPr id="136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3619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070144E8-384F-4BE8-8A90-994400BA7C26}" type="slidenum">
              <a:rPr lang="en-US" altLang="en-US" smtClean="0"/>
              <a:pPr>
                <a:spcBef>
                  <a:spcPct val="0"/>
                </a:spcBef>
              </a:pPr>
              <a:t>53</a:t>
            </a:fld>
            <a:endParaRPr lang="en-US" altLang="en-US" smtClean="0"/>
          </a:p>
        </p:txBody>
      </p:sp>
    </p:spTree>
    <p:extLst>
      <p:ext uri="{BB962C8B-B14F-4D97-AF65-F5344CB8AC3E}">
        <p14:creationId xmlns:p14="http://schemas.microsoft.com/office/powerpoint/2010/main" val="919356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p:spPr>
      </p:sp>
      <p:sp>
        <p:nvSpPr>
          <p:cNvPr id="138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3824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730E2313-281E-4F77-B1D4-C4A813C15DAC}" type="slidenum">
              <a:rPr lang="en-US" altLang="en-US" smtClean="0"/>
              <a:pPr>
                <a:spcBef>
                  <a:spcPct val="0"/>
                </a:spcBef>
              </a:pPr>
              <a:t>54</a:t>
            </a:fld>
            <a:endParaRPr lang="en-US" altLang="en-US" smtClean="0"/>
          </a:p>
        </p:txBody>
      </p:sp>
    </p:spTree>
    <p:extLst>
      <p:ext uri="{BB962C8B-B14F-4D97-AF65-F5344CB8AC3E}">
        <p14:creationId xmlns:p14="http://schemas.microsoft.com/office/powerpoint/2010/main" val="805223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p:spPr>
      </p:sp>
      <p:sp>
        <p:nvSpPr>
          <p:cNvPr id="140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4029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3E3453D1-B1D4-44A6-9024-50A7EB765B3B}" type="slidenum">
              <a:rPr lang="en-US" altLang="en-US" smtClean="0"/>
              <a:pPr>
                <a:spcBef>
                  <a:spcPct val="0"/>
                </a:spcBef>
              </a:pPr>
              <a:t>55</a:t>
            </a:fld>
            <a:endParaRPr lang="en-US" altLang="en-US" smtClean="0"/>
          </a:p>
        </p:txBody>
      </p:sp>
    </p:spTree>
    <p:extLst>
      <p:ext uri="{BB962C8B-B14F-4D97-AF65-F5344CB8AC3E}">
        <p14:creationId xmlns:p14="http://schemas.microsoft.com/office/powerpoint/2010/main" val="21773439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4234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A2FD7590-C993-47F1-A9BE-74F59CAF718B}" type="slidenum">
              <a:rPr lang="en-US" altLang="en-US" smtClean="0"/>
              <a:pPr>
                <a:spcBef>
                  <a:spcPct val="0"/>
                </a:spcBef>
              </a:pPr>
              <a:t>56</a:t>
            </a:fld>
            <a:endParaRPr lang="en-US" altLang="en-US" smtClean="0"/>
          </a:p>
        </p:txBody>
      </p:sp>
    </p:spTree>
    <p:extLst>
      <p:ext uri="{BB962C8B-B14F-4D97-AF65-F5344CB8AC3E}">
        <p14:creationId xmlns:p14="http://schemas.microsoft.com/office/powerpoint/2010/main" val="33279650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p:cNvSpPr>
            <a:spLocks noGrp="1" noRot="1" noChangeAspect="1" noTextEdit="1"/>
          </p:cNvSpPr>
          <p:nvPr>
            <p:ph type="sldImg"/>
          </p:nvPr>
        </p:nvSpPr>
        <p:spPr>
          <a:ln/>
        </p:spPr>
      </p:sp>
      <p:sp>
        <p:nvSpPr>
          <p:cNvPr id="148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4848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4827CCF0-D884-49A2-9C90-1FD040B13525}" type="slidenum">
              <a:rPr lang="en-US" altLang="en-US" smtClean="0"/>
              <a:pPr>
                <a:spcBef>
                  <a:spcPct val="0"/>
                </a:spcBef>
              </a:pPr>
              <a:t>60</a:t>
            </a:fld>
            <a:endParaRPr lang="en-US" altLang="en-US" smtClean="0"/>
          </a:p>
        </p:txBody>
      </p:sp>
    </p:spTree>
    <p:extLst>
      <p:ext uri="{BB962C8B-B14F-4D97-AF65-F5344CB8AC3E}">
        <p14:creationId xmlns:p14="http://schemas.microsoft.com/office/powerpoint/2010/main" val="5288670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a:ln/>
        </p:spPr>
      </p:sp>
      <p:sp>
        <p:nvSpPr>
          <p:cNvPr id="150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5053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1888768E-6BEC-4C63-8EC7-C5539D781B96}" type="slidenum">
              <a:rPr lang="en-US" altLang="en-US" smtClean="0"/>
              <a:pPr>
                <a:spcBef>
                  <a:spcPct val="0"/>
                </a:spcBef>
              </a:pPr>
              <a:t>61</a:t>
            </a:fld>
            <a:endParaRPr lang="en-US" altLang="en-US" smtClean="0"/>
          </a:p>
        </p:txBody>
      </p:sp>
    </p:spTree>
    <p:extLst>
      <p:ext uri="{BB962C8B-B14F-4D97-AF65-F5344CB8AC3E}">
        <p14:creationId xmlns:p14="http://schemas.microsoft.com/office/powerpoint/2010/main" val="33288507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TextEdit="1"/>
          </p:cNvSpPr>
          <p:nvPr>
            <p:ph type="sldImg"/>
          </p:nvPr>
        </p:nvSpPr>
        <p:spPr>
          <a:ln/>
        </p:spPr>
      </p:sp>
      <p:sp>
        <p:nvSpPr>
          <p:cNvPr id="152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5258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47C63F9E-BB61-49C1-BD44-4EDC4645CF15}" type="slidenum">
              <a:rPr lang="en-US" altLang="en-US" smtClean="0"/>
              <a:pPr>
                <a:spcBef>
                  <a:spcPct val="0"/>
                </a:spcBef>
              </a:pPr>
              <a:t>62</a:t>
            </a:fld>
            <a:endParaRPr lang="en-US" altLang="en-US" smtClean="0"/>
          </a:p>
        </p:txBody>
      </p:sp>
    </p:spTree>
    <p:extLst>
      <p:ext uri="{BB962C8B-B14F-4D97-AF65-F5344CB8AC3E}">
        <p14:creationId xmlns:p14="http://schemas.microsoft.com/office/powerpoint/2010/main" val="33169276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a:ln/>
        </p:spPr>
      </p:sp>
      <p:sp>
        <p:nvSpPr>
          <p:cNvPr id="154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5462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01A56A84-06A2-4B98-81F5-6F7B8E1D3443}" type="slidenum">
              <a:rPr lang="en-US" altLang="en-US" smtClean="0"/>
              <a:pPr>
                <a:spcBef>
                  <a:spcPct val="0"/>
                </a:spcBef>
              </a:pPr>
              <a:t>63</a:t>
            </a:fld>
            <a:endParaRPr lang="en-US" altLang="en-US" smtClean="0"/>
          </a:p>
        </p:txBody>
      </p:sp>
    </p:spTree>
    <p:extLst>
      <p:ext uri="{BB962C8B-B14F-4D97-AF65-F5344CB8AC3E}">
        <p14:creationId xmlns:p14="http://schemas.microsoft.com/office/powerpoint/2010/main" val="22277134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a:ln/>
        </p:spPr>
      </p:sp>
      <p:sp>
        <p:nvSpPr>
          <p:cNvPr id="156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cs typeface="Arial" panose="020B0604020202020204" pitchFamily="34" charset="0"/>
            </a:endParaRPr>
          </a:p>
        </p:txBody>
      </p:sp>
      <p:sp>
        <p:nvSpPr>
          <p:cNvPr id="22532" name="Footer Placeholder 3"/>
          <p:cNvSpPr>
            <a:spLocks noGrp="1"/>
          </p:cNvSpPr>
          <p:nvPr>
            <p:ph type="ftr" sz="quarter" idx="4"/>
          </p:nvPr>
        </p:nvSpPr>
        <p:spPr/>
        <p:txBody>
          <a:bodyPr/>
          <a:lstStyle/>
          <a:p>
            <a:pPr>
              <a:defRPr/>
            </a:pPr>
            <a:r>
              <a:rPr lang="en-US" smtClean="0"/>
              <a:t>Jagidsh Bhatta</a:t>
            </a:r>
          </a:p>
        </p:txBody>
      </p:sp>
      <p:sp>
        <p:nvSpPr>
          <p:cNvPr id="15667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56F2C0C1-51BB-4EEC-8463-E8E14734EB46}" type="slidenum">
              <a:rPr lang="en-US" altLang="en-US" smtClean="0"/>
              <a:pPr>
                <a:spcBef>
                  <a:spcPct val="0"/>
                </a:spcBef>
              </a:pPr>
              <a:t>64</a:t>
            </a:fld>
            <a:endParaRPr lang="en-US" altLang="en-US" smtClean="0"/>
          </a:p>
        </p:txBody>
      </p:sp>
    </p:spTree>
    <p:extLst>
      <p:ext uri="{BB962C8B-B14F-4D97-AF65-F5344CB8AC3E}">
        <p14:creationId xmlns:p14="http://schemas.microsoft.com/office/powerpoint/2010/main" val="480530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05351" y="2125980"/>
            <a:ext cx="10260648"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10702" y="3840480"/>
            <a:ext cx="8449945"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0D1E1F"/>
                </a:solidFill>
                <a:latin typeface="Arial"/>
                <a:cs typeface="Arial"/>
              </a:defRPr>
            </a:lvl1pPr>
          </a:lstStyle>
          <a:p>
            <a:pPr marL="12700">
              <a:lnSpc>
                <a:spcPts val="2090"/>
              </a:lnSpc>
            </a:pP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0D4FDA2C-4560-480E-965F-59D652D7F2EA}" type="datetime1">
              <a:rPr lang="en-US" smtClean="0"/>
              <a:t>4/12/2023</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45"/>
              </a:lnSpc>
            </a:pP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0D0D0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0D1E1F"/>
                </a:solidFill>
                <a:latin typeface="Arial"/>
                <a:cs typeface="Arial"/>
              </a:defRPr>
            </a:lvl1pPr>
          </a:lstStyle>
          <a:p>
            <a:pPr marL="12700">
              <a:lnSpc>
                <a:spcPts val="2090"/>
              </a:lnSpc>
            </a:pP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38D4B42-9833-4D7E-8F7E-AB58FB89A12E}" type="datetime1">
              <a:rPr lang="en-US" smtClean="0"/>
              <a:t>4/12/2023</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45"/>
              </a:lnSpc>
            </a:pP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0D0D0D"/>
                </a:solidFill>
                <a:latin typeface="Arial"/>
                <a:cs typeface="Arial"/>
              </a:defRPr>
            </a:lvl1pPr>
          </a:lstStyle>
          <a:p>
            <a:endParaRPr/>
          </a:p>
        </p:txBody>
      </p:sp>
      <p:sp>
        <p:nvSpPr>
          <p:cNvPr id="3" name="Holder 3"/>
          <p:cNvSpPr>
            <a:spLocks noGrp="1"/>
          </p:cNvSpPr>
          <p:nvPr>
            <p:ph sz="half" idx="2"/>
          </p:nvPr>
        </p:nvSpPr>
        <p:spPr>
          <a:xfrm>
            <a:off x="603567" y="1577340"/>
            <a:ext cx="5251037"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16745" y="1577340"/>
            <a:ext cx="5251037"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rgbClr val="0D1E1F"/>
                </a:solidFill>
                <a:latin typeface="Arial"/>
                <a:cs typeface="Arial"/>
              </a:defRPr>
            </a:lvl1pPr>
          </a:lstStyle>
          <a:p>
            <a:pPr marL="12700">
              <a:lnSpc>
                <a:spcPts val="2090"/>
              </a:lnSpc>
            </a:pPr>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8F825DB5-4F43-4291-A771-740E5AC2A451}" type="datetime1">
              <a:rPr lang="en-US" smtClean="0"/>
              <a:t>4/12/2023</a:t>
            </a:fld>
            <a:endParaRPr lang="en-US"/>
          </a:p>
        </p:txBody>
      </p:sp>
      <p:sp>
        <p:nvSpPr>
          <p:cNvPr id="7" name="Holder 7"/>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45"/>
              </a:lnSpc>
            </a:pP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0D0D0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800" b="0" i="0">
                <a:solidFill>
                  <a:srgbClr val="0D1E1F"/>
                </a:solidFill>
                <a:latin typeface="Arial"/>
                <a:cs typeface="Arial"/>
              </a:defRPr>
            </a:lvl1pPr>
          </a:lstStyle>
          <a:p>
            <a:pPr marL="12700">
              <a:lnSpc>
                <a:spcPts val="2090"/>
              </a:lnSpc>
            </a:pPr>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AF46110E-1AFF-45A6-B515-AAC8CCB62A4A}" type="datetime1">
              <a:rPr lang="en-US" smtClean="0"/>
              <a:t>4/12/2023</a:t>
            </a:fld>
            <a:endParaRPr lang="en-US"/>
          </a:p>
        </p:txBody>
      </p:sp>
      <p:sp>
        <p:nvSpPr>
          <p:cNvPr id="5" name="Holder 5"/>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45"/>
              </a:lnSpc>
            </a:pP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rgbClr val="0D1E1F"/>
                </a:solidFill>
                <a:latin typeface="Arial"/>
                <a:cs typeface="Arial"/>
              </a:defRPr>
            </a:lvl1pPr>
          </a:lstStyle>
          <a:p>
            <a:pPr marL="12700">
              <a:lnSpc>
                <a:spcPts val="2090"/>
              </a:lnSpc>
            </a:pPr>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FB39BEC6-5E37-4EC9-AFE8-05B77AF99667}" type="datetime1">
              <a:rPr lang="en-US" smtClean="0"/>
              <a:t>4/12/2023</a:t>
            </a:fld>
            <a:endParaRPr lang="en-US"/>
          </a:p>
        </p:txBody>
      </p:sp>
      <p:sp>
        <p:nvSpPr>
          <p:cNvPr id="4" name="Holder 4"/>
          <p:cNvSpPr>
            <a:spLocks noGrp="1"/>
          </p:cNvSpPr>
          <p:nvPr>
            <p:ph type="sldNum" sz="quarter" idx="7"/>
          </p:nvPr>
        </p:nvSpPr>
        <p:spPr/>
        <p:txBody>
          <a:bodyPr lIns="0" tIns="0" rIns="0" bIns="0"/>
          <a:lstStyle>
            <a:lvl1pPr>
              <a:defRPr sz="1400" b="0" i="0">
                <a:solidFill>
                  <a:schemeClr val="tx1"/>
                </a:solidFill>
                <a:latin typeface="Arial"/>
                <a:cs typeface="Arial"/>
              </a:defRPr>
            </a:lvl1pPr>
          </a:lstStyle>
          <a:p>
            <a:pPr marL="38100">
              <a:lnSpc>
                <a:spcPts val="1645"/>
              </a:lnSpc>
            </a:pP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070079" cy="6857998"/>
          </a:xfrm>
          <a:prstGeom prst="rect">
            <a:avLst/>
          </a:prstGeom>
        </p:spPr>
      </p:pic>
      <p:sp>
        <p:nvSpPr>
          <p:cNvPr id="2" name="Holder 2"/>
          <p:cNvSpPr>
            <a:spLocks noGrp="1"/>
          </p:cNvSpPr>
          <p:nvPr>
            <p:ph type="title"/>
          </p:nvPr>
        </p:nvSpPr>
        <p:spPr>
          <a:xfrm>
            <a:off x="517842" y="2028507"/>
            <a:ext cx="11035664" cy="635635"/>
          </a:xfrm>
          <a:prstGeom prst="rect">
            <a:avLst/>
          </a:prstGeom>
        </p:spPr>
        <p:txBody>
          <a:bodyPr wrap="square" lIns="0" tIns="0" rIns="0" bIns="0">
            <a:spAutoFit/>
          </a:bodyPr>
          <a:lstStyle>
            <a:lvl1pPr>
              <a:defRPr sz="4000" b="1" i="0">
                <a:solidFill>
                  <a:srgbClr val="0D0D0D"/>
                </a:solidFill>
                <a:latin typeface="Arial"/>
                <a:cs typeface="Arial"/>
              </a:defRPr>
            </a:lvl1pPr>
          </a:lstStyle>
          <a:p>
            <a:endParaRPr/>
          </a:p>
        </p:txBody>
      </p:sp>
      <p:sp>
        <p:nvSpPr>
          <p:cNvPr id="3" name="Holder 3"/>
          <p:cNvSpPr>
            <a:spLocks noGrp="1"/>
          </p:cNvSpPr>
          <p:nvPr>
            <p:ph type="body" idx="1"/>
          </p:nvPr>
        </p:nvSpPr>
        <p:spPr>
          <a:xfrm>
            <a:off x="679767" y="1078484"/>
            <a:ext cx="10711814" cy="4116704"/>
          </a:xfrm>
          <a:prstGeom prst="rect">
            <a:avLst/>
          </a:prstGeom>
        </p:spPr>
        <p:txBody>
          <a:bodyPr wrap="square" lIns="0" tIns="0" rIns="0" bIns="0">
            <a:spAutoFit/>
          </a:bodyPr>
          <a:lstStyle>
            <a:lvl1pPr>
              <a:defRPr sz="22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475990" y="6439282"/>
            <a:ext cx="4919345" cy="281304"/>
          </a:xfrm>
          <a:prstGeom prst="rect">
            <a:avLst/>
          </a:prstGeom>
        </p:spPr>
        <p:txBody>
          <a:bodyPr wrap="square" lIns="0" tIns="0" rIns="0" bIns="0">
            <a:spAutoFit/>
          </a:bodyPr>
          <a:lstStyle>
            <a:lvl1pPr>
              <a:defRPr sz="1800" b="0" i="0">
                <a:solidFill>
                  <a:srgbClr val="0D1E1F"/>
                </a:solidFill>
                <a:latin typeface="Arial"/>
                <a:cs typeface="Arial"/>
              </a:defRPr>
            </a:lvl1pPr>
          </a:lstStyle>
          <a:p>
            <a:pPr marL="12700">
              <a:lnSpc>
                <a:spcPts val="2090"/>
              </a:lnSpc>
            </a:pPr>
            <a:endParaRPr dirty="0"/>
          </a:p>
        </p:txBody>
      </p:sp>
      <p:sp>
        <p:nvSpPr>
          <p:cNvPr id="5" name="Holder 5"/>
          <p:cNvSpPr>
            <a:spLocks noGrp="1"/>
          </p:cNvSpPr>
          <p:nvPr>
            <p:ph type="dt" sz="half" idx="6"/>
          </p:nvPr>
        </p:nvSpPr>
        <p:spPr>
          <a:xfrm>
            <a:off x="603567" y="6377940"/>
            <a:ext cx="2776410" cy="342900"/>
          </a:xfrm>
          <a:prstGeom prst="rect">
            <a:avLst/>
          </a:prstGeom>
        </p:spPr>
        <p:txBody>
          <a:bodyPr wrap="square" lIns="0" tIns="0" rIns="0" bIns="0">
            <a:spAutoFit/>
          </a:bodyPr>
          <a:lstStyle>
            <a:lvl1pPr algn="l">
              <a:defRPr>
                <a:solidFill>
                  <a:schemeClr val="tx1">
                    <a:tint val="75000"/>
                  </a:schemeClr>
                </a:solidFill>
              </a:defRPr>
            </a:lvl1pPr>
          </a:lstStyle>
          <a:p>
            <a:fld id="{E4C42D6F-AC2E-4005-AA7E-AB29318E9CA1}" type="datetime1">
              <a:rPr lang="en-US" smtClean="0"/>
              <a:t>4/12/2023</a:t>
            </a:fld>
            <a:endParaRPr lang="en-US"/>
          </a:p>
        </p:txBody>
      </p:sp>
      <p:sp>
        <p:nvSpPr>
          <p:cNvPr id="6" name="Holder 6"/>
          <p:cNvSpPr>
            <a:spLocks noGrp="1"/>
          </p:cNvSpPr>
          <p:nvPr>
            <p:ph type="sldNum" sz="quarter" idx="7"/>
          </p:nvPr>
        </p:nvSpPr>
        <p:spPr>
          <a:xfrm>
            <a:off x="11139551" y="6292547"/>
            <a:ext cx="287020" cy="224154"/>
          </a:xfrm>
          <a:prstGeom prst="rect">
            <a:avLst/>
          </a:prstGeom>
        </p:spPr>
        <p:txBody>
          <a:bodyPr wrap="square" lIns="0" tIns="0" rIns="0" bIns="0">
            <a:spAutoFit/>
          </a:bodyPr>
          <a:lstStyle>
            <a:lvl1pPr>
              <a:defRPr sz="1400" b="0" i="0">
                <a:solidFill>
                  <a:schemeClr val="tx1"/>
                </a:solidFill>
                <a:latin typeface="Arial"/>
                <a:cs typeface="Arial"/>
              </a:defRPr>
            </a:lvl1pPr>
          </a:lstStyle>
          <a:p>
            <a:pPr marL="38100">
              <a:lnSpc>
                <a:spcPts val="1645"/>
              </a:lnSpc>
            </a:pP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6045">
              <a:lnSpc>
                <a:spcPct val="100000"/>
              </a:lnSpc>
              <a:spcBef>
                <a:spcPts val="100"/>
              </a:spcBef>
            </a:pPr>
            <a:r>
              <a:rPr spc="-5"/>
              <a:t>QUERY</a:t>
            </a:r>
            <a:r>
              <a:rPr spc="-25"/>
              <a:t> </a:t>
            </a:r>
            <a:r>
              <a:rPr spc="-5" dirty="0"/>
              <a:t>PROCESSING</a:t>
            </a:r>
            <a:r>
              <a:rPr spc="25" dirty="0"/>
              <a:t> </a:t>
            </a:r>
            <a:r>
              <a:rPr dirty="0"/>
              <a:t>&amp;</a:t>
            </a:r>
            <a:r>
              <a:rPr spc="-5" dirty="0"/>
              <a:t> </a:t>
            </a:r>
            <a:r>
              <a:rPr spc="-10" dirty="0"/>
              <a:t>SECURITY</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1</a:t>
            </a:fld>
            <a:endParaRPr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7757159"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Overview</a:t>
            </a:r>
            <a:r>
              <a:rPr sz="3600" spc="-50" dirty="0">
                <a:solidFill>
                  <a:srgbClr val="000000"/>
                </a:solidFill>
                <a:latin typeface="Verdana"/>
                <a:cs typeface="Verdana"/>
              </a:rPr>
              <a:t> </a:t>
            </a:r>
            <a:r>
              <a:rPr sz="3600" dirty="0">
                <a:solidFill>
                  <a:srgbClr val="000000"/>
                </a:solidFill>
                <a:latin typeface="Verdana"/>
                <a:cs typeface="Verdana"/>
              </a:rPr>
              <a:t>of</a:t>
            </a:r>
            <a:r>
              <a:rPr sz="3600" spc="-5" dirty="0">
                <a:solidFill>
                  <a:srgbClr val="000000"/>
                </a:solidFill>
                <a:latin typeface="Verdana"/>
                <a:cs typeface="Verdana"/>
              </a:rPr>
              <a:t> Query</a:t>
            </a:r>
            <a:r>
              <a:rPr sz="3600" spc="-30" dirty="0">
                <a:solidFill>
                  <a:srgbClr val="000000"/>
                </a:solidFill>
                <a:latin typeface="Verdana"/>
                <a:cs typeface="Verdana"/>
              </a:rPr>
              <a:t> </a:t>
            </a:r>
            <a:r>
              <a:rPr sz="3600" spc="-5" dirty="0">
                <a:solidFill>
                  <a:srgbClr val="000000"/>
                </a:solidFill>
                <a:latin typeface="Verdana"/>
                <a:cs typeface="Verdana"/>
              </a:rPr>
              <a:t>Processing</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10709275" cy="3781425"/>
          </a:xfrm>
          <a:prstGeom prst="rect">
            <a:avLst/>
          </a:prstGeom>
        </p:spPr>
        <p:txBody>
          <a:bodyPr vert="horz" wrap="square" lIns="0" tIns="78740" rIns="0" bIns="0" rtlCol="0">
            <a:spAutoFit/>
          </a:bodyPr>
          <a:lstStyle/>
          <a:p>
            <a:pPr marL="355600" indent="-342900">
              <a:lnSpc>
                <a:spcPct val="100000"/>
              </a:lnSpc>
              <a:spcBef>
                <a:spcPts val="620"/>
              </a:spcBef>
              <a:buFont typeface="Wingdings"/>
              <a:buChar char=""/>
              <a:tabLst>
                <a:tab pos="355600" algn="l"/>
              </a:tabLst>
            </a:pPr>
            <a:r>
              <a:rPr sz="2200" dirty="0">
                <a:latin typeface="Arial"/>
                <a:cs typeface="Arial"/>
              </a:rPr>
              <a:t>Query</a:t>
            </a:r>
            <a:r>
              <a:rPr sz="2200" spc="10" dirty="0">
                <a:latin typeface="Arial"/>
                <a:cs typeface="Arial"/>
              </a:rPr>
              <a:t> </a:t>
            </a:r>
            <a:r>
              <a:rPr sz="2200" spc="-5" dirty="0">
                <a:latin typeface="Arial"/>
                <a:cs typeface="Arial"/>
              </a:rPr>
              <a:t>Processing</a:t>
            </a:r>
            <a:r>
              <a:rPr sz="2200" spc="30" dirty="0">
                <a:latin typeface="Arial"/>
                <a:cs typeface="Arial"/>
              </a:rPr>
              <a:t> </a:t>
            </a:r>
            <a:r>
              <a:rPr sz="2200" spc="-10" dirty="0">
                <a:latin typeface="Arial"/>
                <a:cs typeface="Arial"/>
              </a:rPr>
              <a:t>is</a:t>
            </a:r>
            <a:r>
              <a:rPr sz="2200" spc="15" dirty="0">
                <a:latin typeface="Arial"/>
                <a:cs typeface="Arial"/>
              </a:rPr>
              <a:t> </a:t>
            </a:r>
            <a:r>
              <a:rPr sz="2200" spc="-5" dirty="0">
                <a:latin typeface="Arial"/>
                <a:cs typeface="Arial"/>
              </a:rPr>
              <a:t>a</a:t>
            </a:r>
            <a:r>
              <a:rPr sz="2200" spc="10" dirty="0">
                <a:latin typeface="Arial"/>
                <a:cs typeface="Arial"/>
              </a:rPr>
              <a:t> </a:t>
            </a:r>
            <a:r>
              <a:rPr sz="2200" spc="-5" dirty="0">
                <a:latin typeface="Arial"/>
                <a:cs typeface="Arial"/>
              </a:rPr>
              <a:t>translation</a:t>
            </a:r>
            <a:r>
              <a:rPr sz="2200" spc="10" dirty="0">
                <a:latin typeface="Arial"/>
                <a:cs typeface="Arial"/>
              </a:rPr>
              <a:t> </a:t>
            </a:r>
            <a:r>
              <a:rPr sz="2200" spc="-5" dirty="0">
                <a:latin typeface="Arial"/>
                <a:cs typeface="Arial"/>
              </a:rPr>
              <a:t>of</a:t>
            </a:r>
            <a:r>
              <a:rPr sz="2200" spc="20" dirty="0">
                <a:latin typeface="Arial"/>
                <a:cs typeface="Arial"/>
              </a:rPr>
              <a:t> </a:t>
            </a:r>
            <a:r>
              <a:rPr sz="2200" spc="-5" dirty="0">
                <a:latin typeface="Arial"/>
                <a:cs typeface="Arial"/>
              </a:rPr>
              <a:t>high-level</a:t>
            </a:r>
            <a:r>
              <a:rPr sz="2200" spc="40" dirty="0">
                <a:latin typeface="Arial"/>
                <a:cs typeface="Arial"/>
              </a:rPr>
              <a:t> </a:t>
            </a:r>
            <a:r>
              <a:rPr sz="2200" spc="-5" dirty="0">
                <a:latin typeface="Arial"/>
                <a:cs typeface="Arial"/>
              </a:rPr>
              <a:t>queries</a:t>
            </a:r>
            <a:r>
              <a:rPr sz="2200" spc="30" dirty="0">
                <a:latin typeface="Arial"/>
                <a:cs typeface="Arial"/>
              </a:rPr>
              <a:t> </a:t>
            </a:r>
            <a:r>
              <a:rPr sz="2200" spc="-5" dirty="0">
                <a:latin typeface="Arial"/>
                <a:cs typeface="Arial"/>
              </a:rPr>
              <a:t>into</a:t>
            </a:r>
            <a:r>
              <a:rPr sz="2200" spc="10" dirty="0">
                <a:latin typeface="Arial"/>
                <a:cs typeface="Arial"/>
              </a:rPr>
              <a:t> </a:t>
            </a:r>
            <a:r>
              <a:rPr sz="2200" spc="-10" dirty="0">
                <a:latin typeface="Arial"/>
                <a:cs typeface="Arial"/>
              </a:rPr>
              <a:t>low-level</a:t>
            </a:r>
            <a:r>
              <a:rPr sz="2200" spc="60" dirty="0">
                <a:latin typeface="Arial"/>
                <a:cs typeface="Arial"/>
              </a:rPr>
              <a:t> </a:t>
            </a:r>
            <a:r>
              <a:rPr sz="2200" spc="-5" dirty="0">
                <a:latin typeface="Arial"/>
                <a:cs typeface="Arial"/>
              </a:rPr>
              <a:t>expression.</a:t>
            </a:r>
            <a:endParaRPr sz="2200">
              <a:latin typeface="Arial"/>
              <a:cs typeface="Arial"/>
            </a:endParaRPr>
          </a:p>
          <a:p>
            <a:pPr marL="354965" marR="8255" indent="-342900">
              <a:lnSpc>
                <a:spcPct val="100000"/>
              </a:lnSpc>
              <a:spcBef>
                <a:spcPts val="520"/>
              </a:spcBef>
              <a:buFont typeface="Wingdings"/>
              <a:buChar char=""/>
              <a:tabLst>
                <a:tab pos="355600" algn="l"/>
              </a:tabLst>
            </a:pPr>
            <a:r>
              <a:rPr sz="2200" dirty="0">
                <a:latin typeface="Arial"/>
                <a:cs typeface="Arial"/>
              </a:rPr>
              <a:t>It</a:t>
            </a:r>
            <a:r>
              <a:rPr sz="2200" spc="220" dirty="0">
                <a:latin typeface="Arial"/>
                <a:cs typeface="Arial"/>
              </a:rPr>
              <a:t> </a:t>
            </a:r>
            <a:r>
              <a:rPr sz="2200" spc="-10" dirty="0">
                <a:latin typeface="Arial"/>
                <a:cs typeface="Arial"/>
              </a:rPr>
              <a:t>is</a:t>
            </a:r>
            <a:r>
              <a:rPr sz="2200" spc="210" dirty="0">
                <a:latin typeface="Arial"/>
                <a:cs typeface="Arial"/>
              </a:rPr>
              <a:t> </a:t>
            </a:r>
            <a:r>
              <a:rPr sz="2200" spc="-5" dirty="0">
                <a:latin typeface="Arial"/>
                <a:cs typeface="Arial"/>
              </a:rPr>
              <a:t>a</a:t>
            </a:r>
            <a:r>
              <a:rPr sz="2200" spc="210" dirty="0">
                <a:latin typeface="Arial"/>
                <a:cs typeface="Arial"/>
              </a:rPr>
              <a:t> </a:t>
            </a:r>
            <a:r>
              <a:rPr sz="2200" dirty="0">
                <a:latin typeface="Arial"/>
                <a:cs typeface="Arial"/>
              </a:rPr>
              <a:t>step</a:t>
            </a:r>
            <a:r>
              <a:rPr sz="2200" spc="235" dirty="0">
                <a:latin typeface="Arial"/>
                <a:cs typeface="Arial"/>
              </a:rPr>
              <a:t> </a:t>
            </a:r>
            <a:r>
              <a:rPr sz="2200" spc="-15" dirty="0">
                <a:latin typeface="Arial"/>
                <a:cs typeface="Arial"/>
              </a:rPr>
              <a:t>wise</a:t>
            </a:r>
            <a:r>
              <a:rPr sz="2200" spc="210" dirty="0">
                <a:latin typeface="Arial"/>
                <a:cs typeface="Arial"/>
              </a:rPr>
              <a:t> </a:t>
            </a:r>
            <a:r>
              <a:rPr sz="2200" dirty="0">
                <a:latin typeface="Arial"/>
                <a:cs typeface="Arial"/>
              </a:rPr>
              <a:t>process</a:t>
            </a:r>
            <a:r>
              <a:rPr sz="2200" spc="215" dirty="0">
                <a:latin typeface="Arial"/>
                <a:cs typeface="Arial"/>
              </a:rPr>
              <a:t> </a:t>
            </a:r>
            <a:r>
              <a:rPr sz="2200" dirty="0">
                <a:latin typeface="Arial"/>
                <a:cs typeface="Arial"/>
              </a:rPr>
              <a:t>that</a:t>
            </a:r>
            <a:r>
              <a:rPr sz="2200" spc="215" dirty="0">
                <a:latin typeface="Arial"/>
                <a:cs typeface="Arial"/>
              </a:rPr>
              <a:t> </a:t>
            </a:r>
            <a:r>
              <a:rPr sz="2200" spc="-5" dirty="0">
                <a:latin typeface="Arial"/>
                <a:cs typeface="Arial"/>
              </a:rPr>
              <a:t>can</a:t>
            </a:r>
            <a:r>
              <a:rPr sz="2200" spc="210" dirty="0">
                <a:latin typeface="Arial"/>
                <a:cs typeface="Arial"/>
              </a:rPr>
              <a:t> </a:t>
            </a:r>
            <a:r>
              <a:rPr sz="2200" spc="-5" dirty="0">
                <a:latin typeface="Arial"/>
                <a:cs typeface="Arial"/>
              </a:rPr>
              <a:t>be</a:t>
            </a:r>
            <a:r>
              <a:rPr sz="2200" spc="215" dirty="0">
                <a:latin typeface="Arial"/>
                <a:cs typeface="Arial"/>
              </a:rPr>
              <a:t> </a:t>
            </a:r>
            <a:r>
              <a:rPr sz="2200" dirty="0">
                <a:latin typeface="Arial"/>
                <a:cs typeface="Arial"/>
              </a:rPr>
              <a:t>used</a:t>
            </a:r>
            <a:r>
              <a:rPr sz="2200" spc="210" dirty="0">
                <a:latin typeface="Arial"/>
                <a:cs typeface="Arial"/>
              </a:rPr>
              <a:t> </a:t>
            </a:r>
            <a:r>
              <a:rPr sz="2200" spc="-5" dirty="0">
                <a:latin typeface="Arial"/>
                <a:cs typeface="Arial"/>
              </a:rPr>
              <a:t>at</a:t>
            </a:r>
            <a:r>
              <a:rPr sz="2200" spc="220" dirty="0">
                <a:latin typeface="Arial"/>
                <a:cs typeface="Arial"/>
              </a:rPr>
              <a:t> </a:t>
            </a:r>
            <a:r>
              <a:rPr sz="2200" dirty="0">
                <a:latin typeface="Arial"/>
                <a:cs typeface="Arial"/>
              </a:rPr>
              <a:t>the</a:t>
            </a:r>
            <a:r>
              <a:rPr sz="2200" spc="204" dirty="0">
                <a:latin typeface="Arial"/>
                <a:cs typeface="Arial"/>
              </a:rPr>
              <a:t> </a:t>
            </a:r>
            <a:r>
              <a:rPr sz="2200" spc="-5" dirty="0">
                <a:latin typeface="Arial"/>
                <a:cs typeface="Arial"/>
              </a:rPr>
              <a:t>physical</a:t>
            </a:r>
            <a:r>
              <a:rPr sz="2200" spc="210" dirty="0">
                <a:latin typeface="Arial"/>
                <a:cs typeface="Arial"/>
              </a:rPr>
              <a:t> </a:t>
            </a:r>
            <a:r>
              <a:rPr sz="2200" dirty="0">
                <a:latin typeface="Arial"/>
                <a:cs typeface="Arial"/>
              </a:rPr>
              <a:t>level</a:t>
            </a:r>
            <a:r>
              <a:rPr sz="2200" spc="204" dirty="0">
                <a:latin typeface="Arial"/>
                <a:cs typeface="Arial"/>
              </a:rPr>
              <a:t> </a:t>
            </a:r>
            <a:r>
              <a:rPr sz="2200" spc="-5" dirty="0">
                <a:latin typeface="Arial"/>
                <a:cs typeface="Arial"/>
              </a:rPr>
              <a:t>of</a:t>
            </a:r>
            <a:r>
              <a:rPr sz="2200" spc="225" dirty="0">
                <a:latin typeface="Arial"/>
                <a:cs typeface="Arial"/>
              </a:rPr>
              <a:t> </a:t>
            </a:r>
            <a:r>
              <a:rPr sz="2200" dirty="0">
                <a:latin typeface="Arial"/>
                <a:cs typeface="Arial"/>
              </a:rPr>
              <a:t>the</a:t>
            </a:r>
            <a:r>
              <a:rPr sz="2200" spc="204" dirty="0">
                <a:latin typeface="Arial"/>
                <a:cs typeface="Arial"/>
              </a:rPr>
              <a:t> </a:t>
            </a:r>
            <a:r>
              <a:rPr sz="2200" spc="-5" dirty="0">
                <a:latin typeface="Arial"/>
                <a:cs typeface="Arial"/>
              </a:rPr>
              <a:t>file</a:t>
            </a:r>
            <a:r>
              <a:rPr sz="2200" spc="215" dirty="0">
                <a:latin typeface="Arial"/>
                <a:cs typeface="Arial"/>
              </a:rPr>
              <a:t> </a:t>
            </a:r>
            <a:r>
              <a:rPr sz="2200" dirty="0">
                <a:latin typeface="Arial"/>
                <a:cs typeface="Arial"/>
              </a:rPr>
              <a:t>system, </a:t>
            </a:r>
            <a:r>
              <a:rPr sz="2200" spc="-600" dirty="0">
                <a:latin typeface="Arial"/>
                <a:cs typeface="Arial"/>
              </a:rPr>
              <a:t> </a:t>
            </a:r>
            <a:r>
              <a:rPr sz="2200" spc="-5" dirty="0">
                <a:latin typeface="Arial"/>
                <a:cs typeface="Arial"/>
              </a:rPr>
              <a:t>query</a:t>
            </a:r>
            <a:r>
              <a:rPr sz="2200" spc="10" dirty="0">
                <a:latin typeface="Arial"/>
                <a:cs typeface="Arial"/>
              </a:rPr>
              <a:t> </a:t>
            </a:r>
            <a:r>
              <a:rPr sz="2200" spc="-5" dirty="0">
                <a:latin typeface="Arial"/>
                <a:cs typeface="Arial"/>
              </a:rPr>
              <a:t>optimization</a:t>
            </a:r>
            <a:r>
              <a:rPr sz="2200" spc="20" dirty="0">
                <a:latin typeface="Arial"/>
                <a:cs typeface="Arial"/>
              </a:rPr>
              <a:t> </a:t>
            </a:r>
            <a:r>
              <a:rPr sz="2200" spc="-5" dirty="0">
                <a:latin typeface="Arial"/>
                <a:cs typeface="Arial"/>
              </a:rPr>
              <a:t>and</a:t>
            </a:r>
            <a:r>
              <a:rPr sz="2200" spc="30" dirty="0">
                <a:latin typeface="Arial"/>
                <a:cs typeface="Arial"/>
              </a:rPr>
              <a:t> </a:t>
            </a:r>
            <a:r>
              <a:rPr sz="2200" spc="-5" dirty="0">
                <a:latin typeface="Arial"/>
                <a:cs typeface="Arial"/>
              </a:rPr>
              <a:t>actual</a:t>
            </a:r>
            <a:r>
              <a:rPr sz="2200" dirty="0">
                <a:latin typeface="Arial"/>
                <a:cs typeface="Arial"/>
              </a:rPr>
              <a:t> </a:t>
            </a:r>
            <a:r>
              <a:rPr sz="2200" spc="-5" dirty="0">
                <a:latin typeface="Arial"/>
                <a:cs typeface="Arial"/>
              </a:rPr>
              <a:t>execution</a:t>
            </a:r>
            <a:r>
              <a:rPr sz="2200" spc="50" dirty="0">
                <a:latin typeface="Arial"/>
                <a:cs typeface="Arial"/>
              </a:rPr>
              <a:t> </a:t>
            </a:r>
            <a:r>
              <a:rPr sz="2200" spc="-5" dirty="0">
                <a:latin typeface="Arial"/>
                <a:cs typeface="Arial"/>
              </a:rPr>
              <a:t>of</a:t>
            </a:r>
            <a:r>
              <a:rPr sz="2200" spc="15" dirty="0">
                <a:latin typeface="Arial"/>
                <a:cs typeface="Arial"/>
              </a:rPr>
              <a:t> </a:t>
            </a:r>
            <a:r>
              <a:rPr sz="2200" dirty="0">
                <a:latin typeface="Arial"/>
                <a:cs typeface="Arial"/>
              </a:rPr>
              <a:t>the</a:t>
            </a:r>
            <a:r>
              <a:rPr sz="2200" spc="-15" dirty="0">
                <a:latin typeface="Arial"/>
                <a:cs typeface="Arial"/>
              </a:rPr>
              <a:t> </a:t>
            </a:r>
            <a:r>
              <a:rPr sz="2200" spc="-5" dirty="0">
                <a:latin typeface="Arial"/>
                <a:cs typeface="Arial"/>
              </a:rPr>
              <a:t>query</a:t>
            </a:r>
            <a:r>
              <a:rPr sz="2200" spc="35" dirty="0">
                <a:latin typeface="Arial"/>
                <a:cs typeface="Arial"/>
              </a:rPr>
              <a:t> </a:t>
            </a:r>
            <a:r>
              <a:rPr sz="2200" dirty="0">
                <a:latin typeface="Arial"/>
                <a:cs typeface="Arial"/>
              </a:rPr>
              <a:t>to</a:t>
            </a:r>
            <a:r>
              <a:rPr sz="2200" spc="-15" dirty="0">
                <a:latin typeface="Arial"/>
                <a:cs typeface="Arial"/>
              </a:rPr>
              <a:t> </a:t>
            </a:r>
            <a:r>
              <a:rPr sz="2200" spc="-5" dirty="0">
                <a:latin typeface="Arial"/>
                <a:cs typeface="Arial"/>
              </a:rPr>
              <a:t>get</a:t>
            </a:r>
            <a:r>
              <a:rPr sz="2200" spc="15" dirty="0">
                <a:latin typeface="Arial"/>
                <a:cs typeface="Arial"/>
              </a:rPr>
              <a:t> </a:t>
            </a:r>
            <a:r>
              <a:rPr sz="2200" dirty="0">
                <a:latin typeface="Arial"/>
                <a:cs typeface="Arial"/>
              </a:rPr>
              <a:t>the </a:t>
            </a:r>
            <a:r>
              <a:rPr sz="2200" spc="-5" dirty="0">
                <a:latin typeface="Arial"/>
                <a:cs typeface="Arial"/>
              </a:rPr>
              <a:t>result.</a:t>
            </a:r>
            <a:endParaRPr sz="2200">
              <a:latin typeface="Arial"/>
              <a:cs typeface="Arial"/>
            </a:endParaRPr>
          </a:p>
          <a:p>
            <a:pPr marL="355600" indent="-342900">
              <a:lnSpc>
                <a:spcPct val="100000"/>
              </a:lnSpc>
              <a:spcBef>
                <a:spcPts val="540"/>
              </a:spcBef>
              <a:buFont typeface="Wingdings"/>
              <a:buChar char=""/>
              <a:tabLst>
                <a:tab pos="355600" algn="l"/>
              </a:tabLst>
            </a:pPr>
            <a:r>
              <a:rPr sz="2200" dirty="0">
                <a:latin typeface="Arial"/>
                <a:cs typeface="Arial"/>
              </a:rPr>
              <a:t>It</a:t>
            </a:r>
            <a:r>
              <a:rPr sz="2200" spc="-10" dirty="0">
                <a:latin typeface="Arial"/>
                <a:cs typeface="Arial"/>
              </a:rPr>
              <a:t> </a:t>
            </a:r>
            <a:r>
              <a:rPr sz="2200" spc="-5" dirty="0">
                <a:latin typeface="Arial"/>
                <a:cs typeface="Arial"/>
              </a:rPr>
              <a:t>requires</a:t>
            </a:r>
            <a:r>
              <a:rPr sz="2200" spc="30" dirty="0">
                <a:latin typeface="Arial"/>
                <a:cs typeface="Arial"/>
              </a:rPr>
              <a:t> </a:t>
            </a:r>
            <a:r>
              <a:rPr sz="2200" dirty="0">
                <a:latin typeface="Arial"/>
                <a:cs typeface="Arial"/>
              </a:rPr>
              <a:t>the</a:t>
            </a:r>
            <a:r>
              <a:rPr sz="2200" spc="-20" dirty="0">
                <a:latin typeface="Arial"/>
                <a:cs typeface="Arial"/>
              </a:rPr>
              <a:t> </a:t>
            </a:r>
            <a:r>
              <a:rPr sz="2200" spc="-5" dirty="0">
                <a:latin typeface="Arial"/>
                <a:cs typeface="Arial"/>
              </a:rPr>
              <a:t>basic</a:t>
            </a:r>
            <a:r>
              <a:rPr sz="2200" spc="25" dirty="0">
                <a:latin typeface="Arial"/>
                <a:cs typeface="Arial"/>
              </a:rPr>
              <a:t> </a:t>
            </a:r>
            <a:r>
              <a:rPr sz="2200" dirty="0">
                <a:latin typeface="Arial"/>
                <a:cs typeface="Arial"/>
              </a:rPr>
              <a:t>concepts</a:t>
            </a:r>
            <a:r>
              <a:rPr sz="2200" spc="-5" dirty="0">
                <a:latin typeface="Arial"/>
                <a:cs typeface="Arial"/>
              </a:rPr>
              <a:t> of</a:t>
            </a:r>
            <a:r>
              <a:rPr sz="2200" spc="15" dirty="0">
                <a:latin typeface="Arial"/>
                <a:cs typeface="Arial"/>
              </a:rPr>
              <a:t> </a:t>
            </a:r>
            <a:r>
              <a:rPr sz="2200" spc="-5" dirty="0">
                <a:latin typeface="Arial"/>
                <a:cs typeface="Arial"/>
              </a:rPr>
              <a:t>relational</a:t>
            </a:r>
            <a:r>
              <a:rPr sz="2200" spc="15" dirty="0">
                <a:latin typeface="Arial"/>
                <a:cs typeface="Arial"/>
              </a:rPr>
              <a:t> </a:t>
            </a:r>
            <a:r>
              <a:rPr sz="2200" spc="-5" dirty="0">
                <a:latin typeface="Arial"/>
                <a:cs typeface="Arial"/>
              </a:rPr>
              <a:t>algebra</a:t>
            </a:r>
            <a:r>
              <a:rPr sz="2200" spc="30" dirty="0">
                <a:latin typeface="Arial"/>
                <a:cs typeface="Arial"/>
              </a:rPr>
              <a:t> </a:t>
            </a:r>
            <a:r>
              <a:rPr sz="2200" spc="-5" dirty="0">
                <a:latin typeface="Arial"/>
                <a:cs typeface="Arial"/>
              </a:rPr>
              <a:t>and</a:t>
            </a:r>
            <a:r>
              <a:rPr sz="2200" spc="25" dirty="0">
                <a:latin typeface="Arial"/>
                <a:cs typeface="Arial"/>
              </a:rPr>
              <a:t> </a:t>
            </a:r>
            <a:r>
              <a:rPr sz="2200" spc="-5" dirty="0">
                <a:latin typeface="Arial"/>
                <a:cs typeface="Arial"/>
              </a:rPr>
              <a:t>file</a:t>
            </a:r>
            <a:r>
              <a:rPr sz="2200" spc="10" dirty="0">
                <a:latin typeface="Arial"/>
                <a:cs typeface="Arial"/>
              </a:rPr>
              <a:t> </a:t>
            </a:r>
            <a:r>
              <a:rPr sz="2200" dirty="0">
                <a:latin typeface="Arial"/>
                <a:cs typeface="Arial"/>
              </a:rPr>
              <a:t>structure.</a:t>
            </a:r>
            <a:endParaRPr sz="2200">
              <a:latin typeface="Arial"/>
              <a:cs typeface="Arial"/>
            </a:endParaRPr>
          </a:p>
          <a:p>
            <a:pPr marL="354965" marR="5080" indent="-342900">
              <a:lnSpc>
                <a:spcPct val="100000"/>
              </a:lnSpc>
              <a:spcBef>
                <a:spcPts val="525"/>
              </a:spcBef>
              <a:buFont typeface="Wingdings"/>
              <a:buChar char=""/>
              <a:tabLst>
                <a:tab pos="355600" algn="l"/>
                <a:tab pos="654685" algn="l"/>
                <a:tab pos="1513840" algn="l"/>
                <a:tab pos="1889760" algn="l"/>
                <a:tab pos="2423160" algn="l"/>
                <a:tab pos="3281679" algn="l"/>
                <a:tab pos="3660775" algn="l"/>
                <a:tab pos="4874895" algn="l"/>
                <a:tab pos="5484495" algn="l"/>
                <a:tab pos="6033770" algn="l"/>
                <a:tab pos="7199630" algn="l"/>
                <a:tab pos="7560309" algn="l"/>
                <a:tab pos="8917305" algn="l"/>
                <a:tab pos="9605010" algn="l"/>
                <a:tab pos="10309225" algn="l"/>
              </a:tabLst>
            </a:pPr>
            <a:r>
              <a:rPr sz="2200" spc="5" dirty="0">
                <a:latin typeface="Arial"/>
                <a:cs typeface="Arial"/>
              </a:rPr>
              <a:t>I</a:t>
            </a:r>
            <a:r>
              <a:rPr sz="2200" dirty="0">
                <a:latin typeface="Arial"/>
                <a:cs typeface="Arial"/>
              </a:rPr>
              <a:t>t	refe</a:t>
            </a:r>
            <a:r>
              <a:rPr sz="2200" spc="5" dirty="0">
                <a:latin typeface="Arial"/>
                <a:cs typeface="Arial"/>
              </a:rPr>
              <a:t>r</a:t>
            </a:r>
            <a:r>
              <a:rPr sz="2200" dirty="0">
                <a:latin typeface="Arial"/>
                <a:cs typeface="Arial"/>
              </a:rPr>
              <a:t>s	</a:t>
            </a:r>
            <a:r>
              <a:rPr sz="2200" spc="5" dirty="0">
                <a:latin typeface="Arial"/>
                <a:cs typeface="Arial"/>
              </a:rPr>
              <a:t>t</a:t>
            </a:r>
            <a:r>
              <a:rPr sz="2200" dirty="0">
                <a:latin typeface="Arial"/>
                <a:cs typeface="Arial"/>
              </a:rPr>
              <a:t>o	</a:t>
            </a:r>
            <a:r>
              <a:rPr sz="2200" spc="5" dirty="0">
                <a:latin typeface="Arial"/>
                <a:cs typeface="Arial"/>
              </a:rPr>
              <a:t>t</a:t>
            </a:r>
            <a:r>
              <a:rPr sz="2200" spc="-5" dirty="0">
                <a:latin typeface="Arial"/>
                <a:cs typeface="Arial"/>
              </a:rPr>
              <a:t>he</a:t>
            </a:r>
            <a:r>
              <a:rPr sz="2200" dirty="0">
                <a:latin typeface="Arial"/>
                <a:cs typeface="Arial"/>
              </a:rPr>
              <a:t>	r</a:t>
            </a:r>
            <a:r>
              <a:rPr sz="2200" spc="-5" dirty="0">
                <a:latin typeface="Arial"/>
                <a:cs typeface="Arial"/>
              </a:rPr>
              <a:t>an</a:t>
            </a:r>
            <a:r>
              <a:rPr sz="2200" spc="-15" dirty="0">
                <a:latin typeface="Arial"/>
                <a:cs typeface="Arial"/>
              </a:rPr>
              <a:t>g</a:t>
            </a:r>
            <a:r>
              <a:rPr sz="2200" spc="-5" dirty="0">
                <a:latin typeface="Arial"/>
                <a:cs typeface="Arial"/>
              </a:rPr>
              <a:t>e</a:t>
            </a:r>
            <a:r>
              <a:rPr sz="2200" dirty="0">
                <a:latin typeface="Arial"/>
                <a:cs typeface="Arial"/>
              </a:rPr>
              <a:t>	</a:t>
            </a:r>
            <a:r>
              <a:rPr sz="2200" spc="-5" dirty="0">
                <a:latin typeface="Arial"/>
                <a:cs typeface="Arial"/>
              </a:rPr>
              <a:t>o</a:t>
            </a:r>
            <a:r>
              <a:rPr sz="2200" dirty="0">
                <a:latin typeface="Arial"/>
                <a:cs typeface="Arial"/>
              </a:rPr>
              <a:t>f	</a:t>
            </a:r>
            <a:r>
              <a:rPr sz="2200" spc="-5" dirty="0">
                <a:latin typeface="Arial"/>
                <a:cs typeface="Arial"/>
              </a:rPr>
              <a:t>activ</a:t>
            </a:r>
            <a:r>
              <a:rPr sz="2200" spc="-20" dirty="0">
                <a:latin typeface="Arial"/>
                <a:cs typeface="Arial"/>
              </a:rPr>
              <a:t>i</a:t>
            </a:r>
            <a:r>
              <a:rPr sz="2200" spc="5" dirty="0">
                <a:latin typeface="Arial"/>
                <a:cs typeface="Arial"/>
              </a:rPr>
              <a:t>t</a:t>
            </a:r>
            <a:r>
              <a:rPr sz="2200" spc="-15" dirty="0">
                <a:latin typeface="Arial"/>
                <a:cs typeface="Arial"/>
              </a:rPr>
              <a:t>i</a:t>
            </a:r>
            <a:r>
              <a:rPr sz="2200" spc="-5" dirty="0">
                <a:latin typeface="Arial"/>
                <a:cs typeface="Arial"/>
              </a:rPr>
              <a:t>es</a:t>
            </a:r>
            <a:r>
              <a:rPr sz="2200" dirty="0">
                <a:latin typeface="Arial"/>
                <a:cs typeface="Arial"/>
              </a:rPr>
              <a:t>	</a:t>
            </a:r>
            <a:r>
              <a:rPr sz="2200" spc="5" dirty="0">
                <a:latin typeface="Arial"/>
                <a:cs typeface="Arial"/>
              </a:rPr>
              <a:t>t</a:t>
            </a:r>
            <a:r>
              <a:rPr sz="2200" spc="-5" dirty="0">
                <a:latin typeface="Arial"/>
                <a:cs typeface="Arial"/>
              </a:rPr>
              <a:t>hat</a:t>
            </a:r>
            <a:r>
              <a:rPr sz="2200" dirty="0">
                <a:latin typeface="Arial"/>
                <a:cs typeface="Arial"/>
              </a:rPr>
              <a:t>	</a:t>
            </a:r>
            <a:r>
              <a:rPr sz="2200" spc="-5" dirty="0">
                <a:latin typeface="Arial"/>
                <a:cs typeface="Arial"/>
              </a:rPr>
              <a:t>are</a:t>
            </a:r>
            <a:r>
              <a:rPr sz="2200" dirty="0">
                <a:latin typeface="Arial"/>
                <a:cs typeface="Arial"/>
              </a:rPr>
              <a:t>	</a:t>
            </a:r>
            <a:r>
              <a:rPr sz="2200" spc="-15" dirty="0">
                <a:latin typeface="Arial"/>
                <a:cs typeface="Arial"/>
              </a:rPr>
              <a:t>i</a:t>
            </a:r>
            <a:r>
              <a:rPr sz="2200" spc="-5" dirty="0">
                <a:latin typeface="Arial"/>
                <a:cs typeface="Arial"/>
              </a:rPr>
              <a:t>nvo</a:t>
            </a:r>
            <a:r>
              <a:rPr sz="2200" spc="-25" dirty="0">
                <a:latin typeface="Arial"/>
                <a:cs typeface="Arial"/>
              </a:rPr>
              <a:t>l</a:t>
            </a:r>
            <a:r>
              <a:rPr sz="2200" spc="-5" dirty="0">
                <a:latin typeface="Arial"/>
                <a:cs typeface="Arial"/>
              </a:rPr>
              <a:t>ved</a:t>
            </a:r>
            <a:r>
              <a:rPr sz="2200" dirty="0">
                <a:latin typeface="Arial"/>
                <a:cs typeface="Arial"/>
              </a:rPr>
              <a:t>	</a:t>
            </a:r>
            <a:r>
              <a:rPr sz="2200" spc="-15" dirty="0">
                <a:latin typeface="Arial"/>
                <a:cs typeface="Arial"/>
              </a:rPr>
              <a:t>i</a:t>
            </a:r>
            <a:r>
              <a:rPr sz="2200" spc="-5" dirty="0">
                <a:latin typeface="Arial"/>
                <a:cs typeface="Arial"/>
              </a:rPr>
              <a:t>n</a:t>
            </a:r>
            <a:r>
              <a:rPr sz="2200" dirty="0">
                <a:latin typeface="Arial"/>
                <a:cs typeface="Arial"/>
              </a:rPr>
              <a:t>	</a:t>
            </a:r>
            <a:r>
              <a:rPr sz="2200" spc="-5" dirty="0">
                <a:latin typeface="Arial"/>
                <a:cs typeface="Arial"/>
              </a:rPr>
              <a:t>e</a:t>
            </a:r>
            <a:r>
              <a:rPr sz="2200" spc="-30" dirty="0">
                <a:latin typeface="Arial"/>
                <a:cs typeface="Arial"/>
              </a:rPr>
              <a:t>x</a:t>
            </a:r>
            <a:r>
              <a:rPr sz="2200" spc="25" dirty="0">
                <a:latin typeface="Arial"/>
                <a:cs typeface="Arial"/>
              </a:rPr>
              <a:t>t</a:t>
            </a:r>
            <a:r>
              <a:rPr sz="2200" dirty="0">
                <a:latin typeface="Arial"/>
                <a:cs typeface="Arial"/>
              </a:rPr>
              <a:t>r</a:t>
            </a:r>
            <a:r>
              <a:rPr sz="2200" spc="-5" dirty="0">
                <a:latin typeface="Arial"/>
                <a:cs typeface="Arial"/>
              </a:rPr>
              <a:t>acting</a:t>
            </a:r>
            <a:r>
              <a:rPr sz="2200" dirty="0">
                <a:latin typeface="Arial"/>
                <a:cs typeface="Arial"/>
              </a:rPr>
              <a:t>	</a:t>
            </a:r>
            <a:r>
              <a:rPr sz="2200" spc="-5" dirty="0">
                <a:latin typeface="Arial"/>
                <a:cs typeface="Arial"/>
              </a:rPr>
              <a:t>data</a:t>
            </a:r>
            <a:r>
              <a:rPr sz="2200" dirty="0">
                <a:latin typeface="Arial"/>
                <a:cs typeface="Arial"/>
              </a:rPr>
              <a:t>	</a:t>
            </a:r>
            <a:r>
              <a:rPr sz="2200" spc="5" dirty="0">
                <a:latin typeface="Arial"/>
                <a:cs typeface="Arial"/>
              </a:rPr>
              <a:t>f</a:t>
            </a:r>
            <a:r>
              <a:rPr sz="2200" dirty="0">
                <a:latin typeface="Arial"/>
                <a:cs typeface="Arial"/>
              </a:rPr>
              <a:t>rom	</a:t>
            </a:r>
            <a:r>
              <a:rPr sz="2200" spc="-15" dirty="0">
                <a:latin typeface="Arial"/>
                <a:cs typeface="Arial"/>
              </a:rPr>
              <a:t>t</a:t>
            </a:r>
            <a:r>
              <a:rPr sz="2200" spc="-5" dirty="0">
                <a:latin typeface="Arial"/>
                <a:cs typeface="Arial"/>
              </a:rPr>
              <a:t>he  database.</a:t>
            </a:r>
            <a:endParaRPr sz="2200">
              <a:latin typeface="Arial"/>
              <a:cs typeface="Arial"/>
            </a:endParaRPr>
          </a:p>
          <a:p>
            <a:pPr marL="355600" indent="-342900">
              <a:lnSpc>
                <a:spcPct val="100000"/>
              </a:lnSpc>
              <a:spcBef>
                <a:spcPts val="540"/>
              </a:spcBef>
              <a:buFont typeface="Wingdings"/>
              <a:buChar char=""/>
              <a:tabLst>
                <a:tab pos="355600" algn="l"/>
              </a:tabLst>
            </a:pPr>
            <a:r>
              <a:rPr sz="2200" dirty="0">
                <a:latin typeface="Arial"/>
                <a:cs typeface="Arial"/>
              </a:rPr>
              <a:t>It</a:t>
            </a:r>
            <a:r>
              <a:rPr sz="2200" spc="125" dirty="0">
                <a:latin typeface="Arial"/>
                <a:cs typeface="Arial"/>
              </a:rPr>
              <a:t> </a:t>
            </a:r>
            <a:r>
              <a:rPr sz="2200" spc="-5" dirty="0">
                <a:latin typeface="Arial"/>
                <a:cs typeface="Arial"/>
              </a:rPr>
              <a:t>includes</a:t>
            </a:r>
            <a:r>
              <a:rPr sz="2200" spc="114" dirty="0">
                <a:latin typeface="Arial"/>
                <a:cs typeface="Arial"/>
              </a:rPr>
              <a:t> </a:t>
            </a:r>
            <a:r>
              <a:rPr sz="2200" dirty="0">
                <a:latin typeface="Arial"/>
                <a:cs typeface="Arial"/>
              </a:rPr>
              <a:t>translation</a:t>
            </a:r>
            <a:r>
              <a:rPr sz="2200" spc="125" dirty="0">
                <a:latin typeface="Arial"/>
                <a:cs typeface="Arial"/>
              </a:rPr>
              <a:t> </a:t>
            </a:r>
            <a:r>
              <a:rPr sz="2200" spc="-5" dirty="0">
                <a:latin typeface="Arial"/>
                <a:cs typeface="Arial"/>
              </a:rPr>
              <a:t>of</a:t>
            </a:r>
            <a:r>
              <a:rPr sz="2200" spc="125" dirty="0">
                <a:latin typeface="Arial"/>
                <a:cs typeface="Arial"/>
              </a:rPr>
              <a:t> </a:t>
            </a:r>
            <a:r>
              <a:rPr sz="2200" spc="-5" dirty="0">
                <a:latin typeface="Arial"/>
                <a:cs typeface="Arial"/>
              </a:rPr>
              <a:t>queries</a:t>
            </a:r>
            <a:r>
              <a:rPr sz="2200" spc="135" dirty="0">
                <a:latin typeface="Arial"/>
                <a:cs typeface="Arial"/>
              </a:rPr>
              <a:t> </a:t>
            </a:r>
            <a:r>
              <a:rPr sz="2200" spc="-5" dirty="0">
                <a:latin typeface="Arial"/>
                <a:cs typeface="Arial"/>
              </a:rPr>
              <a:t>in</a:t>
            </a:r>
            <a:r>
              <a:rPr sz="2200" spc="110" dirty="0">
                <a:latin typeface="Arial"/>
                <a:cs typeface="Arial"/>
              </a:rPr>
              <a:t> </a:t>
            </a:r>
            <a:r>
              <a:rPr sz="2200" spc="-5" dirty="0">
                <a:latin typeface="Arial"/>
                <a:cs typeface="Arial"/>
              </a:rPr>
              <a:t>high-level</a:t>
            </a:r>
            <a:r>
              <a:rPr sz="2200" spc="114" dirty="0">
                <a:latin typeface="Arial"/>
                <a:cs typeface="Arial"/>
              </a:rPr>
              <a:t> </a:t>
            </a:r>
            <a:r>
              <a:rPr sz="2200" spc="-5" dirty="0">
                <a:latin typeface="Arial"/>
                <a:cs typeface="Arial"/>
              </a:rPr>
              <a:t>database</a:t>
            </a:r>
            <a:r>
              <a:rPr sz="2200" spc="114" dirty="0">
                <a:latin typeface="Arial"/>
                <a:cs typeface="Arial"/>
              </a:rPr>
              <a:t> </a:t>
            </a:r>
            <a:r>
              <a:rPr sz="2200" spc="-5" dirty="0">
                <a:latin typeface="Arial"/>
                <a:cs typeface="Arial"/>
              </a:rPr>
              <a:t>languages</a:t>
            </a:r>
            <a:r>
              <a:rPr sz="2200" spc="114" dirty="0">
                <a:latin typeface="Arial"/>
                <a:cs typeface="Arial"/>
              </a:rPr>
              <a:t> </a:t>
            </a:r>
            <a:r>
              <a:rPr sz="2200" spc="-5" dirty="0">
                <a:latin typeface="Arial"/>
                <a:cs typeface="Arial"/>
              </a:rPr>
              <a:t>into</a:t>
            </a:r>
            <a:r>
              <a:rPr sz="2200" spc="135" dirty="0">
                <a:latin typeface="Arial"/>
                <a:cs typeface="Arial"/>
              </a:rPr>
              <a:t> </a:t>
            </a:r>
            <a:r>
              <a:rPr sz="2200" dirty="0">
                <a:latin typeface="Arial"/>
                <a:cs typeface="Arial"/>
              </a:rPr>
              <a:t>expressions</a:t>
            </a:r>
            <a:endParaRPr sz="2200">
              <a:latin typeface="Arial"/>
              <a:cs typeface="Arial"/>
            </a:endParaRPr>
          </a:p>
          <a:p>
            <a:pPr marL="354965">
              <a:lnSpc>
                <a:spcPct val="100000"/>
              </a:lnSpc>
            </a:pPr>
            <a:r>
              <a:rPr sz="2200" dirty="0">
                <a:latin typeface="Arial"/>
                <a:cs typeface="Arial"/>
              </a:rPr>
              <a:t>that</a:t>
            </a:r>
            <a:r>
              <a:rPr sz="2200" spc="-10" dirty="0">
                <a:latin typeface="Arial"/>
                <a:cs typeface="Arial"/>
              </a:rPr>
              <a:t> </a:t>
            </a:r>
            <a:r>
              <a:rPr sz="2200" spc="-5" dirty="0">
                <a:latin typeface="Arial"/>
                <a:cs typeface="Arial"/>
              </a:rPr>
              <a:t>can</a:t>
            </a:r>
            <a:r>
              <a:rPr sz="2200" spc="20" dirty="0">
                <a:latin typeface="Arial"/>
                <a:cs typeface="Arial"/>
              </a:rPr>
              <a:t> </a:t>
            </a:r>
            <a:r>
              <a:rPr sz="2200" spc="-5" dirty="0">
                <a:latin typeface="Arial"/>
                <a:cs typeface="Arial"/>
              </a:rPr>
              <a:t>be</a:t>
            </a:r>
            <a:r>
              <a:rPr sz="2200" spc="10" dirty="0">
                <a:latin typeface="Arial"/>
                <a:cs typeface="Arial"/>
              </a:rPr>
              <a:t> </a:t>
            </a:r>
            <a:r>
              <a:rPr sz="2200" spc="-5" dirty="0">
                <a:latin typeface="Arial"/>
                <a:cs typeface="Arial"/>
              </a:rPr>
              <a:t>implemented</a:t>
            </a:r>
            <a:r>
              <a:rPr sz="2200" spc="30" dirty="0">
                <a:latin typeface="Arial"/>
                <a:cs typeface="Arial"/>
              </a:rPr>
              <a:t> </a:t>
            </a:r>
            <a:r>
              <a:rPr sz="2200" spc="-5" dirty="0">
                <a:latin typeface="Arial"/>
                <a:cs typeface="Arial"/>
              </a:rPr>
              <a:t>at</a:t>
            </a:r>
            <a:r>
              <a:rPr sz="2200" dirty="0">
                <a:latin typeface="Arial"/>
                <a:cs typeface="Arial"/>
              </a:rPr>
              <a:t> the</a:t>
            </a:r>
            <a:r>
              <a:rPr sz="2200" spc="5" dirty="0">
                <a:latin typeface="Arial"/>
                <a:cs typeface="Arial"/>
              </a:rPr>
              <a:t> </a:t>
            </a:r>
            <a:r>
              <a:rPr sz="2200" spc="-10" dirty="0">
                <a:latin typeface="Arial"/>
                <a:cs typeface="Arial"/>
              </a:rPr>
              <a:t>physical</a:t>
            </a:r>
            <a:r>
              <a:rPr sz="2200" spc="45" dirty="0">
                <a:latin typeface="Arial"/>
                <a:cs typeface="Arial"/>
              </a:rPr>
              <a:t> </a:t>
            </a:r>
            <a:r>
              <a:rPr sz="2200" spc="-5" dirty="0">
                <a:latin typeface="Arial"/>
                <a:cs typeface="Arial"/>
              </a:rPr>
              <a:t>level</a:t>
            </a:r>
            <a:r>
              <a:rPr sz="2200" spc="15" dirty="0">
                <a:latin typeface="Arial"/>
                <a:cs typeface="Arial"/>
              </a:rPr>
              <a:t> </a:t>
            </a:r>
            <a:r>
              <a:rPr sz="2200" spc="-5" dirty="0">
                <a:latin typeface="Arial"/>
                <a:cs typeface="Arial"/>
              </a:rPr>
              <a:t>of</a:t>
            </a:r>
            <a:r>
              <a:rPr sz="2200" spc="20" dirty="0">
                <a:latin typeface="Arial"/>
                <a:cs typeface="Arial"/>
              </a:rPr>
              <a:t> </a:t>
            </a:r>
            <a:r>
              <a:rPr sz="2200" dirty="0">
                <a:latin typeface="Arial"/>
                <a:cs typeface="Arial"/>
              </a:rPr>
              <a:t>the</a:t>
            </a:r>
            <a:r>
              <a:rPr sz="2200" spc="-20" dirty="0">
                <a:latin typeface="Arial"/>
                <a:cs typeface="Arial"/>
              </a:rPr>
              <a:t> </a:t>
            </a:r>
            <a:r>
              <a:rPr sz="2200" spc="-5" dirty="0">
                <a:latin typeface="Arial"/>
                <a:cs typeface="Arial"/>
              </a:rPr>
              <a:t>file</a:t>
            </a:r>
            <a:r>
              <a:rPr sz="2200" spc="25" dirty="0">
                <a:latin typeface="Arial"/>
                <a:cs typeface="Arial"/>
              </a:rPr>
              <a:t> </a:t>
            </a:r>
            <a:r>
              <a:rPr sz="2200" spc="-5" dirty="0">
                <a:latin typeface="Arial"/>
                <a:cs typeface="Arial"/>
              </a:rPr>
              <a:t>system.</a:t>
            </a:r>
            <a:endParaRPr sz="2200">
              <a:latin typeface="Arial"/>
              <a:cs typeface="Arial"/>
            </a:endParaRPr>
          </a:p>
          <a:p>
            <a:pPr marL="355600" indent="-342900">
              <a:lnSpc>
                <a:spcPct val="100000"/>
              </a:lnSpc>
              <a:spcBef>
                <a:spcPts val="520"/>
              </a:spcBef>
              <a:buFont typeface="Wingdings"/>
              <a:buChar char=""/>
              <a:tabLst>
                <a:tab pos="355600" algn="l"/>
              </a:tabLst>
            </a:pPr>
            <a:r>
              <a:rPr sz="2200" dirty="0">
                <a:latin typeface="Arial"/>
                <a:cs typeface="Arial"/>
              </a:rPr>
              <a:t>In</a:t>
            </a:r>
            <a:r>
              <a:rPr sz="2200" spc="165" dirty="0">
                <a:latin typeface="Arial"/>
                <a:cs typeface="Arial"/>
              </a:rPr>
              <a:t> </a:t>
            </a:r>
            <a:r>
              <a:rPr sz="2200" dirty="0">
                <a:latin typeface="Arial"/>
                <a:cs typeface="Arial"/>
              </a:rPr>
              <a:t>query</a:t>
            </a:r>
            <a:r>
              <a:rPr sz="2200" spc="135" dirty="0">
                <a:latin typeface="Arial"/>
                <a:cs typeface="Arial"/>
              </a:rPr>
              <a:t> </a:t>
            </a:r>
            <a:r>
              <a:rPr sz="2200" spc="-5" dirty="0">
                <a:latin typeface="Arial"/>
                <a:cs typeface="Arial"/>
              </a:rPr>
              <a:t>processing,</a:t>
            </a:r>
            <a:r>
              <a:rPr sz="2200" spc="200" dirty="0">
                <a:latin typeface="Arial"/>
                <a:cs typeface="Arial"/>
              </a:rPr>
              <a:t> </a:t>
            </a:r>
            <a:r>
              <a:rPr sz="2200" spc="-30" dirty="0">
                <a:latin typeface="Arial"/>
                <a:cs typeface="Arial"/>
              </a:rPr>
              <a:t>we</a:t>
            </a:r>
            <a:r>
              <a:rPr sz="2200" spc="190" dirty="0">
                <a:latin typeface="Arial"/>
                <a:cs typeface="Arial"/>
              </a:rPr>
              <a:t> </a:t>
            </a:r>
            <a:r>
              <a:rPr sz="2200" spc="-10" dirty="0">
                <a:latin typeface="Arial"/>
                <a:cs typeface="Arial"/>
              </a:rPr>
              <a:t>will</a:t>
            </a:r>
            <a:r>
              <a:rPr sz="2200" spc="165" dirty="0">
                <a:latin typeface="Arial"/>
                <a:cs typeface="Arial"/>
              </a:rPr>
              <a:t> </a:t>
            </a:r>
            <a:r>
              <a:rPr sz="2200" spc="-5" dirty="0">
                <a:latin typeface="Arial"/>
                <a:cs typeface="Arial"/>
              </a:rPr>
              <a:t>actually</a:t>
            </a:r>
            <a:r>
              <a:rPr sz="2200" spc="155" dirty="0">
                <a:latin typeface="Arial"/>
                <a:cs typeface="Arial"/>
              </a:rPr>
              <a:t> </a:t>
            </a:r>
            <a:r>
              <a:rPr sz="2200" dirty="0">
                <a:latin typeface="Arial"/>
                <a:cs typeface="Arial"/>
              </a:rPr>
              <a:t>understand</a:t>
            </a:r>
            <a:r>
              <a:rPr sz="2200" spc="180" dirty="0">
                <a:latin typeface="Arial"/>
                <a:cs typeface="Arial"/>
              </a:rPr>
              <a:t> </a:t>
            </a:r>
            <a:r>
              <a:rPr sz="2200" dirty="0">
                <a:latin typeface="Arial"/>
                <a:cs typeface="Arial"/>
              </a:rPr>
              <a:t>how</a:t>
            </a:r>
            <a:r>
              <a:rPr sz="2200" spc="125" dirty="0">
                <a:latin typeface="Arial"/>
                <a:cs typeface="Arial"/>
              </a:rPr>
              <a:t> </a:t>
            </a:r>
            <a:r>
              <a:rPr sz="2200" dirty="0">
                <a:latin typeface="Arial"/>
                <a:cs typeface="Arial"/>
              </a:rPr>
              <a:t>these</a:t>
            </a:r>
            <a:r>
              <a:rPr sz="2200" spc="160" dirty="0">
                <a:latin typeface="Arial"/>
                <a:cs typeface="Arial"/>
              </a:rPr>
              <a:t> </a:t>
            </a:r>
            <a:r>
              <a:rPr sz="2200" spc="-5" dirty="0">
                <a:latin typeface="Arial"/>
                <a:cs typeface="Arial"/>
              </a:rPr>
              <a:t>queries</a:t>
            </a:r>
            <a:r>
              <a:rPr sz="2200" spc="180" dirty="0">
                <a:latin typeface="Arial"/>
                <a:cs typeface="Arial"/>
              </a:rPr>
              <a:t> </a:t>
            </a:r>
            <a:r>
              <a:rPr sz="2200" dirty="0">
                <a:latin typeface="Arial"/>
                <a:cs typeface="Arial"/>
              </a:rPr>
              <a:t>are</a:t>
            </a:r>
            <a:r>
              <a:rPr sz="2200" spc="170" dirty="0">
                <a:latin typeface="Arial"/>
                <a:cs typeface="Arial"/>
              </a:rPr>
              <a:t> </a:t>
            </a:r>
            <a:r>
              <a:rPr sz="2200" dirty="0">
                <a:latin typeface="Arial"/>
                <a:cs typeface="Arial"/>
              </a:rPr>
              <a:t>processed</a:t>
            </a:r>
            <a:endParaRPr sz="2200">
              <a:latin typeface="Arial"/>
              <a:cs typeface="Arial"/>
            </a:endParaRPr>
          </a:p>
          <a:p>
            <a:pPr marL="354965">
              <a:lnSpc>
                <a:spcPct val="100000"/>
              </a:lnSpc>
              <a:spcBef>
                <a:spcPts val="5"/>
              </a:spcBef>
            </a:pPr>
            <a:r>
              <a:rPr sz="2200" spc="-5" dirty="0">
                <a:latin typeface="Arial"/>
                <a:cs typeface="Arial"/>
              </a:rPr>
              <a:t>and how</a:t>
            </a:r>
            <a:r>
              <a:rPr sz="2200" spc="10" dirty="0">
                <a:latin typeface="Arial"/>
                <a:cs typeface="Arial"/>
              </a:rPr>
              <a:t> </a:t>
            </a:r>
            <a:r>
              <a:rPr sz="2200" dirty="0">
                <a:latin typeface="Arial"/>
                <a:cs typeface="Arial"/>
              </a:rPr>
              <a:t>they</a:t>
            </a:r>
            <a:r>
              <a:rPr sz="2200" spc="-5" dirty="0">
                <a:latin typeface="Arial"/>
                <a:cs typeface="Arial"/>
              </a:rPr>
              <a:t> are optimized.</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a:t>
            </a:fld>
            <a:endParaRPr spc="-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7757159"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Overview</a:t>
            </a:r>
            <a:r>
              <a:rPr sz="3600" spc="-50" dirty="0">
                <a:solidFill>
                  <a:srgbClr val="000000"/>
                </a:solidFill>
                <a:latin typeface="Verdana"/>
                <a:cs typeface="Verdana"/>
              </a:rPr>
              <a:t> </a:t>
            </a:r>
            <a:r>
              <a:rPr sz="3600" dirty="0">
                <a:solidFill>
                  <a:srgbClr val="000000"/>
                </a:solidFill>
                <a:latin typeface="Verdana"/>
                <a:cs typeface="Verdana"/>
              </a:rPr>
              <a:t>of</a:t>
            </a:r>
            <a:r>
              <a:rPr sz="3600" spc="-5" dirty="0">
                <a:solidFill>
                  <a:srgbClr val="000000"/>
                </a:solidFill>
                <a:latin typeface="Verdana"/>
                <a:cs typeface="Verdana"/>
              </a:rPr>
              <a:t> Query</a:t>
            </a:r>
            <a:r>
              <a:rPr sz="3600" spc="-30" dirty="0">
                <a:solidFill>
                  <a:srgbClr val="000000"/>
                </a:solidFill>
                <a:latin typeface="Verdana"/>
                <a:cs typeface="Verdana"/>
              </a:rPr>
              <a:t> </a:t>
            </a:r>
            <a:r>
              <a:rPr sz="3600" spc="-5" dirty="0">
                <a:solidFill>
                  <a:srgbClr val="000000"/>
                </a:solidFill>
                <a:latin typeface="Verdana"/>
                <a:cs typeface="Verdana"/>
              </a:rPr>
              <a:t>Processing</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6284595" cy="5056505"/>
          </a:xfrm>
          <a:prstGeom prst="rect">
            <a:avLst/>
          </a:prstGeom>
        </p:spPr>
        <p:txBody>
          <a:bodyPr vert="horz" wrap="square" lIns="0" tIns="78740" rIns="0" bIns="0" rtlCol="0">
            <a:spAutoFit/>
          </a:bodyPr>
          <a:lstStyle/>
          <a:p>
            <a:pPr marL="12700" algn="just">
              <a:lnSpc>
                <a:spcPct val="100000"/>
              </a:lnSpc>
              <a:spcBef>
                <a:spcPts val="620"/>
              </a:spcBef>
            </a:pPr>
            <a:r>
              <a:rPr sz="2200" dirty="0">
                <a:latin typeface="Arial"/>
                <a:cs typeface="Arial"/>
              </a:rPr>
              <a:t>In</a:t>
            </a:r>
            <a:r>
              <a:rPr sz="2200" spc="-10" dirty="0">
                <a:latin typeface="Arial"/>
                <a:cs typeface="Arial"/>
              </a:rPr>
              <a:t> </a:t>
            </a:r>
            <a:r>
              <a:rPr sz="2200" dirty="0">
                <a:latin typeface="Arial"/>
                <a:cs typeface="Arial"/>
              </a:rPr>
              <a:t>the</a:t>
            </a:r>
            <a:r>
              <a:rPr sz="2200" spc="-30" dirty="0">
                <a:latin typeface="Arial"/>
                <a:cs typeface="Arial"/>
              </a:rPr>
              <a:t> </a:t>
            </a:r>
            <a:r>
              <a:rPr sz="2200" spc="-5" dirty="0">
                <a:latin typeface="Arial"/>
                <a:cs typeface="Arial"/>
              </a:rPr>
              <a:t>above</a:t>
            </a:r>
            <a:r>
              <a:rPr sz="2200" spc="10" dirty="0">
                <a:latin typeface="Arial"/>
                <a:cs typeface="Arial"/>
              </a:rPr>
              <a:t> </a:t>
            </a:r>
            <a:r>
              <a:rPr sz="2200" spc="-5" dirty="0">
                <a:latin typeface="Arial"/>
                <a:cs typeface="Arial"/>
              </a:rPr>
              <a:t>diagram,</a:t>
            </a:r>
            <a:endParaRPr sz="2200">
              <a:latin typeface="Arial"/>
              <a:cs typeface="Arial"/>
            </a:endParaRPr>
          </a:p>
          <a:p>
            <a:pPr marL="354965" marR="5715" indent="-342900" algn="just">
              <a:lnSpc>
                <a:spcPct val="100000"/>
              </a:lnSpc>
              <a:spcBef>
                <a:spcPts val="520"/>
              </a:spcBef>
              <a:buChar char="•"/>
              <a:tabLst>
                <a:tab pos="355600" algn="l"/>
              </a:tabLst>
            </a:pPr>
            <a:r>
              <a:rPr sz="2200" spc="5" dirty="0">
                <a:latin typeface="Arial"/>
                <a:cs typeface="Arial"/>
              </a:rPr>
              <a:t>The </a:t>
            </a:r>
            <a:r>
              <a:rPr sz="2200" spc="-5" dirty="0">
                <a:latin typeface="Arial"/>
                <a:cs typeface="Arial"/>
              </a:rPr>
              <a:t>first </a:t>
            </a:r>
            <a:r>
              <a:rPr sz="2200" dirty="0">
                <a:latin typeface="Arial"/>
                <a:cs typeface="Arial"/>
              </a:rPr>
              <a:t>step </a:t>
            </a:r>
            <a:r>
              <a:rPr sz="2200" spc="-10" dirty="0">
                <a:latin typeface="Arial"/>
                <a:cs typeface="Arial"/>
              </a:rPr>
              <a:t>is </a:t>
            </a:r>
            <a:r>
              <a:rPr sz="2200" dirty="0">
                <a:latin typeface="Arial"/>
                <a:cs typeface="Arial"/>
              </a:rPr>
              <a:t>to transform the query </a:t>
            </a:r>
            <a:r>
              <a:rPr sz="2200" spc="-5" dirty="0">
                <a:latin typeface="Arial"/>
                <a:cs typeface="Arial"/>
              </a:rPr>
              <a:t>into a </a:t>
            </a:r>
            <a:r>
              <a:rPr sz="2200" dirty="0">
                <a:latin typeface="Arial"/>
                <a:cs typeface="Arial"/>
              </a:rPr>
              <a:t> </a:t>
            </a:r>
            <a:r>
              <a:rPr sz="2200" spc="-5" dirty="0">
                <a:latin typeface="Arial"/>
                <a:cs typeface="Arial"/>
              </a:rPr>
              <a:t>standard</a:t>
            </a:r>
            <a:r>
              <a:rPr sz="2200" spc="5" dirty="0">
                <a:latin typeface="Arial"/>
                <a:cs typeface="Arial"/>
              </a:rPr>
              <a:t> </a:t>
            </a:r>
            <a:r>
              <a:rPr sz="2200" dirty="0">
                <a:latin typeface="Arial"/>
                <a:cs typeface="Arial"/>
              </a:rPr>
              <a:t>form.</a:t>
            </a:r>
            <a:endParaRPr sz="2200">
              <a:latin typeface="Arial"/>
              <a:cs typeface="Arial"/>
            </a:endParaRPr>
          </a:p>
          <a:p>
            <a:pPr marL="354965" marR="5080" indent="-342900" algn="just">
              <a:lnSpc>
                <a:spcPct val="100000"/>
              </a:lnSpc>
              <a:spcBef>
                <a:spcPts val="540"/>
              </a:spcBef>
              <a:buChar char="•"/>
              <a:tabLst>
                <a:tab pos="355600" algn="l"/>
              </a:tabLst>
            </a:pPr>
            <a:r>
              <a:rPr sz="2200" dirty="0">
                <a:latin typeface="Arial"/>
                <a:cs typeface="Arial"/>
              </a:rPr>
              <a:t>A</a:t>
            </a:r>
            <a:r>
              <a:rPr sz="2200" spc="5" dirty="0">
                <a:latin typeface="Arial"/>
                <a:cs typeface="Arial"/>
              </a:rPr>
              <a:t> </a:t>
            </a:r>
            <a:r>
              <a:rPr sz="2200" dirty="0">
                <a:latin typeface="Arial"/>
                <a:cs typeface="Arial"/>
              </a:rPr>
              <a:t>query</a:t>
            </a:r>
            <a:r>
              <a:rPr sz="2200" spc="5" dirty="0">
                <a:latin typeface="Arial"/>
                <a:cs typeface="Arial"/>
              </a:rPr>
              <a:t> </a:t>
            </a:r>
            <a:r>
              <a:rPr sz="2200" spc="-10" dirty="0">
                <a:latin typeface="Arial"/>
                <a:cs typeface="Arial"/>
              </a:rPr>
              <a:t>is</a:t>
            </a:r>
            <a:r>
              <a:rPr sz="2200" spc="-5" dirty="0">
                <a:latin typeface="Arial"/>
                <a:cs typeface="Arial"/>
              </a:rPr>
              <a:t> </a:t>
            </a:r>
            <a:r>
              <a:rPr sz="2200" dirty="0">
                <a:latin typeface="Arial"/>
                <a:cs typeface="Arial"/>
              </a:rPr>
              <a:t>translated</a:t>
            </a:r>
            <a:r>
              <a:rPr sz="2200" spc="5" dirty="0">
                <a:latin typeface="Arial"/>
                <a:cs typeface="Arial"/>
              </a:rPr>
              <a:t> </a:t>
            </a:r>
            <a:r>
              <a:rPr sz="2200" spc="-5" dirty="0">
                <a:latin typeface="Arial"/>
                <a:cs typeface="Arial"/>
              </a:rPr>
              <a:t>into</a:t>
            </a:r>
            <a:r>
              <a:rPr sz="2200" dirty="0">
                <a:latin typeface="Arial"/>
                <a:cs typeface="Arial"/>
              </a:rPr>
              <a:t> </a:t>
            </a:r>
            <a:r>
              <a:rPr sz="2200" spc="-5" dirty="0">
                <a:latin typeface="Arial"/>
                <a:cs typeface="Arial"/>
              </a:rPr>
              <a:t>SQL</a:t>
            </a:r>
            <a:r>
              <a:rPr sz="2200" dirty="0">
                <a:latin typeface="Arial"/>
                <a:cs typeface="Arial"/>
              </a:rPr>
              <a:t> </a:t>
            </a:r>
            <a:r>
              <a:rPr sz="2200" spc="-5" dirty="0">
                <a:latin typeface="Arial"/>
                <a:cs typeface="Arial"/>
              </a:rPr>
              <a:t>and</a:t>
            </a:r>
            <a:r>
              <a:rPr sz="2200" dirty="0">
                <a:latin typeface="Arial"/>
                <a:cs typeface="Arial"/>
              </a:rPr>
              <a:t> </a:t>
            </a:r>
            <a:r>
              <a:rPr sz="2200" spc="-5" dirty="0">
                <a:latin typeface="Arial"/>
                <a:cs typeface="Arial"/>
              </a:rPr>
              <a:t>into</a:t>
            </a:r>
            <a:r>
              <a:rPr sz="2200" dirty="0">
                <a:latin typeface="Arial"/>
                <a:cs typeface="Arial"/>
              </a:rPr>
              <a:t> </a:t>
            </a:r>
            <a:r>
              <a:rPr sz="2200" spc="-5" dirty="0">
                <a:latin typeface="Arial"/>
                <a:cs typeface="Arial"/>
              </a:rPr>
              <a:t>a </a:t>
            </a:r>
            <a:r>
              <a:rPr sz="2200" dirty="0">
                <a:latin typeface="Arial"/>
                <a:cs typeface="Arial"/>
              </a:rPr>
              <a:t> </a:t>
            </a:r>
            <a:r>
              <a:rPr sz="2200" spc="-5" dirty="0">
                <a:latin typeface="Arial"/>
                <a:cs typeface="Arial"/>
              </a:rPr>
              <a:t>relational</a:t>
            </a:r>
            <a:r>
              <a:rPr sz="2200" dirty="0">
                <a:latin typeface="Arial"/>
                <a:cs typeface="Arial"/>
              </a:rPr>
              <a:t> algebraic</a:t>
            </a:r>
            <a:r>
              <a:rPr sz="2200" spc="5" dirty="0">
                <a:latin typeface="Arial"/>
                <a:cs typeface="Arial"/>
              </a:rPr>
              <a:t> </a:t>
            </a:r>
            <a:r>
              <a:rPr sz="2200" spc="-5" dirty="0">
                <a:latin typeface="Arial"/>
                <a:cs typeface="Arial"/>
              </a:rPr>
              <a:t>expression.</a:t>
            </a:r>
            <a:r>
              <a:rPr sz="2200" dirty="0">
                <a:latin typeface="Arial"/>
                <a:cs typeface="Arial"/>
              </a:rPr>
              <a:t> During</a:t>
            </a:r>
            <a:r>
              <a:rPr sz="2200" spc="5" dirty="0">
                <a:latin typeface="Arial"/>
                <a:cs typeface="Arial"/>
              </a:rPr>
              <a:t> </a:t>
            </a:r>
            <a:r>
              <a:rPr sz="2200" spc="-5" dirty="0">
                <a:latin typeface="Arial"/>
                <a:cs typeface="Arial"/>
              </a:rPr>
              <a:t>this </a:t>
            </a:r>
            <a:r>
              <a:rPr sz="2200" spc="-600" dirty="0">
                <a:latin typeface="Arial"/>
                <a:cs typeface="Arial"/>
              </a:rPr>
              <a:t> </a:t>
            </a:r>
            <a:r>
              <a:rPr sz="2200" spc="-5" dirty="0">
                <a:latin typeface="Arial"/>
                <a:cs typeface="Arial"/>
              </a:rPr>
              <a:t>process, Parser checks </a:t>
            </a:r>
            <a:r>
              <a:rPr sz="2200" dirty="0">
                <a:latin typeface="Arial"/>
                <a:cs typeface="Arial"/>
              </a:rPr>
              <a:t>the </a:t>
            </a:r>
            <a:r>
              <a:rPr sz="2200" spc="-5" dirty="0">
                <a:latin typeface="Arial"/>
                <a:cs typeface="Arial"/>
              </a:rPr>
              <a:t>syntax and verifies </a:t>
            </a:r>
            <a:r>
              <a:rPr sz="2200" dirty="0">
                <a:latin typeface="Arial"/>
                <a:cs typeface="Arial"/>
              </a:rPr>
              <a:t> the </a:t>
            </a:r>
            <a:r>
              <a:rPr sz="2200" spc="-5" dirty="0">
                <a:latin typeface="Arial"/>
                <a:cs typeface="Arial"/>
              </a:rPr>
              <a:t>relations</a:t>
            </a:r>
            <a:r>
              <a:rPr sz="2200" dirty="0">
                <a:latin typeface="Arial"/>
                <a:cs typeface="Arial"/>
              </a:rPr>
              <a:t> </a:t>
            </a:r>
            <a:r>
              <a:rPr sz="2200" spc="-5" dirty="0">
                <a:latin typeface="Arial"/>
                <a:cs typeface="Arial"/>
              </a:rPr>
              <a:t>and </a:t>
            </a:r>
            <a:r>
              <a:rPr sz="2200" dirty="0">
                <a:latin typeface="Arial"/>
                <a:cs typeface="Arial"/>
              </a:rPr>
              <a:t>the attributes </a:t>
            </a:r>
            <a:r>
              <a:rPr sz="2200" spc="-10" dirty="0">
                <a:latin typeface="Arial"/>
                <a:cs typeface="Arial"/>
              </a:rPr>
              <a:t>which </a:t>
            </a:r>
            <a:r>
              <a:rPr sz="2200" spc="5" dirty="0">
                <a:latin typeface="Arial"/>
                <a:cs typeface="Arial"/>
              </a:rPr>
              <a:t>are </a:t>
            </a:r>
            <a:r>
              <a:rPr sz="2200" dirty="0">
                <a:latin typeface="Arial"/>
                <a:cs typeface="Arial"/>
              </a:rPr>
              <a:t>used </a:t>
            </a:r>
            <a:r>
              <a:rPr sz="2200" spc="5" dirty="0">
                <a:latin typeface="Arial"/>
                <a:cs typeface="Arial"/>
              </a:rPr>
              <a:t> </a:t>
            </a:r>
            <a:r>
              <a:rPr sz="2200" spc="-10" dirty="0">
                <a:latin typeface="Arial"/>
                <a:cs typeface="Arial"/>
              </a:rPr>
              <a:t>in</a:t>
            </a:r>
            <a:r>
              <a:rPr sz="2200" dirty="0">
                <a:latin typeface="Arial"/>
                <a:cs typeface="Arial"/>
              </a:rPr>
              <a:t> the </a:t>
            </a:r>
            <a:r>
              <a:rPr sz="2200" spc="-10" dirty="0">
                <a:latin typeface="Arial"/>
                <a:cs typeface="Arial"/>
              </a:rPr>
              <a:t>query.</a:t>
            </a:r>
            <a:endParaRPr sz="2200">
              <a:latin typeface="Arial"/>
              <a:cs typeface="Arial"/>
            </a:endParaRPr>
          </a:p>
          <a:p>
            <a:pPr marL="354965" marR="5715" indent="-342900" algn="just">
              <a:lnSpc>
                <a:spcPct val="100000"/>
              </a:lnSpc>
              <a:spcBef>
                <a:spcPts val="525"/>
              </a:spcBef>
              <a:buChar char="•"/>
              <a:tabLst>
                <a:tab pos="355600" algn="l"/>
              </a:tabLst>
            </a:pPr>
            <a:r>
              <a:rPr sz="2200" spc="5" dirty="0">
                <a:latin typeface="Arial"/>
                <a:cs typeface="Arial"/>
              </a:rPr>
              <a:t>The </a:t>
            </a:r>
            <a:r>
              <a:rPr sz="2200" spc="-5" dirty="0">
                <a:latin typeface="Arial"/>
                <a:cs typeface="Arial"/>
              </a:rPr>
              <a:t>second </a:t>
            </a:r>
            <a:r>
              <a:rPr sz="2200" dirty="0">
                <a:latin typeface="Arial"/>
                <a:cs typeface="Arial"/>
              </a:rPr>
              <a:t>step </a:t>
            </a:r>
            <a:r>
              <a:rPr sz="2200" spc="-10" dirty="0">
                <a:latin typeface="Arial"/>
                <a:cs typeface="Arial"/>
              </a:rPr>
              <a:t>is </a:t>
            </a:r>
            <a:r>
              <a:rPr sz="2200" dirty="0">
                <a:latin typeface="Arial"/>
                <a:cs typeface="Arial"/>
              </a:rPr>
              <a:t>Query Optimizer. In </a:t>
            </a:r>
            <a:r>
              <a:rPr sz="2200" spc="-5" dirty="0">
                <a:latin typeface="Arial"/>
                <a:cs typeface="Arial"/>
              </a:rPr>
              <a:t>this, </a:t>
            </a:r>
            <a:r>
              <a:rPr sz="2200" spc="-10" dirty="0">
                <a:latin typeface="Arial"/>
                <a:cs typeface="Arial"/>
              </a:rPr>
              <a:t>it </a:t>
            </a:r>
            <a:r>
              <a:rPr sz="2200" spc="-5" dirty="0">
                <a:latin typeface="Arial"/>
                <a:cs typeface="Arial"/>
              </a:rPr>
              <a:t> </a:t>
            </a:r>
            <a:r>
              <a:rPr sz="2200" dirty="0">
                <a:latin typeface="Arial"/>
                <a:cs typeface="Arial"/>
              </a:rPr>
              <a:t>transforms</a:t>
            </a:r>
            <a:r>
              <a:rPr sz="2200" spc="5" dirty="0">
                <a:latin typeface="Arial"/>
                <a:cs typeface="Arial"/>
              </a:rPr>
              <a:t> </a:t>
            </a:r>
            <a:r>
              <a:rPr sz="2200" dirty="0">
                <a:latin typeface="Arial"/>
                <a:cs typeface="Arial"/>
              </a:rPr>
              <a:t>the</a:t>
            </a:r>
            <a:r>
              <a:rPr sz="2200" spc="5" dirty="0">
                <a:latin typeface="Arial"/>
                <a:cs typeface="Arial"/>
              </a:rPr>
              <a:t> </a:t>
            </a:r>
            <a:r>
              <a:rPr sz="2200" dirty="0">
                <a:latin typeface="Arial"/>
                <a:cs typeface="Arial"/>
              </a:rPr>
              <a:t>query</a:t>
            </a:r>
            <a:r>
              <a:rPr sz="2200" spc="5" dirty="0">
                <a:latin typeface="Arial"/>
                <a:cs typeface="Arial"/>
              </a:rPr>
              <a:t> </a:t>
            </a:r>
            <a:r>
              <a:rPr sz="2200" spc="-5" dirty="0">
                <a:latin typeface="Arial"/>
                <a:cs typeface="Arial"/>
              </a:rPr>
              <a:t>into</a:t>
            </a:r>
            <a:r>
              <a:rPr sz="2200" spc="605" dirty="0">
                <a:latin typeface="Arial"/>
                <a:cs typeface="Arial"/>
              </a:rPr>
              <a:t> </a:t>
            </a:r>
            <a:r>
              <a:rPr sz="2200" spc="-5" dirty="0">
                <a:latin typeface="Arial"/>
                <a:cs typeface="Arial"/>
              </a:rPr>
              <a:t>equivalent </a:t>
            </a:r>
            <a:r>
              <a:rPr sz="2200" dirty="0">
                <a:latin typeface="Arial"/>
                <a:cs typeface="Arial"/>
              </a:rPr>
              <a:t> </a:t>
            </a:r>
            <a:r>
              <a:rPr sz="2200" spc="-5" dirty="0">
                <a:latin typeface="Arial"/>
                <a:cs typeface="Arial"/>
              </a:rPr>
              <a:t>expressions</a:t>
            </a:r>
            <a:r>
              <a:rPr sz="2200" spc="45" dirty="0">
                <a:latin typeface="Arial"/>
                <a:cs typeface="Arial"/>
              </a:rPr>
              <a:t> </a:t>
            </a:r>
            <a:r>
              <a:rPr sz="2200" dirty="0">
                <a:latin typeface="Arial"/>
                <a:cs typeface="Arial"/>
              </a:rPr>
              <a:t>that</a:t>
            </a:r>
            <a:r>
              <a:rPr sz="2200" spc="10" dirty="0">
                <a:latin typeface="Arial"/>
                <a:cs typeface="Arial"/>
              </a:rPr>
              <a:t> </a:t>
            </a:r>
            <a:r>
              <a:rPr sz="2200" spc="-5" dirty="0">
                <a:latin typeface="Arial"/>
                <a:cs typeface="Arial"/>
              </a:rPr>
              <a:t>are</a:t>
            </a:r>
            <a:r>
              <a:rPr sz="2200" spc="10" dirty="0">
                <a:latin typeface="Arial"/>
                <a:cs typeface="Arial"/>
              </a:rPr>
              <a:t> </a:t>
            </a:r>
            <a:r>
              <a:rPr sz="2200" spc="-5" dirty="0">
                <a:latin typeface="Arial"/>
                <a:cs typeface="Arial"/>
              </a:rPr>
              <a:t>more efficient</a:t>
            </a:r>
            <a:r>
              <a:rPr sz="2200" spc="15" dirty="0">
                <a:latin typeface="Arial"/>
                <a:cs typeface="Arial"/>
              </a:rPr>
              <a:t> </a:t>
            </a:r>
            <a:r>
              <a:rPr sz="2200" dirty="0">
                <a:latin typeface="Arial"/>
                <a:cs typeface="Arial"/>
              </a:rPr>
              <a:t>to</a:t>
            </a:r>
            <a:r>
              <a:rPr sz="2200" spc="5" dirty="0">
                <a:latin typeface="Arial"/>
                <a:cs typeface="Arial"/>
              </a:rPr>
              <a:t> </a:t>
            </a:r>
            <a:r>
              <a:rPr sz="2200" spc="-5" dirty="0">
                <a:latin typeface="Arial"/>
                <a:cs typeface="Arial"/>
              </a:rPr>
              <a:t>execute.</a:t>
            </a:r>
            <a:endParaRPr sz="2200">
              <a:latin typeface="Arial"/>
              <a:cs typeface="Arial"/>
            </a:endParaRPr>
          </a:p>
          <a:p>
            <a:pPr marL="354965" marR="5715" indent="-342900" algn="just">
              <a:lnSpc>
                <a:spcPct val="100000"/>
              </a:lnSpc>
              <a:spcBef>
                <a:spcPts val="545"/>
              </a:spcBef>
              <a:buChar char="•"/>
              <a:tabLst>
                <a:tab pos="355600" algn="l"/>
              </a:tabLst>
            </a:pPr>
            <a:r>
              <a:rPr sz="2200" spc="10" dirty="0">
                <a:latin typeface="Arial"/>
                <a:cs typeface="Arial"/>
              </a:rPr>
              <a:t>The </a:t>
            </a:r>
            <a:r>
              <a:rPr sz="2200" spc="-5" dirty="0">
                <a:latin typeface="Arial"/>
                <a:cs typeface="Arial"/>
              </a:rPr>
              <a:t>third </a:t>
            </a:r>
            <a:r>
              <a:rPr sz="2200" spc="-10" dirty="0">
                <a:latin typeface="Arial"/>
                <a:cs typeface="Arial"/>
              </a:rPr>
              <a:t>step </a:t>
            </a:r>
            <a:r>
              <a:rPr sz="2200" spc="-5" dirty="0">
                <a:latin typeface="Arial"/>
                <a:cs typeface="Arial"/>
              </a:rPr>
              <a:t>is </a:t>
            </a:r>
            <a:r>
              <a:rPr sz="2200" dirty="0">
                <a:latin typeface="Arial"/>
                <a:cs typeface="Arial"/>
              </a:rPr>
              <a:t>Query </a:t>
            </a:r>
            <a:r>
              <a:rPr sz="2200" spc="-5" dirty="0">
                <a:latin typeface="Arial"/>
                <a:cs typeface="Arial"/>
              </a:rPr>
              <a:t>evaluation. </a:t>
            </a:r>
            <a:r>
              <a:rPr sz="2200" dirty="0">
                <a:latin typeface="Arial"/>
                <a:cs typeface="Arial"/>
              </a:rPr>
              <a:t>It </a:t>
            </a:r>
            <a:r>
              <a:rPr sz="2200" spc="-5" dirty="0">
                <a:latin typeface="Arial"/>
                <a:cs typeface="Arial"/>
              </a:rPr>
              <a:t>executes </a:t>
            </a:r>
            <a:r>
              <a:rPr sz="2200" dirty="0">
                <a:latin typeface="Arial"/>
                <a:cs typeface="Arial"/>
              </a:rPr>
              <a:t> the </a:t>
            </a:r>
            <a:r>
              <a:rPr sz="2200" spc="-5" dirty="0">
                <a:latin typeface="Arial"/>
                <a:cs typeface="Arial"/>
              </a:rPr>
              <a:t>above </a:t>
            </a:r>
            <a:r>
              <a:rPr sz="2200" dirty="0">
                <a:latin typeface="Arial"/>
                <a:cs typeface="Arial"/>
              </a:rPr>
              <a:t>query execution </a:t>
            </a:r>
            <a:r>
              <a:rPr sz="2200" spc="-5" dirty="0">
                <a:latin typeface="Arial"/>
                <a:cs typeface="Arial"/>
              </a:rPr>
              <a:t>plan and </a:t>
            </a:r>
            <a:r>
              <a:rPr sz="2200" dirty="0">
                <a:latin typeface="Arial"/>
                <a:cs typeface="Arial"/>
              </a:rPr>
              <a:t>returns the </a:t>
            </a:r>
            <a:r>
              <a:rPr sz="2200" spc="-600" dirty="0">
                <a:latin typeface="Arial"/>
                <a:cs typeface="Arial"/>
              </a:rPr>
              <a:t> </a:t>
            </a:r>
            <a:r>
              <a:rPr sz="2200" spc="-5" dirty="0">
                <a:latin typeface="Arial"/>
                <a:cs typeface="Arial"/>
              </a:rPr>
              <a:t>result.</a:t>
            </a:r>
            <a:endParaRPr sz="2200">
              <a:latin typeface="Arial"/>
              <a:cs typeface="Arial"/>
            </a:endParaRPr>
          </a:p>
        </p:txBody>
      </p:sp>
      <p:pic>
        <p:nvPicPr>
          <p:cNvPr id="5" name="object 5"/>
          <p:cNvPicPr/>
          <p:nvPr/>
        </p:nvPicPr>
        <p:blipFill>
          <a:blip r:embed="rId2" cstate="print"/>
          <a:stretch>
            <a:fillRect/>
          </a:stretch>
        </p:blipFill>
        <p:spPr>
          <a:xfrm>
            <a:off x="7546340" y="1122680"/>
            <a:ext cx="4178300" cy="510032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3</a:t>
            </a:fld>
            <a:endParaRPr spc="-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633476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Measuring</a:t>
            </a:r>
            <a:r>
              <a:rPr sz="3600" spc="-60" dirty="0">
                <a:solidFill>
                  <a:srgbClr val="000000"/>
                </a:solidFill>
                <a:latin typeface="Verdana"/>
                <a:cs typeface="Verdana"/>
              </a:rPr>
              <a:t> </a:t>
            </a:r>
            <a:r>
              <a:rPr sz="3600" dirty="0">
                <a:solidFill>
                  <a:srgbClr val="000000"/>
                </a:solidFill>
                <a:latin typeface="Verdana"/>
                <a:cs typeface="Verdana"/>
              </a:rPr>
              <a:t>of</a:t>
            </a:r>
            <a:r>
              <a:rPr sz="3600" spc="-20" dirty="0">
                <a:solidFill>
                  <a:srgbClr val="000000"/>
                </a:solidFill>
                <a:latin typeface="Verdana"/>
                <a:cs typeface="Verdana"/>
              </a:rPr>
              <a:t> </a:t>
            </a:r>
            <a:r>
              <a:rPr sz="3600" spc="-5" dirty="0">
                <a:solidFill>
                  <a:srgbClr val="000000"/>
                </a:solidFill>
                <a:latin typeface="Verdana"/>
                <a:cs typeface="Verdana"/>
              </a:rPr>
              <a:t>Query</a:t>
            </a:r>
            <a:r>
              <a:rPr sz="3600" spc="-50" dirty="0">
                <a:solidFill>
                  <a:srgbClr val="000000"/>
                </a:solidFill>
                <a:latin typeface="Verdana"/>
                <a:cs typeface="Verdana"/>
              </a:rPr>
              <a:t> </a:t>
            </a:r>
            <a:r>
              <a:rPr sz="3600" dirty="0">
                <a:solidFill>
                  <a:srgbClr val="000000"/>
                </a:solidFill>
                <a:latin typeface="Verdana"/>
                <a:cs typeface="Verdana"/>
              </a:rPr>
              <a:t>Cost</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10707370" cy="4507865"/>
          </a:xfrm>
          <a:prstGeom prst="rect">
            <a:avLst/>
          </a:prstGeom>
        </p:spPr>
        <p:txBody>
          <a:bodyPr vert="horz" wrap="square" lIns="0" tIns="78740" rIns="0" bIns="0" rtlCol="0">
            <a:spAutoFit/>
          </a:bodyPr>
          <a:lstStyle/>
          <a:p>
            <a:pPr marL="355600" indent="-342900">
              <a:lnSpc>
                <a:spcPct val="100000"/>
              </a:lnSpc>
              <a:spcBef>
                <a:spcPts val="620"/>
              </a:spcBef>
              <a:buFont typeface="Wingdings"/>
              <a:buChar char=""/>
              <a:tabLst>
                <a:tab pos="355600" algn="l"/>
              </a:tabLst>
            </a:pPr>
            <a:r>
              <a:rPr sz="2200" spc="-5" dirty="0">
                <a:latin typeface="Arial"/>
                <a:cs typeface="Arial"/>
              </a:rPr>
              <a:t>Cost</a:t>
            </a:r>
            <a:r>
              <a:rPr sz="2200" spc="10" dirty="0">
                <a:latin typeface="Arial"/>
                <a:cs typeface="Arial"/>
              </a:rPr>
              <a:t> </a:t>
            </a:r>
            <a:r>
              <a:rPr sz="2200" spc="-10" dirty="0">
                <a:latin typeface="Arial"/>
                <a:cs typeface="Arial"/>
              </a:rPr>
              <a:t>is</a:t>
            </a:r>
            <a:r>
              <a:rPr sz="2200" spc="10" dirty="0">
                <a:latin typeface="Arial"/>
                <a:cs typeface="Arial"/>
              </a:rPr>
              <a:t> </a:t>
            </a:r>
            <a:r>
              <a:rPr sz="2200" spc="-5" dirty="0">
                <a:latin typeface="Arial"/>
                <a:cs typeface="Arial"/>
              </a:rPr>
              <a:t>generally</a:t>
            </a:r>
            <a:r>
              <a:rPr sz="2200" spc="20" dirty="0">
                <a:latin typeface="Arial"/>
                <a:cs typeface="Arial"/>
              </a:rPr>
              <a:t> </a:t>
            </a:r>
            <a:r>
              <a:rPr sz="2200" spc="-5" dirty="0">
                <a:latin typeface="Arial"/>
                <a:cs typeface="Arial"/>
              </a:rPr>
              <a:t>measured</a:t>
            </a:r>
            <a:r>
              <a:rPr sz="2200" spc="30" dirty="0">
                <a:latin typeface="Arial"/>
                <a:cs typeface="Arial"/>
              </a:rPr>
              <a:t> </a:t>
            </a:r>
            <a:r>
              <a:rPr sz="2200" spc="-5" dirty="0">
                <a:latin typeface="Arial"/>
                <a:cs typeface="Arial"/>
              </a:rPr>
              <a:t>as</a:t>
            </a:r>
            <a:r>
              <a:rPr sz="2200" spc="5" dirty="0">
                <a:latin typeface="Arial"/>
                <a:cs typeface="Arial"/>
              </a:rPr>
              <a:t> </a:t>
            </a:r>
            <a:r>
              <a:rPr sz="2200" dirty="0">
                <a:latin typeface="Arial"/>
                <a:cs typeface="Arial"/>
              </a:rPr>
              <a:t>total</a:t>
            </a:r>
            <a:r>
              <a:rPr sz="2200" spc="5" dirty="0">
                <a:latin typeface="Arial"/>
                <a:cs typeface="Arial"/>
              </a:rPr>
              <a:t> </a:t>
            </a:r>
            <a:r>
              <a:rPr sz="2200" spc="-5" dirty="0">
                <a:latin typeface="Arial"/>
                <a:cs typeface="Arial"/>
              </a:rPr>
              <a:t>elapsed</a:t>
            </a:r>
            <a:r>
              <a:rPr sz="2200" spc="30" dirty="0">
                <a:latin typeface="Arial"/>
                <a:cs typeface="Arial"/>
              </a:rPr>
              <a:t> </a:t>
            </a:r>
            <a:r>
              <a:rPr sz="2200" spc="-5" dirty="0">
                <a:latin typeface="Arial"/>
                <a:cs typeface="Arial"/>
              </a:rPr>
              <a:t>time</a:t>
            </a:r>
            <a:r>
              <a:rPr sz="2200" spc="15" dirty="0">
                <a:latin typeface="Arial"/>
                <a:cs typeface="Arial"/>
              </a:rPr>
              <a:t> </a:t>
            </a:r>
            <a:r>
              <a:rPr sz="2200" dirty="0">
                <a:latin typeface="Arial"/>
                <a:cs typeface="Arial"/>
              </a:rPr>
              <a:t>for</a:t>
            </a:r>
            <a:r>
              <a:rPr sz="2200" spc="-5" dirty="0">
                <a:latin typeface="Arial"/>
                <a:cs typeface="Arial"/>
              </a:rPr>
              <a:t> </a:t>
            </a:r>
            <a:r>
              <a:rPr sz="2200" spc="-10" dirty="0">
                <a:latin typeface="Arial"/>
                <a:cs typeface="Arial"/>
              </a:rPr>
              <a:t>answering</a:t>
            </a:r>
            <a:r>
              <a:rPr sz="2200" spc="85" dirty="0">
                <a:latin typeface="Arial"/>
                <a:cs typeface="Arial"/>
              </a:rPr>
              <a:t> </a:t>
            </a:r>
            <a:r>
              <a:rPr sz="2200" spc="-10" dirty="0">
                <a:latin typeface="Arial"/>
                <a:cs typeface="Arial"/>
              </a:rPr>
              <a:t>query.</a:t>
            </a:r>
            <a:endParaRPr sz="2200">
              <a:latin typeface="Arial"/>
              <a:cs typeface="Arial"/>
            </a:endParaRPr>
          </a:p>
          <a:p>
            <a:pPr marL="354965" marR="5080" indent="-342900">
              <a:lnSpc>
                <a:spcPct val="100000"/>
              </a:lnSpc>
              <a:spcBef>
                <a:spcPts val="520"/>
              </a:spcBef>
              <a:buFont typeface="Wingdings"/>
              <a:buChar char=""/>
              <a:tabLst>
                <a:tab pos="355600" algn="l"/>
                <a:tab pos="1201420" algn="l"/>
                <a:tab pos="2207260" algn="l"/>
                <a:tab pos="3602354" algn="l"/>
                <a:tab pos="4000500" algn="l"/>
                <a:tab pos="4694555" algn="l"/>
                <a:tab pos="5372735" algn="l"/>
                <a:tab pos="5629275" algn="l"/>
                <a:tab pos="6290310" algn="l"/>
                <a:tab pos="7697470" algn="l"/>
                <a:tab pos="8530590" algn="l"/>
                <a:tab pos="8944610" algn="l"/>
                <a:tab pos="9714230" algn="l"/>
              </a:tabLst>
            </a:pPr>
            <a:r>
              <a:rPr sz="2200" spc="-15" dirty="0">
                <a:latin typeface="Arial"/>
                <a:cs typeface="Arial"/>
              </a:rPr>
              <a:t>M</a:t>
            </a:r>
            <a:r>
              <a:rPr sz="2200" spc="-5" dirty="0">
                <a:latin typeface="Arial"/>
                <a:cs typeface="Arial"/>
              </a:rPr>
              <a:t>a</a:t>
            </a:r>
            <a:r>
              <a:rPr sz="2200" spc="5" dirty="0">
                <a:latin typeface="Arial"/>
                <a:cs typeface="Arial"/>
              </a:rPr>
              <a:t>n</a:t>
            </a:r>
            <a:r>
              <a:rPr sz="2200" dirty="0">
                <a:latin typeface="Arial"/>
                <a:cs typeface="Arial"/>
              </a:rPr>
              <a:t>y	</a:t>
            </a:r>
            <a:r>
              <a:rPr sz="2200" spc="5" dirty="0">
                <a:latin typeface="Arial"/>
                <a:cs typeface="Arial"/>
              </a:rPr>
              <a:t>f</a:t>
            </a:r>
            <a:r>
              <a:rPr sz="2200" spc="-5" dirty="0">
                <a:latin typeface="Arial"/>
                <a:cs typeface="Arial"/>
              </a:rPr>
              <a:t>acto</a:t>
            </a:r>
            <a:r>
              <a:rPr sz="2200" spc="5" dirty="0">
                <a:latin typeface="Arial"/>
                <a:cs typeface="Arial"/>
              </a:rPr>
              <a:t>r</a:t>
            </a:r>
            <a:r>
              <a:rPr sz="2200" spc="-5" dirty="0">
                <a:latin typeface="Arial"/>
                <a:cs typeface="Arial"/>
              </a:rPr>
              <a:t>s	cont</a:t>
            </a:r>
            <a:r>
              <a:rPr sz="2200" spc="5" dirty="0">
                <a:latin typeface="Arial"/>
                <a:cs typeface="Arial"/>
              </a:rPr>
              <a:t>r</a:t>
            </a:r>
            <a:r>
              <a:rPr sz="2200" dirty="0">
                <a:latin typeface="Arial"/>
                <a:cs typeface="Arial"/>
              </a:rPr>
              <a:t>i</a:t>
            </a:r>
            <a:r>
              <a:rPr sz="2200" spc="-5" dirty="0">
                <a:latin typeface="Arial"/>
                <a:cs typeface="Arial"/>
              </a:rPr>
              <a:t>bute</a:t>
            </a:r>
            <a:r>
              <a:rPr sz="2200" dirty="0">
                <a:latin typeface="Arial"/>
                <a:cs typeface="Arial"/>
              </a:rPr>
              <a:t>	</a:t>
            </a:r>
            <a:r>
              <a:rPr sz="2200" spc="5" dirty="0">
                <a:latin typeface="Arial"/>
                <a:cs typeface="Arial"/>
              </a:rPr>
              <a:t>t</a:t>
            </a:r>
            <a:r>
              <a:rPr sz="2200" dirty="0">
                <a:latin typeface="Arial"/>
                <a:cs typeface="Arial"/>
              </a:rPr>
              <a:t>o	</a:t>
            </a:r>
            <a:r>
              <a:rPr sz="2200" spc="5" dirty="0">
                <a:latin typeface="Arial"/>
                <a:cs typeface="Arial"/>
              </a:rPr>
              <a:t>t</a:t>
            </a:r>
            <a:r>
              <a:rPr sz="2200" spc="-15" dirty="0">
                <a:latin typeface="Arial"/>
                <a:cs typeface="Arial"/>
              </a:rPr>
              <a:t>i</a:t>
            </a:r>
            <a:r>
              <a:rPr sz="2200" dirty="0">
                <a:latin typeface="Arial"/>
                <a:cs typeface="Arial"/>
              </a:rPr>
              <a:t>m</a:t>
            </a:r>
            <a:r>
              <a:rPr sz="2200" spc="-5" dirty="0">
                <a:latin typeface="Arial"/>
                <a:cs typeface="Arial"/>
              </a:rPr>
              <a:t>e</a:t>
            </a:r>
            <a:r>
              <a:rPr sz="2200" dirty="0">
                <a:latin typeface="Arial"/>
                <a:cs typeface="Arial"/>
              </a:rPr>
              <a:t>	cost	-	</a:t>
            </a:r>
            <a:r>
              <a:rPr sz="2200" spc="-5" dirty="0">
                <a:latin typeface="Arial"/>
                <a:cs typeface="Arial"/>
              </a:rPr>
              <a:t>d</a:t>
            </a:r>
            <a:r>
              <a:rPr sz="2200" spc="-15" dirty="0">
                <a:latin typeface="Arial"/>
                <a:cs typeface="Arial"/>
              </a:rPr>
              <a:t>i</a:t>
            </a:r>
            <a:r>
              <a:rPr sz="2200" dirty="0">
                <a:latin typeface="Arial"/>
                <a:cs typeface="Arial"/>
              </a:rPr>
              <a:t>sk	</a:t>
            </a:r>
            <a:r>
              <a:rPr sz="2200" spc="-5" dirty="0">
                <a:latin typeface="Arial"/>
                <a:cs typeface="Arial"/>
              </a:rPr>
              <a:t>access</a:t>
            </a:r>
            <a:r>
              <a:rPr sz="2200" spc="-15" dirty="0">
                <a:latin typeface="Arial"/>
                <a:cs typeface="Arial"/>
              </a:rPr>
              <a:t>e</a:t>
            </a:r>
            <a:r>
              <a:rPr sz="2200" dirty="0">
                <a:latin typeface="Arial"/>
                <a:cs typeface="Arial"/>
              </a:rPr>
              <a:t>s,	C</a:t>
            </a:r>
            <a:r>
              <a:rPr sz="2200" spc="-10" dirty="0">
                <a:latin typeface="Arial"/>
                <a:cs typeface="Arial"/>
              </a:rPr>
              <a:t>P</a:t>
            </a:r>
            <a:r>
              <a:rPr sz="2200" spc="-15" dirty="0">
                <a:latin typeface="Arial"/>
                <a:cs typeface="Arial"/>
              </a:rPr>
              <a:t>U</a:t>
            </a:r>
            <a:r>
              <a:rPr sz="2200" dirty="0">
                <a:latin typeface="Arial"/>
                <a:cs typeface="Arial"/>
              </a:rPr>
              <a:t>,	</a:t>
            </a:r>
            <a:r>
              <a:rPr sz="2200" spc="-10" dirty="0">
                <a:latin typeface="Arial"/>
                <a:cs typeface="Arial"/>
              </a:rPr>
              <a:t>o</a:t>
            </a:r>
            <a:r>
              <a:rPr sz="2200" spc="-5" dirty="0">
                <a:latin typeface="Arial"/>
                <a:cs typeface="Arial"/>
              </a:rPr>
              <a:t>r</a:t>
            </a:r>
            <a:r>
              <a:rPr sz="2200" dirty="0">
                <a:latin typeface="Arial"/>
                <a:cs typeface="Arial"/>
              </a:rPr>
              <a:t>	</a:t>
            </a:r>
            <a:r>
              <a:rPr sz="2200" spc="-5" dirty="0">
                <a:latin typeface="Arial"/>
                <a:cs typeface="Arial"/>
              </a:rPr>
              <a:t>even</a:t>
            </a:r>
            <a:r>
              <a:rPr sz="2200" dirty="0">
                <a:latin typeface="Arial"/>
                <a:cs typeface="Arial"/>
              </a:rPr>
              <a:t>	ne</a:t>
            </a:r>
            <a:r>
              <a:rPr sz="2200" spc="15" dirty="0">
                <a:latin typeface="Arial"/>
                <a:cs typeface="Arial"/>
              </a:rPr>
              <a:t>t</a:t>
            </a:r>
            <a:r>
              <a:rPr sz="2200" spc="-35" dirty="0">
                <a:latin typeface="Arial"/>
                <a:cs typeface="Arial"/>
              </a:rPr>
              <a:t>w</a:t>
            </a:r>
            <a:r>
              <a:rPr sz="2200" spc="10" dirty="0">
                <a:latin typeface="Arial"/>
                <a:cs typeface="Arial"/>
              </a:rPr>
              <a:t>o</a:t>
            </a:r>
            <a:r>
              <a:rPr sz="2200" dirty="0">
                <a:latin typeface="Arial"/>
                <a:cs typeface="Arial"/>
              </a:rPr>
              <a:t>rk  </a:t>
            </a:r>
            <a:r>
              <a:rPr sz="2200" spc="-5" dirty="0">
                <a:latin typeface="Arial"/>
                <a:cs typeface="Arial"/>
              </a:rPr>
              <a:t>communication.</a:t>
            </a:r>
            <a:endParaRPr sz="2200">
              <a:latin typeface="Arial"/>
              <a:cs typeface="Arial"/>
            </a:endParaRPr>
          </a:p>
          <a:p>
            <a:pPr marL="355600" indent="-342900">
              <a:lnSpc>
                <a:spcPct val="100000"/>
              </a:lnSpc>
              <a:spcBef>
                <a:spcPts val="540"/>
              </a:spcBef>
              <a:buFont typeface="Wingdings"/>
              <a:buChar char=""/>
              <a:tabLst>
                <a:tab pos="355600" algn="l"/>
                <a:tab pos="1610360" algn="l"/>
                <a:tab pos="2278380" algn="l"/>
                <a:tab pos="3319779" algn="l"/>
                <a:tab pos="3691254" algn="l"/>
                <a:tab pos="4250055" algn="l"/>
                <a:tab pos="5974715" algn="l"/>
                <a:tab pos="6736715" algn="l"/>
                <a:tab pos="7372350" algn="l"/>
                <a:tab pos="7743190" algn="l"/>
                <a:tab pos="8426450" algn="l"/>
                <a:tab pos="9699625" algn="l"/>
                <a:tab pos="10459085" algn="l"/>
              </a:tabLst>
            </a:pPr>
            <a:r>
              <a:rPr sz="2200" spc="30" dirty="0">
                <a:latin typeface="Arial"/>
                <a:cs typeface="Arial"/>
              </a:rPr>
              <a:t>T</a:t>
            </a:r>
            <a:r>
              <a:rPr sz="2200" spc="-40" dirty="0">
                <a:latin typeface="Arial"/>
                <a:cs typeface="Arial"/>
              </a:rPr>
              <a:t>y</a:t>
            </a:r>
            <a:r>
              <a:rPr sz="2200" spc="-5" dirty="0">
                <a:latin typeface="Arial"/>
                <a:cs typeface="Arial"/>
              </a:rPr>
              <a:t>p</a:t>
            </a:r>
            <a:r>
              <a:rPr sz="2200" spc="-20" dirty="0">
                <a:latin typeface="Arial"/>
                <a:cs typeface="Arial"/>
              </a:rPr>
              <a:t>i</a:t>
            </a:r>
            <a:r>
              <a:rPr sz="2200" spc="-5" dirty="0">
                <a:latin typeface="Arial"/>
                <a:cs typeface="Arial"/>
              </a:rPr>
              <a:t>c</a:t>
            </a:r>
            <a:r>
              <a:rPr sz="2200" spc="10" dirty="0">
                <a:latin typeface="Arial"/>
                <a:cs typeface="Arial"/>
              </a:rPr>
              <a:t>a</a:t>
            </a:r>
            <a:r>
              <a:rPr sz="2200" spc="-15" dirty="0">
                <a:latin typeface="Arial"/>
                <a:cs typeface="Arial"/>
              </a:rPr>
              <a:t>l</a:t>
            </a:r>
            <a:r>
              <a:rPr sz="2200" dirty="0">
                <a:latin typeface="Arial"/>
                <a:cs typeface="Arial"/>
              </a:rPr>
              <a:t>ly	</a:t>
            </a:r>
            <a:r>
              <a:rPr sz="2200" spc="10" dirty="0">
                <a:latin typeface="Arial"/>
                <a:cs typeface="Arial"/>
              </a:rPr>
              <a:t>d</a:t>
            </a:r>
            <a:r>
              <a:rPr sz="2200" spc="-15" dirty="0">
                <a:latin typeface="Arial"/>
                <a:cs typeface="Arial"/>
              </a:rPr>
              <a:t>i</a:t>
            </a:r>
            <a:r>
              <a:rPr sz="2200" dirty="0">
                <a:latin typeface="Arial"/>
                <a:cs typeface="Arial"/>
              </a:rPr>
              <a:t>sk	</a:t>
            </a:r>
            <a:r>
              <a:rPr sz="2200" spc="-5" dirty="0">
                <a:latin typeface="Arial"/>
                <a:cs typeface="Arial"/>
              </a:rPr>
              <a:t>acc</a:t>
            </a:r>
            <a:r>
              <a:rPr sz="2200" spc="5" dirty="0">
                <a:latin typeface="Arial"/>
                <a:cs typeface="Arial"/>
              </a:rPr>
              <a:t>e</a:t>
            </a:r>
            <a:r>
              <a:rPr sz="2200" dirty="0">
                <a:latin typeface="Arial"/>
                <a:cs typeface="Arial"/>
              </a:rPr>
              <a:t>ss	</a:t>
            </a:r>
            <a:r>
              <a:rPr sz="2200" spc="-15" dirty="0">
                <a:latin typeface="Arial"/>
                <a:cs typeface="Arial"/>
              </a:rPr>
              <a:t>i</a:t>
            </a:r>
            <a:r>
              <a:rPr sz="2200" spc="-5" dirty="0">
                <a:latin typeface="Arial"/>
                <a:cs typeface="Arial"/>
              </a:rPr>
              <a:t>s</a:t>
            </a:r>
            <a:r>
              <a:rPr sz="2200" dirty="0">
                <a:latin typeface="Arial"/>
                <a:cs typeface="Arial"/>
              </a:rPr>
              <a:t>	</a:t>
            </a:r>
            <a:r>
              <a:rPr sz="2200" spc="5" dirty="0">
                <a:latin typeface="Arial"/>
                <a:cs typeface="Arial"/>
              </a:rPr>
              <a:t>t</a:t>
            </a:r>
            <a:r>
              <a:rPr sz="2200" spc="-5" dirty="0">
                <a:latin typeface="Arial"/>
                <a:cs typeface="Arial"/>
              </a:rPr>
              <a:t>he</a:t>
            </a:r>
            <a:r>
              <a:rPr sz="2200" dirty="0">
                <a:latin typeface="Arial"/>
                <a:cs typeface="Arial"/>
              </a:rPr>
              <a:t>	</a:t>
            </a:r>
            <a:r>
              <a:rPr sz="2200" spc="-5" dirty="0">
                <a:latin typeface="Arial"/>
                <a:cs typeface="Arial"/>
              </a:rPr>
              <a:t>predo</a:t>
            </a:r>
            <a:r>
              <a:rPr sz="2200" dirty="0">
                <a:latin typeface="Arial"/>
                <a:cs typeface="Arial"/>
              </a:rPr>
              <a:t>m</a:t>
            </a:r>
            <a:r>
              <a:rPr sz="2200" spc="-15" dirty="0">
                <a:latin typeface="Arial"/>
                <a:cs typeface="Arial"/>
              </a:rPr>
              <a:t>i</a:t>
            </a:r>
            <a:r>
              <a:rPr sz="2200" spc="10" dirty="0">
                <a:latin typeface="Arial"/>
                <a:cs typeface="Arial"/>
              </a:rPr>
              <a:t>n</a:t>
            </a:r>
            <a:r>
              <a:rPr sz="2200" spc="-5" dirty="0">
                <a:latin typeface="Arial"/>
                <a:cs typeface="Arial"/>
              </a:rPr>
              <a:t>ant</a:t>
            </a:r>
            <a:r>
              <a:rPr sz="2200" dirty="0">
                <a:latin typeface="Arial"/>
                <a:cs typeface="Arial"/>
              </a:rPr>
              <a:t>	cost,	</a:t>
            </a:r>
            <a:r>
              <a:rPr sz="2200" spc="-10" dirty="0">
                <a:latin typeface="Arial"/>
                <a:cs typeface="Arial"/>
              </a:rPr>
              <a:t>an</a:t>
            </a:r>
            <a:r>
              <a:rPr sz="2200" spc="-5" dirty="0">
                <a:latin typeface="Arial"/>
                <a:cs typeface="Arial"/>
              </a:rPr>
              <a:t>d</a:t>
            </a:r>
            <a:r>
              <a:rPr sz="2200" dirty="0">
                <a:latin typeface="Arial"/>
                <a:cs typeface="Arial"/>
              </a:rPr>
              <a:t>	</a:t>
            </a:r>
            <a:r>
              <a:rPr sz="2200" spc="-15" dirty="0">
                <a:latin typeface="Arial"/>
                <a:cs typeface="Arial"/>
              </a:rPr>
              <a:t>i</a:t>
            </a:r>
            <a:r>
              <a:rPr sz="2200" spc="-5" dirty="0">
                <a:latin typeface="Arial"/>
                <a:cs typeface="Arial"/>
              </a:rPr>
              <a:t>s</a:t>
            </a:r>
            <a:r>
              <a:rPr sz="2200" dirty="0">
                <a:latin typeface="Arial"/>
                <a:cs typeface="Arial"/>
              </a:rPr>
              <a:t>	</a:t>
            </a:r>
            <a:r>
              <a:rPr sz="2200" spc="-5" dirty="0">
                <a:latin typeface="Arial"/>
                <a:cs typeface="Arial"/>
              </a:rPr>
              <a:t>a</a:t>
            </a:r>
            <a:r>
              <a:rPr sz="2200" dirty="0">
                <a:latin typeface="Arial"/>
                <a:cs typeface="Arial"/>
              </a:rPr>
              <a:t>l</a:t>
            </a:r>
            <a:r>
              <a:rPr sz="2200" spc="-5" dirty="0">
                <a:latin typeface="Arial"/>
                <a:cs typeface="Arial"/>
              </a:rPr>
              <a:t>so</a:t>
            </a:r>
            <a:r>
              <a:rPr sz="2200" dirty="0">
                <a:latin typeface="Arial"/>
                <a:cs typeface="Arial"/>
              </a:rPr>
              <a:t>	r</a:t>
            </a:r>
            <a:r>
              <a:rPr sz="2200" spc="-5" dirty="0">
                <a:latin typeface="Arial"/>
                <a:cs typeface="Arial"/>
              </a:rPr>
              <a:t>e</a:t>
            </a:r>
            <a:r>
              <a:rPr sz="2200" spc="-20" dirty="0">
                <a:latin typeface="Arial"/>
                <a:cs typeface="Arial"/>
              </a:rPr>
              <a:t>l</a:t>
            </a:r>
            <a:r>
              <a:rPr sz="2200" spc="-5" dirty="0">
                <a:latin typeface="Arial"/>
                <a:cs typeface="Arial"/>
              </a:rPr>
              <a:t>atively</a:t>
            </a:r>
            <a:r>
              <a:rPr sz="2200" dirty="0">
                <a:latin typeface="Arial"/>
                <a:cs typeface="Arial"/>
              </a:rPr>
              <a:t>	</a:t>
            </a:r>
            <a:r>
              <a:rPr sz="2200" spc="-5" dirty="0">
                <a:latin typeface="Arial"/>
                <a:cs typeface="Arial"/>
              </a:rPr>
              <a:t>ea</a:t>
            </a:r>
            <a:r>
              <a:rPr sz="2200" spc="5" dirty="0">
                <a:latin typeface="Arial"/>
                <a:cs typeface="Arial"/>
              </a:rPr>
              <a:t>s</a:t>
            </a:r>
            <a:r>
              <a:rPr sz="2200" dirty="0">
                <a:latin typeface="Arial"/>
                <a:cs typeface="Arial"/>
              </a:rPr>
              <a:t>y	</a:t>
            </a:r>
            <a:r>
              <a:rPr sz="2200" spc="5" dirty="0">
                <a:latin typeface="Arial"/>
                <a:cs typeface="Arial"/>
              </a:rPr>
              <a:t>to</a:t>
            </a:r>
            <a:endParaRPr sz="2200">
              <a:latin typeface="Arial"/>
              <a:cs typeface="Arial"/>
            </a:endParaRPr>
          </a:p>
          <a:p>
            <a:pPr marL="354965">
              <a:lnSpc>
                <a:spcPct val="100000"/>
              </a:lnSpc>
            </a:pPr>
            <a:r>
              <a:rPr sz="2200" dirty="0">
                <a:latin typeface="Arial"/>
                <a:cs typeface="Arial"/>
              </a:rPr>
              <a:t>estimate.</a:t>
            </a:r>
            <a:endParaRPr sz="2200">
              <a:latin typeface="Arial"/>
              <a:cs typeface="Arial"/>
            </a:endParaRPr>
          </a:p>
          <a:p>
            <a:pPr marL="355600" indent="-342900">
              <a:lnSpc>
                <a:spcPct val="100000"/>
              </a:lnSpc>
              <a:spcBef>
                <a:spcPts val="525"/>
              </a:spcBef>
              <a:buFont typeface="Wingdings"/>
              <a:buChar char=""/>
              <a:tabLst>
                <a:tab pos="355600" algn="l"/>
              </a:tabLst>
            </a:pPr>
            <a:r>
              <a:rPr sz="2200" spc="-5" dirty="0">
                <a:latin typeface="Arial"/>
                <a:cs typeface="Arial"/>
              </a:rPr>
              <a:t>Measured</a:t>
            </a:r>
            <a:r>
              <a:rPr sz="2200" spc="40" dirty="0">
                <a:latin typeface="Arial"/>
                <a:cs typeface="Arial"/>
              </a:rPr>
              <a:t> </a:t>
            </a:r>
            <a:r>
              <a:rPr sz="2200" spc="-5" dirty="0">
                <a:latin typeface="Arial"/>
                <a:cs typeface="Arial"/>
              </a:rPr>
              <a:t>by</a:t>
            </a:r>
            <a:r>
              <a:rPr sz="2200" dirty="0">
                <a:latin typeface="Arial"/>
                <a:cs typeface="Arial"/>
              </a:rPr>
              <a:t> </a:t>
            </a:r>
            <a:r>
              <a:rPr sz="2200" spc="-5" dirty="0">
                <a:latin typeface="Arial"/>
                <a:cs typeface="Arial"/>
              </a:rPr>
              <a:t>taking into account</a:t>
            </a:r>
            <a:r>
              <a:rPr sz="2200" spc="15" dirty="0">
                <a:latin typeface="Arial"/>
                <a:cs typeface="Arial"/>
              </a:rPr>
              <a:t> </a:t>
            </a:r>
            <a:r>
              <a:rPr sz="2200" dirty="0">
                <a:latin typeface="Arial"/>
                <a:cs typeface="Arial"/>
              </a:rPr>
              <a:t>–</a:t>
            </a:r>
            <a:endParaRPr sz="2200">
              <a:latin typeface="Arial"/>
              <a:cs typeface="Arial"/>
            </a:endParaRPr>
          </a:p>
          <a:p>
            <a:pPr marL="756285" lvl="1" indent="-287655">
              <a:lnSpc>
                <a:spcPct val="100000"/>
              </a:lnSpc>
              <a:spcBef>
                <a:spcPts val="480"/>
              </a:spcBef>
              <a:buChar char="–"/>
              <a:tabLst>
                <a:tab pos="756285" algn="l"/>
                <a:tab pos="756920" algn="l"/>
              </a:tabLst>
            </a:pPr>
            <a:r>
              <a:rPr sz="2000" dirty="0">
                <a:latin typeface="Arial"/>
                <a:cs typeface="Arial"/>
              </a:rPr>
              <a:t>Number</a:t>
            </a:r>
            <a:r>
              <a:rPr sz="2000" spc="-55" dirty="0">
                <a:latin typeface="Arial"/>
                <a:cs typeface="Arial"/>
              </a:rPr>
              <a:t> </a:t>
            </a:r>
            <a:r>
              <a:rPr sz="2000" dirty="0">
                <a:latin typeface="Arial"/>
                <a:cs typeface="Arial"/>
              </a:rPr>
              <a:t>of</a:t>
            </a:r>
            <a:r>
              <a:rPr sz="2000" spc="-35" dirty="0">
                <a:latin typeface="Arial"/>
                <a:cs typeface="Arial"/>
              </a:rPr>
              <a:t> </a:t>
            </a:r>
            <a:r>
              <a:rPr sz="2000" dirty="0">
                <a:latin typeface="Arial"/>
                <a:cs typeface="Arial"/>
              </a:rPr>
              <a:t>seeks</a:t>
            </a:r>
            <a:endParaRPr sz="2000">
              <a:latin typeface="Arial"/>
              <a:cs typeface="Arial"/>
            </a:endParaRPr>
          </a:p>
          <a:p>
            <a:pPr marL="756285" lvl="1" indent="-287655">
              <a:lnSpc>
                <a:spcPct val="100000"/>
              </a:lnSpc>
              <a:spcBef>
                <a:spcPts val="480"/>
              </a:spcBef>
              <a:buChar char="–"/>
              <a:tabLst>
                <a:tab pos="756285" algn="l"/>
                <a:tab pos="756920" algn="l"/>
              </a:tabLst>
            </a:pPr>
            <a:r>
              <a:rPr sz="2000" dirty="0">
                <a:latin typeface="Arial"/>
                <a:cs typeface="Arial"/>
              </a:rPr>
              <a:t>Number</a:t>
            </a:r>
            <a:r>
              <a:rPr sz="2000" spc="-50" dirty="0">
                <a:latin typeface="Arial"/>
                <a:cs typeface="Arial"/>
              </a:rPr>
              <a:t> </a:t>
            </a:r>
            <a:r>
              <a:rPr sz="2000" dirty="0">
                <a:latin typeface="Arial"/>
                <a:cs typeface="Arial"/>
              </a:rPr>
              <a:t>of</a:t>
            </a:r>
            <a:r>
              <a:rPr sz="2000" spc="-30" dirty="0">
                <a:latin typeface="Arial"/>
                <a:cs typeface="Arial"/>
              </a:rPr>
              <a:t> </a:t>
            </a:r>
            <a:r>
              <a:rPr sz="2000" dirty="0">
                <a:latin typeface="Arial"/>
                <a:cs typeface="Arial"/>
              </a:rPr>
              <a:t>blocks</a:t>
            </a:r>
            <a:r>
              <a:rPr sz="2000" spc="-25" dirty="0">
                <a:latin typeface="Arial"/>
                <a:cs typeface="Arial"/>
              </a:rPr>
              <a:t> </a:t>
            </a:r>
            <a:r>
              <a:rPr sz="2000" dirty="0">
                <a:latin typeface="Arial"/>
                <a:cs typeface="Arial"/>
              </a:rPr>
              <a:t>read</a:t>
            </a:r>
            <a:endParaRPr sz="2000">
              <a:latin typeface="Arial"/>
              <a:cs typeface="Arial"/>
            </a:endParaRPr>
          </a:p>
          <a:p>
            <a:pPr marL="756285" lvl="1" indent="-287655">
              <a:lnSpc>
                <a:spcPct val="100000"/>
              </a:lnSpc>
              <a:spcBef>
                <a:spcPts val="480"/>
              </a:spcBef>
              <a:buChar char="–"/>
              <a:tabLst>
                <a:tab pos="756285" algn="l"/>
                <a:tab pos="756920" algn="l"/>
              </a:tabLst>
            </a:pPr>
            <a:r>
              <a:rPr sz="2000" dirty="0">
                <a:latin typeface="Arial"/>
                <a:cs typeface="Arial"/>
              </a:rPr>
              <a:t>Number</a:t>
            </a:r>
            <a:r>
              <a:rPr sz="2000" spc="-50" dirty="0">
                <a:latin typeface="Arial"/>
                <a:cs typeface="Arial"/>
              </a:rPr>
              <a:t> </a:t>
            </a:r>
            <a:r>
              <a:rPr sz="2000" dirty="0">
                <a:latin typeface="Arial"/>
                <a:cs typeface="Arial"/>
              </a:rPr>
              <a:t>of</a:t>
            </a:r>
            <a:r>
              <a:rPr sz="2000" spc="-25" dirty="0">
                <a:latin typeface="Arial"/>
                <a:cs typeface="Arial"/>
              </a:rPr>
              <a:t> </a:t>
            </a:r>
            <a:r>
              <a:rPr sz="2000" dirty="0">
                <a:latin typeface="Arial"/>
                <a:cs typeface="Arial"/>
              </a:rPr>
              <a:t>blocks</a:t>
            </a:r>
            <a:r>
              <a:rPr sz="2000" spc="-30" dirty="0">
                <a:latin typeface="Arial"/>
                <a:cs typeface="Arial"/>
              </a:rPr>
              <a:t> </a:t>
            </a:r>
            <a:r>
              <a:rPr sz="2000" spc="-5" dirty="0">
                <a:latin typeface="Arial"/>
                <a:cs typeface="Arial"/>
              </a:rPr>
              <a:t>written</a:t>
            </a:r>
            <a:endParaRPr sz="2000">
              <a:latin typeface="Arial"/>
              <a:cs typeface="Arial"/>
            </a:endParaRPr>
          </a:p>
          <a:p>
            <a:pPr lvl="1">
              <a:lnSpc>
                <a:spcPct val="100000"/>
              </a:lnSpc>
              <a:spcBef>
                <a:spcPts val="30"/>
              </a:spcBef>
              <a:buFont typeface="Arial"/>
              <a:buChar char="–"/>
            </a:pPr>
            <a:endParaRPr sz="2950">
              <a:latin typeface="Arial"/>
              <a:cs typeface="Arial"/>
            </a:endParaRPr>
          </a:p>
          <a:p>
            <a:pPr marL="354965" marR="6350" indent="-342900">
              <a:lnSpc>
                <a:spcPct val="100000"/>
              </a:lnSpc>
              <a:spcBef>
                <a:spcPts val="5"/>
              </a:spcBef>
              <a:buFont typeface="Wingdings"/>
              <a:buChar char=""/>
              <a:tabLst>
                <a:tab pos="355600" algn="l"/>
              </a:tabLst>
            </a:pPr>
            <a:r>
              <a:rPr sz="2200" spc="-5" dirty="0">
                <a:latin typeface="Arial"/>
                <a:cs typeface="Arial"/>
              </a:rPr>
              <a:t>Cost</a:t>
            </a:r>
            <a:r>
              <a:rPr sz="2200" spc="175" dirty="0">
                <a:latin typeface="Arial"/>
                <a:cs typeface="Arial"/>
              </a:rPr>
              <a:t> </a:t>
            </a:r>
            <a:r>
              <a:rPr sz="2200" dirty="0">
                <a:latin typeface="Arial"/>
                <a:cs typeface="Arial"/>
              </a:rPr>
              <a:t>to</a:t>
            </a:r>
            <a:r>
              <a:rPr sz="2200" spc="190" dirty="0">
                <a:latin typeface="Arial"/>
                <a:cs typeface="Arial"/>
              </a:rPr>
              <a:t> </a:t>
            </a:r>
            <a:r>
              <a:rPr sz="2200" spc="-10" dirty="0">
                <a:latin typeface="Arial"/>
                <a:cs typeface="Arial"/>
              </a:rPr>
              <a:t>write</a:t>
            </a:r>
            <a:r>
              <a:rPr sz="2200" spc="170" dirty="0">
                <a:latin typeface="Arial"/>
                <a:cs typeface="Arial"/>
              </a:rPr>
              <a:t> </a:t>
            </a:r>
            <a:r>
              <a:rPr sz="2200" spc="-5" dirty="0">
                <a:latin typeface="Arial"/>
                <a:cs typeface="Arial"/>
              </a:rPr>
              <a:t>a</a:t>
            </a:r>
            <a:r>
              <a:rPr sz="2200" spc="170" dirty="0">
                <a:latin typeface="Arial"/>
                <a:cs typeface="Arial"/>
              </a:rPr>
              <a:t> </a:t>
            </a:r>
            <a:r>
              <a:rPr sz="2200" spc="-5" dirty="0">
                <a:latin typeface="Arial"/>
                <a:cs typeface="Arial"/>
              </a:rPr>
              <a:t>block</a:t>
            </a:r>
            <a:r>
              <a:rPr sz="2200" spc="190" dirty="0">
                <a:latin typeface="Arial"/>
                <a:cs typeface="Arial"/>
              </a:rPr>
              <a:t> </a:t>
            </a:r>
            <a:r>
              <a:rPr sz="2200" spc="-10" dirty="0">
                <a:latin typeface="Arial"/>
                <a:cs typeface="Arial"/>
              </a:rPr>
              <a:t>is</a:t>
            </a:r>
            <a:r>
              <a:rPr sz="2200" spc="170" dirty="0">
                <a:latin typeface="Arial"/>
                <a:cs typeface="Arial"/>
              </a:rPr>
              <a:t> </a:t>
            </a:r>
            <a:r>
              <a:rPr sz="2200" spc="-5" dirty="0">
                <a:latin typeface="Arial"/>
                <a:cs typeface="Arial"/>
              </a:rPr>
              <a:t>greater</a:t>
            </a:r>
            <a:r>
              <a:rPr sz="2200" spc="180" dirty="0">
                <a:latin typeface="Arial"/>
                <a:cs typeface="Arial"/>
              </a:rPr>
              <a:t> </a:t>
            </a:r>
            <a:r>
              <a:rPr sz="2200" dirty="0">
                <a:latin typeface="Arial"/>
                <a:cs typeface="Arial"/>
              </a:rPr>
              <a:t>than</a:t>
            </a:r>
            <a:r>
              <a:rPr sz="2200" spc="165" dirty="0">
                <a:latin typeface="Arial"/>
                <a:cs typeface="Arial"/>
              </a:rPr>
              <a:t> </a:t>
            </a:r>
            <a:r>
              <a:rPr sz="2200" dirty="0">
                <a:latin typeface="Arial"/>
                <a:cs typeface="Arial"/>
              </a:rPr>
              <a:t>cost</a:t>
            </a:r>
            <a:r>
              <a:rPr sz="2200" spc="175" dirty="0">
                <a:latin typeface="Arial"/>
                <a:cs typeface="Arial"/>
              </a:rPr>
              <a:t> </a:t>
            </a:r>
            <a:r>
              <a:rPr sz="2200" dirty="0">
                <a:latin typeface="Arial"/>
                <a:cs typeface="Arial"/>
              </a:rPr>
              <a:t>to</a:t>
            </a:r>
            <a:r>
              <a:rPr sz="2200" spc="170" dirty="0">
                <a:latin typeface="Arial"/>
                <a:cs typeface="Arial"/>
              </a:rPr>
              <a:t> </a:t>
            </a:r>
            <a:r>
              <a:rPr sz="2200" spc="-5" dirty="0">
                <a:latin typeface="Arial"/>
                <a:cs typeface="Arial"/>
              </a:rPr>
              <a:t>read</a:t>
            </a:r>
            <a:r>
              <a:rPr sz="2200" spc="165" dirty="0">
                <a:latin typeface="Arial"/>
                <a:cs typeface="Arial"/>
              </a:rPr>
              <a:t> </a:t>
            </a:r>
            <a:r>
              <a:rPr sz="2200" spc="-5" dirty="0">
                <a:latin typeface="Arial"/>
                <a:cs typeface="Arial"/>
              </a:rPr>
              <a:t>a</a:t>
            </a:r>
            <a:r>
              <a:rPr sz="2200" spc="170" dirty="0">
                <a:latin typeface="Arial"/>
                <a:cs typeface="Arial"/>
              </a:rPr>
              <a:t> </a:t>
            </a:r>
            <a:r>
              <a:rPr sz="2200" spc="-5" dirty="0">
                <a:latin typeface="Arial"/>
                <a:cs typeface="Arial"/>
              </a:rPr>
              <a:t>block</a:t>
            </a:r>
            <a:r>
              <a:rPr sz="2200" spc="170" dirty="0">
                <a:latin typeface="Arial"/>
                <a:cs typeface="Arial"/>
              </a:rPr>
              <a:t> </a:t>
            </a:r>
            <a:r>
              <a:rPr sz="2200" dirty="0">
                <a:latin typeface="Arial"/>
                <a:cs typeface="Arial"/>
              </a:rPr>
              <a:t>–</a:t>
            </a:r>
            <a:r>
              <a:rPr sz="2200" spc="170" dirty="0">
                <a:latin typeface="Arial"/>
                <a:cs typeface="Arial"/>
              </a:rPr>
              <a:t> </a:t>
            </a:r>
            <a:r>
              <a:rPr sz="2200" spc="-5" dirty="0">
                <a:latin typeface="Arial"/>
                <a:cs typeface="Arial"/>
              </a:rPr>
              <a:t>data</a:t>
            </a:r>
            <a:r>
              <a:rPr sz="2200" spc="170" dirty="0">
                <a:latin typeface="Arial"/>
                <a:cs typeface="Arial"/>
              </a:rPr>
              <a:t> </a:t>
            </a:r>
            <a:r>
              <a:rPr sz="2200" spc="-10" dirty="0">
                <a:latin typeface="Arial"/>
                <a:cs typeface="Arial"/>
              </a:rPr>
              <a:t>is</a:t>
            </a:r>
            <a:r>
              <a:rPr sz="2200" spc="175" dirty="0">
                <a:latin typeface="Arial"/>
                <a:cs typeface="Arial"/>
              </a:rPr>
              <a:t> </a:t>
            </a:r>
            <a:r>
              <a:rPr sz="2200" spc="-5" dirty="0">
                <a:latin typeface="Arial"/>
                <a:cs typeface="Arial"/>
              </a:rPr>
              <a:t>read</a:t>
            </a:r>
            <a:r>
              <a:rPr sz="2200" spc="165" dirty="0">
                <a:latin typeface="Arial"/>
                <a:cs typeface="Arial"/>
              </a:rPr>
              <a:t> </a:t>
            </a:r>
            <a:r>
              <a:rPr sz="2200" spc="-5" dirty="0">
                <a:latin typeface="Arial"/>
                <a:cs typeface="Arial"/>
              </a:rPr>
              <a:t>back</a:t>
            </a:r>
            <a:r>
              <a:rPr sz="2200" spc="170" dirty="0">
                <a:latin typeface="Arial"/>
                <a:cs typeface="Arial"/>
              </a:rPr>
              <a:t> </a:t>
            </a:r>
            <a:r>
              <a:rPr sz="2200" dirty="0">
                <a:latin typeface="Arial"/>
                <a:cs typeface="Arial"/>
              </a:rPr>
              <a:t>after </a:t>
            </a:r>
            <a:r>
              <a:rPr sz="2200" spc="-600" dirty="0">
                <a:latin typeface="Arial"/>
                <a:cs typeface="Arial"/>
              </a:rPr>
              <a:t> </a:t>
            </a:r>
            <a:r>
              <a:rPr sz="2200" spc="-5" dirty="0">
                <a:latin typeface="Arial"/>
                <a:cs typeface="Arial"/>
              </a:rPr>
              <a:t>being</a:t>
            </a:r>
            <a:r>
              <a:rPr sz="2200" spc="20" dirty="0">
                <a:latin typeface="Arial"/>
                <a:cs typeface="Arial"/>
              </a:rPr>
              <a:t> </a:t>
            </a:r>
            <a:r>
              <a:rPr sz="2200" spc="-10" dirty="0">
                <a:latin typeface="Arial"/>
                <a:cs typeface="Arial"/>
              </a:rPr>
              <a:t>written</a:t>
            </a:r>
            <a:r>
              <a:rPr sz="2200" spc="50" dirty="0">
                <a:latin typeface="Arial"/>
                <a:cs typeface="Arial"/>
              </a:rPr>
              <a:t> </a:t>
            </a:r>
            <a:r>
              <a:rPr sz="2200" dirty="0">
                <a:latin typeface="Arial"/>
                <a:cs typeface="Arial"/>
              </a:rPr>
              <a:t>to</a:t>
            </a:r>
            <a:r>
              <a:rPr sz="2200" spc="5" dirty="0">
                <a:latin typeface="Arial"/>
                <a:cs typeface="Arial"/>
              </a:rPr>
              <a:t> </a:t>
            </a:r>
            <a:r>
              <a:rPr sz="2200" spc="-5" dirty="0">
                <a:latin typeface="Arial"/>
                <a:cs typeface="Arial"/>
              </a:rPr>
              <a:t>ensure</a:t>
            </a:r>
            <a:r>
              <a:rPr sz="2200" spc="5" dirty="0">
                <a:latin typeface="Arial"/>
                <a:cs typeface="Arial"/>
              </a:rPr>
              <a:t> </a:t>
            </a:r>
            <a:r>
              <a:rPr sz="2200" dirty="0">
                <a:latin typeface="Arial"/>
                <a:cs typeface="Arial"/>
              </a:rPr>
              <a:t>that</a:t>
            </a:r>
            <a:r>
              <a:rPr sz="2200" spc="-10" dirty="0">
                <a:latin typeface="Arial"/>
                <a:cs typeface="Arial"/>
              </a:rPr>
              <a:t> </a:t>
            </a:r>
            <a:r>
              <a:rPr sz="2200" dirty="0">
                <a:latin typeface="Arial"/>
                <a:cs typeface="Arial"/>
              </a:rPr>
              <a:t>the</a:t>
            </a:r>
            <a:r>
              <a:rPr sz="2200" spc="5" dirty="0">
                <a:latin typeface="Arial"/>
                <a:cs typeface="Arial"/>
              </a:rPr>
              <a:t> </a:t>
            </a:r>
            <a:r>
              <a:rPr sz="2200" spc="-10" dirty="0">
                <a:latin typeface="Arial"/>
                <a:cs typeface="Arial"/>
              </a:rPr>
              <a:t>write</a:t>
            </a:r>
            <a:r>
              <a:rPr sz="2200" spc="45" dirty="0">
                <a:latin typeface="Arial"/>
                <a:cs typeface="Arial"/>
              </a:rPr>
              <a:t> </a:t>
            </a:r>
            <a:r>
              <a:rPr sz="2200" spc="-20" dirty="0">
                <a:latin typeface="Arial"/>
                <a:cs typeface="Arial"/>
              </a:rPr>
              <a:t>was</a:t>
            </a:r>
            <a:r>
              <a:rPr sz="2200" spc="65" dirty="0">
                <a:latin typeface="Arial"/>
                <a:cs typeface="Arial"/>
              </a:rPr>
              <a:t> </a:t>
            </a:r>
            <a:r>
              <a:rPr sz="2200" spc="-5" dirty="0">
                <a:latin typeface="Arial"/>
                <a:cs typeface="Arial"/>
              </a:rPr>
              <a:t>successful.</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4</a:t>
            </a:fld>
            <a:endParaRPr spc="-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633476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Measuring</a:t>
            </a:r>
            <a:r>
              <a:rPr sz="3600" spc="-60" dirty="0">
                <a:solidFill>
                  <a:srgbClr val="000000"/>
                </a:solidFill>
                <a:latin typeface="Verdana"/>
                <a:cs typeface="Verdana"/>
              </a:rPr>
              <a:t> </a:t>
            </a:r>
            <a:r>
              <a:rPr sz="3600" dirty="0">
                <a:solidFill>
                  <a:srgbClr val="000000"/>
                </a:solidFill>
                <a:latin typeface="Verdana"/>
                <a:cs typeface="Verdana"/>
              </a:rPr>
              <a:t>of</a:t>
            </a:r>
            <a:r>
              <a:rPr sz="3600" spc="-20" dirty="0">
                <a:solidFill>
                  <a:srgbClr val="000000"/>
                </a:solidFill>
                <a:latin typeface="Verdana"/>
                <a:cs typeface="Verdana"/>
              </a:rPr>
              <a:t> </a:t>
            </a:r>
            <a:r>
              <a:rPr sz="3600" spc="-5" dirty="0">
                <a:solidFill>
                  <a:srgbClr val="000000"/>
                </a:solidFill>
                <a:latin typeface="Verdana"/>
                <a:cs typeface="Verdana"/>
              </a:rPr>
              <a:t>Query</a:t>
            </a:r>
            <a:r>
              <a:rPr sz="3600" spc="-50" dirty="0">
                <a:solidFill>
                  <a:srgbClr val="000000"/>
                </a:solidFill>
                <a:latin typeface="Verdana"/>
                <a:cs typeface="Verdana"/>
              </a:rPr>
              <a:t> </a:t>
            </a:r>
            <a:r>
              <a:rPr sz="3600" dirty="0">
                <a:solidFill>
                  <a:srgbClr val="000000"/>
                </a:solidFill>
                <a:latin typeface="Verdana"/>
                <a:cs typeface="Verdana"/>
              </a:rPr>
              <a:t>Cost</a:t>
            </a:r>
            <a:endParaRPr sz="3600">
              <a:latin typeface="Verdana"/>
              <a:cs typeface="Verdana"/>
            </a:endParaRPr>
          </a:p>
        </p:txBody>
      </p:sp>
      <p:sp>
        <p:nvSpPr>
          <p:cNvPr id="3" name="object 3"/>
          <p:cNvSpPr/>
          <p:nvPr/>
        </p:nvSpPr>
        <p:spPr>
          <a:xfrm>
            <a:off x="0" y="7376160"/>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10710545" cy="4518025"/>
          </a:xfrm>
          <a:prstGeom prst="rect">
            <a:avLst/>
          </a:prstGeom>
        </p:spPr>
        <p:txBody>
          <a:bodyPr vert="horz" wrap="square" lIns="0" tIns="78740" rIns="0" bIns="0" rtlCol="0">
            <a:spAutoFit/>
          </a:bodyPr>
          <a:lstStyle/>
          <a:p>
            <a:pPr marL="355600" indent="-342900">
              <a:lnSpc>
                <a:spcPct val="100000"/>
              </a:lnSpc>
              <a:spcBef>
                <a:spcPts val="620"/>
              </a:spcBef>
              <a:buFont typeface="Wingdings"/>
              <a:buChar char=""/>
              <a:tabLst>
                <a:tab pos="355600" algn="l"/>
              </a:tabLst>
            </a:pPr>
            <a:r>
              <a:rPr sz="2200" spc="-5" dirty="0">
                <a:latin typeface="Arial"/>
                <a:cs typeface="Arial"/>
              </a:rPr>
              <a:t>For</a:t>
            </a:r>
            <a:r>
              <a:rPr sz="2200" spc="15" dirty="0">
                <a:latin typeface="Arial"/>
                <a:cs typeface="Arial"/>
              </a:rPr>
              <a:t> </a:t>
            </a:r>
            <a:r>
              <a:rPr sz="2200" spc="-5" dirty="0">
                <a:latin typeface="Arial"/>
                <a:cs typeface="Arial"/>
              </a:rPr>
              <a:t>simplicity</a:t>
            </a:r>
            <a:r>
              <a:rPr sz="2200" spc="40" dirty="0">
                <a:latin typeface="Arial"/>
                <a:cs typeface="Arial"/>
              </a:rPr>
              <a:t> </a:t>
            </a:r>
            <a:r>
              <a:rPr sz="2200" spc="-30" dirty="0">
                <a:latin typeface="Arial"/>
                <a:cs typeface="Arial"/>
              </a:rPr>
              <a:t>we</a:t>
            </a:r>
            <a:r>
              <a:rPr sz="2200" spc="45" dirty="0">
                <a:latin typeface="Arial"/>
                <a:cs typeface="Arial"/>
              </a:rPr>
              <a:t> </a:t>
            </a:r>
            <a:r>
              <a:rPr sz="2200" spc="-5" dirty="0">
                <a:latin typeface="Arial"/>
                <a:cs typeface="Arial"/>
              </a:rPr>
              <a:t>just</a:t>
            </a:r>
            <a:r>
              <a:rPr sz="2200" spc="20" dirty="0">
                <a:latin typeface="Arial"/>
                <a:cs typeface="Arial"/>
              </a:rPr>
              <a:t> </a:t>
            </a:r>
            <a:r>
              <a:rPr sz="2200" spc="-5" dirty="0">
                <a:latin typeface="Arial"/>
                <a:cs typeface="Arial"/>
              </a:rPr>
              <a:t>use</a:t>
            </a:r>
            <a:r>
              <a:rPr sz="2200" spc="5" dirty="0">
                <a:latin typeface="Arial"/>
                <a:cs typeface="Arial"/>
              </a:rPr>
              <a:t> </a:t>
            </a:r>
            <a:r>
              <a:rPr sz="2200" spc="-5" dirty="0">
                <a:latin typeface="Arial"/>
                <a:cs typeface="Arial"/>
              </a:rPr>
              <a:t>number</a:t>
            </a:r>
            <a:r>
              <a:rPr sz="2200" spc="30" dirty="0">
                <a:latin typeface="Arial"/>
                <a:cs typeface="Arial"/>
              </a:rPr>
              <a:t> </a:t>
            </a:r>
            <a:r>
              <a:rPr sz="2200" spc="-5" dirty="0">
                <a:latin typeface="Arial"/>
                <a:cs typeface="Arial"/>
              </a:rPr>
              <a:t>of</a:t>
            </a:r>
            <a:r>
              <a:rPr sz="2200" dirty="0">
                <a:latin typeface="Arial"/>
                <a:cs typeface="Arial"/>
              </a:rPr>
              <a:t> </a:t>
            </a:r>
            <a:r>
              <a:rPr sz="2200" spc="-5" dirty="0">
                <a:latin typeface="Arial"/>
                <a:cs typeface="Arial"/>
              </a:rPr>
              <a:t>block</a:t>
            </a:r>
            <a:r>
              <a:rPr sz="2200" spc="30" dirty="0">
                <a:latin typeface="Arial"/>
                <a:cs typeface="Arial"/>
              </a:rPr>
              <a:t> </a:t>
            </a:r>
            <a:r>
              <a:rPr sz="2200" dirty="0">
                <a:latin typeface="Arial"/>
                <a:cs typeface="Arial"/>
              </a:rPr>
              <a:t>transfers from </a:t>
            </a:r>
            <a:r>
              <a:rPr sz="2200" spc="-5" dirty="0">
                <a:latin typeface="Arial"/>
                <a:cs typeface="Arial"/>
              </a:rPr>
              <a:t>disk</a:t>
            </a:r>
            <a:r>
              <a:rPr sz="2200" spc="25" dirty="0">
                <a:latin typeface="Arial"/>
                <a:cs typeface="Arial"/>
              </a:rPr>
              <a:t> </a:t>
            </a:r>
            <a:r>
              <a:rPr sz="2200" spc="-5" dirty="0">
                <a:latin typeface="Arial"/>
                <a:cs typeface="Arial"/>
              </a:rPr>
              <a:t>as</a:t>
            </a:r>
            <a:r>
              <a:rPr sz="2200" spc="10" dirty="0">
                <a:latin typeface="Arial"/>
                <a:cs typeface="Arial"/>
              </a:rPr>
              <a:t> </a:t>
            </a:r>
            <a:r>
              <a:rPr sz="2200" dirty="0">
                <a:latin typeface="Arial"/>
                <a:cs typeface="Arial"/>
              </a:rPr>
              <a:t>the</a:t>
            </a:r>
            <a:r>
              <a:rPr sz="2200" spc="-10" dirty="0">
                <a:latin typeface="Arial"/>
                <a:cs typeface="Arial"/>
              </a:rPr>
              <a:t> </a:t>
            </a:r>
            <a:r>
              <a:rPr sz="2200" dirty="0">
                <a:latin typeface="Arial"/>
                <a:cs typeface="Arial"/>
              </a:rPr>
              <a:t>cost</a:t>
            </a:r>
            <a:r>
              <a:rPr sz="2200" spc="10" dirty="0">
                <a:latin typeface="Arial"/>
                <a:cs typeface="Arial"/>
              </a:rPr>
              <a:t> </a:t>
            </a:r>
            <a:r>
              <a:rPr sz="2200" spc="-5" dirty="0">
                <a:latin typeface="Arial"/>
                <a:cs typeface="Arial"/>
              </a:rPr>
              <a:t>measure.</a:t>
            </a:r>
            <a:endParaRPr sz="2200">
              <a:latin typeface="Arial"/>
              <a:cs typeface="Arial"/>
            </a:endParaRPr>
          </a:p>
          <a:p>
            <a:pPr marL="355600" indent="-342900">
              <a:lnSpc>
                <a:spcPct val="100000"/>
              </a:lnSpc>
              <a:spcBef>
                <a:spcPts val="520"/>
              </a:spcBef>
              <a:buFont typeface="Wingdings"/>
              <a:buChar char=""/>
              <a:tabLst>
                <a:tab pos="355600" algn="l"/>
              </a:tabLst>
            </a:pPr>
            <a:r>
              <a:rPr sz="2200" spc="20" dirty="0">
                <a:latin typeface="Arial"/>
                <a:cs typeface="Arial"/>
              </a:rPr>
              <a:t>We</a:t>
            </a:r>
            <a:r>
              <a:rPr sz="2200" spc="-30" dirty="0">
                <a:latin typeface="Arial"/>
                <a:cs typeface="Arial"/>
              </a:rPr>
              <a:t> </a:t>
            </a:r>
            <a:r>
              <a:rPr sz="2200" spc="-5" dirty="0">
                <a:latin typeface="Arial"/>
                <a:cs typeface="Arial"/>
              </a:rPr>
              <a:t>ignore</a:t>
            </a:r>
            <a:r>
              <a:rPr sz="2200" spc="35" dirty="0">
                <a:latin typeface="Arial"/>
                <a:cs typeface="Arial"/>
              </a:rPr>
              <a:t> </a:t>
            </a:r>
            <a:r>
              <a:rPr sz="2200" dirty="0">
                <a:latin typeface="Arial"/>
                <a:cs typeface="Arial"/>
              </a:rPr>
              <a:t>the</a:t>
            </a:r>
            <a:r>
              <a:rPr sz="2200" spc="-15" dirty="0">
                <a:latin typeface="Arial"/>
                <a:cs typeface="Arial"/>
              </a:rPr>
              <a:t> </a:t>
            </a:r>
            <a:r>
              <a:rPr sz="2200" spc="-5" dirty="0">
                <a:latin typeface="Arial"/>
                <a:cs typeface="Arial"/>
              </a:rPr>
              <a:t>difference</a:t>
            </a:r>
            <a:r>
              <a:rPr sz="2200" spc="35" dirty="0">
                <a:latin typeface="Arial"/>
                <a:cs typeface="Arial"/>
              </a:rPr>
              <a:t> </a:t>
            </a:r>
            <a:r>
              <a:rPr sz="2200" spc="-10" dirty="0">
                <a:latin typeface="Arial"/>
                <a:cs typeface="Arial"/>
              </a:rPr>
              <a:t>in</a:t>
            </a:r>
            <a:r>
              <a:rPr sz="2200" spc="10" dirty="0">
                <a:latin typeface="Arial"/>
                <a:cs typeface="Arial"/>
              </a:rPr>
              <a:t> </a:t>
            </a:r>
            <a:r>
              <a:rPr sz="2200" dirty="0">
                <a:latin typeface="Arial"/>
                <a:cs typeface="Arial"/>
              </a:rPr>
              <a:t>cost </a:t>
            </a:r>
            <a:r>
              <a:rPr sz="2200" spc="-10" dirty="0">
                <a:latin typeface="Arial"/>
                <a:cs typeface="Arial"/>
              </a:rPr>
              <a:t>between</a:t>
            </a:r>
            <a:r>
              <a:rPr sz="2200" spc="60" dirty="0">
                <a:latin typeface="Arial"/>
                <a:cs typeface="Arial"/>
              </a:rPr>
              <a:t> </a:t>
            </a:r>
            <a:r>
              <a:rPr sz="2200" spc="-5" dirty="0">
                <a:latin typeface="Arial"/>
                <a:cs typeface="Arial"/>
              </a:rPr>
              <a:t>sequential</a:t>
            </a:r>
            <a:r>
              <a:rPr sz="2200" spc="50" dirty="0">
                <a:latin typeface="Arial"/>
                <a:cs typeface="Arial"/>
              </a:rPr>
              <a:t> </a:t>
            </a:r>
            <a:r>
              <a:rPr sz="2200" spc="-5" dirty="0">
                <a:latin typeface="Arial"/>
                <a:cs typeface="Arial"/>
              </a:rPr>
              <a:t>and</a:t>
            </a:r>
            <a:r>
              <a:rPr sz="2200" spc="10" dirty="0">
                <a:latin typeface="Arial"/>
                <a:cs typeface="Arial"/>
              </a:rPr>
              <a:t> </a:t>
            </a:r>
            <a:r>
              <a:rPr sz="2200" spc="-5" dirty="0">
                <a:latin typeface="Arial"/>
                <a:cs typeface="Arial"/>
              </a:rPr>
              <a:t>random</a:t>
            </a:r>
            <a:r>
              <a:rPr sz="2200" spc="40" dirty="0">
                <a:latin typeface="Arial"/>
                <a:cs typeface="Arial"/>
              </a:rPr>
              <a:t> </a:t>
            </a:r>
            <a:r>
              <a:rPr sz="2200" dirty="0">
                <a:latin typeface="Arial"/>
                <a:cs typeface="Arial"/>
              </a:rPr>
              <a:t>I/O</a:t>
            </a:r>
            <a:r>
              <a:rPr sz="2200" spc="-10" dirty="0">
                <a:latin typeface="Arial"/>
                <a:cs typeface="Arial"/>
              </a:rPr>
              <a:t> </a:t>
            </a:r>
            <a:r>
              <a:rPr sz="2200" dirty="0">
                <a:latin typeface="Arial"/>
                <a:cs typeface="Arial"/>
              </a:rPr>
              <a:t>for</a:t>
            </a:r>
            <a:r>
              <a:rPr sz="2200" spc="-5" dirty="0">
                <a:latin typeface="Arial"/>
                <a:cs typeface="Arial"/>
              </a:rPr>
              <a:t> </a:t>
            </a:r>
            <a:r>
              <a:rPr sz="2200" spc="-10" dirty="0">
                <a:latin typeface="Arial"/>
                <a:cs typeface="Arial"/>
              </a:rPr>
              <a:t>simplicity.</a:t>
            </a:r>
            <a:endParaRPr sz="2200">
              <a:latin typeface="Arial"/>
              <a:cs typeface="Arial"/>
            </a:endParaRPr>
          </a:p>
          <a:p>
            <a:pPr marL="354965" marR="7620" indent="-342900">
              <a:lnSpc>
                <a:spcPct val="100000"/>
              </a:lnSpc>
              <a:spcBef>
                <a:spcPts val="540"/>
              </a:spcBef>
              <a:buFont typeface="Wingdings"/>
              <a:buChar char=""/>
              <a:tabLst>
                <a:tab pos="355600" algn="l"/>
              </a:tabLst>
            </a:pPr>
            <a:r>
              <a:rPr sz="2200" spc="10" dirty="0">
                <a:latin typeface="Arial"/>
                <a:cs typeface="Arial"/>
              </a:rPr>
              <a:t>We</a:t>
            </a:r>
            <a:r>
              <a:rPr sz="2200" spc="60" dirty="0">
                <a:latin typeface="Arial"/>
                <a:cs typeface="Arial"/>
              </a:rPr>
              <a:t> </a:t>
            </a:r>
            <a:r>
              <a:rPr sz="2200" spc="-5" dirty="0">
                <a:latin typeface="Arial"/>
                <a:cs typeface="Arial"/>
              </a:rPr>
              <a:t>also</a:t>
            </a:r>
            <a:r>
              <a:rPr sz="2200" spc="85" dirty="0">
                <a:latin typeface="Arial"/>
                <a:cs typeface="Arial"/>
              </a:rPr>
              <a:t> </a:t>
            </a:r>
            <a:r>
              <a:rPr sz="2200" spc="-5" dirty="0">
                <a:latin typeface="Arial"/>
                <a:cs typeface="Arial"/>
              </a:rPr>
              <a:t>ignore</a:t>
            </a:r>
            <a:r>
              <a:rPr sz="2200" spc="85" dirty="0">
                <a:latin typeface="Arial"/>
                <a:cs typeface="Arial"/>
              </a:rPr>
              <a:t> </a:t>
            </a:r>
            <a:r>
              <a:rPr sz="2200" spc="-10" dirty="0">
                <a:latin typeface="Arial"/>
                <a:cs typeface="Arial"/>
              </a:rPr>
              <a:t>CPU</a:t>
            </a:r>
            <a:r>
              <a:rPr sz="2200" spc="100" dirty="0">
                <a:latin typeface="Arial"/>
                <a:cs typeface="Arial"/>
              </a:rPr>
              <a:t> </a:t>
            </a:r>
            <a:r>
              <a:rPr sz="2200" dirty="0">
                <a:latin typeface="Arial"/>
                <a:cs typeface="Arial"/>
              </a:rPr>
              <a:t>costs</a:t>
            </a:r>
            <a:r>
              <a:rPr sz="2200" spc="70" dirty="0">
                <a:latin typeface="Arial"/>
                <a:cs typeface="Arial"/>
              </a:rPr>
              <a:t> </a:t>
            </a:r>
            <a:r>
              <a:rPr sz="2200" dirty="0">
                <a:latin typeface="Arial"/>
                <a:cs typeface="Arial"/>
              </a:rPr>
              <a:t>for</a:t>
            </a:r>
            <a:r>
              <a:rPr sz="2200" spc="70" dirty="0">
                <a:latin typeface="Arial"/>
                <a:cs typeface="Arial"/>
              </a:rPr>
              <a:t> </a:t>
            </a:r>
            <a:r>
              <a:rPr sz="2200" spc="-5" dirty="0">
                <a:latin typeface="Arial"/>
                <a:cs typeface="Arial"/>
              </a:rPr>
              <a:t>simplicity.</a:t>
            </a:r>
            <a:r>
              <a:rPr sz="2200" spc="114" dirty="0">
                <a:latin typeface="Arial"/>
                <a:cs typeface="Arial"/>
              </a:rPr>
              <a:t> </a:t>
            </a:r>
            <a:r>
              <a:rPr sz="2200" spc="-5" dirty="0">
                <a:latin typeface="Arial"/>
                <a:cs typeface="Arial"/>
              </a:rPr>
              <a:t>Costs</a:t>
            </a:r>
            <a:r>
              <a:rPr sz="2200" spc="90" dirty="0">
                <a:latin typeface="Arial"/>
                <a:cs typeface="Arial"/>
              </a:rPr>
              <a:t> </a:t>
            </a:r>
            <a:r>
              <a:rPr sz="2200" spc="-5" dirty="0">
                <a:latin typeface="Arial"/>
                <a:cs typeface="Arial"/>
              </a:rPr>
              <a:t>depends</a:t>
            </a:r>
            <a:r>
              <a:rPr sz="2200" spc="90" dirty="0">
                <a:latin typeface="Arial"/>
                <a:cs typeface="Arial"/>
              </a:rPr>
              <a:t> </a:t>
            </a:r>
            <a:r>
              <a:rPr sz="2200" spc="-5" dirty="0">
                <a:latin typeface="Arial"/>
                <a:cs typeface="Arial"/>
              </a:rPr>
              <a:t>on</a:t>
            </a:r>
            <a:r>
              <a:rPr sz="2200" spc="85" dirty="0">
                <a:latin typeface="Arial"/>
                <a:cs typeface="Arial"/>
              </a:rPr>
              <a:t> </a:t>
            </a:r>
            <a:r>
              <a:rPr sz="2200" dirty="0">
                <a:latin typeface="Arial"/>
                <a:cs typeface="Arial"/>
              </a:rPr>
              <a:t>the</a:t>
            </a:r>
            <a:r>
              <a:rPr sz="2200" spc="80" dirty="0">
                <a:latin typeface="Arial"/>
                <a:cs typeface="Arial"/>
              </a:rPr>
              <a:t> </a:t>
            </a:r>
            <a:r>
              <a:rPr sz="2200" spc="-5" dirty="0">
                <a:latin typeface="Arial"/>
                <a:cs typeface="Arial"/>
              </a:rPr>
              <a:t>size</a:t>
            </a:r>
            <a:r>
              <a:rPr sz="2200" spc="85" dirty="0">
                <a:latin typeface="Arial"/>
                <a:cs typeface="Arial"/>
              </a:rPr>
              <a:t> </a:t>
            </a:r>
            <a:r>
              <a:rPr sz="2200" spc="-5" dirty="0">
                <a:latin typeface="Arial"/>
                <a:cs typeface="Arial"/>
              </a:rPr>
              <a:t>of</a:t>
            </a:r>
            <a:r>
              <a:rPr sz="2200" spc="75" dirty="0">
                <a:latin typeface="Arial"/>
                <a:cs typeface="Arial"/>
              </a:rPr>
              <a:t> </a:t>
            </a:r>
            <a:r>
              <a:rPr sz="2200" dirty="0">
                <a:latin typeface="Arial"/>
                <a:cs typeface="Arial"/>
              </a:rPr>
              <a:t>the</a:t>
            </a:r>
            <a:r>
              <a:rPr sz="2200" spc="80" dirty="0">
                <a:latin typeface="Arial"/>
                <a:cs typeface="Arial"/>
              </a:rPr>
              <a:t> </a:t>
            </a:r>
            <a:r>
              <a:rPr sz="2200" dirty="0">
                <a:latin typeface="Arial"/>
                <a:cs typeface="Arial"/>
              </a:rPr>
              <a:t>buffer</a:t>
            </a:r>
            <a:r>
              <a:rPr sz="2200" spc="75" dirty="0">
                <a:latin typeface="Arial"/>
                <a:cs typeface="Arial"/>
              </a:rPr>
              <a:t> </a:t>
            </a:r>
            <a:r>
              <a:rPr sz="2200" spc="-15" dirty="0">
                <a:latin typeface="Arial"/>
                <a:cs typeface="Arial"/>
              </a:rPr>
              <a:t>in </a:t>
            </a:r>
            <a:r>
              <a:rPr sz="2200" spc="-600" dirty="0">
                <a:latin typeface="Arial"/>
                <a:cs typeface="Arial"/>
              </a:rPr>
              <a:t> </a:t>
            </a:r>
            <a:r>
              <a:rPr sz="2200" spc="-5" dirty="0">
                <a:latin typeface="Arial"/>
                <a:cs typeface="Arial"/>
              </a:rPr>
              <a:t>main</a:t>
            </a:r>
            <a:r>
              <a:rPr sz="2200" spc="5" dirty="0">
                <a:latin typeface="Arial"/>
                <a:cs typeface="Arial"/>
              </a:rPr>
              <a:t> </a:t>
            </a:r>
            <a:r>
              <a:rPr sz="2200" spc="-5" dirty="0">
                <a:latin typeface="Arial"/>
                <a:cs typeface="Arial"/>
              </a:rPr>
              <a:t>memory.</a:t>
            </a:r>
            <a:r>
              <a:rPr sz="2200" spc="55" dirty="0">
                <a:latin typeface="Arial"/>
                <a:cs typeface="Arial"/>
              </a:rPr>
              <a:t> </a:t>
            </a:r>
            <a:r>
              <a:rPr sz="2200" spc="-5" dirty="0">
                <a:latin typeface="Arial"/>
                <a:cs typeface="Arial"/>
              </a:rPr>
              <a:t>Having</a:t>
            </a:r>
            <a:r>
              <a:rPr sz="2200" spc="25" dirty="0">
                <a:latin typeface="Arial"/>
                <a:cs typeface="Arial"/>
              </a:rPr>
              <a:t> </a:t>
            </a:r>
            <a:r>
              <a:rPr sz="2200" spc="-5" dirty="0">
                <a:latin typeface="Arial"/>
                <a:cs typeface="Arial"/>
              </a:rPr>
              <a:t>more</a:t>
            </a:r>
            <a:r>
              <a:rPr sz="2200" spc="10" dirty="0">
                <a:latin typeface="Arial"/>
                <a:cs typeface="Arial"/>
              </a:rPr>
              <a:t> </a:t>
            </a:r>
            <a:r>
              <a:rPr sz="2200" dirty="0">
                <a:latin typeface="Arial"/>
                <a:cs typeface="Arial"/>
              </a:rPr>
              <a:t>memory</a:t>
            </a:r>
            <a:r>
              <a:rPr sz="2200" spc="15" dirty="0">
                <a:latin typeface="Arial"/>
                <a:cs typeface="Arial"/>
              </a:rPr>
              <a:t> </a:t>
            </a:r>
            <a:r>
              <a:rPr sz="2200" spc="-5" dirty="0">
                <a:latin typeface="Arial"/>
                <a:cs typeface="Arial"/>
              </a:rPr>
              <a:t>reduces</a:t>
            </a:r>
            <a:r>
              <a:rPr sz="2200" spc="10" dirty="0">
                <a:latin typeface="Arial"/>
                <a:cs typeface="Arial"/>
              </a:rPr>
              <a:t> </a:t>
            </a:r>
            <a:r>
              <a:rPr sz="2200" spc="-5" dirty="0">
                <a:latin typeface="Arial"/>
                <a:cs typeface="Arial"/>
              </a:rPr>
              <a:t>need</a:t>
            </a:r>
            <a:r>
              <a:rPr sz="2200" spc="25" dirty="0">
                <a:latin typeface="Arial"/>
                <a:cs typeface="Arial"/>
              </a:rPr>
              <a:t> </a:t>
            </a:r>
            <a:r>
              <a:rPr sz="2200" dirty="0">
                <a:latin typeface="Arial"/>
                <a:cs typeface="Arial"/>
              </a:rPr>
              <a:t>for</a:t>
            </a:r>
            <a:r>
              <a:rPr sz="2200" spc="-10" dirty="0">
                <a:latin typeface="Arial"/>
                <a:cs typeface="Arial"/>
              </a:rPr>
              <a:t> </a:t>
            </a:r>
            <a:r>
              <a:rPr sz="2200" spc="-5" dirty="0">
                <a:latin typeface="Arial"/>
                <a:cs typeface="Arial"/>
              </a:rPr>
              <a:t>disk</a:t>
            </a:r>
            <a:r>
              <a:rPr sz="2200" spc="5" dirty="0">
                <a:latin typeface="Arial"/>
                <a:cs typeface="Arial"/>
              </a:rPr>
              <a:t> </a:t>
            </a:r>
            <a:r>
              <a:rPr sz="2200" spc="-5" dirty="0">
                <a:latin typeface="Arial"/>
                <a:cs typeface="Arial"/>
              </a:rPr>
              <a:t>access.</a:t>
            </a:r>
            <a:endParaRPr sz="2200">
              <a:latin typeface="Arial"/>
              <a:cs typeface="Arial"/>
            </a:endParaRPr>
          </a:p>
          <a:p>
            <a:pPr marL="354965" marR="5080" indent="-342900">
              <a:lnSpc>
                <a:spcPct val="100000"/>
              </a:lnSpc>
              <a:spcBef>
                <a:spcPts val="525"/>
              </a:spcBef>
              <a:buFont typeface="Wingdings"/>
              <a:buChar char=""/>
              <a:tabLst>
                <a:tab pos="355600" algn="l"/>
                <a:tab pos="1488440" algn="l"/>
                <a:tab pos="1892300" algn="l"/>
                <a:tab pos="2527300" algn="l"/>
                <a:tab pos="3705860" algn="l"/>
                <a:tab pos="4979035" algn="l"/>
                <a:tab pos="5382895" algn="l"/>
                <a:tab pos="6269355" algn="l"/>
                <a:tab pos="7509509" algn="l"/>
                <a:tab pos="7992109" algn="l"/>
                <a:tab pos="8799830" algn="l"/>
                <a:tab pos="10291445" algn="l"/>
              </a:tabLst>
            </a:pPr>
            <a:r>
              <a:rPr sz="2200" spc="-10" dirty="0">
                <a:latin typeface="Arial"/>
                <a:cs typeface="Arial"/>
              </a:rPr>
              <a:t>A</a:t>
            </a:r>
            <a:r>
              <a:rPr sz="2200" dirty="0">
                <a:latin typeface="Arial"/>
                <a:cs typeface="Arial"/>
              </a:rPr>
              <a:t>m</a:t>
            </a:r>
            <a:r>
              <a:rPr sz="2200" spc="-5" dirty="0">
                <a:latin typeface="Arial"/>
                <a:cs typeface="Arial"/>
              </a:rPr>
              <a:t>ou</a:t>
            </a:r>
            <a:r>
              <a:rPr sz="2200" spc="-15" dirty="0">
                <a:latin typeface="Arial"/>
                <a:cs typeface="Arial"/>
              </a:rPr>
              <a:t>n</a:t>
            </a:r>
            <a:r>
              <a:rPr sz="2200" dirty="0">
                <a:latin typeface="Arial"/>
                <a:cs typeface="Arial"/>
              </a:rPr>
              <a:t>t	</a:t>
            </a:r>
            <a:r>
              <a:rPr sz="2200" spc="-5" dirty="0">
                <a:latin typeface="Arial"/>
                <a:cs typeface="Arial"/>
              </a:rPr>
              <a:t>o</a:t>
            </a:r>
            <a:r>
              <a:rPr sz="2200" dirty="0">
                <a:latin typeface="Arial"/>
                <a:cs typeface="Arial"/>
              </a:rPr>
              <a:t>f	r</a:t>
            </a:r>
            <a:r>
              <a:rPr sz="2200" spc="-5" dirty="0">
                <a:latin typeface="Arial"/>
                <a:cs typeface="Arial"/>
              </a:rPr>
              <a:t>eal</a:t>
            </a:r>
            <a:r>
              <a:rPr sz="2200" dirty="0">
                <a:latin typeface="Arial"/>
                <a:cs typeface="Arial"/>
              </a:rPr>
              <a:t>	m</a:t>
            </a:r>
            <a:r>
              <a:rPr sz="2200" spc="-5" dirty="0">
                <a:latin typeface="Arial"/>
                <a:cs typeface="Arial"/>
              </a:rPr>
              <a:t>emo</a:t>
            </a:r>
            <a:r>
              <a:rPr sz="2200" spc="20" dirty="0">
                <a:latin typeface="Arial"/>
                <a:cs typeface="Arial"/>
              </a:rPr>
              <a:t>r</a:t>
            </a:r>
            <a:r>
              <a:rPr sz="2200" dirty="0">
                <a:latin typeface="Arial"/>
                <a:cs typeface="Arial"/>
              </a:rPr>
              <a:t>y	</a:t>
            </a:r>
            <a:r>
              <a:rPr sz="2200" spc="-5" dirty="0">
                <a:latin typeface="Arial"/>
                <a:cs typeface="Arial"/>
              </a:rPr>
              <a:t>availa</a:t>
            </a:r>
            <a:r>
              <a:rPr sz="2200" dirty="0">
                <a:latin typeface="Arial"/>
                <a:cs typeface="Arial"/>
              </a:rPr>
              <a:t>b</a:t>
            </a:r>
            <a:r>
              <a:rPr sz="2200" spc="-15" dirty="0">
                <a:latin typeface="Arial"/>
                <a:cs typeface="Arial"/>
              </a:rPr>
              <a:t>l</a:t>
            </a:r>
            <a:r>
              <a:rPr sz="2200" spc="-5" dirty="0">
                <a:latin typeface="Arial"/>
                <a:cs typeface="Arial"/>
              </a:rPr>
              <a:t>e</a:t>
            </a:r>
            <a:r>
              <a:rPr sz="2200" dirty="0">
                <a:latin typeface="Arial"/>
                <a:cs typeface="Arial"/>
              </a:rPr>
              <a:t>	</a:t>
            </a:r>
            <a:r>
              <a:rPr sz="2200" spc="5" dirty="0">
                <a:latin typeface="Arial"/>
                <a:cs typeface="Arial"/>
              </a:rPr>
              <a:t>t</a:t>
            </a:r>
            <a:r>
              <a:rPr sz="2200" dirty="0">
                <a:latin typeface="Arial"/>
                <a:cs typeface="Arial"/>
              </a:rPr>
              <a:t>o	buf</a:t>
            </a:r>
            <a:r>
              <a:rPr sz="2200" spc="5" dirty="0">
                <a:latin typeface="Arial"/>
                <a:cs typeface="Arial"/>
              </a:rPr>
              <a:t>f</a:t>
            </a:r>
            <a:r>
              <a:rPr sz="2200" spc="-5" dirty="0">
                <a:latin typeface="Arial"/>
                <a:cs typeface="Arial"/>
              </a:rPr>
              <a:t>er</a:t>
            </a:r>
            <a:r>
              <a:rPr sz="2200" dirty="0">
                <a:latin typeface="Arial"/>
                <a:cs typeface="Arial"/>
              </a:rPr>
              <a:t>	</a:t>
            </a:r>
            <a:r>
              <a:rPr sz="2200" spc="-10" dirty="0">
                <a:latin typeface="Arial"/>
                <a:cs typeface="Arial"/>
              </a:rPr>
              <a:t>depend</a:t>
            </a:r>
            <a:r>
              <a:rPr sz="2200" spc="-5" dirty="0">
                <a:latin typeface="Arial"/>
                <a:cs typeface="Arial"/>
              </a:rPr>
              <a:t>s</a:t>
            </a:r>
            <a:r>
              <a:rPr sz="2200" dirty="0">
                <a:latin typeface="Arial"/>
                <a:cs typeface="Arial"/>
              </a:rPr>
              <a:t>	</a:t>
            </a:r>
            <a:r>
              <a:rPr sz="2200" spc="-10" dirty="0">
                <a:latin typeface="Arial"/>
                <a:cs typeface="Arial"/>
              </a:rPr>
              <a:t>o</a:t>
            </a:r>
            <a:r>
              <a:rPr sz="2200" spc="-5" dirty="0">
                <a:latin typeface="Arial"/>
                <a:cs typeface="Arial"/>
              </a:rPr>
              <a:t>n</a:t>
            </a:r>
            <a:r>
              <a:rPr sz="2200" dirty="0">
                <a:latin typeface="Arial"/>
                <a:cs typeface="Arial"/>
              </a:rPr>
              <a:t>	</a:t>
            </a:r>
            <a:r>
              <a:rPr sz="2200" spc="-5" dirty="0">
                <a:latin typeface="Arial"/>
                <a:cs typeface="Arial"/>
              </a:rPr>
              <a:t>other</a:t>
            </a:r>
            <a:r>
              <a:rPr sz="2200" dirty="0">
                <a:latin typeface="Arial"/>
                <a:cs typeface="Arial"/>
              </a:rPr>
              <a:t>	</a:t>
            </a:r>
            <a:r>
              <a:rPr sz="2200" spc="-5" dirty="0">
                <a:latin typeface="Arial"/>
                <a:cs typeface="Arial"/>
              </a:rPr>
              <a:t>conc</a:t>
            </a:r>
            <a:r>
              <a:rPr sz="2200" spc="-15" dirty="0">
                <a:latin typeface="Arial"/>
                <a:cs typeface="Arial"/>
              </a:rPr>
              <a:t>u</a:t>
            </a:r>
            <a:r>
              <a:rPr sz="2200" dirty="0">
                <a:latin typeface="Arial"/>
                <a:cs typeface="Arial"/>
              </a:rPr>
              <a:t>rrent	</a:t>
            </a:r>
            <a:r>
              <a:rPr sz="2200" spc="5" dirty="0">
                <a:latin typeface="Arial"/>
                <a:cs typeface="Arial"/>
              </a:rPr>
              <a:t>OS  </a:t>
            </a:r>
            <a:r>
              <a:rPr sz="2200" spc="-5" dirty="0">
                <a:latin typeface="Arial"/>
                <a:cs typeface="Arial"/>
              </a:rPr>
              <a:t>processes,</a:t>
            </a:r>
            <a:r>
              <a:rPr sz="2200" spc="10" dirty="0">
                <a:latin typeface="Arial"/>
                <a:cs typeface="Arial"/>
              </a:rPr>
              <a:t> </a:t>
            </a:r>
            <a:r>
              <a:rPr sz="2200" spc="-5" dirty="0">
                <a:latin typeface="Arial"/>
                <a:cs typeface="Arial"/>
              </a:rPr>
              <a:t>and</a:t>
            </a:r>
            <a:r>
              <a:rPr sz="2200" spc="25" dirty="0">
                <a:latin typeface="Arial"/>
                <a:cs typeface="Arial"/>
              </a:rPr>
              <a:t> </a:t>
            </a:r>
            <a:r>
              <a:rPr sz="2200" spc="-5" dirty="0">
                <a:latin typeface="Arial"/>
                <a:cs typeface="Arial"/>
              </a:rPr>
              <a:t>hard</a:t>
            </a:r>
            <a:r>
              <a:rPr sz="2200" spc="5" dirty="0">
                <a:latin typeface="Arial"/>
                <a:cs typeface="Arial"/>
              </a:rPr>
              <a:t> </a:t>
            </a:r>
            <a:r>
              <a:rPr sz="2200" dirty="0">
                <a:latin typeface="Arial"/>
                <a:cs typeface="Arial"/>
              </a:rPr>
              <a:t>to</a:t>
            </a:r>
            <a:r>
              <a:rPr sz="2200" spc="-20" dirty="0">
                <a:latin typeface="Arial"/>
                <a:cs typeface="Arial"/>
              </a:rPr>
              <a:t> </a:t>
            </a:r>
            <a:r>
              <a:rPr sz="2200" spc="-5" dirty="0">
                <a:latin typeface="Arial"/>
                <a:cs typeface="Arial"/>
              </a:rPr>
              <a:t>determine</a:t>
            </a:r>
            <a:r>
              <a:rPr sz="2200" spc="30" dirty="0">
                <a:latin typeface="Arial"/>
                <a:cs typeface="Arial"/>
              </a:rPr>
              <a:t> </a:t>
            </a:r>
            <a:r>
              <a:rPr sz="2200" spc="-5" dirty="0">
                <a:latin typeface="Arial"/>
                <a:cs typeface="Arial"/>
              </a:rPr>
              <a:t>ahead</a:t>
            </a:r>
            <a:r>
              <a:rPr sz="2200" spc="25" dirty="0">
                <a:latin typeface="Arial"/>
                <a:cs typeface="Arial"/>
              </a:rPr>
              <a:t> </a:t>
            </a:r>
            <a:r>
              <a:rPr sz="2200" spc="-5" dirty="0">
                <a:latin typeface="Arial"/>
                <a:cs typeface="Arial"/>
              </a:rPr>
              <a:t>of </a:t>
            </a:r>
            <a:r>
              <a:rPr sz="2200" dirty="0">
                <a:latin typeface="Arial"/>
                <a:cs typeface="Arial"/>
              </a:rPr>
              <a:t>actual</a:t>
            </a:r>
            <a:r>
              <a:rPr sz="2200" spc="10" dirty="0">
                <a:latin typeface="Arial"/>
                <a:cs typeface="Arial"/>
              </a:rPr>
              <a:t> </a:t>
            </a:r>
            <a:r>
              <a:rPr sz="2200" spc="-5" dirty="0">
                <a:latin typeface="Arial"/>
                <a:cs typeface="Arial"/>
              </a:rPr>
              <a:t>execution.</a:t>
            </a:r>
            <a:endParaRPr sz="2200">
              <a:latin typeface="Arial"/>
              <a:cs typeface="Arial"/>
            </a:endParaRPr>
          </a:p>
          <a:p>
            <a:pPr>
              <a:lnSpc>
                <a:spcPct val="100000"/>
              </a:lnSpc>
              <a:spcBef>
                <a:spcPts val="20"/>
              </a:spcBef>
              <a:buFont typeface="Wingdings"/>
              <a:buChar char=""/>
            </a:pPr>
            <a:endParaRPr sz="3200">
              <a:latin typeface="Arial"/>
              <a:cs typeface="Arial"/>
            </a:endParaRPr>
          </a:p>
          <a:p>
            <a:pPr marL="355600" indent="-342900" algn="just">
              <a:lnSpc>
                <a:spcPct val="100000"/>
              </a:lnSpc>
              <a:spcBef>
                <a:spcPts val="5"/>
              </a:spcBef>
              <a:buFont typeface="Wingdings"/>
              <a:buChar char=""/>
              <a:tabLst>
                <a:tab pos="355600" algn="l"/>
              </a:tabLst>
            </a:pPr>
            <a:r>
              <a:rPr sz="2200" spc="10" dirty="0">
                <a:latin typeface="Arial"/>
                <a:cs typeface="Arial"/>
              </a:rPr>
              <a:t>We </a:t>
            </a:r>
            <a:r>
              <a:rPr sz="2200" spc="125" dirty="0">
                <a:latin typeface="Arial"/>
                <a:cs typeface="Arial"/>
              </a:rPr>
              <a:t> </a:t>
            </a:r>
            <a:r>
              <a:rPr sz="2200" dirty="0">
                <a:latin typeface="Arial"/>
                <a:cs typeface="Arial"/>
              </a:rPr>
              <a:t>often</a:t>
            </a:r>
            <a:r>
              <a:rPr sz="2200" spc="770" dirty="0">
                <a:latin typeface="Arial"/>
                <a:cs typeface="Arial"/>
              </a:rPr>
              <a:t> </a:t>
            </a:r>
            <a:r>
              <a:rPr sz="2200" spc="-5" dirty="0">
                <a:latin typeface="Arial"/>
                <a:cs typeface="Arial"/>
              </a:rPr>
              <a:t>use</a:t>
            </a:r>
            <a:r>
              <a:rPr sz="2200" spc="765" dirty="0">
                <a:latin typeface="Arial"/>
                <a:cs typeface="Arial"/>
              </a:rPr>
              <a:t> </a:t>
            </a:r>
            <a:r>
              <a:rPr sz="2200" spc="-10" dirty="0">
                <a:latin typeface="Arial"/>
                <a:cs typeface="Arial"/>
              </a:rPr>
              <a:t>worst</a:t>
            </a:r>
            <a:r>
              <a:rPr sz="2200" spc="785" dirty="0">
                <a:latin typeface="Arial"/>
                <a:cs typeface="Arial"/>
              </a:rPr>
              <a:t> </a:t>
            </a:r>
            <a:r>
              <a:rPr sz="2200" spc="-5" dirty="0">
                <a:latin typeface="Arial"/>
                <a:cs typeface="Arial"/>
              </a:rPr>
              <a:t>case</a:t>
            </a:r>
            <a:r>
              <a:rPr sz="2200" spc="770" dirty="0">
                <a:latin typeface="Arial"/>
                <a:cs typeface="Arial"/>
              </a:rPr>
              <a:t> </a:t>
            </a:r>
            <a:r>
              <a:rPr sz="2200" dirty="0">
                <a:latin typeface="Arial"/>
                <a:cs typeface="Arial"/>
              </a:rPr>
              <a:t>estimates,</a:t>
            </a:r>
            <a:r>
              <a:rPr sz="2200" spc="760" dirty="0">
                <a:latin typeface="Arial"/>
                <a:cs typeface="Arial"/>
              </a:rPr>
              <a:t> </a:t>
            </a:r>
            <a:r>
              <a:rPr sz="2200" spc="-5" dirty="0">
                <a:latin typeface="Arial"/>
                <a:cs typeface="Arial"/>
              </a:rPr>
              <a:t>assuming</a:t>
            </a:r>
            <a:r>
              <a:rPr sz="2200" spc="765" dirty="0">
                <a:latin typeface="Arial"/>
                <a:cs typeface="Arial"/>
              </a:rPr>
              <a:t> </a:t>
            </a:r>
            <a:r>
              <a:rPr sz="2200" spc="-5" dirty="0">
                <a:latin typeface="Arial"/>
                <a:cs typeface="Arial"/>
              </a:rPr>
              <a:t>only</a:t>
            </a:r>
            <a:r>
              <a:rPr sz="2200" spc="735" dirty="0">
                <a:latin typeface="Arial"/>
                <a:cs typeface="Arial"/>
              </a:rPr>
              <a:t> </a:t>
            </a:r>
            <a:r>
              <a:rPr sz="2200" spc="5" dirty="0">
                <a:latin typeface="Arial"/>
                <a:cs typeface="Arial"/>
              </a:rPr>
              <a:t>the </a:t>
            </a:r>
            <a:r>
              <a:rPr sz="2200" spc="160" dirty="0">
                <a:latin typeface="Arial"/>
                <a:cs typeface="Arial"/>
              </a:rPr>
              <a:t> </a:t>
            </a:r>
            <a:r>
              <a:rPr sz="2200" spc="-5" dirty="0">
                <a:latin typeface="Arial"/>
                <a:cs typeface="Arial"/>
              </a:rPr>
              <a:t>minimum</a:t>
            </a:r>
            <a:r>
              <a:rPr sz="2200" spc="785" dirty="0">
                <a:latin typeface="Arial"/>
                <a:cs typeface="Arial"/>
              </a:rPr>
              <a:t> </a:t>
            </a:r>
            <a:r>
              <a:rPr sz="2200" spc="-5" dirty="0">
                <a:latin typeface="Arial"/>
                <a:cs typeface="Arial"/>
              </a:rPr>
              <a:t>amount</a:t>
            </a:r>
            <a:r>
              <a:rPr sz="2200" spc="775" dirty="0">
                <a:latin typeface="Arial"/>
                <a:cs typeface="Arial"/>
              </a:rPr>
              <a:t> </a:t>
            </a:r>
            <a:r>
              <a:rPr sz="2200" spc="-5" dirty="0">
                <a:latin typeface="Arial"/>
                <a:cs typeface="Arial"/>
              </a:rPr>
              <a:t>of</a:t>
            </a:r>
            <a:endParaRPr sz="2200">
              <a:latin typeface="Arial"/>
              <a:cs typeface="Arial"/>
            </a:endParaRPr>
          </a:p>
          <a:p>
            <a:pPr marL="354965" algn="just">
              <a:lnSpc>
                <a:spcPct val="100000"/>
              </a:lnSpc>
            </a:pPr>
            <a:r>
              <a:rPr sz="2200" dirty="0">
                <a:latin typeface="Arial"/>
                <a:cs typeface="Arial"/>
              </a:rPr>
              <a:t>memory</a:t>
            </a:r>
            <a:r>
              <a:rPr sz="2200" spc="5" dirty="0">
                <a:latin typeface="Arial"/>
                <a:cs typeface="Arial"/>
              </a:rPr>
              <a:t> </a:t>
            </a:r>
            <a:r>
              <a:rPr sz="2200" spc="-5" dirty="0">
                <a:latin typeface="Arial"/>
                <a:cs typeface="Arial"/>
              </a:rPr>
              <a:t>needed</a:t>
            </a:r>
            <a:r>
              <a:rPr sz="2200" spc="15" dirty="0">
                <a:latin typeface="Arial"/>
                <a:cs typeface="Arial"/>
              </a:rPr>
              <a:t> </a:t>
            </a:r>
            <a:r>
              <a:rPr sz="2200" dirty="0">
                <a:latin typeface="Arial"/>
                <a:cs typeface="Arial"/>
              </a:rPr>
              <a:t>for</a:t>
            </a:r>
            <a:r>
              <a:rPr sz="2200" spc="-10" dirty="0">
                <a:latin typeface="Arial"/>
                <a:cs typeface="Arial"/>
              </a:rPr>
              <a:t> </a:t>
            </a:r>
            <a:r>
              <a:rPr sz="2200" dirty="0">
                <a:latin typeface="Arial"/>
                <a:cs typeface="Arial"/>
              </a:rPr>
              <a:t>the</a:t>
            </a:r>
            <a:r>
              <a:rPr sz="2200" spc="5" dirty="0">
                <a:latin typeface="Arial"/>
                <a:cs typeface="Arial"/>
              </a:rPr>
              <a:t> </a:t>
            </a:r>
            <a:r>
              <a:rPr sz="2200" spc="-5" dirty="0">
                <a:latin typeface="Arial"/>
                <a:cs typeface="Arial"/>
              </a:rPr>
              <a:t>operation</a:t>
            </a:r>
            <a:r>
              <a:rPr sz="2200" spc="25" dirty="0">
                <a:latin typeface="Arial"/>
                <a:cs typeface="Arial"/>
              </a:rPr>
              <a:t> </a:t>
            </a:r>
            <a:r>
              <a:rPr sz="2200" spc="-5" dirty="0">
                <a:latin typeface="Arial"/>
                <a:cs typeface="Arial"/>
              </a:rPr>
              <a:t>is</a:t>
            </a:r>
            <a:r>
              <a:rPr sz="2200" spc="10" dirty="0">
                <a:latin typeface="Arial"/>
                <a:cs typeface="Arial"/>
              </a:rPr>
              <a:t> </a:t>
            </a:r>
            <a:r>
              <a:rPr sz="2200" spc="-10" dirty="0">
                <a:latin typeface="Arial"/>
                <a:cs typeface="Arial"/>
              </a:rPr>
              <a:t>available.</a:t>
            </a:r>
            <a:endParaRPr sz="2200">
              <a:latin typeface="Arial"/>
              <a:cs typeface="Arial"/>
            </a:endParaRPr>
          </a:p>
          <a:p>
            <a:pPr marL="354965" marR="6985" indent="-342900" algn="just">
              <a:lnSpc>
                <a:spcPct val="100000"/>
              </a:lnSpc>
              <a:spcBef>
                <a:spcPts val="520"/>
              </a:spcBef>
              <a:buFont typeface="Wingdings"/>
              <a:buChar char=""/>
              <a:tabLst>
                <a:tab pos="355600" algn="l"/>
              </a:tabLst>
            </a:pPr>
            <a:r>
              <a:rPr sz="2200" spc="-5" dirty="0">
                <a:latin typeface="Arial"/>
                <a:cs typeface="Arial"/>
              </a:rPr>
              <a:t>Real </a:t>
            </a:r>
            <a:r>
              <a:rPr sz="2200" dirty="0">
                <a:latin typeface="Arial"/>
                <a:cs typeface="Arial"/>
              </a:rPr>
              <a:t>systems take </a:t>
            </a:r>
            <a:r>
              <a:rPr sz="2200" spc="-10" dirty="0">
                <a:latin typeface="Arial"/>
                <a:cs typeface="Arial"/>
              </a:rPr>
              <a:t>CPU </a:t>
            </a:r>
            <a:r>
              <a:rPr sz="2200" dirty="0">
                <a:latin typeface="Arial"/>
                <a:cs typeface="Arial"/>
              </a:rPr>
              <a:t>cost </a:t>
            </a:r>
            <a:r>
              <a:rPr sz="2200" spc="-5" dirty="0">
                <a:latin typeface="Arial"/>
                <a:cs typeface="Arial"/>
              </a:rPr>
              <a:t>into </a:t>
            </a:r>
            <a:r>
              <a:rPr sz="2200" dirty="0">
                <a:latin typeface="Arial"/>
                <a:cs typeface="Arial"/>
              </a:rPr>
              <a:t>account, </a:t>
            </a:r>
            <a:r>
              <a:rPr sz="2200" spc="-5" dirty="0">
                <a:latin typeface="Arial"/>
                <a:cs typeface="Arial"/>
              </a:rPr>
              <a:t>differentiate between </a:t>
            </a:r>
            <a:r>
              <a:rPr sz="2200" dirty="0">
                <a:latin typeface="Arial"/>
                <a:cs typeface="Arial"/>
              </a:rPr>
              <a:t>sequential and </a:t>
            </a:r>
            <a:r>
              <a:rPr sz="2200" spc="5" dirty="0">
                <a:latin typeface="Arial"/>
                <a:cs typeface="Arial"/>
              </a:rPr>
              <a:t> </a:t>
            </a:r>
            <a:r>
              <a:rPr sz="2200" spc="-5" dirty="0">
                <a:latin typeface="Arial"/>
                <a:cs typeface="Arial"/>
              </a:rPr>
              <a:t>random </a:t>
            </a:r>
            <a:r>
              <a:rPr sz="2200" spc="5" dirty="0">
                <a:latin typeface="Arial"/>
                <a:cs typeface="Arial"/>
              </a:rPr>
              <a:t>I/O, </a:t>
            </a:r>
            <a:r>
              <a:rPr sz="2200" spc="-5" dirty="0">
                <a:latin typeface="Arial"/>
                <a:cs typeface="Arial"/>
              </a:rPr>
              <a:t>and </a:t>
            </a:r>
            <a:r>
              <a:rPr sz="2200" spc="-10" dirty="0">
                <a:latin typeface="Arial"/>
                <a:cs typeface="Arial"/>
              </a:rPr>
              <a:t>take </a:t>
            </a:r>
            <a:r>
              <a:rPr sz="2200" spc="-5" dirty="0">
                <a:latin typeface="Arial"/>
                <a:cs typeface="Arial"/>
              </a:rPr>
              <a:t>buffer size into account. </a:t>
            </a:r>
            <a:r>
              <a:rPr sz="2200" spc="20" dirty="0">
                <a:latin typeface="Arial"/>
                <a:cs typeface="Arial"/>
              </a:rPr>
              <a:t>We </a:t>
            </a:r>
            <a:r>
              <a:rPr sz="2200" spc="-5" dirty="0">
                <a:latin typeface="Arial"/>
                <a:cs typeface="Arial"/>
              </a:rPr>
              <a:t>do not include cost </a:t>
            </a:r>
            <a:r>
              <a:rPr sz="2200" dirty="0">
                <a:latin typeface="Arial"/>
                <a:cs typeface="Arial"/>
              </a:rPr>
              <a:t>to </a:t>
            </a:r>
            <a:r>
              <a:rPr sz="2200" spc="-10" dirty="0">
                <a:latin typeface="Arial"/>
                <a:cs typeface="Arial"/>
              </a:rPr>
              <a:t>writing </a:t>
            </a:r>
            <a:r>
              <a:rPr sz="2200" spc="-5" dirty="0">
                <a:latin typeface="Arial"/>
                <a:cs typeface="Arial"/>
              </a:rPr>
              <a:t> output</a:t>
            </a:r>
            <a:r>
              <a:rPr sz="2200" spc="5" dirty="0">
                <a:latin typeface="Arial"/>
                <a:cs typeface="Arial"/>
              </a:rPr>
              <a:t> </a:t>
            </a:r>
            <a:r>
              <a:rPr sz="2200" dirty="0">
                <a:latin typeface="Arial"/>
                <a:cs typeface="Arial"/>
              </a:rPr>
              <a:t>to</a:t>
            </a:r>
            <a:r>
              <a:rPr sz="2200" spc="-15" dirty="0">
                <a:latin typeface="Arial"/>
                <a:cs typeface="Arial"/>
              </a:rPr>
              <a:t> </a:t>
            </a:r>
            <a:r>
              <a:rPr sz="2200" spc="-5" dirty="0">
                <a:latin typeface="Arial"/>
                <a:cs typeface="Arial"/>
              </a:rPr>
              <a:t>disk</a:t>
            </a:r>
            <a:r>
              <a:rPr sz="2200" spc="25" dirty="0">
                <a:latin typeface="Arial"/>
                <a:cs typeface="Arial"/>
              </a:rPr>
              <a:t> </a:t>
            </a:r>
            <a:r>
              <a:rPr sz="2200" spc="-10" dirty="0">
                <a:latin typeface="Arial"/>
                <a:cs typeface="Arial"/>
              </a:rPr>
              <a:t>in</a:t>
            </a:r>
            <a:r>
              <a:rPr sz="2200" spc="5" dirty="0">
                <a:latin typeface="Arial"/>
                <a:cs typeface="Arial"/>
              </a:rPr>
              <a:t> </a:t>
            </a:r>
            <a:r>
              <a:rPr sz="2200" spc="-5" dirty="0">
                <a:latin typeface="Arial"/>
                <a:cs typeface="Arial"/>
              </a:rPr>
              <a:t>our</a:t>
            </a:r>
            <a:r>
              <a:rPr sz="2200" spc="15" dirty="0">
                <a:latin typeface="Arial"/>
                <a:cs typeface="Arial"/>
              </a:rPr>
              <a:t> </a:t>
            </a:r>
            <a:r>
              <a:rPr sz="2200" dirty="0">
                <a:latin typeface="Arial"/>
                <a:cs typeface="Arial"/>
              </a:rPr>
              <a:t>cost</a:t>
            </a:r>
            <a:r>
              <a:rPr sz="2200" spc="-5" dirty="0">
                <a:latin typeface="Arial"/>
                <a:cs typeface="Arial"/>
              </a:rPr>
              <a:t> formulae.</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5</a:t>
            </a:fld>
            <a:endParaRPr spc="-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509016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Selection</a:t>
            </a:r>
            <a:r>
              <a:rPr sz="3600" spc="-130" dirty="0">
                <a:solidFill>
                  <a:srgbClr val="000000"/>
                </a:solidFill>
                <a:latin typeface="Verdana"/>
                <a:cs typeface="Verdana"/>
              </a:rPr>
              <a:t> </a:t>
            </a:r>
            <a:r>
              <a:rPr sz="3600" spc="-5" dirty="0">
                <a:solidFill>
                  <a:srgbClr val="000000"/>
                </a:solidFill>
                <a:latin typeface="Verdana"/>
                <a:cs typeface="Verdana"/>
              </a:rPr>
              <a:t>Operation</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9275" cy="5153025"/>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5600" algn="l"/>
              </a:tabLst>
            </a:pPr>
            <a:r>
              <a:rPr sz="2400" b="1" spc="-10" dirty="0">
                <a:latin typeface="Arial"/>
                <a:cs typeface="Arial"/>
              </a:rPr>
              <a:t>File</a:t>
            </a:r>
            <a:r>
              <a:rPr sz="2400" b="1" spc="290" dirty="0">
                <a:latin typeface="Arial"/>
                <a:cs typeface="Arial"/>
              </a:rPr>
              <a:t> </a:t>
            </a:r>
            <a:r>
              <a:rPr sz="2400" b="1" dirty="0">
                <a:latin typeface="Arial"/>
                <a:cs typeface="Arial"/>
              </a:rPr>
              <a:t>scan</a:t>
            </a:r>
            <a:r>
              <a:rPr sz="2400" b="1" spc="285" dirty="0">
                <a:latin typeface="Arial"/>
                <a:cs typeface="Arial"/>
              </a:rPr>
              <a:t> </a:t>
            </a:r>
            <a:r>
              <a:rPr sz="2400" b="1" dirty="0">
                <a:latin typeface="Arial"/>
                <a:cs typeface="Arial"/>
              </a:rPr>
              <a:t>–</a:t>
            </a:r>
            <a:r>
              <a:rPr sz="2400" b="1" spc="295" dirty="0">
                <a:latin typeface="Arial"/>
                <a:cs typeface="Arial"/>
              </a:rPr>
              <a:t> </a:t>
            </a:r>
            <a:r>
              <a:rPr sz="2400" dirty="0">
                <a:latin typeface="Arial"/>
                <a:cs typeface="Arial"/>
              </a:rPr>
              <a:t>search</a:t>
            </a:r>
            <a:r>
              <a:rPr sz="2400" spc="300" dirty="0">
                <a:latin typeface="Arial"/>
                <a:cs typeface="Arial"/>
              </a:rPr>
              <a:t> </a:t>
            </a:r>
            <a:r>
              <a:rPr sz="2400" dirty="0">
                <a:latin typeface="Arial"/>
                <a:cs typeface="Arial"/>
              </a:rPr>
              <a:t>algorithms</a:t>
            </a:r>
            <a:r>
              <a:rPr sz="2400" spc="295" dirty="0">
                <a:latin typeface="Arial"/>
                <a:cs typeface="Arial"/>
              </a:rPr>
              <a:t> </a:t>
            </a:r>
            <a:r>
              <a:rPr sz="2400" dirty="0">
                <a:latin typeface="Arial"/>
                <a:cs typeface="Arial"/>
              </a:rPr>
              <a:t>that</a:t>
            </a:r>
            <a:r>
              <a:rPr sz="2400" spc="290" dirty="0">
                <a:latin typeface="Arial"/>
                <a:cs typeface="Arial"/>
              </a:rPr>
              <a:t> </a:t>
            </a:r>
            <a:r>
              <a:rPr sz="2400" dirty="0">
                <a:latin typeface="Arial"/>
                <a:cs typeface="Arial"/>
              </a:rPr>
              <a:t>locate</a:t>
            </a:r>
            <a:r>
              <a:rPr sz="2400" spc="295" dirty="0">
                <a:latin typeface="Arial"/>
                <a:cs typeface="Arial"/>
              </a:rPr>
              <a:t> </a:t>
            </a:r>
            <a:r>
              <a:rPr sz="2400" dirty="0">
                <a:latin typeface="Arial"/>
                <a:cs typeface="Arial"/>
              </a:rPr>
              <a:t>and</a:t>
            </a:r>
            <a:r>
              <a:rPr sz="2400" spc="295" dirty="0">
                <a:latin typeface="Arial"/>
                <a:cs typeface="Arial"/>
              </a:rPr>
              <a:t> </a:t>
            </a:r>
            <a:r>
              <a:rPr sz="2400" spc="-5" dirty="0">
                <a:latin typeface="Arial"/>
                <a:cs typeface="Arial"/>
              </a:rPr>
              <a:t>retrieve</a:t>
            </a:r>
            <a:r>
              <a:rPr sz="2400" spc="295" dirty="0">
                <a:latin typeface="Arial"/>
                <a:cs typeface="Arial"/>
              </a:rPr>
              <a:t> </a:t>
            </a:r>
            <a:r>
              <a:rPr sz="2400" dirty="0">
                <a:latin typeface="Arial"/>
                <a:cs typeface="Arial"/>
              </a:rPr>
              <a:t>records</a:t>
            </a:r>
            <a:r>
              <a:rPr sz="2400" spc="305" dirty="0">
                <a:latin typeface="Arial"/>
                <a:cs typeface="Arial"/>
              </a:rPr>
              <a:t> </a:t>
            </a:r>
            <a:r>
              <a:rPr sz="2400" dirty="0">
                <a:latin typeface="Arial"/>
                <a:cs typeface="Arial"/>
              </a:rPr>
              <a:t>that</a:t>
            </a:r>
            <a:r>
              <a:rPr sz="2400" spc="285" dirty="0">
                <a:latin typeface="Arial"/>
                <a:cs typeface="Arial"/>
              </a:rPr>
              <a:t> </a:t>
            </a:r>
            <a:r>
              <a:rPr sz="2400" dirty="0">
                <a:latin typeface="Arial"/>
                <a:cs typeface="Arial"/>
              </a:rPr>
              <a:t>fulfill</a:t>
            </a:r>
            <a:r>
              <a:rPr sz="2400" spc="305" dirty="0">
                <a:latin typeface="Arial"/>
                <a:cs typeface="Arial"/>
              </a:rPr>
              <a:t> </a:t>
            </a:r>
            <a:r>
              <a:rPr sz="2400" spc="-5" dirty="0">
                <a:latin typeface="Arial"/>
                <a:cs typeface="Arial"/>
              </a:rPr>
              <a:t>a</a:t>
            </a:r>
            <a:endParaRPr sz="2400">
              <a:latin typeface="Arial"/>
              <a:cs typeface="Arial"/>
            </a:endParaRPr>
          </a:p>
          <a:p>
            <a:pPr marL="354965">
              <a:lnSpc>
                <a:spcPct val="100000"/>
              </a:lnSpc>
            </a:pPr>
            <a:r>
              <a:rPr sz="2400" dirty="0">
                <a:latin typeface="Arial"/>
                <a:cs typeface="Arial"/>
              </a:rPr>
              <a:t>selection</a:t>
            </a:r>
            <a:r>
              <a:rPr sz="2400" spc="-25" dirty="0">
                <a:latin typeface="Arial"/>
                <a:cs typeface="Arial"/>
              </a:rPr>
              <a:t> </a:t>
            </a:r>
            <a:r>
              <a:rPr sz="2400" dirty="0">
                <a:latin typeface="Arial"/>
                <a:cs typeface="Arial"/>
              </a:rPr>
              <a:t>condition.</a:t>
            </a:r>
            <a:endParaRPr sz="2400">
              <a:latin typeface="Arial"/>
              <a:cs typeface="Arial"/>
            </a:endParaRPr>
          </a:p>
          <a:p>
            <a:pPr>
              <a:lnSpc>
                <a:spcPct val="100000"/>
              </a:lnSpc>
              <a:spcBef>
                <a:spcPts val="15"/>
              </a:spcBef>
            </a:pPr>
            <a:endParaRPr sz="3450">
              <a:latin typeface="Arial"/>
              <a:cs typeface="Arial"/>
            </a:endParaRPr>
          </a:p>
          <a:p>
            <a:pPr marL="354965" marR="5080" indent="-342900">
              <a:lnSpc>
                <a:spcPct val="100000"/>
              </a:lnSpc>
              <a:buFont typeface="Wingdings"/>
              <a:buChar char=""/>
              <a:tabLst>
                <a:tab pos="355600" algn="l"/>
                <a:tab pos="1808480" algn="l"/>
                <a:tab pos="2288540" algn="l"/>
                <a:tab pos="3261995" algn="l"/>
                <a:tab pos="4463415" algn="l"/>
                <a:tab pos="5227955" algn="l"/>
                <a:tab pos="5964555" algn="l"/>
                <a:tab pos="6450330" algn="l"/>
                <a:tab pos="7232015" algn="l"/>
                <a:tab pos="7827009" algn="l"/>
                <a:tab pos="8411210" algn="l"/>
                <a:tab pos="8818245" algn="l"/>
                <a:tab pos="9879330" algn="l"/>
                <a:tab pos="10243185" algn="l"/>
              </a:tabLst>
            </a:pPr>
            <a:r>
              <a:rPr sz="2200" b="1" spc="-35" dirty="0">
                <a:latin typeface="Arial"/>
                <a:cs typeface="Arial"/>
              </a:rPr>
              <a:t>A</a:t>
            </a:r>
            <a:r>
              <a:rPr sz="2200" b="1" spc="25" dirty="0">
                <a:latin typeface="Arial"/>
                <a:cs typeface="Arial"/>
              </a:rPr>
              <a:t>l</a:t>
            </a:r>
            <a:r>
              <a:rPr sz="2200" b="1" dirty="0">
                <a:latin typeface="Arial"/>
                <a:cs typeface="Arial"/>
              </a:rPr>
              <a:t>g</a:t>
            </a:r>
            <a:r>
              <a:rPr sz="2200" b="1" spc="-10" dirty="0">
                <a:latin typeface="Arial"/>
                <a:cs typeface="Arial"/>
              </a:rPr>
              <a:t>o</a:t>
            </a:r>
            <a:r>
              <a:rPr sz="2200" b="1" dirty="0">
                <a:latin typeface="Arial"/>
                <a:cs typeface="Arial"/>
              </a:rPr>
              <a:t>r</a:t>
            </a:r>
            <a:r>
              <a:rPr sz="2200" b="1" spc="10" dirty="0">
                <a:latin typeface="Arial"/>
                <a:cs typeface="Arial"/>
              </a:rPr>
              <a:t>i</a:t>
            </a:r>
            <a:r>
              <a:rPr sz="2200" b="1" dirty="0">
                <a:latin typeface="Arial"/>
                <a:cs typeface="Arial"/>
              </a:rPr>
              <a:t>thm	</a:t>
            </a:r>
            <a:r>
              <a:rPr sz="2200" b="1" spc="-55" dirty="0">
                <a:latin typeface="Arial"/>
                <a:cs typeface="Arial"/>
              </a:rPr>
              <a:t>A</a:t>
            </a:r>
            <a:r>
              <a:rPr sz="2200" b="1" spc="-5" dirty="0">
                <a:latin typeface="Arial"/>
                <a:cs typeface="Arial"/>
              </a:rPr>
              <a:t>1</a:t>
            </a:r>
            <a:r>
              <a:rPr sz="2200" b="1" dirty="0">
                <a:latin typeface="Arial"/>
                <a:cs typeface="Arial"/>
              </a:rPr>
              <a:t>	(</a:t>
            </a:r>
            <a:r>
              <a:rPr sz="2200" b="1" spc="5" dirty="0">
                <a:latin typeface="Arial"/>
                <a:cs typeface="Arial"/>
              </a:rPr>
              <a:t>li</a:t>
            </a:r>
            <a:r>
              <a:rPr sz="2200" b="1" dirty="0">
                <a:latin typeface="Arial"/>
                <a:cs typeface="Arial"/>
              </a:rPr>
              <a:t>n</a:t>
            </a:r>
            <a:r>
              <a:rPr sz="2200" b="1" spc="10" dirty="0">
                <a:latin typeface="Arial"/>
                <a:cs typeface="Arial"/>
              </a:rPr>
              <a:t>e</a:t>
            </a:r>
            <a:r>
              <a:rPr sz="2200" b="1" spc="-5" dirty="0">
                <a:latin typeface="Arial"/>
                <a:cs typeface="Arial"/>
              </a:rPr>
              <a:t>ar</a:t>
            </a:r>
            <a:r>
              <a:rPr sz="2200" b="1" dirty="0">
                <a:latin typeface="Arial"/>
                <a:cs typeface="Arial"/>
              </a:rPr>
              <a:t>	</a:t>
            </a:r>
            <a:r>
              <a:rPr sz="2200" b="1" spc="-5" dirty="0">
                <a:latin typeface="Arial"/>
                <a:cs typeface="Arial"/>
              </a:rPr>
              <a:t>se</a:t>
            </a:r>
            <a:r>
              <a:rPr sz="2200" b="1" spc="-15" dirty="0">
                <a:latin typeface="Arial"/>
                <a:cs typeface="Arial"/>
              </a:rPr>
              <a:t>a</a:t>
            </a:r>
            <a:r>
              <a:rPr sz="2200" b="1" spc="-5" dirty="0">
                <a:latin typeface="Arial"/>
                <a:cs typeface="Arial"/>
              </a:rPr>
              <a:t>rch)</a:t>
            </a:r>
            <a:r>
              <a:rPr sz="2200" b="1" dirty="0">
                <a:latin typeface="Arial"/>
                <a:cs typeface="Arial"/>
              </a:rPr>
              <a:t>.	</a:t>
            </a:r>
            <a:r>
              <a:rPr sz="2200" spc="-10" dirty="0">
                <a:latin typeface="Arial"/>
                <a:cs typeface="Arial"/>
              </a:rPr>
              <a:t>S</a:t>
            </a:r>
            <a:r>
              <a:rPr sz="2200" spc="-5" dirty="0">
                <a:latin typeface="Arial"/>
                <a:cs typeface="Arial"/>
              </a:rPr>
              <a:t>can</a:t>
            </a:r>
            <a:r>
              <a:rPr sz="2200" dirty="0">
                <a:latin typeface="Arial"/>
                <a:cs typeface="Arial"/>
              </a:rPr>
              <a:t>	</a:t>
            </a:r>
            <a:r>
              <a:rPr sz="2200" spc="10" dirty="0">
                <a:latin typeface="Arial"/>
                <a:cs typeface="Arial"/>
              </a:rPr>
              <a:t>e</a:t>
            </a:r>
            <a:r>
              <a:rPr sz="2200" spc="-5" dirty="0">
                <a:latin typeface="Arial"/>
                <a:cs typeface="Arial"/>
              </a:rPr>
              <a:t>ach</a:t>
            </a:r>
            <a:r>
              <a:rPr sz="2200" dirty="0">
                <a:latin typeface="Arial"/>
                <a:cs typeface="Arial"/>
              </a:rPr>
              <a:t>	</a:t>
            </a:r>
            <a:r>
              <a:rPr sz="2200" spc="5" dirty="0">
                <a:latin typeface="Arial"/>
                <a:cs typeface="Arial"/>
              </a:rPr>
              <a:t>f</a:t>
            </a:r>
            <a:r>
              <a:rPr sz="2200" spc="-15" dirty="0">
                <a:latin typeface="Arial"/>
                <a:cs typeface="Arial"/>
              </a:rPr>
              <a:t>il</a:t>
            </a:r>
            <a:r>
              <a:rPr sz="2200" spc="-5" dirty="0">
                <a:latin typeface="Arial"/>
                <a:cs typeface="Arial"/>
              </a:rPr>
              <a:t>e</a:t>
            </a:r>
            <a:r>
              <a:rPr sz="2200" dirty="0">
                <a:latin typeface="Arial"/>
                <a:cs typeface="Arial"/>
              </a:rPr>
              <a:t>	</a:t>
            </a:r>
            <a:r>
              <a:rPr sz="2200" spc="-5" dirty="0">
                <a:latin typeface="Arial"/>
                <a:cs typeface="Arial"/>
              </a:rPr>
              <a:t>b</a:t>
            </a:r>
            <a:r>
              <a:rPr sz="2200" dirty="0">
                <a:latin typeface="Arial"/>
                <a:cs typeface="Arial"/>
              </a:rPr>
              <a:t>l</a:t>
            </a:r>
            <a:r>
              <a:rPr sz="2200" spc="-5" dirty="0">
                <a:latin typeface="Arial"/>
                <a:cs typeface="Arial"/>
              </a:rPr>
              <a:t>ock</a:t>
            </a:r>
            <a:r>
              <a:rPr sz="2200" dirty="0">
                <a:latin typeface="Arial"/>
                <a:cs typeface="Arial"/>
              </a:rPr>
              <a:t>	</a:t>
            </a:r>
            <a:r>
              <a:rPr sz="2200" spc="-10" dirty="0">
                <a:latin typeface="Arial"/>
                <a:cs typeface="Arial"/>
              </a:rPr>
              <a:t>an</a:t>
            </a:r>
            <a:r>
              <a:rPr sz="2200" spc="-5" dirty="0">
                <a:latin typeface="Arial"/>
                <a:cs typeface="Arial"/>
              </a:rPr>
              <a:t>d</a:t>
            </a:r>
            <a:r>
              <a:rPr sz="2200" dirty="0">
                <a:latin typeface="Arial"/>
                <a:cs typeface="Arial"/>
              </a:rPr>
              <a:t>	</a:t>
            </a:r>
            <a:r>
              <a:rPr sz="2200" spc="25" dirty="0">
                <a:latin typeface="Arial"/>
                <a:cs typeface="Arial"/>
              </a:rPr>
              <a:t>t</a:t>
            </a:r>
            <a:r>
              <a:rPr sz="2200" dirty="0">
                <a:latin typeface="Arial"/>
                <a:cs typeface="Arial"/>
              </a:rPr>
              <a:t>est	</a:t>
            </a:r>
            <a:r>
              <a:rPr sz="2200" spc="-5" dirty="0">
                <a:latin typeface="Arial"/>
                <a:cs typeface="Arial"/>
              </a:rPr>
              <a:t>a</a:t>
            </a:r>
            <a:r>
              <a:rPr sz="2200" spc="-20" dirty="0">
                <a:latin typeface="Arial"/>
                <a:cs typeface="Arial"/>
              </a:rPr>
              <a:t>l</a:t>
            </a:r>
            <a:r>
              <a:rPr sz="2200" spc="-5" dirty="0">
                <a:latin typeface="Arial"/>
                <a:cs typeface="Arial"/>
              </a:rPr>
              <a:t>l</a:t>
            </a:r>
            <a:r>
              <a:rPr sz="2200" dirty="0">
                <a:latin typeface="Arial"/>
                <a:cs typeface="Arial"/>
              </a:rPr>
              <a:t>	r</a:t>
            </a:r>
            <a:r>
              <a:rPr sz="2200" spc="-5" dirty="0">
                <a:latin typeface="Arial"/>
                <a:cs typeface="Arial"/>
              </a:rPr>
              <a:t>ecords</a:t>
            </a:r>
            <a:r>
              <a:rPr sz="2200" dirty="0">
                <a:latin typeface="Arial"/>
                <a:cs typeface="Arial"/>
              </a:rPr>
              <a:t>	</a:t>
            </a:r>
            <a:r>
              <a:rPr sz="2200" spc="5" dirty="0">
                <a:latin typeface="Arial"/>
                <a:cs typeface="Arial"/>
              </a:rPr>
              <a:t>t</a:t>
            </a:r>
            <a:r>
              <a:rPr sz="2200" dirty="0">
                <a:latin typeface="Arial"/>
                <a:cs typeface="Arial"/>
              </a:rPr>
              <a:t>o	</a:t>
            </a:r>
            <a:r>
              <a:rPr sz="2200" spc="15" dirty="0">
                <a:latin typeface="Arial"/>
                <a:cs typeface="Arial"/>
              </a:rPr>
              <a:t>s</a:t>
            </a:r>
            <a:r>
              <a:rPr sz="2200" spc="-5" dirty="0">
                <a:latin typeface="Arial"/>
                <a:cs typeface="Arial"/>
              </a:rPr>
              <a:t>ee  </a:t>
            </a:r>
            <a:r>
              <a:rPr sz="2200" spc="-10" dirty="0">
                <a:latin typeface="Arial"/>
                <a:cs typeface="Arial"/>
              </a:rPr>
              <a:t>whether</a:t>
            </a:r>
            <a:r>
              <a:rPr sz="2200" spc="65" dirty="0">
                <a:latin typeface="Arial"/>
                <a:cs typeface="Arial"/>
              </a:rPr>
              <a:t> </a:t>
            </a:r>
            <a:r>
              <a:rPr sz="2200" dirty="0">
                <a:latin typeface="Arial"/>
                <a:cs typeface="Arial"/>
              </a:rPr>
              <a:t>they</a:t>
            </a:r>
            <a:r>
              <a:rPr sz="2200" spc="-20" dirty="0">
                <a:latin typeface="Arial"/>
                <a:cs typeface="Arial"/>
              </a:rPr>
              <a:t> </a:t>
            </a:r>
            <a:r>
              <a:rPr sz="2200" dirty="0">
                <a:latin typeface="Arial"/>
                <a:cs typeface="Arial"/>
              </a:rPr>
              <a:t>satisfy</a:t>
            </a:r>
            <a:r>
              <a:rPr sz="2200" spc="15" dirty="0">
                <a:latin typeface="Arial"/>
                <a:cs typeface="Arial"/>
              </a:rPr>
              <a:t> </a:t>
            </a:r>
            <a:r>
              <a:rPr sz="2200" dirty="0">
                <a:latin typeface="Arial"/>
                <a:cs typeface="Arial"/>
              </a:rPr>
              <a:t>the </a:t>
            </a:r>
            <a:r>
              <a:rPr sz="2200" spc="-5" dirty="0">
                <a:latin typeface="Arial"/>
                <a:cs typeface="Arial"/>
              </a:rPr>
              <a:t>selection</a:t>
            </a:r>
            <a:r>
              <a:rPr sz="2200" spc="20" dirty="0">
                <a:latin typeface="Arial"/>
                <a:cs typeface="Arial"/>
              </a:rPr>
              <a:t> </a:t>
            </a:r>
            <a:r>
              <a:rPr sz="2200" spc="-5" dirty="0">
                <a:latin typeface="Arial"/>
                <a:cs typeface="Arial"/>
              </a:rPr>
              <a:t>condition.</a:t>
            </a:r>
            <a:endParaRPr sz="2200">
              <a:latin typeface="Arial"/>
              <a:cs typeface="Arial"/>
            </a:endParaRPr>
          </a:p>
          <a:p>
            <a:pPr marL="1160780" lvl="1" indent="-234315">
              <a:lnSpc>
                <a:spcPct val="100000"/>
              </a:lnSpc>
              <a:spcBef>
                <a:spcPts val="540"/>
              </a:spcBef>
              <a:buChar char="–"/>
              <a:tabLst>
                <a:tab pos="1161415" algn="l"/>
              </a:tabLst>
            </a:pPr>
            <a:r>
              <a:rPr sz="2200" spc="-5" dirty="0">
                <a:latin typeface="Arial"/>
                <a:cs typeface="Arial"/>
              </a:rPr>
              <a:t>Cost</a:t>
            </a:r>
            <a:r>
              <a:rPr sz="2200" spc="10" dirty="0">
                <a:latin typeface="Arial"/>
                <a:cs typeface="Arial"/>
              </a:rPr>
              <a:t> </a:t>
            </a:r>
            <a:r>
              <a:rPr sz="2200" dirty="0">
                <a:latin typeface="Arial"/>
                <a:cs typeface="Arial"/>
              </a:rPr>
              <a:t>estimate</a:t>
            </a:r>
            <a:r>
              <a:rPr sz="2200" spc="10" dirty="0">
                <a:latin typeface="Arial"/>
                <a:cs typeface="Arial"/>
              </a:rPr>
              <a:t> </a:t>
            </a:r>
            <a:r>
              <a:rPr sz="2200" spc="-5" dirty="0">
                <a:latin typeface="Arial"/>
                <a:cs typeface="Arial"/>
              </a:rPr>
              <a:t>(number</a:t>
            </a:r>
            <a:r>
              <a:rPr sz="2200" spc="10" dirty="0">
                <a:latin typeface="Arial"/>
                <a:cs typeface="Arial"/>
              </a:rPr>
              <a:t> </a:t>
            </a:r>
            <a:r>
              <a:rPr sz="2200" spc="-5" dirty="0">
                <a:latin typeface="Arial"/>
                <a:cs typeface="Arial"/>
              </a:rPr>
              <a:t>of disk</a:t>
            </a:r>
            <a:r>
              <a:rPr sz="2200" spc="25" dirty="0">
                <a:latin typeface="Arial"/>
                <a:cs typeface="Arial"/>
              </a:rPr>
              <a:t> </a:t>
            </a:r>
            <a:r>
              <a:rPr sz="2200" spc="-5" dirty="0">
                <a:latin typeface="Arial"/>
                <a:cs typeface="Arial"/>
              </a:rPr>
              <a:t>blocks</a:t>
            </a:r>
            <a:r>
              <a:rPr sz="2200" spc="5" dirty="0">
                <a:latin typeface="Arial"/>
                <a:cs typeface="Arial"/>
              </a:rPr>
              <a:t> </a:t>
            </a:r>
            <a:r>
              <a:rPr sz="2200" spc="-5" dirty="0">
                <a:latin typeface="Arial"/>
                <a:cs typeface="Arial"/>
              </a:rPr>
              <a:t>scanned)</a:t>
            </a:r>
            <a:r>
              <a:rPr sz="2200" spc="35" dirty="0">
                <a:latin typeface="Arial"/>
                <a:cs typeface="Arial"/>
              </a:rPr>
              <a:t> </a:t>
            </a:r>
            <a:r>
              <a:rPr sz="2200" dirty="0">
                <a:latin typeface="Arial"/>
                <a:cs typeface="Arial"/>
              </a:rPr>
              <a:t>=</a:t>
            </a:r>
            <a:r>
              <a:rPr sz="2200" spc="5" dirty="0">
                <a:latin typeface="Arial"/>
                <a:cs typeface="Arial"/>
              </a:rPr>
              <a:t> </a:t>
            </a:r>
            <a:r>
              <a:rPr sz="2200" spc="-10" dirty="0">
                <a:latin typeface="Arial"/>
                <a:cs typeface="Arial"/>
              </a:rPr>
              <a:t>br</a:t>
            </a:r>
            <a:endParaRPr sz="2200">
              <a:latin typeface="Arial"/>
              <a:cs typeface="Arial"/>
            </a:endParaRPr>
          </a:p>
          <a:p>
            <a:pPr marL="1841500">
              <a:lnSpc>
                <a:spcPct val="100000"/>
              </a:lnSpc>
              <a:spcBef>
                <a:spcPts val="725"/>
              </a:spcBef>
            </a:pPr>
            <a:r>
              <a:rPr sz="2000" dirty="0">
                <a:latin typeface="Arial"/>
                <a:cs typeface="Arial"/>
              </a:rPr>
              <a:t>-</a:t>
            </a:r>
            <a:r>
              <a:rPr sz="2000" spc="-10" dirty="0">
                <a:latin typeface="Arial"/>
                <a:cs typeface="Arial"/>
              </a:rPr>
              <a:t> </a:t>
            </a:r>
            <a:r>
              <a:rPr sz="2000" dirty="0">
                <a:latin typeface="Arial"/>
                <a:cs typeface="Arial"/>
              </a:rPr>
              <a:t>br</a:t>
            </a:r>
            <a:r>
              <a:rPr sz="2000" spc="-25" dirty="0">
                <a:latin typeface="Arial"/>
                <a:cs typeface="Arial"/>
              </a:rPr>
              <a:t> </a:t>
            </a:r>
            <a:r>
              <a:rPr sz="2000" dirty="0">
                <a:latin typeface="Arial"/>
                <a:cs typeface="Arial"/>
              </a:rPr>
              <a:t>denotes</a:t>
            </a:r>
            <a:r>
              <a:rPr sz="2000" spc="-45" dirty="0">
                <a:latin typeface="Arial"/>
                <a:cs typeface="Arial"/>
              </a:rPr>
              <a:t> </a:t>
            </a:r>
            <a:r>
              <a:rPr sz="2000" dirty="0">
                <a:latin typeface="Arial"/>
                <a:cs typeface="Arial"/>
              </a:rPr>
              <a:t>number</a:t>
            </a:r>
            <a:r>
              <a:rPr sz="2000" spc="-55" dirty="0">
                <a:latin typeface="Arial"/>
                <a:cs typeface="Arial"/>
              </a:rPr>
              <a:t> </a:t>
            </a:r>
            <a:r>
              <a:rPr sz="2000" spc="5" dirty="0">
                <a:latin typeface="Arial"/>
                <a:cs typeface="Arial"/>
              </a:rPr>
              <a:t>of</a:t>
            </a:r>
            <a:r>
              <a:rPr sz="2000" spc="-15" dirty="0">
                <a:latin typeface="Arial"/>
                <a:cs typeface="Arial"/>
              </a:rPr>
              <a:t> </a:t>
            </a:r>
            <a:r>
              <a:rPr sz="2000" dirty="0">
                <a:latin typeface="Arial"/>
                <a:cs typeface="Arial"/>
              </a:rPr>
              <a:t>blocks</a:t>
            </a:r>
            <a:r>
              <a:rPr sz="2000" spc="-10" dirty="0">
                <a:latin typeface="Arial"/>
                <a:cs typeface="Arial"/>
              </a:rPr>
              <a:t> </a:t>
            </a:r>
            <a:r>
              <a:rPr sz="2000" dirty="0">
                <a:latin typeface="Arial"/>
                <a:cs typeface="Arial"/>
              </a:rPr>
              <a:t>containing</a:t>
            </a:r>
            <a:r>
              <a:rPr sz="2000" spc="-20" dirty="0">
                <a:latin typeface="Arial"/>
                <a:cs typeface="Arial"/>
              </a:rPr>
              <a:t> </a:t>
            </a:r>
            <a:r>
              <a:rPr sz="2000" dirty="0">
                <a:latin typeface="Arial"/>
                <a:cs typeface="Arial"/>
              </a:rPr>
              <a:t>records</a:t>
            </a:r>
            <a:r>
              <a:rPr sz="2000" spc="-10" dirty="0">
                <a:latin typeface="Arial"/>
                <a:cs typeface="Arial"/>
              </a:rPr>
              <a:t> </a:t>
            </a:r>
            <a:r>
              <a:rPr sz="2000" spc="5" dirty="0">
                <a:latin typeface="Arial"/>
                <a:cs typeface="Arial"/>
              </a:rPr>
              <a:t>from</a:t>
            </a:r>
            <a:r>
              <a:rPr sz="2000" spc="-60" dirty="0">
                <a:latin typeface="Arial"/>
                <a:cs typeface="Arial"/>
              </a:rPr>
              <a:t> </a:t>
            </a:r>
            <a:r>
              <a:rPr sz="2000" dirty="0">
                <a:latin typeface="Arial"/>
                <a:cs typeface="Arial"/>
              </a:rPr>
              <a:t>relation</a:t>
            </a:r>
            <a:r>
              <a:rPr sz="2000" spc="-5" dirty="0">
                <a:latin typeface="Arial"/>
                <a:cs typeface="Arial"/>
              </a:rPr>
              <a:t> </a:t>
            </a:r>
            <a:r>
              <a:rPr sz="2000" dirty="0">
                <a:latin typeface="Arial"/>
                <a:cs typeface="Arial"/>
              </a:rPr>
              <a:t>r</a:t>
            </a:r>
            <a:endParaRPr sz="2000">
              <a:latin typeface="Arial"/>
              <a:cs typeface="Arial"/>
            </a:endParaRPr>
          </a:p>
          <a:p>
            <a:pPr marL="1160780" lvl="1" indent="-234315">
              <a:lnSpc>
                <a:spcPct val="100000"/>
              </a:lnSpc>
              <a:spcBef>
                <a:spcPts val="560"/>
              </a:spcBef>
              <a:buChar char="–"/>
              <a:tabLst>
                <a:tab pos="1161415" algn="l"/>
              </a:tabLst>
            </a:pPr>
            <a:r>
              <a:rPr sz="2200" dirty="0">
                <a:latin typeface="Arial"/>
                <a:cs typeface="Arial"/>
              </a:rPr>
              <a:t>If</a:t>
            </a:r>
            <a:r>
              <a:rPr sz="2200" spc="-5" dirty="0">
                <a:latin typeface="Arial"/>
                <a:cs typeface="Arial"/>
              </a:rPr>
              <a:t> selection</a:t>
            </a:r>
            <a:r>
              <a:rPr sz="2200" spc="10" dirty="0">
                <a:latin typeface="Arial"/>
                <a:cs typeface="Arial"/>
              </a:rPr>
              <a:t> </a:t>
            </a:r>
            <a:r>
              <a:rPr sz="2200" spc="-10" dirty="0">
                <a:latin typeface="Arial"/>
                <a:cs typeface="Arial"/>
              </a:rPr>
              <a:t>is</a:t>
            </a:r>
            <a:r>
              <a:rPr sz="2200" spc="5" dirty="0">
                <a:latin typeface="Arial"/>
                <a:cs typeface="Arial"/>
              </a:rPr>
              <a:t> </a:t>
            </a:r>
            <a:r>
              <a:rPr sz="2200" spc="-5" dirty="0">
                <a:latin typeface="Arial"/>
                <a:cs typeface="Arial"/>
              </a:rPr>
              <a:t>on</a:t>
            </a:r>
            <a:r>
              <a:rPr sz="2200" spc="10" dirty="0">
                <a:latin typeface="Arial"/>
                <a:cs typeface="Arial"/>
              </a:rPr>
              <a:t> </a:t>
            </a:r>
            <a:r>
              <a:rPr sz="2200" spc="-5" dirty="0">
                <a:latin typeface="Arial"/>
                <a:cs typeface="Arial"/>
              </a:rPr>
              <a:t>a</a:t>
            </a:r>
            <a:r>
              <a:rPr sz="2200" spc="5" dirty="0">
                <a:latin typeface="Arial"/>
                <a:cs typeface="Arial"/>
              </a:rPr>
              <a:t> </a:t>
            </a:r>
            <a:r>
              <a:rPr sz="2200" dirty="0">
                <a:latin typeface="Arial"/>
                <a:cs typeface="Arial"/>
              </a:rPr>
              <a:t>key</a:t>
            </a:r>
            <a:r>
              <a:rPr sz="2200" spc="5" dirty="0">
                <a:latin typeface="Arial"/>
                <a:cs typeface="Arial"/>
              </a:rPr>
              <a:t> </a:t>
            </a:r>
            <a:r>
              <a:rPr sz="2200" dirty="0">
                <a:latin typeface="Arial"/>
                <a:cs typeface="Arial"/>
              </a:rPr>
              <a:t>attribute,</a:t>
            </a:r>
            <a:r>
              <a:rPr sz="2200" spc="5" dirty="0">
                <a:latin typeface="Arial"/>
                <a:cs typeface="Arial"/>
              </a:rPr>
              <a:t> </a:t>
            </a:r>
            <a:r>
              <a:rPr sz="2200" spc="-5" dirty="0">
                <a:latin typeface="Arial"/>
                <a:cs typeface="Arial"/>
              </a:rPr>
              <a:t>cost</a:t>
            </a:r>
            <a:r>
              <a:rPr sz="2200" spc="15" dirty="0">
                <a:latin typeface="Arial"/>
                <a:cs typeface="Arial"/>
              </a:rPr>
              <a:t> </a:t>
            </a:r>
            <a:r>
              <a:rPr sz="2200" spc="-5" dirty="0">
                <a:latin typeface="Arial"/>
                <a:cs typeface="Arial"/>
              </a:rPr>
              <a:t>=</a:t>
            </a:r>
            <a:r>
              <a:rPr sz="2200" spc="5" dirty="0">
                <a:latin typeface="Arial"/>
                <a:cs typeface="Arial"/>
              </a:rPr>
              <a:t> </a:t>
            </a:r>
            <a:r>
              <a:rPr sz="2200" dirty="0">
                <a:latin typeface="Arial"/>
                <a:cs typeface="Arial"/>
              </a:rPr>
              <a:t>(br/ </a:t>
            </a:r>
            <a:r>
              <a:rPr sz="2200" spc="-5" dirty="0">
                <a:latin typeface="Arial"/>
                <a:cs typeface="Arial"/>
              </a:rPr>
              <a:t>2)</a:t>
            </a:r>
            <a:r>
              <a:rPr sz="2200" spc="15" dirty="0">
                <a:latin typeface="Arial"/>
                <a:cs typeface="Arial"/>
              </a:rPr>
              <a:t> </a:t>
            </a:r>
            <a:r>
              <a:rPr sz="2200" dirty="0">
                <a:latin typeface="Arial"/>
                <a:cs typeface="Arial"/>
              </a:rPr>
              <a:t>(stop</a:t>
            </a:r>
            <a:r>
              <a:rPr sz="2200" spc="-5" dirty="0">
                <a:latin typeface="Arial"/>
                <a:cs typeface="Arial"/>
              </a:rPr>
              <a:t> on</a:t>
            </a:r>
            <a:r>
              <a:rPr sz="2200" spc="10" dirty="0">
                <a:latin typeface="Arial"/>
                <a:cs typeface="Arial"/>
              </a:rPr>
              <a:t> </a:t>
            </a:r>
            <a:r>
              <a:rPr sz="2200" spc="-5" dirty="0">
                <a:latin typeface="Arial"/>
                <a:cs typeface="Arial"/>
              </a:rPr>
              <a:t>finding</a:t>
            </a:r>
            <a:r>
              <a:rPr sz="2200" spc="25" dirty="0">
                <a:latin typeface="Arial"/>
                <a:cs typeface="Arial"/>
              </a:rPr>
              <a:t> </a:t>
            </a:r>
            <a:r>
              <a:rPr sz="2200" spc="-5" dirty="0">
                <a:latin typeface="Arial"/>
                <a:cs typeface="Arial"/>
              </a:rPr>
              <a:t>record)</a:t>
            </a:r>
            <a:endParaRPr sz="2200">
              <a:latin typeface="Arial"/>
              <a:cs typeface="Arial"/>
            </a:endParaRPr>
          </a:p>
          <a:p>
            <a:pPr lvl="1">
              <a:lnSpc>
                <a:spcPct val="100000"/>
              </a:lnSpc>
              <a:spcBef>
                <a:spcPts val="20"/>
              </a:spcBef>
              <a:buFont typeface="Arial"/>
              <a:buChar char="–"/>
            </a:pPr>
            <a:endParaRPr sz="3200">
              <a:latin typeface="Arial"/>
              <a:cs typeface="Arial"/>
            </a:endParaRPr>
          </a:p>
          <a:p>
            <a:pPr marL="434340" indent="-421640">
              <a:lnSpc>
                <a:spcPct val="100000"/>
              </a:lnSpc>
              <a:spcBef>
                <a:spcPts val="5"/>
              </a:spcBef>
              <a:buFont typeface="Wingdings"/>
              <a:buChar char=""/>
              <a:tabLst>
                <a:tab pos="433705" algn="l"/>
                <a:tab pos="434340" algn="l"/>
              </a:tabLst>
            </a:pPr>
            <a:r>
              <a:rPr sz="2200" spc="-5" dirty="0">
                <a:latin typeface="Arial"/>
                <a:cs typeface="Arial"/>
              </a:rPr>
              <a:t>Linear</a:t>
            </a:r>
            <a:r>
              <a:rPr sz="2200" spc="25" dirty="0">
                <a:latin typeface="Arial"/>
                <a:cs typeface="Arial"/>
              </a:rPr>
              <a:t> </a:t>
            </a:r>
            <a:r>
              <a:rPr sz="2200" dirty="0">
                <a:latin typeface="Arial"/>
                <a:cs typeface="Arial"/>
              </a:rPr>
              <a:t>search</a:t>
            </a:r>
            <a:r>
              <a:rPr sz="2200" spc="-5" dirty="0">
                <a:latin typeface="Arial"/>
                <a:cs typeface="Arial"/>
              </a:rPr>
              <a:t> can</a:t>
            </a:r>
            <a:r>
              <a:rPr sz="2200" spc="-10" dirty="0">
                <a:latin typeface="Arial"/>
                <a:cs typeface="Arial"/>
              </a:rPr>
              <a:t> </a:t>
            </a:r>
            <a:r>
              <a:rPr sz="2200" spc="-5" dirty="0">
                <a:latin typeface="Arial"/>
                <a:cs typeface="Arial"/>
              </a:rPr>
              <a:t>be</a:t>
            </a:r>
            <a:r>
              <a:rPr sz="2200" dirty="0">
                <a:latin typeface="Arial"/>
                <a:cs typeface="Arial"/>
              </a:rPr>
              <a:t> </a:t>
            </a:r>
            <a:r>
              <a:rPr sz="2200" spc="-5" dirty="0">
                <a:latin typeface="Arial"/>
                <a:cs typeface="Arial"/>
              </a:rPr>
              <a:t>applied</a:t>
            </a:r>
            <a:r>
              <a:rPr sz="2200" spc="35" dirty="0">
                <a:latin typeface="Arial"/>
                <a:cs typeface="Arial"/>
              </a:rPr>
              <a:t> </a:t>
            </a:r>
            <a:r>
              <a:rPr sz="2200" spc="-5" dirty="0">
                <a:latin typeface="Arial"/>
                <a:cs typeface="Arial"/>
              </a:rPr>
              <a:t>regardless</a:t>
            </a:r>
            <a:r>
              <a:rPr sz="2200" spc="20" dirty="0">
                <a:latin typeface="Arial"/>
                <a:cs typeface="Arial"/>
              </a:rPr>
              <a:t> </a:t>
            </a:r>
            <a:r>
              <a:rPr sz="2200" spc="-5" dirty="0">
                <a:latin typeface="Arial"/>
                <a:cs typeface="Arial"/>
              </a:rPr>
              <a:t>of</a:t>
            </a:r>
            <a:endParaRPr sz="2200">
              <a:latin typeface="Arial"/>
              <a:cs typeface="Arial"/>
            </a:endParaRPr>
          </a:p>
          <a:p>
            <a:pPr marL="927100">
              <a:lnSpc>
                <a:spcPct val="100000"/>
              </a:lnSpc>
              <a:spcBef>
                <a:spcPts val="535"/>
              </a:spcBef>
            </a:pPr>
            <a:r>
              <a:rPr sz="2200" spc="204" dirty="0">
                <a:latin typeface="Arial Unicode MS"/>
                <a:cs typeface="Arial Unicode MS"/>
              </a:rPr>
              <a:t>∗</a:t>
            </a:r>
            <a:r>
              <a:rPr sz="2200" spc="-15" dirty="0">
                <a:latin typeface="Arial Unicode MS"/>
                <a:cs typeface="Arial Unicode MS"/>
              </a:rPr>
              <a:t> </a:t>
            </a:r>
            <a:r>
              <a:rPr sz="2200" spc="-5" dirty="0">
                <a:latin typeface="Arial"/>
                <a:cs typeface="Arial"/>
              </a:rPr>
              <a:t>selection</a:t>
            </a:r>
            <a:r>
              <a:rPr sz="2200" spc="5" dirty="0">
                <a:latin typeface="Arial"/>
                <a:cs typeface="Arial"/>
              </a:rPr>
              <a:t> </a:t>
            </a:r>
            <a:r>
              <a:rPr sz="2200" spc="-5" dirty="0">
                <a:latin typeface="Arial"/>
                <a:cs typeface="Arial"/>
              </a:rPr>
              <a:t>condition,</a:t>
            </a:r>
            <a:r>
              <a:rPr sz="2200" spc="20" dirty="0">
                <a:latin typeface="Arial"/>
                <a:cs typeface="Arial"/>
              </a:rPr>
              <a:t> </a:t>
            </a:r>
            <a:r>
              <a:rPr sz="2200" spc="-5" dirty="0">
                <a:latin typeface="Arial"/>
                <a:cs typeface="Arial"/>
              </a:rPr>
              <a:t>or</a:t>
            </a:r>
            <a:endParaRPr sz="2200">
              <a:latin typeface="Arial"/>
              <a:cs typeface="Arial"/>
            </a:endParaRPr>
          </a:p>
          <a:p>
            <a:pPr marL="927100">
              <a:lnSpc>
                <a:spcPct val="100000"/>
              </a:lnSpc>
              <a:spcBef>
                <a:spcPts val="525"/>
              </a:spcBef>
            </a:pPr>
            <a:r>
              <a:rPr sz="2200" spc="204" dirty="0">
                <a:latin typeface="Arial Unicode MS"/>
                <a:cs typeface="Arial Unicode MS"/>
              </a:rPr>
              <a:t>∗</a:t>
            </a:r>
            <a:r>
              <a:rPr sz="2200" spc="5" dirty="0">
                <a:latin typeface="Arial Unicode MS"/>
                <a:cs typeface="Arial Unicode MS"/>
              </a:rPr>
              <a:t> </a:t>
            </a:r>
            <a:r>
              <a:rPr sz="2200" spc="-5" dirty="0">
                <a:latin typeface="Arial"/>
                <a:cs typeface="Arial"/>
              </a:rPr>
              <a:t>ordering</a:t>
            </a:r>
            <a:r>
              <a:rPr sz="2200" spc="20" dirty="0">
                <a:latin typeface="Arial"/>
                <a:cs typeface="Arial"/>
              </a:rPr>
              <a:t> </a:t>
            </a:r>
            <a:r>
              <a:rPr sz="2200" spc="-5" dirty="0">
                <a:latin typeface="Arial"/>
                <a:cs typeface="Arial"/>
              </a:rPr>
              <a:t>of</a:t>
            </a:r>
            <a:r>
              <a:rPr sz="2200" dirty="0">
                <a:latin typeface="Arial"/>
                <a:cs typeface="Arial"/>
              </a:rPr>
              <a:t> </a:t>
            </a:r>
            <a:r>
              <a:rPr sz="2200" spc="-5" dirty="0">
                <a:latin typeface="Arial"/>
                <a:cs typeface="Arial"/>
              </a:rPr>
              <a:t>records</a:t>
            </a:r>
            <a:r>
              <a:rPr sz="2200" spc="10" dirty="0">
                <a:latin typeface="Arial"/>
                <a:cs typeface="Arial"/>
              </a:rPr>
              <a:t> </a:t>
            </a:r>
            <a:r>
              <a:rPr sz="2200" spc="-10" dirty="0">
                <a:latin typeface="Arial"/>
                <a:cs typeface="Arial"/>
              </a:rPr>
              <a:t>in</a:t>
            </a:r>
            <a:r>
              <a:rPr sz="2200" spc="30" dirty="0">
                <a:latin typeface="Arial"/>
                <a:cs typeface="Arial"/>
              </a:rPr>
              <a:t> </a:t>
            </a:r>
            <a:r>
              <a:rPr sz="2200" dirty="0">
                <a:latin typeface="Arial"/>
                <a:cs typeface="Arial"/>
              </a:rPr>
              <a:t>the</a:t>
            </a:r>
            <a:r>
              <a:rPr sz="2200" spc="-20" dirty="0">
                <a:latin typeface="Arial"/>
                <a:cs typeface="Arial"/>
              </a:rPr>
              <a:t> </a:t>
            </a:r>
            <a:r>
              <a:rPr sz="2200" spc="-5" dirty="0">
                <a:latin typeface="Arial"/>
                <a:cs typeface="Arial"/>
              </a:rPr>
              <a:t>file,</a:t>
            </a:r>
            <a:r>
              <a:rPr sz="2200" spc="5" dirty="0">
                <a:latin typeface="Arial"/>
                <a:cs typeface="Arial"/>
              </a:rPr>
              <a:t> </a:t>
            </a:r>
            <a:r>
              <a:rPr sz="2200" spc="-10" dirty="0">
                <a:latin typeface="Arial"/>
                <a:cs typeface="Arial"/>
              </a:rPr>
              <a:t>or</a:t>
            </a:r>
            <a:endParaRPr sz="2200">
              <a:latin typeface="Arial"/>
              <a:cs typeface="Arial"/>
            </a:endParaRPr>
          </a:p>
          <a:p>
            <a:pPr marL="927100">
              <a:lnSpc>
                <a:spcPct val="100000"/>
              </a:lnSpc>
              <a:spcBef>
                <a:spcPts val="520"/>
              </a:spcBef>
            </a:pPr>
            <a:r>
              <a:rPr sz="2200" spc="204" dirty="0">
                <a:latin typeface="Arial Unicode MS"/>
                <a:cs typeface="Arial Unicode MS"/>
              </a:rPr>
              <a:t>∗</a:t>
            </a:r>
            <a:r>
              <a:rPr sz="2200" spc="-5" dirty="0">
                <a:latin typeface="Arial Unicode MS"/>
                <a:cs typeface="Arial Unicode MS"/>
              </a:rPr>
              <a:t> </a:t>
            </a:r>
            <a:r>
              <a:rPr sz="2200" spc="-10" dirty="0">
                <a:latin typeface="Arial"/>
                <a:cs typeface="Arial"/>
              </a:rPr>
              <a:t>availability</a:t>
            </a:r>
            <a:r>
              <a:rPr sz="2200" spc="45" dirty="0">
                <a:latin typeface="Arial"/>
                <a:cs typeface="Arial"/>
              </a:rPr>
              <a:t> </a:t>
            </a:r>
            <a:r>
              <a:rPr sz="2200" spc="-5" dirty="0">
                <a:latin typeface="Arial"/>
                <a:cs typeface="Arial"/>
              </a:rPr>
              <a:t>of</a:t>
            </a:r>
            <a:r>
              <a:rPr sz="2200" spc="-10" dirty="0">
                <a:latin typeface="Arial"/>
                <a:cs typeface="Arial"/>
              </a:rPr>
              <a:t> </a:t>
            </a:r>
            <a:r>
              <a:rPr sz="2200" spc="-5" dirty="0">
                <a:latin typeface="Arial"/>
                <a:cs typeface="Arial"/>
              </a:rPr>
              <a:t>indices</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6</a:t>
            </a:fld>
            <a:endParaRPr spc="-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509016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Selection</a:t>
            </a:r>
            <a:r>
              <a:rPr sz="3600" spc="-130" dirty="0">
                <a:solidFill>
                  <a:srgbClr val="000000"/>
                </a:solidFill>
                <a:latin typeface="Verdana"/>
                <a:cs typeface="Verdana"/>
              </a:rPr>
              <a:t> </a:t>
            </a:r>
            <a:r>
              <a:rPr sz="3600" spc="-5" dirty="0">
                <a:solidFill>
                  <a:srgbClr val="000000"/>
                </a:solidFill>
                <a:latin typeface="Verdana"/>
                <a:cs typeface="Verdana"/>
              </a:rPr>
              <a:t>Operation</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pic>
        <p:nvPicPr>
          <p:cNvPr id="4" name="object 4"/>
          <p:cNvPicPr/>
          <p:nvPr/>
        </p:nvPicPr>
        <p:blipFill>
          <a:blip r:embed="rId2" cstate="print"/>
          <a:stretch>
            <a:fillRect/>
          </a:stretch>
        </p:blipFill>
        <p:spPr>
          <a:xfrm>
            <a:off x="1427480" y="960119"/>
            <a:ext cx="7559040" cy="522224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7</a:t>
            </a:fld>
            <a:endParaRPr spc="-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4603115"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Sorting</a:t>
            </a:r>
            <a:r>
              <a:rPr sz="3600" spc="-85" dirty="0">
                <a:solidFill>
                  <a:srgbClr val="000000"/>
                </a:solidFill>
                <a:latin typeface="Verdana"/>
                <a:cs typeface="Verdana"/>
              </a:rPr>
              <a:t> </a:t>
            </a:r>
            <a:r>
              <a:rPr sz="3600" spc="-5" dirty="0">
                <a:solidFill>
                  <a:srgbClr val="000000"/>
                </a:solidFill>
                <a:latin typeface="Verdana"/>
                <a:cs typeface="Verdana"/>
              </a:rPr>
              <a:t>Operation</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8005" cy="1837055"/>
          </a:xfrm>
          <a:prstGeom prst="rect">
            <a:avLst/>
          </a:prstGeom>
        </p:spPr>
        <p:txBody>
          <a:bodyPr vert="horz" wrap="square" lIns="0" tIns="12700" rIns="0" bIns="0" rtlCol="0">
            <a:spAutoFit/>
          </a:bodyPr>
          <a:lstStyle/>
          <a:p>
            <a:pPr marL="354965" marR="6985" indent="-342900">
              <a:lnSpc>
                <a:spcPct val="100000"/>
              </a:lnSpc>
              <a:spcBef>
                <a:spcPts val="100"/>
              </a:spcBef>
              <a:buFont typeface="Wingdings"/>
              <a:buChar char=""/>
              <a:tabLst>
                <a:tab pos="355600" algn="l"/>
              </a:tabLst>
            </a:pPr>
            <a:r>
              <a:rPr sz="2200" spc="10" dirty="0">
                <a:latin typeface="Arial"/>
                <a:cs typeface="Arial"/>
              </a:rPr>
              <a:t>We</a:t>
            </a:r>
            <a:r>
              <a:rPr sz="2200" spc="130" dirty="0">
                <a:latin typeface="Arial"/>
                <a:cs typeface="Arial"/>
              </a:rPr>
              <a:t> </a:t>
            </a:r>
            <a:r>
              <a:rPr sz="2200" spc="-5" dirty="0">
                <a:latin typeface="Arial"/>
                <a:cs typeface="Arial"/>
              </a:rPr>
              <a:t>may</a:t>
            </a:r>
            <a:r>
              <a:rPr sz="2200" spc="95" dirty="0">
                <a:latin typeface="Arial"/>
                <a:cs typeface="Arial"/>
              </a:rPr>
              <a:t> </a:t>
            </a:r>
            <a:r>
              <a:rPr sz="2200" dirty="0">
                <a:latin typeface="Arial"/>
                <a:cs typeface="Arial"/>
              </a:rPr>
              <a:t>build</a:t>
            </a:r>
            <a:r>
              <a:rPr sz="2200" spc="130" dirty="0">
                <a:latin typeface="Arial"/>
                <a:cs typeface="Arial"/>
              </a:rPr>
              <a:t> </a:t>
            </a:r>
            <a:r>
              <a:rPr sz="2200" spc="-5" dirty="0">
                <a:latin typeface="Arial"/>
                <a:cs typeface="Arial"/>
              </a:rPr>
              <a:t>an</a:t>
            </a:r>
            <a:r>
              <a:rPr sz="2200" spc="130" dirty="0">
                <a:latin typeface="Arial"/>
                <a:cs typeface="Arial"/>
              </a:rPr>
              <a:t> </a:t>
            </a:r>
            <a:r>
              <a:rPr sz="2200" dirty="0">
                <a:latin typeface="Arial"/>
                <a:cs typeface="Arial"/>
              </a:rPr>
              <a:t>index</a:t>
            </a:r>
            <a:r>
              <a:rPr sz="2200" spc="114" dirty="0">
                <a:latin typeface="Arial"/>
                <a:cs typeface="Arial"/>
              </a:rPr>
              <a:t> </a:t>
            </a:r>
            <a:r>
              <a:rPr sz="2200" spc="5" dirty="0">
                <a:latin typeface="Arial"/>
                <a:cs typeface="Arial"/>
              </a:rPr>
              <a:t>on</a:t>
            </a:r>
            <a:r>
              <a:rPr sz="2200" spc="125" dirty="0">
                <a:latin typeface="Arial"/>
                <a:cs typeface="Arial"/>
              </a:rPr>
              <a:t> </a:t>
            </a:r>
            <a:r>
              <a:rPr sz="2200" dirty="0">
                <a:latin typeface="Arial"/>
                <a:cs typeface="Arial"/>
              </a:rPr>
              <a:t>the</a:t>
            </a:r>
            <a:r>
              <a:rPr sz="2200" spc="125" dirty="0">
                <a:latin typeface="Arial"/>
                <a:cs typeface="Arial"/>
              </a:rPr>
              <a:t> </a:t>
            </a:r>
            <a:r>
              <a:rPr sz="2200" spc="-5" dirty="0">
                <a:latin typeface="Arial"/>
                <a:cs typeface="Arial"/>
              </a:rPr>
              <a:t>relation,</a:t>
            </a:r>
            <a:r>
              <a:rPr sz="2200" spc="145" dirty="0">
                <a:latin typeface="Arial"/>
                <a:cs typeface="Arial"/>
              </a:rPr>
              <a:t> </a:t>
            </a:r>
            <a:r>
              <a:rPr sz="2200" dirty="0">
                <a:latin typeface="Arial"/>
                <a:cs typeface="Arial"/>
              </a:rPr>
              <a:t>and</a:t>
            </a:r>
            <a:r>
              <a:rPr sz="2200" spc="130" dirty="0">
                <a:latin typeface="Arial"/>
                <a:cs typeface="Arial"/>
              </a:rPr>
              <a:t> </a:t>
            </a:r>
            <a:r>
              <a:rPr sz="2200" dirty="0">
                <a:latin typeface="Arial"/>
                <a:cs typeface="Arial"/>
              </a:rPr>
              <a:t>then</a:t>
            </a:r>
            <a:r>
              <a:rPr sz="2200" spc="125" dirty="0">
                <a:latin typeface="Arial"/>
                <a:cs typeface="Arial"/>
              </a:rPr>
              <a:t> </a:t>
            </a:r>
            <a:r>
              <a:rPr sz="2200" spc="-5" dirty="0">
                <a:latin typeface="Arial"/>
                <a:cs typeface="Arial"/>
              </a:rPr>
              <a:t>use</a:t>
            </a:r>
            <a:r>
              <a:rPr sz="2200" spc="125" dirty="0">
                <a:latin typeface="Arial"/>
                <a:cs typeface="Arial"/>
              </a:rPr>
              <a:t> </a:t>
            </a:r>
            <a:r>
              <a:rPr sz="2200" spc="5" dirty="0">
                <a:latin typeface="Arial"/>
                <a:cs typeface="Arial"/>
              </a:rPr>
              <a:t>the</a:t>
            </a:r>
            <a:r>
              <a:rPr sz="2200" spc="135" dirty="0">
                <a:latin typeface="Arial"/>
                <a:cs typeface="Arial"/>
              </a:rPr>
              <a:t> </a:t>
            </a:r>
            <a:r>
              <a:rPr sz="2200" spc="-5" dirty="0">
                <a:latin typeface="Arial"/>
                <a:cs typeface="Arial"/>
              </a:rPr>
              <a:t>index</a:t>
            </a:r>
            <a:r>
              <a:rPr sz="2200" spc="110" dirty="0">
                <a:latin typeface="Arial"/>
                <a:cs typeface="Arial"/>
              </a:rPr>
              <a:t> </a:t>
            </a:r>
            <a:r>
              <a:rPr sz="2200" dirty="0">
                <a:latin typeface="Arial"/>
                <a:cs typeface="Arial"/>
              </a:rPr>
              <a:t>to</a:t>
            </a:r>
            <a:r>
              <a:rPr sz="2200" spc="130" dirty="0">
                <a:latin typeface="Arial"/>
                <a:cs typeface="Arial"/>
              </a:rPr>
              <a:t> </a:t>
            </a:r>
            <a:r>
              <a:rPr sz="2200" dirty="0">
                <a:latin typeface="Arial"/>
                <a:cs typeface="Arial"/>
              </a:rPr>
              <a:t>read</a:t>
            </a:r>
            <a:r>
              <a:rPr sz="2200" spc="135" dirty="0">
                <a:latin typeface="Arial"/>
                <a:cs typeface="Arial"/>
              </a:rPr>
              <a:t> </a:t>
            </a:r>
            <a:r>
              <a:rPr sz="2200" dirty="0">
                <a:latin typeface="Arial"/>
                <a:cs typeface="Arial"/>
              </a:rPr>
              <a:t>the</a:t>
            </a:r>
            <a:r>
              <a:rPr sz="2200" spc="125" dirty="0">
                <a:latin typeface="Arial"/>
                <a:cs typeface="Arial"/>
              </a:rPr>
              <a:t> </a:t>
            </a:r>
            <a:r>
              <a:rPr sz="2200" dirty="0">
                <a:latin typeface="Arial"/>
                <a:cs typeface="Arial"/>
              </a:rPr>
              <a:t>relation </a:t>
            </a:r>
            <a:r>
              <a:rPr sz="2200" spc="-600" dirty="0">
                <a:latin typeface="Arial"/>
                <a:cs typeface="Arial"/>
              </a:rPr>
              <a:t> </a:t>
            </a:r>
            <a:r>
              <a:rPr sz="2200" spc="-10" dirty="0">
                <a:latin typeface="Arial"/>
                <a:cs typeface="Arial"/>
              </a:rPr>
              <a:t>in</a:t>
            </a:r>
            <a:r>
              <a:rPr sz="2200" spc="5" dirty="0">
                <a:latin typeface="Arial"/>
                <a:cs typeface="Arial"/>
              </a:rPr>
              <a:t> </a:t>
            </a:r>
            <a:r>
              <a:rPr sz="2200" dirty="0">
                <a:latin typeface="Arial"/>
                <a:cs typeface="Arial"/>
              </a:rPr>
              <a:t>sorted</a:t>
            </a:r>
            <a:r>
              <a:rPr sz="2200" spc="5" dirty="0">
                <a:latin typeface="Arial"/>
                <a:cs typeface="Arial"/>
              </a:rPr>
              <a:t> </a:t>
            </a:r>
            <a:r>
              <a:rPr sz="2200" dirty="0">
                <a:latin typeface="Arial"/>
                <a:cs typeface="Arial"/>
              </a:rPr>
              <a:t>order.</a:t>
            </a:r>
            <a:r>
              <a:rPr sz="2200" spc="15" dirty="0">
                <a:latin typeface="Arial"/>
                <a:cs typeface="Arial"/>
              </a:rPr>
              <a:t> </a:t>
            </a:r>
            <a:r>
              <a:rPr sz="2200" spc="-10" dirty="0">
                <a:latin typeface="Arial"/>
                <a:cs typeface="Arial"/>
              </a:rPr>
              <a:t>May</a:t>
            </a:r>
            <a:r>
              <a:rPr sz="2200" spc="25" dirty="0">
                <a:latin typeface="Arial"/>
                <a:cs typeface="Arial"/>
              </a:rPr>
              <a:t> </a:t>
            </a:r>
            <a:r>
              <a:rPr sz="2200" spc="-5" dirty="0">
                <a:latin typeface="Arial"/>
                <a:cs typeface="Arial"/>
              </a:rPr>
              <a:t>lead </a:t>
            </a:r>
            <a:r>
              <a:rPr sz="2200" dirty="0">
                <a:latin typeface="Arial"/>
                <a:cs typeface="Arial"/>
              </a:rPr>
              <a:t>to</a:t>
            </a:r>
            <a:r>
              <a:rPr sz="2200" spc="5" dirty="0">
                <a:latin typeface="Arial"/>
                <a:cs typeface="Arial"/>
              </a:rPr>
              <a:t> </a:t>
            </a:r>
            <a:r>
              <a:rPr sz="2200" spc="-5" dirty="0">
                <a:latin typeface="Arial"/>
                <a:cs typeface="Arial"/>
              </a:rPr>
              <a:t>one</a:t>
            </a:r>
            <a:r>
              <a:rPr sz="2200" spc="5" dirty="0">
                <a:latin typeface="Arial"/>
                <a:cs typeface="Arial"/>
              </a:rPr>
              <a:t> </a:t>
            </a:r>
            <a:r>
              <a:rPr sz="2200" spc="-5" dirty="0">
                <a:latin typeface="Arial"/>
                <a:cs typeface="Arial"/>
              </a:rPr>
              <a:t>disk</a:t>
            </a:r>
            <a:r>
              <a:rPr sz="2200" spc="25" dirty="0">
                <a:latin typeface="Arial"/>
                <a:cs typeface="Arial"/>
              </a:rPr>
              <a:t> </a:t>
            </a:r>
            <a:r>
              <a:rPr sz="2200" spc="-5" dirty="0">
                <a:latin typeface="Arial"/>
                <a:cs typeface="Arial"/>
              </a:rPr>
              <a:t>block</a:t>
            </a:r>
            <a:r>
              <a:rPr sz="2200" spc="5" dirty="0">
                <a:latin typeface="Arial"/>
                <a:cs typeface="Arial"/>
              </a:rPr>
              <a:t> </a:t>
            </a:r>
            <a:r>
              <a:rPr sz="2200" dirty="0">
                <a:latin typeface="Arial"/>
                <a:cs typeface="Arial"/>
              </a:rPr>
              <a:t>access</a:t>
            </a:r>
            <a:r>
              <a:rPr sz="2200" spc="5" dirty="0">
                <a:latin typeface="Arial"/>
                <a:cs typeface="Arial"/>
              </a:rPr>
              <a:t> </a:t>
            </a:r>
            <a:r>
              <a:rPr sz="2200" dirty="0">
                <a:latin typeface="Arial"/>
                <a:cs typeface="Arial"/>
              </a:rPr>
              <a:t>for</a:t>
            </a:r>
            <a:r>
              <a:rPr sz="2200" spc="10" dirty="0">
                <a:latin typeface="Arial"/>
                <a:cs typeface="Arial"/>
              </a:rPr>
              <a:t> </a:t>
            </a:r>
            <a:r>
              <a:rPr sz="2200" spc="-5" dirty="0">
                <a:latin typeface="Arial"/>
                <a:cs typeface="Arial"/>
              </a:rPr>
              <a:t>each</a:t>
            </a:r>
            <a:r>
              <a:rPr sz="2200" dirty="0">
                <a:latin typeface="Arial"/>
                <a:cs typeface="Arial"/>
              </a:rPr>
              <a:t> </a:t>
            </a:r>
            <a:r>
              <a:rPr sz="2200" spc="-5" dirty="0">
                <a:latin typeface="Arial"/>
                <a:cs typeface="Arial"/>
              </a:rPr>
              <a:t>tuple.</a:t>
            </a:r>
            <a:endParaRPr sz="2200">
              <a:latin typeface="Arial"/>
              <a:cs typeface="Arial"/>
            </a:endParaRPr>
          </a:p>
          <a:p>
            <a:pPr>
              <a:lnSpc>
                <a:spcPct val="100000"/>
              </a:lnSpc>
              <a:spcBef>
                <a:spcPts val="20"/>
              </a:spcBef>
              <a:buFont typeface="Wingdings"/>
              <a:buChar char=""/>
            </a:pPr>
            <a:endParaRPr sz="3200">
              <a:latin typeface="Arial"/>
              <a:cs typeface="Arial"/>
            </a:endParaRPr>
          </a:p>
          <a:p>
            <a:pPr marL="355600" indent="-342900">
              <a:lnSpc>
                <a:spcPct val="100000"/>
              </a:lnSpc>
              <a:buFont typeface="Wingdings"/>
              <a:buChar char=""/>
              <a:tabLst>
                <a:tab pos="355600" algn="l"/>
                <a:tab pos="927100" algn="l"/>
                <a:tab pos="2133600" algn="l"/>
                <a:tab pos="2753360" algn="l"/>
                <a:tab pos="3173095" algn="l"/>
                <a:tab pos="3573779" algn="l"/>
                <a:tab pos="4887595" algn="l"/>
                <a:tab pos="6389370" algn="l"/>
                <a:tab pos="6960870" algn="l"/>
                <a:tab pos="8375650" algn="l"/>
                <a:tab pos="8978265" algn="l"/>
                <a:tab pos="9440545" algn="l"/>
                <a:tab pos="10276205" algn="l"/>
              </a:tabLst>
            </a:pPr>
            <a:r>
              <a:rPr sz="2200" dirty="0">
                <a:latin typeface="Arial"/>
                <a:cs typeface="Arial"/>
              </a:rPr>
              <a:t>F</a:t>
            </a:r>
            <a:r>
              <a:rPr sz="2200" spc="-10" dirty="0">
                <a:latin typeface="Arial"/>
                <a:cs typeface="Arial"/>
              </a:rPr>
              <a:t>o</a:t>
            </a:r>
            <a:r>
              <a:rPr sz="2200" dirty="0">
                <a:latin typeface="Arial"/>
                <a:cs typeface="Arial"/>
              </a:rPr>
              <a:t>r	r</a:t>
            </a:r>
            <a:r>
              <a:rPr sz="2200" spc="-5" dirty="0">
                <a:latin typeface="Arial"/>
                <a:cs typeface="Arial"/>
              </a:rPr>
              <a:t>e</a:t>
            </a:r>
            <a:r>
              <a:rPr sz="2200" spc="-20" dirty="0">
                <a:latin typeface="Arial"/>
                <a:cs typeface="Arial"/>
              </a:rPr>
              <a:t>l</a:t>
            </a:r>
            <a:r>
              <a:rPr sz="2200" spc="-5" dirty="0">
                <a:latin typeface="Arial"/>
                <a:cs typeface="Arial"/>
              </a:rPr>
              <a:t>atio</a:t>
            </a:r>
            <a:r>
              <a:rPr sz="2200" spc="-15" dirty="0">
                <a:latin typeface="Arial"/>
                <a:cs typeface="Arial"/>
              </a:rPr>
              <a:t>n</a:t>
            </a:r>
            <a:r>
              <a:rPr sz="2200" dirty="0">
                <a:latin typeface="Arial"/>
                <a:cs typeface="Arial"/>
              </a:rPr>
              <a:t>s	</a:t>
            </a:r>
            <a:r>
              <a:rPr sz="2200" spc="5" dirty="0">
                <a:latin typeface="Arial"/>
                <a:cs typeface="Arial"/>
              </a:rPr>
              <a:t>t</a:t>
            </a:r>
            <a:r>
              <a:rPr sz="2200" spc="-5" dirty="0">
                <a:latin typeface="Arial"/>
                <a:cs typeface="Arial"/>
              </a:rPr>
              <a:t>hat</a:t>
            </a:r>
            <a:r>
              <a:rPr sz="2200" dirty="0">
                <a:latin typeface="Arial"/>
                <a:cs typeface="Arial"/>
              </a:rPr>
              <a:t>	</a:t>
            </a:r>
            <a:r>
              <a:rPr sz="2200" b="1" dirty="0">
                <a:latin typeface="Arial"/>
                <a:cs typeface="Arial"/>
              </a:rPr>
              <a:t>f</a:t>
            </a:r>
            <a:r>
              <a:rPr sz="2200" b="1" spc="5" dirty="0">
                <a:latin typeface="Arial"/>
                <a:cs typeface="Arial"/>
              </a:rPr>
              <a:t>i</a:t>
            </a:r>
            <a:r>
              <a:rPr sz="2200" b="1" dirty="0">
                <a:latin typeface="Arial"/>
                <a:cs typeface="Arial"/>
              </a:rPr>
              <a:t>t	</a:t>
            </a:r>
            <a:r>
              <a:rPr sz="2200" b="1" spc="5" dirty="0">
                <a:latin typeface="Arial"/>
                <a:cs typeface="Arial"/>
              </a:rPr>
              <a:t>i</a:t>
            </a:r>
            <a:r>
              <a:rPr sz="2200" b="1" dirty="0">
                <a:latin typeface="Arial"/>
                <a:cs typeface="Arial"/>
              </a:rPr>
              <a:t>n	</a:t>
            </a:r>
            <a:r>
              <a:rPr sz="2200" b="1" spc="-5" dirty="0">
                <a:latin typeface="Arial"/>
                <a:cs typeface="Arial"/>
              </a:rPr>
              <a:t>m</a:t>
            </a:r>
            <a:r>
              <a:rPr sz="2200" b="1" spc="-25" dirty="0">
                <a:latin typeface="Arial"/>
                <a:cs typeface="Arial"/>
              </a:rPr>
              <a:t>e</a:t>
            </a:r>
            <a:r>
              <a:rPr sz="2200" b="1" spc="-5" dirty="0">
                <a:latin typeface="Arial"/>
                <a:cs typeface="Arial"/>
              </a:rPr>
              <a:t>mo</a:t>
            </a:r>
            <a:r>
              <a:rPr sz="2200" b="1" spc="15" dirty="0">
                <a:latin typeface="Arial"/>
                <a:cs typeface="Arial"/>
              </a:rPr>
              <a:t>r</a:t>
            </a:r>
            <a:r>
              <a:rPr sz="2200" b="1" spc="-45" dirty="0">
                <a:latin typeface="Arial"/>
                <a:cs typeface="Arial"/>
              </a:rPr>
              <a:t>y</a:t>
            </a:r>
            <a:r>
              <a:rPr sz="2200" dirty="0">
                <a:latin typeface="Arial"/>
                <a:cs typeface="Arial"/>
              </a:rPr>
              <a:t>,	</a:t>
            </a:r>
            <a:r>
              <a:rPr sz="2200" spc="5" dirty="0">
                <a:latin typeface="Arial"/>
                <a:cs typeface="Arial"/>
              </a:rPr>
              <a:t>t</a:t>
            </a:r>
            <a:r>
              <a:rPr sz="2200" spc="-5" dirty="0">
                <a:latin typeface="Arial"/>
                <a:cs typeface="Arial"/>
              </a:rPr>
              <a:t>ech</a:t>
            </a:r>
            <a:r>
              <a:rPr sz="2200" spc="-15" dirty="0">
                <a:latin typeface="Arial"/>
                <a:cs typeface="Arial"/>
              </a:rPr>
              <a:t>ni</a:t>
            </a:r>
            <a:r>
              <a:rPr sz="2200" spc="-5" dirty="0">
                <a:latin typeface="Arial"/>
                <a:cs typeface="Arial"/>
              </a:rPr>
              <a:t>qu</a:t>
            </a:r>
            <a:r>
              <a:rPr sz="2200" spc="-15" dirty="0">
                <a:latin typeface="Arial"/>
                <a:cs typeface="Arial"/>
              </a:rPr>
              <a:t>e</a:t>
            </a:r>
            <a:r>
              <a:rPr sz="2200" dirty="0">
                <a:latin typeface="Arial"/>
                <a:cs typeface="Arial"/>
              </a:rPr>
              <a:t>s	l</a:t>
            </a:r>
            <a:r>
              <a:rPr sz="2200" spc="-15" dirty="0">
                <a:latin typeface="Arial"/>
                <a:cs typeface="Arial"/>
              </a:rPr>
              <a:t>i</a:t>
            </a:r>
            <a:r>
              <a:rPr sz="2200" spc="-5" dirty="0">
                <a:latin typeface="Arial"/>
                <a:cs typeface="Arial"/>
              </a:rPr>
              <a:t>ke</a:t>
            </a:r>
            <a:r>
              <a:rPr sz="2200" dirty="0">
                <a:latin typeface="Arial"/>
                <a:cs typeface="Arial"/>
              </a:rPr>
              <a:t>	</a:t>
            </a:r>
            <a:r>
              <a:rPr sz="2200" b="1" dirty="0">
                <a:latin typeface="Arial"/>
                <a:cs typeface="Arial"/>
              </a:rPr>
              <a:t>q</a:t>
            </a:r>
            <a:r>
              <a:rPr sz="2200" b="1" spc="-10" dirty="0">
                <a:latin typeface="Arial"/>
                <a:cs typeface="Arial"/>
              </a:rPr>
              <a:t>u</a:t>
            </a:r>
            <a:r>
              <a:rPr sz="2200" b="1" spc="5" dirty="0">
                <a:latin typeface="Arial"/>
                <a:cs typeface="Arial"/>
              </a:rPr>
              <a:t>i</a:t>
            </a:r>
            <a:r>
              <a:rPr sz="2200" b="1" spc="10" dirty="0">
                <a:latin typeface="Arial"/>
                <a:cs typeface="Arial"/>
              </a:rPr>
              <a:t>c</a:t>
            </a:r>
            <a:r>
              <a:rPr sz="2200" b="1" spc="-5" dirty="0">
                <a:latin typeface="Arial"/>
                <a:cs typeface="Arial"/>
              </a:rPr>
              <a:t>k</a:t>
            </a:r>
            <a:r>
              <a:rPr sz="2200" b="1" spc="5" dirty="0">
                <a:latin typeface="Arial"/>
                <a:cs typeface="Arial"/>
              </a:rPr>
              <a:t>s</a:t>
            </a:r>
            <a:r>
              <a:rPr sz="2200" b="1" dirty="0">
                <a:latin typeface="Arial"/>
                <a:cs typeface="Arial"/>
              </a:rPr>
              <a:t>ort	</a:t>
            </a:r>
            <a:r>
              <a:rPr sz="2200" spc="-5" dirty="0">
                <a:latin typeface="Arial"/>
                <a:cs typeface="Arial"/>
              </a:rPr>
              <a:t>can</a:t>
            </a:r>
            <a:r>
              <a:rPr sz="2200" dirty="0">
                <a:latin typeface="Arial"/>
                <a:cs typeface="Arial"/>
              </a:rPr>
              <a:t>	</a:t>
            </a:r>
            <a:r>
              <a:rPr sz="2200" spc="-10" dirty="0">
                <a:latin typeface="Arial"/>
                <a:cs typeface="Arial"/>
              </a:rPr>
              <a:t>b</a:t>
            </a:r>
            <a:r>
              <a:rPr sz="2200" spc="-5" dirty="0">
                <a:latin typeface="Arial"/>
                <a:cs typeface="Arial"/>
              </a:rPr>
              <a:t>e</a:t>
            </a:r>
            <a:r>
              <a:rPr sz="2200" dirty="0">
                <a:latin typeface="Arial"/>
                <a:cs typeface="Arial"/>
              </a:rPr>
              <a:t>	</a:t>
            </a:r>
            <a:r>
              <a:rPr sz="2200" spc="-5" dirty="0">
                <a:latin typeface="Arial"/>
                <a:cs typeface="Arial"/>
              </a:rPr>
              <a:t>use</a:t>
            </a:r>
            <a:r>
              <a:rPr sz="2200" spc="-20" dirty="0">
                <a:latin typeface="Arial"/>
                <a:cs typeface="Arial"/>
              </a:rPr>
              <a:t>d</a:t>
            </a:r>
            <a:r>
              <a:rPr sz="2200" dirty="0">
                <a:latin typeface="Arial"/>
                <a:cs typeface="Arial"/>
              </a:rPr>
              <a:t>.	F</a:t>
            </a:r>
            <a:r>
              <a:rPr sz="2200" spc="-10" dirty="0">
                <a:latin typeface="Arial"/>
                <a:cs typeface="Arial"/>
              </a:rPr>
              <a:t>o</a:t>
            </a:r>
            <a:r>
              <a:rPr sz="2200" dirty="0">
                <a:latin typeface="Arial"/>
                <a:cs typeface="Arial"/>
              </a:rPr>
              <a:t>r</a:t>
            </a:r>
            <a:endParaRPr sz="2200">
              <a:latin typeface="Arial"/>
              <a:cs typeface="Arial"/>
            </a:endParaRPr>
          </a:p>
          <a:p>
            <a:pPr marL="354965">
              <a:lnSpc>
                <a:spcPct val="100000"/>
              </a:lnSpc>
            </a:pPr>
            <a:r>
              <a:rPr sz="2200" spc="-5" dirty="0">
                <a:latin typeface="Arial"/>
                <a:cs typeface="Arial"/>
              </a:rPr>
              <a:t>relations</a:t>
            </a:r>
            <a:r>
              <a:rPr sz="2200" spc="30" dirty="0">
                <a:latin typeface="Arial"/>
                <a:cs typeface="Arial"/>
              </a:rPr>
              <a:t> </a:t>
            </a:r>
            <a:r>
              <a:rPr sz="2200" spc="-5" dirty="0">
                <a:latin typeface="Arial"/>
                <a:cs typeface="Arial"/>
              </a:rPr>
              <a:t>that</a:t>
            </a:r>
            <a:r>
              <a:rPr sz="2200" dirty="0">
                <a:latin typeface="Arial"/>
                <a:cs typeface="Arial"/>
              </a:rPr>
              <a:t> </a:t>
            </a:r>
            <a:r>
              <a:rPr sz="2200" b="1" spc="-5" dirty="0">
                <a:latin typeface="Arial"/>
                <a:cs typeface="Arial"/>
              </a:rPr>
              <a:t>don’t</a:t>
            </a:r>
            <a:r>
              <a:rPr sz="2200" b="1" spc="45" dirty="0">
                <a:latin typeface="Arial"/>
                <a:cs typeface="Arial"/>
              </a:rPr>
              <a:t> </a:t>
            </a:r>
            <a:r>
              <a:rPr sz="2200" b="1" dirty="0">
                <a:latin typeface="Arial"/>
                <a:cs typeface="Arial"/>
              </a:rPr>
              <a:t>fit</a:t>
            </a:r>
            <a:r>
              <a:rPr sz="2200" b="1" spc="5" dirty="0">
                <a:latin typeface="Arial"/>
                <a:cs typeface="Arial"/>
              </a:rPr>
              <a:t> </a:t>
            </a:r>
            <a:r>
              <a:rPr sz="2200" b="1" dirty="0">
                <a:latin typeface="Arial"/>
                <a:cs typeface="Arial"/>
              </a:rPr>
              <a:t>in</a:t>
            </a:r>
            <a:r>
              <a:rPr sz="2200" b="1" spc="5" dirty="0">
                <a:latin typeface="Arial"/>
                <a:cs typeface="Arial"/>
              </a:rPr>
              <a:t> </a:t>
            </a:r>
            <a:r>
              <a:rPr sz="2200" b="1" spc="-10" dirty="0">
                <a:latin typeface="Arial"/>
                <a:cs typeface="Arial"/>
              </a:rPr>
              <a:t>memory</a:t>
            </a:r>
            <a:r>
              <a:rPr sz="2200" spc="-10" dirty="0">
                <a:latin typeface="Arial"/>
                <a:cs typeface="Arial"/>
              </a:rPr>
              <a:t>,</a:t>
            </a:r>
            <a:r>
              <a:rPr sz="2200" spc="25" dirty="0">
                <a:latin typeface="Arial"/>
                <a:cs typeface="Arial"/>
              </a:rPr>
              <a:t> </a:t>
            </a:r>
            <a:r>
              <a:rPr sz="2200" b="1" spc="-5" dirty="0">
                <a:latin typeface="Arial"/>
                <a:cs typeface="Arial"/>
              </a:rPr>
              <a:t>external</a:t>
            </a:r>
            <a:r>
              <a:rPr sz="2200" b="1" spc="35" dirty="0">
                <a:latin typeface="Arial"/>
                <a:cs typeface="Arial"/>
              </a:rPr>
              <a:t> </a:t>
            </a:r>
            <a:r>
              <a:rPr sz="2200" b="1" dirty="0">
                <a:latin typeface="Arial"/>
                <a:cs typeface="Arial"/>
              </a:rPr>
              <a:t>sort-merge</a:t>
            </a:r>
            <a:r>
              <a:rPr sz="2200" b="1" spc="-15" dirty="0">
                <a:latin typeface="Arial"/>
                <a:cs typeface="Arial"/>
              </a:rPr>
              <a:t> </a:t>
            </a:r>
            <a:r>
              <a:rPr sz="2200" spc="-5" dirty="0">
                <a:latin typeface="Arial"/>
                <a:cs typeface="Arial"/>
              </a:rPr>
              <a:t>is</a:t>
            </a:r>
            <a:r>
              <a:rPr sz="2200" spc="15" dirty="0">
                <a:latin typeface="Arial"/>
                <a:cs typeface="Arial"/>
              </a:rPr>
              <a:t> </a:t>
            </a:r>
            <a:r>
              <a:rPr sz="2200" dirty="0">
                <a:latin typeface="Arial"/>
                <a:cs typeface="Arial"/>
              </a:rPr>
              <a:t>a</a:t>
            </a:r>
            <a:r>
              <a:rPr sz="2200" spc="5" dirty="0">
                <a:latin typeface="Arial"/>
                <a:cs typeface="Arial"/>
              </a:rPr>
              <a:t> </a:t>
            </a:r>
            <a:r>
              <a:rPr sz="2200" spc="-5" dirty="0">
                <a:latin typeface="Arial"/>
                <a:cs typeface="Arial"/>
              </a:rPr>
              <a:t>good</a:t>
            </a:r>
            <a:r>
              <a:rPr sz="2200" spc="25" dirty="0">
                <a:latin typeface="Arial"/>
                <a:cs typeface="Arial"/>
              </a:rPr>
              <a:t> </a:t>
            </a:r>
            <a:r>
              <a:rPr sz="2200" spc="-5" dirty="0">
                <a:latin typeface="Arial"/>
                <a:cs typeface="Arial"/>
              </a:rPr>
              <a:t>choice.</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8</a:t>
            </a:fld>
            <a:endParaRPr spc="-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5314315" cy="574675"/>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000000"/>
                </a:solidFill>
                <a:latin typeface="Verdana"/>
                <a:cs typeface="Verdana"/>
              </a:rPr>
              <a:t>External</a:t>
            </a:r>
            <a:r>
              <a:rPr sz="3600" spc="-20" dirty="0">
                <a:solidFill>
                  <a:srgbClr val="000000"/>
                </a:solidFill>
                <a:latin typeface="Verdana"/>
                <a:cs typeface="Verdana"/>
              </a:rPr>
              <a:t> </a:t>
            </a:r>
            <a:r>
              <a:rPr sz="3600" spc="-5" dirty="0">
                <a:solidFill>
                  <a:srgbClr val="000000"/>
                </a:solidFill>
                <a:latin typeface="Verdana"/>
                <a:cs typeface="Verdana"/>
              </a:rPr>
              <a:t>Sort–Merge</a:t>
            </a:r>
            <a:endParaRPr sz="3600">
              <a:latin typeface="Verdana"/>
              <a:cs typeface="Verdana"/>
            </a:endParaRPr>
          </a:p>
        </p:txBody>
      </p:sp>
      <p:grpSp>
        <p:nvGrpSpPr>
          <p:cNvPr id="3" name="object 3"/>
          <p:cNvGrpSpPr/>
          <p:nvPr/>
        </p:nvGrpSpPr>
        <p:grpSpPr>
          <a:xfrm>
            <a:off x="0" y="876300"/>
            <a:ext cx="12070080" cy="5981700"/>
            <a:chOff x="0" y="876300"/>
            <a:chExt cx="12070080" cy="5981700"/>
          </a:xfrm>
        </p:grpSpPr>
        <p:sp>
          <p:nvSpPr>
            <p:cNvPr id="4" name="object 4"/>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pic>
          <p:nvPicPr>
            <p:cNvPr id="5" name="object 5"/>
            <p:cNvPicPr/>
            <p:nvPr/>
          </p:nvPicPr>
          <p:blipFill>
            <a:blip r:embed="rId2" cstate="print"/>
            <a:stretch>
              <a:fillRect/>
            </a:stretch>
          </p:blipFill>
          <p:spPr>
            <a:xfrm>
              <a:off x="1209039" y="876300"/>
              <a:ext cx="8087359" cy="5400040"/>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9</a:t>
            </a:fld>
            <a:endParaRPr spc="-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7651115" cy="574675"/>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000000"/>
                </a:solidFill>
                <a:latin typeface="Verdana"/>
                <a:cs typeface="Verdana"/>
              </a:rPr>
              <a:t>External</a:t>
            </a:r>
            <a:r>
              <a:rPr sz="3600" dirty="0">
                <a:solidFill>
                  <a:srgbClr val="000000"/>
                </a:solidFill>
                <a:latin typeface="Verdana"/>
                <a:cs typeface="Verdana"/>
              </a:rPr>
              <a:t> </a:t>
            </a:r>
            <a:r>
              <a:rPr sz="3600" spc="-5" dirty="0">
                <a:solidFill>
                  <a:srgbClr val="000000"/>
                </a:solidFill>
                <a:latin typeface="Verdana"/>
                <a:cs typeface="Verdana"/>
              </a:rPr>
              <a:t>Sort–Merge</a:t>
            </a:r>
            <a:r>
              <a:rPr sz="3600" spc="-35" dirty="0">
                <a:solidFill>
                  <a:srgbClr val="000000"/>
                </a:solidFill>
                <a:latin typeface="Verdana"/>
                <a:cs typeface="Verdana"/>
              </a:rPr>
              <a:t> </a:t>
            </a:r>
            <a:r>
              <a:rPr sz="3600" spc="-10" dirty="0">
                <a:solidFill>
                  <a:srgbClr val="000000"/>
                </a:solidFill>
                <a:latin typeface="Verdana"/>
                <a:cs typeface="Verdana"/>
              </a:rPr>
              <a:t>Example</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pic>
        <p:nvPicPr>
          <p:cNvPr id="4" name="object 4"/>
          <p:cNvPicPr/>
          <p:nvPr/>
        </p:nvPicPr>
        <p:blipFill>
          <a:blip r:embed="rId2" cstate="print"/>
          <a:stretch>
            <a:fillRect/>
          </a:stretch>
        </p:blipFill>
        <p:spPr>
          <a:xfrm>
            <a:off x="2359660" y="939800"/>
            <a:ext cx="6484620" cy="530606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10</a:t>
            </a:fld>
            <a:endParaRPr spc="-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377952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Join</a:t>
            </a:r>
            <a:r>
              <a:rPr sz="3600" spc="-100" dirty="0">
                <a:solidFill>
                  <a:srgbClr val="000000"/>
                </a:solidFill>
                <a:latin typeface="Verdana"/>
                <a:cs typeface="Verdana"/>
              </a:rPr>
              <a:t> </a:t>
            </a:r>
            <a:r>
              <a:rPr sz="3600" spc="-5" dirty="0">
                <a:solidFill>
                  <a:srgbClr val="000000"/>
                </a:solidFill>
                <a:latin typeface="Verdana"/>
                <a:cs typeface="Verdana"/>
              </a:rPr>
              <a:t>Operation</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6181725" cy="2439670"/>
          </a:xfrm>
          <a:prstGeom prst="rect">
            <a:avLst/>
          </a:prstGeom>
        </p:spPr>
        <p:txBody>
          <a:bodyPr vert="horz" wrap="square" lIns="0" tIns="78740" rIns="0" bIns="0" rtlCol="0">
            <a:spAutoFit/>
          </a:bodyPr>
          <a:lstStyle/>
          <a:p>
            <a:pPr marL="434340" indent="-421640">
              <a:lnSpc>
                <a:spcPct val="100000"/>
              </a:lnSpc>
              <a:spcBef>
                <a:spcPts val="620"/>
              </a:spcBef>
              <a:buFont typeface="Wingdings"/>
              <a:buChar char=""/>
              <a:tabLst>
                <a:tab pos="433705" algn="l"/>
                <a:tab pos="434340" algn="l"/>
              </a:tabLst>
            </a:pPr>
            <a:r>
              <a:rPr sz="2200" spc="-5" dirty="0">
                <a:latin typeface="Arial"/>
                <a:cs typeface="Arial"/>
              </a:rPr>
              <a:t>Several</a:t>
            </a:r>
            <a:r>
              <a:rPr sz="2200" dirty="0">
                <a:latin typeface="Arial"/>
                <a:cs typeface="Arial"/>
              </a:rPr>
              <a:t> </a:t>
            </a:r>
            <a:r>
              <a:rPr sz="2200" spc="-5" dirty="0">
                <a:latin typeface="Arial"/>
                <a:cs typeface="Arial"/>
              </a:rPr>
              <a:t>different</a:t>
            </a:r>
            <a:r>
              <a:rPr sz="2200" spc="30" dirty="0">
                <a:latin typeface="Arial"/>
                <a:cs typeface="Arial"/>
              </a:rPr>
              <a:t> </a:t>
            </a:r>
            <a:r>
              <a:rPr sz="2200" spc="-5" dirty="0">
                <a:latin typeface="Arial"/>
                <a:cs typeface="Arial"/>
              </a:rPr>
              <a:t>algorithms</a:t>
            </a:r>
            <a:r>
              <a:rPr sz="2200" spc="45" dirty="0">
                <a:latin typeface="Arial"/>
                <a:cs typeface="Arial"/>
              </a:rPr>
              <a:t> </a:t>
            </a:r>
            <a:r>
              <a:rPr sz="2200" dirty="0">
                <a:latin typeface="Arial"/>
                <a:cs typeface="Arial"/>
              </a:rPr>
              <a:t>to</a:t>
            </a:r>
            <a:r>
              <a:rPr sz="2200" spc="-5" dirty="0">
                <a:latin typeface="Arial"/>
                <a:cs typeface="Arial"/>
              </a:rPr>
              <a:t> implement</a:t>
            </a:r>
            <a:r>
              <a:rPr sz="2200" spc="35" dirty="0">
                <a:latin typeface="Arial"/>
                <a:cs typeface="Arial"/>
              </a:rPr>
              <a:t> </a:t>
            </a:r>
            <a:r>
              <a:rPr sz="2200" spc="-10" dirty="0">
                <a:latin typeface="Arial"/>
                <a:cs typeface="Arial"/>
              </a:rPr>
              <a:t>joins</a:t>
            </a:r>
            <a:endParaRPr sz="2200">
              <a:latin typeface="Arial"/>
              <a:cs typeface="Arial"/>
            </a:endParaRPr>
          </a:p>
          <a:p>
            <a:pPr marL="1160780" lvl="1" indent="-234315">
              <a:lnSpc>
                <a:spcPct val="100000"/>
              </a:lnSpc>
              <a:spcBef>
                <a:spcPts val="520"/>
              </a:spcBef>
              <a:buChar char="–"/>
              <a:tabLst>
                <a:tab pos="1161415" algn="l"/>
              </a:tabLst>
            </a:pPr>
            <a:r>
              <a:rPr sz="2200" spc="-5" dirty="0">
                <a:latin typeface="Arial"/>
                <a:cs typeface="Arial"/>
              </a:rPr>
              <a:t>Nested-loop</a:t>
            </a:r>
            <a:r>
              <a:rPr sz="2200" spc="-10" dirty="0">
                <a:latin typeface="Arial"/>
                <a:cs typeface="Arial"/>
              </a:rPr>
              <a:t> join</a:t>
            </a:r>
            <a:endParaRPr sz="2200">
              <a:latin typeface="Arial"/>
              <a:cs typeface="Arial"/>
            </a:endParaRPr>
          </a:p>
          <a:p>
            <a:pPr marL="1160780" lvl="1" indent="-234315">
              <a:lnSpc>
                <a:spcPct val="100000"/>
              </a:lnSpc>
              <a:spcBef>
                <a:spcPts val="540"/>
              </a:spcBef>
              <a:buChar char="–"/>
              <a:tabLst>
                <a:tab pos="1161415" algn="l"/>
              </a:tabLst>
            </a:pPr>
            <a:r>
              <a:rPr sz="2200" spc="-5" dirty="0">
                <a:latin typeface="Arial"/>
                <a:cs typeface="Arial"/>
              </a:rPr>
              <a:t>Block</a:t>
            </a:r>
            <a:r>
              <a:rPr sz="2200" spc="-10" dirty="0">
                <a:latin typeface="Arial"/>
                <a:cs typeface="Arial"/>
              </a:rPr>
              <a:t> </a:t>
            </a:r>
            <a:r>
              <a:rPr sz="2200" spc="-5" dirty="0">
                <a:latin typeface="Arial"/>
                <a:cs typeface="Arial"/>
              </a:rPr>
              <a:t>nested-loop</a:t>
            </a:r>
            <a:r>
              <a:rPr sz="2200" spc="30" dirty="0">
                <a:latin typeface="Arial"/>
                <a:cs typeface="Arial"/>
              </a:rPr>
              <a:t> </a:t>
            </a:r>
            <a:r>
              <a:rPr sz="2200" spc="-10" dirty="0">
                <a:latin typeface="Arial"/>
                <a:cs typeface="Arial"/>
              </a:rPr>
              <a:t>join</a:t>
            </a:r>
            <a:endParaRPr sz="2200">
              <a:latin typeface="Arial"/>
              <a:cs typeface="Arial"/>
            </a:endParaRPr>
          </a:p>
          <a:p>
            <a:pPr marL="1160780" lvl="1" indent="-234315">
              <a:lnSpc>
                <a:spcPct val="100000"/>
              </a:lnSpc>
              <a:spcBef>
                <a:spcPts val="520"/>
              </a:spcBef>
              <a:buChar char="–"/>
              <a:tabLst>
                <a:tab pos="1161415" algn="l"/>
              </a:tabLst>
            </a:pPr>
            <a:r>
              <a:rPr sz="2200" spc="-5" dirty="0">
                <a:latin typeface="Arial"/>
                <a:cs typeface="Arial"/>
              </a:rPr>
              <a:t>Indexed</a:t>
            </a:r>
            <a:r>
              <a:rPr sz="2200" spc="10" dirty="0">
                <a:latin typeface="Arial"/>
                <a:cs typeface="Arial"/>
              </a:rPr>
              <a:t> </a:t>
            </a:r>
            <a:r>
              <a:rPr sz="2200" spc="-5" dirty="0">
                <a:latin typeface="Arial"/>
                <a:cs typeface="Arial"/>
              </a:rPr>
              <a:t>nested-loop</a:t>
            </a:r>
            <a:r>
              <a:rPr sz="2200" spc="30" dirty="0">
                <a:latin typeface="Arial"/>
                <a:cs typeface="Arial"/>
              </a:rPr>
              <a:t> </a:t>
            </a:r>
            <a:r>
              <a:rPr sz="2200" spc="-10" dirty="0">
                <a:latin typeface="Arial"/>
                <a:cs typeface="Arial"/>
              </a:rPr>
              <a:t>join</a:t>
            </a:r>
            <a:endParaRPr sz="2200">
              <a:latin typeface="Arial"/>
              <a:cs typeface="Arial"/>
            </a:endParaRPr>
          </a:p>
          <a:p>
            <a:pPr marL="1160780" lvl="1" indent="-234315">
              <a:lnSpc>
                <a:spcPct val="100000"/>
              </a:lnSpc>
              <a:spcBef>
                <a:spcPts val="545"/>
              </a:spcBef>
              <a:buChar char="–"/>
              <a:tabLst>
                <a:tab pos="1161415" algn="l"/>
              </a:tabLst>
            </a:pPr>
            <a:r>
              <a:rPr sz="2200" spc="-5" dirty="0">
                <a:latin typeface="Arial"/>
                <a:cs typeface="Arial"/>
              </a:rPr>
              <a:t>Merge-join</a:t>
            </a:r>
            <a:endParaRPr sz="2200">
              <a:latin typeface="Arial"/>
              <a:cs typeface="Arial"/>
            </a:endParaRPr>
          </a:p>
          <a:p>
            <a:pPr marL="1160780" lvl="1" indent="-234315">
              <a:lnSpc>
                <a:spcPct val="100000"/>
              </a:lnSpc>
              <a:spcBef>
                <a:spcPts val="520"/>
              </a:spcBef>
              <a:buChar char="–"/>
              <a:tabLst>
                <a:tab pos="1161415" algn="l"/>
              </a:tabLst>
            </a:pPr>
            <a:r>
              <a:rPr sz="2200" spc="-5" dirty="0">
                <a:latin typeface="Arial"/>
                <a:cs typeface="Arial"/>
              </a:rPr>
              <a:t>Hash-join</a:t>
            </a:r>
            <a:endParaRPr sz="22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11</a:t>
            </a:fld>
            <a:endParaRPr spc="-5" dirty="0"/>
          </a:p>
        </p:txBody>
      </p:sp>
      <p:sp>
        <p:nvSpPr>
          <p:cNvPr id="5" name="object 5"/>
          <p:cNvSpPr txBox="1"/>
          <p:nvPr/>
        </p:nvSpPr>
        <p:spPr>
          <a:xfrm>
            <a:off x="6799833" y="4297933"/>
            <a:ext cx="4590415" cy="360680"/>
          </a:xfrm>
          <a:prstGeom prst="rect">
            <a:avLst/>
          </a:prstGeom>
        </p:spPr>
        <p:txBody>
          <a:bodyPr vert="horz" wrap="square" lIns="0" tIns="12700" rIns="0" bIns="0" rtlCol="0">
            <a:spAutoFit/>
          </a:bodyPr>
          <a:lstStyle/>
          <a:p>
            <a:pPr marL="12700">
              <a:lnSpc>
                <a:spcPct val="100000"/>
              </a:lnSpc>
              <a:spcBef>
                <a:spcPts val="100"/>
              </a:spcBef>
              <a:tabLst>
                <a:tab pos="563880" algn="l"/>
                <a:tab pos="1300480" algn="l"/>
                <a:tab pos="2720975" algn="l"/>
                <a:tab pos="3272154" algn="l"/>
              </a:tabLst>
            </a:pPr>
            <a:r>
              <a:rPr sz="2200" dirty="0">
                <a:latin typeface="Arial"/>
                <a:cs typeface="Arial"/>
              </a:rPr>
              <a:t>for	cost	estimates	for	</a:t>
            </a:r>
            <a:r>
              <a:rPr sz="2200" spc="-5" dirty="0">
                <a:latin typeface="Arial"/>
                <a:cs typeface="Arial"/>
              </a:rPr>
              <a:t>outer-level</a:t>
            </a:r>
            <a:endParaRPr sz="2200">
              <a:latin typeface="Arial"/>
              <a:cs typeface="Arial"/>
            </a:endParaRPr>
          </a:p>
        </p:txBody>
      </p:sp>
      <p:sp>
        <p:nvSpPr>
          <p:cNvPr id="6" name="object 6"/>
          <p:cNvSpPr txBox="1"/>
          <p:nvPr/>
        </p:nvSpPr>
        <p:spPr>
          <a:xfrm>
            <a:off x="682307" y="3830066"/>
            <a:ext cx="5946775" cy="1163955"/>
          </a:xfrm>
          <a:prstGeom prst="rect">
            <a:avLst/>
          </a:prstGeom>
        </p:spPr>
        <p:txBody>
          <a:bodyPr vert="horz" wrap="square" lIns="0" tIns="78740" rIns="0" bIns="0" rtlCol="0">
            <a:spAutoFit/>
          </a:bodyPr>
          <a:lstStyle/>
          <a:p>
            <a:pPr marL="355600" indent="-342900">
              <a:lnSpc>
                <a:spcPct val="100000"/>
              </a:lnSpc>
              <a:spcBef>
                <a:spcPts val="620"/>
              </a:spcBef>
              <a:buFont typeface="Wingdings"/>
              <a:buChar char=""/>
              <a:tabLst>
                <a:tab pos="355600" algn="l"/>
              </a:tabLst>
            </a:pPr>
            <a:r>
              <a:rPr sz="2200" spc="-10" dirty="0">
                <a:latin typeface="Arial"/>
                <a:cs typeface="Arial"/>
              </a:rPr>
              <a:t>Choice</a:t>
            </a:r>
            <a:r>
              <a:rPr sz="2200" spc="15" dirty="0">
                <a:latin typeface="Arial"/>
                <a:cs typeface="Arial"/>
              </a:rPr>
              <a:t> </a:t>
            </a:r>
            <a:r>
              <a:rPr sz="2200" spc="-5" dirty="0">
                <a:latin typeface="Arial"/>
                <a:cs typeface="Arial"/>
              </a:rPr>
              <a:t>based</a:t>
            </a:r>
            <a:r>
              <a:rPr sz="2200" spc="5" dirty="0">
                <a:latin typeface="Arial"/>
                <a:cs typeface="Arial"/>
              </a:rPr>
              <a:t> </a:t>
            </a:r>
            <a:r>
              <a:rPr sz="2200" spc="-5" dirty="0">
                <a:latin typeface="Arial"/>
                <a:cs typeface="Arial"/>
              </a:rPr>
              <a:t>on</a:t>
            </a:r>
            <a:r>
              <a:rPr sz="2200" dirty="0">
                <a:latin typeface="Arial"/>
                <a:cs typeface="Arial"/>
              </a:rPr>
              <a:t> cost</a:t>
            </a:r>
            <a:r>
              <a:rPr sz="2200" spc="-15" dirty="0">
                <a:latin typeface="Arial"/>
                <a:cs typeface="Arial"/>
              </a:rPr>
              <a:t> </a:t>
            </a:r>
            <a:r>
              <a:rPr sz="2200" dirty="0">
                <a:latin typeface="Arial"/>
                <a:cs typeface="Arial"/>
              </a:rPr>
              <a:t>estimate</a:t>
            </a:r>
            <a:endParaRPr sz="2200">
              <a:latin typeface="Arial"/>
              <a:cs typeface="Arial"/>
            </a:endParaRPr>
          </a:p>
          <a:p>
            <a:pPr marL="354965" marR="5080" indent="-342900">
              <a:lnSpc>
                <a:spcPct val="100000"/>
              </a:lnSpc>
              <a:spcBef>
                <a:spcPts val="520"/>
              </a:spcBef>
              <a:buFont typeface="Wingdings"/>
              <a:buChar char=""/>
              <a:tabLst>
                <a:tab pos="355600" algn="l"/>
                <a:tab pos="1089660" algn="l"/>
                <a:tab pos="1808480" algn="l"/>
                <a:tab pos="3230880" algn="l"/>
                <a:tab pos="4557395" algn="l"/>
              </a:tabLst>
            </a:pPr>
            <a:r>
              <a:rPr sz="2200" spc="-5" dirty="0">
                <a:latin typeface="Arial"/>
                <a:cs typeface="Arial"/>
              </a:rPr>
              <a:t>Join	size	</a:t>
            </a:r>
            <a:r>
              <a:rPr sz="2200" dirty="0">
                <a:latin typeface="Arial"/>
                <a:cs typeface="Arial"/>
              </a:rPr>
              <a:t>estimates	</a:t>
            </a:r>
            <a:r>
              <a:rPr sz="2200" spc="-5" dirty="0">
                <a:latin typeface="Arial"/>
                <a:cs typeface="Arial"/>
              </a:rPr>
              <a:t>required,	</a:t>
            </a:r>
            <a:r>
              <a:rPr sz="2200" dirty="0">
                <a:latin typeface="Arial"/>
                <a:cs typeface="Arial"/>
              </a:rPr>
              <a:t>particularly </a:t>
            </a:r>
            <a:r>
              <a:rPr sz="2200" spc="-600" dirty="0">
                <a:latin typeface="Arial"/>
                <a:cs typeface="Arial"/>
              </a:rPr>
              <a:t> </a:t>
            </a:r>
            <a:r>
              <a:rPr sz="2200" spc="-5" dirty="0">
                <a:latin typeface="Arial"/>
                <a:cs typeface="Arial"/>
              </a:rPr>
              <a:t>operations</a:t>
            </a:r>
            <a:r>
              <a:rPr sz="2200" spc="25" dirty="0">
                <a:latin typeface="Arial"/>
                <a:cs typeface="Arial"/>
              </a:rPr>
              <a:t> </a:t>
            </a:r>
            <a:r>
              <a:rPr sz="2200" spc="-10" dirty="0">
                <a:latin typeface="Arial"/>
                <a:cs typeface="Arial"/>
              </a:rPr>
              <a:t>in</a:t>
            </a:r>
            <a:r>
              <a:rPr sz="2200" dirty="0">
                <a:latin typeface="Arial"/>
                <a:cs typeface="Arial"/>
              </a:rPr>
              <a:t> </a:t>
            </a:r>
            <a:r>
              <a:rPr sz="2200" spc="-5" dirty="0">
                <a:latin typeface="Arial"/>
                <a:cs typeface="Arial"/>
              </a:rPr>
              <a:t>a</a:t>
            </a:r>
            <a:r>
              <a:rPr sz="2200" spc="5" dirty="0">
                <a:latin typeface="Arial"/>
                <a:cs typeface="Arial"/>
              </a:rPr>
              <a:t> </a:t>
            </a:r>
            <a:r>
              <a:rPr sz="2200" spc="-5" dirty="0">
                <a:latin typeface="Arial"/>
                <a:cs typeface="Arial"/>
              </a:rPr>
              <a:t>relational-algebra</a:t>
            </a:r>
            <a:r>
              <a:rPr sz="2200" spc="65" dirty="0">
                <a:latin typeface="Arial"/>
                <a:cs typeface="Arial"/>
              </a:rPr>
              <a:t> </a:t>
            </a:r>
            <a:r>
              <a:rPr sz="2200" spc="-5" dirty="0">
                <a:latin typeface="Arial"/>
                <a:cs typeface="Arial"/>
              </a:rPr>
              <a:t>expression.</a:t>
            </a:r>
            <a:endParaRPr sz="22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3E62A0E2-278F-47B9-988E-281AFB402D7F}" type="slidenum">
              <a:rPr lang="en-US" altLang="en-US" sz="1400"/>
              <a:pPr>
                <a:spcBef>
                  <a:spcPct val="50000"/>
                </a:spcBef>
                <a:buClrTx/>
                <a:buFontTx/>
                <a:buNone/>
              </a:pPr>
              <a:t>12</a:t>
            </a:fld>
            <a:endParaRPr lang="en-US" altLang="en-US" sz="1400"/>
          </a:p>
        </p:txBody>
      </p:sp>
      <p:sp>
        <p:nvSpPr>
          <p:cNvPr id="65540" name="Rectangle 2"/>
          <p:cNvSpPr>
            <a:spLocks noGrp="1" noChangeArrowheads="1"/>
          </p:cNvSpPr>
          <p:nvPr>
            <p:ph type="body" idx="1"/>
          </p:nvPr>
        </p:nvSpPr>
        <p:spPr/>
        <p:txBody>
          <a:bodyPr/>
          <a:lstStyle/>
          <a:p>
            <a:pPr algn="ctr" eaLnBrk="1" hangingPunct="1">
              <a:lnSpc>
                <a:spcPct val="90000"/>
              </a:lnSpc>
              <a:buFont typeface="Wingdings" panose="05000000000000000000" pitchFamily="2" charset="2"/>
              <a:buNone/>
            </a:pPr>
            <a:r>
              <a:rPr lang="en-US" altLang="en-US" sz="3500" b="1" u="sng"/>
              <a:t>Evaluation of Expressions</a:t>
            </a:r>
            <a:endParaRPr lang="en-US" altLang="en-US" sz="2800"/>
          </a:p>
          <a:p>
            <a:pPr algn="just"/>
            <a:endParaRPr lang="en-US" altLang="en-US" sz="2400" b="1"/>
          </a:p>
          <a:p>
            <a:pPr algn="just"/>
            <a:r>
              <a:rPr lang="en-US" altLang="en-US" sz="2400"/>
              <a:t>The obvious way to evaluate an expression is simply to evaluate one operation at a time, in an appropriate order. The result of each evaluation is </a:t>
            </a:r>
            <a:r>
              <a:rPr lang="en-US" altLang="en-US" sz="2400" b="1"/>
              <a:t>materialized </a:t>
            </a:r>
            <a:r>
              <a:rPr lang="en-US" altLang="en-US" sz="2400"/>
              <a:t>in a temporary relation for subsequent use. A disadvantage to this approach is the need to construct the temporary relations, which (unless they are small) must be written to disk. An alternative approach is to evaluate several operations simultaneously in a </a:t>
            </a:r>
            <a:r>
              <a:rPr lang="en-US" altLang="en-US" sz="2400" b="1"/>
              <a:t>pipeline, with the results of one operation passed on to the </a:t>
            </a:r>
            <a:r>
              <a:rPr lang="en-US" altLang="en-US" sz="2400"/>
              <a:t>next, without the need to store a temporary relation.</a:t>
            </a:r>
          </a:p>
          <a:p>
            <a:pPr algn="just"/>
            <a:endParaRPr lang="en-US" altLang="en-US" sz="2300" b="1"/>
          </a:p>
          <a:p>
            <a:pPr algn="just"/>
            <a:endParaRPr lang="en-US" altLang="en-US" sz="2300"/>
          </a:p>
        </p:txBody>
      </p:sp>
    </p:spTree>
    <p:extLst>
      <p:ext uri="{BB962C8B-B14F-4D97-AF65-F5344CB8AC3E}">
        <p14:creationId xmlns:p14="http://schemas.microsoft.com/office/powerpoint/2010/main" val="13766402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01B7CD85-F1BD-4B19-A40F-CC434890BAB2}" type="slidenum">
              <a:rPr lang="en-US" altLang="en-US" sz="1400"/>
              <a:pPr>
                <a:spcBef>
                  <a:spcPct val="50000"/>
                </a:spcBef>
                <a:buClrTx/>
                <a:buFontTx/>
                <a:buNone/>
              </a:pPr>
              <a:t>13</a:t>
            </a:fld>
            <a:endParaRPr lang="en-US" altLang="en-US" sz="1400"/>
          </a:p>
        </p:txBody>
      </p:sp>
      <p:sp>
        <p:nvSpPr>
          <p:cNvPr id="67588" name="Rectangle 2"/>
          <p:cNvSpPr>
            <a:spLocks noGrp="1" noChangeArrowheads="1"/>
          </p:cNvSpPr>
          <p:nvPr>
            <p:ph type="body" idx="1"/>
          </p:nvPr>
        </p:nvSpPr>
        <p:spPr>
          <a:xfrm>
            <a:off x="622300" y="57800"/>
            <a:ext cx="10711814" cy="1377300"/>
          </a:xfrm>
        </p:spPr>
        <p:txBody>
          <a:bodyPr/>
          <a:lstStyle/>
          <a:p>
            <a:pPr algn="ctr" eaLnBrk="1" hangingPunct="1">
              <a:lnSpc>
                <a:spcPct val="90000"/>
              </a:lnSpc>
              <a:buFont typeface="Wingdings" panose="05000000000000000000" pitchFamily="2" charset="2"/>
              <a:buNone/>
            </a:pPr>
            <a:r>
              <a:rPr lang="en-US" altLang="en-US" sz="3500" b="1" u="sng" dirty="0"/>
              <a:t>Evaluation of Expressions</a:t>
            </a:r>
            <a:endParaRPr lang="en-US" altLang="en-US" sz="2800" dirty="0"/>
          </a:p>
          <a:p>
            <a:pPr algn="just"/>
            <a:r>
              <a:rPr lang="en-US" altLang="en-US" sz="2400" dirty="0"/>
              <a:t> </a:t>
            </a:r>
            <a:r>
              <a:rPr lang="en-US" altLang="en-US" sz="2400" b="1" dirty="0"/>
              <a:t>Materialization:</a:t>
            </a:r>
          </a:p>
          <a:p>
            <a:pPr algn="just"/>
            <a:r>
              <a:rPr lang="en-US" altLang="en-US" sz="2400" b="1" dirty="0"/>
              <a:t>Consider the expression;</a:t>
            </a:r>
          </a:p>
          <a:p>
            <a:pPr algn="just"/>
            <a:endParaRPr lang="en-US" altLang="en-US" sz="1000" b="1" dirty="0"/>
          </a:p>
        </p:txBody>
      </p:sp>
      <p:pic>
        <p:nvPicPr>
          <p:cNvPr id="675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5700" y="1435100"/>
            <a:ext cx="54864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1700" y="2001838"/>
            <a:ext cx="5791200"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99925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4DC3FE68-2B83-4347-B997-247FEC85084F}" type="slidenum">
              <a:rPr lang="en-US" altLang="en-US" sz="1400"/>
              <a:pPr>
                <a:spcBef>
                  <a:spcPct val="50000"/>
                </a:spcBef>
                <a:buClrTx/>
                <a:buFontTx/>
                <a:buNone/>
              </a:pPr>
              <a:t>14</a:t>
            </a:fld>
            <a:endParaRPr lang="en-US" altLang="en-US" sz="1400"/>
          </a:p>
        </p:txBody>
      </p:sp>
      <p:sp>
        <p:nvSpPr>
          <p:cNvPr id="69636" name="Rectangle 2"/>
          <p:cNvSpPr>
            <a:spLocks noGrp="1" noChangeArrowheads="1"/>
          </p:cNvSpPr>
          <p:nvPr>
            <p:ph type="body" idx="1"/>
          </p:nvPr>
        </p:nvSpPr>
        <p:spPr>
          <a:xfrm>
            <a:off x="774700" y="685800"/>
            <a:ext cx="10711814" cy="5070619"/>
          </a:xfrm>
        </p:spPr>
        <p:txBody>
          <a:bodyPr/>
          <a:lstStyle/>
          <a:p>
            <a:pPr algn="ctr" eaLnBrk="1" hangingPunct="1">
              <a:lnSpc>
                <a:spcPct val="90000"/>
              </a:lnSpc>
              <a:buFont typeface="Wingdings" panose="05000000000000000000" pitchFamily="2" charset="2"/>
              <a:buNone/>
            </a:pPr>
            <a:r>
              <a:rPr lang="en-US" altLang="en-US" sz="3500" b="1" u="sng" dirty="0"/>
              <a:t>Evaluation of Expressions</a:t>
            </a:r>
            <a:endParaRPr lang="en-US" altLang="en-US" sz="2800" dirty="0"/>
          </a:p>
          <a:p>
            <a:pPr algn="just"/>
            <a:r>
              <a:rPr lang="en-US" altLang="en-US" sz="2400" dirty="0"/>
              <a:t> </a:t>
            </a:r>
            <a:r>
              <a:rPr lang="en-US" altLang="en-US" sz="2400" b="1" dirty="0"/>
              <a:t>Materialization:</a:t>
            </a:r>
          </a:p>
          <a:p>
            <a:pPr algn="just"/>
            <a:endParaRPr lang="en-US" altLang="en-US" sz="1000" b="1" dirty="0"/>
          </a:p>
          <a:p>
            <a:pPr algn="just"/>
            <a:r>
              <a:rPr lang="en-US" altLang="en-US" sz="2400" b="1" dirty="0"/>
              <a:t>If we apply the materialization approach, we start from the lowest-level operations in the expression (at the bottom of the tree). </a:t>
            </a:r>
            <a:r>
              <a:rPr lang="en-US" altLang="en-US" sz="2400" dirty="0"/>
              <a:t>In our example, there is only one such operation: </a:t>
            </a:r>
            <a:r>
              <a:rPr lang="en-US" altLang="en-US" sz="2400" i="1" dirty="0"/>
              <a:t>the selection operation on department. The inputs to the </a:t>
            </a:r>
            <a:r>
              <a:rPr lang="en-US" altLang="en-US" sz="2400" dirty="0"/>
              <a:t>lowest-level operations are relations in the database. We execute these operations by the algorithms that we studied earlier, like selection, join </a:t>
            </a:r>
            <a:r>
              <a:rPr lang="en-US" altLang="en-US" sz="2400" dirty="0" err="1"/>
              <a:t>etc</a:t>
            </a:r>
            <a:r>
              <a:rPr lang="en-US" altLang="en-US" sz="2400" dirty="0"/>
              <a:t>, and we store the results in temporary relations. We can use these temporary relations to execute the operations at the next level up in the tree, where the inputs now are either temporary relations or relations stored in the database. In our example, the inputs to the join are the </a:t>
            </a:r>
            <a:r>
              <a:rPr lang="en-US" altLang="en-US" sz="2400" i="1" dirty="0"/>
              <a:t>instructor </a:t>
            </a:r>
            <a:r>
              <a:rPr lang="en-US" altLang="en-US" sz="2400" dirty="0"/>
              <a:t>relation and the temporary relation created by the </a:t>
            </a:r>
            <a:r>
              <a:rPr lang="en-US" altLang="en-US" sz="2400" i="1" dirty="0"/>
              <a:t>selection on department. </a:t>
            </a:r>
            <a:r>
              <a:rPr lang="en-US" altLang="en-US" sz="2400" dirty="0"/>
              <a:t>The join can now be evaluated, creating another temporary relation.</a:t>
            </a:r>
            <a:endParaRPr lang="en-US" altLang="en-US" sz="2300" dirty="0"/>
          </a:p>
        </p:txBody>
      </p:sp>
    </p:spTree>
    <p:extLst>
      <p:ext uri="{BB962C8B-B14F-4D97-AF65-F5344CB8AC3E}">
        <p14:creationId xmlns:p14="http://schemas.microsoft.com/office/powerpoint/2010/main" val="2281995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B77797B4-FAA3-4B04-9DFD-43B32DE12C52}" type="slidenum">
              <a:rPr lang="en-US" altLang="en-US" sz="1400"/>
              <a:pPr>
                <a:spcBef>
                  <a:spcPct val="50000"/>
                </a:spcBef>
                <a:buClrTx/>
                <a:buFontTx/>
                <a:buNone/>
              </a:pPr>
              <a:t>15</a:t>
            </a:fld>
            <a:endParaRPr lang="en-US" altLang="en-US" sz="1400"/>
          </a:p>
        </p:txBody>
      </p:sp>
      <p:sp>
        <p:nvSpPr>
          <p:cNvPr id="71684" name="Rectangle 2"/>
          <p:cNvSpPr>
            <a:spLocks noGrp="1" noChangeArrowheads="1"/>
          </p:cNvSpPr>
          <p:nvPr>
            <p:ph type="body" idx="1"/>
          </p:nvPr>
        </p:nvSpPr>
        <p:spPr>
          <a:xfrm>
            <a:off x="774700" y="762000"/>
            <a:ext cx="10711814" cy="5286062"/>
          </a:xfrm>
        </p:spPr>
        <p:txBody>
          <a:bodyPr/>
          <a:lstStyle/>
          <a:p>
            <a:pPr algn="ctr" eaLnBrk="1" hangingPunct="1">
              <a:lnSpc>
                <a:spcPct val="90000"/>
              </a:lnSpc>
              <a:buFont typeface="Wingdings" panose="05000000000000000000" pitchFamily="2" charset="2"/>
              <a:buNone/>
            </a:pPr>
            <a:r>
              <a:rPr lang="en-US" altLang="en-US" sz="3500" b="1" u="sng" dirty="0"/>
              <a:t>Evaluation of Expressions</a:t>
            </a:r>
            <a:endParaRPr lang="en-US" altLang="en-US" sz="2800" dirty="0"/>
          </a:p>
          <a:p>
            <a:pPr algn="just"/>
            <a:r>
              <a:rPr lang="en-US" altLang="en-US" sz="2400" dirty="0"/>
              <a:t> </a:t>
            </a:r>
            <a:r>
              <a:rPr lang="en-US" altLang="en-US" sz="2400" b="1" dirty="0"/>
              <a:t>Materialization:</a:t>
            </a:r>
          </a:p>
          <a:p>
            <a:pPr algn="just"/>
            <a:r>
              <a:rPr lang="en-US" altLang="en-US" sz="2400" dirty="0"/>
              <a:t>By repeating the process, we will eventually evaluate the operation at the root of the tree, giving the final result of the expression. In the earlier example, we get the final result by executing the projection operation at the root of the tree, using as input the temporary relation created by the join.</a:t>
            </a:r>
          </a:p>
          <a:p>
            <a:pPr algn="just"/>
            <a:endParaRPr lang="en-US" altLang="en-US" sz="2400" dirty="0"/>
          </a:p>
          <a:p>
            <a:pPr algn="just"/>
            <a:r>
              <a:rPr lang="en-US" altLang="en-US" sz="2400" dirty="0"/>
              <a:t>This is known as </a:t>
            </a:r>
            <a:r>
              <a:rPr lang="en-US" altLang="en-US" sz="2400" b="1" dirty="0"/>
              <a:t>materialized evaluation, </a:t>
            </a:r>
            <a:r>
              <a:rPr lang="en-US" altLang="en-US" sz="2400" dirty="0"/>
              <a:t>since the results of each intermediate operation are created (materialized) and then are used for evaluation of the next-level operations.</a:t>
            </a:r>
          </a:p>
          <a:p>
            <a:pPr algn="just"/>
            <a:endParaRPr lang="en-US" altLang="en-US" sz="2400" dirty="0"/>
          </a:p>
          <a:p>
            <a:pPr algn="just"/>
            <a:r>
              <a:rPr lang="en-US" altLang="en-US" sz="2400" dirty="0"/>
              <a:t>To compute the cost of evaluating an expression as done here, we have to add the costs of all the operations, as well as the cost of writing the intermediate results to disk.</a:t>
            </a:r>
            <a:endParaRPr lang="en-US" altLang="en-US" sz="2300" dirty="0"/>
          </a:p>
        </p:txBody>
      </p:sp>
    </p:spTree>
    <p:extLst>
      <p:ext uri="{BB962C8B-B14F-4D97-AF65-F5344CB8AC3E}">
        <p14:creationId xmlns:p14="http://schemas.microsoft.com/office/powerpoint/2010/main" val="29272592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9CACD1F1-2763-4CA4-BE76-0DF446BA75D1}" type="slidenum">
              <a:rPr lang="en-US" altLang="en-US" sz="1400"/>
              <a:pPr>
                <a:spcBef>
                  <a:spcPct val="50000"/>
                </a:spcBef>
                <a:buClrTx/>
                <a:buFontTx/>
                <a:buNone/>
              </a:pPr>
              <a:t>16</a:t>
            </a:fld>
            <a:endParaRPr lang="en-US" altLang="en-US" sz="1400"/>
          </a:p>
        </p:txBody>
      </p:sp>
      <p:sp>
        <p:nvSpPr>
          <p:cNvPr id="73732" name="Rectangle 2"/>
          <p:cNvSpPr>
            <a:spLocks noGrp="1" noChangeArrowheads="1"/>
          </p:cNvSpPr>
          <p:nvPr>
            <p:ph type="body" idx="1"/>
          </p:nvPr>
        </p:nvSpPr>
        <p:spPr>
          <a:xfrm>
            <a:off x="698500" y="900269"/>
            <a:ext cx="10711814" cy="5286062"/>
          </a:xfrm>
        </p:spPr>
        <p:txBody>
          <a:bodyPr/>
          <a:lstStyle/>
          <a:p>
            <a:pPr algn="ctr" eaLnBrk="1" hangingPunct="1">
              <a:lnSpc>
                <a:spcPct val="90000"/>
              </a:lnSpc>
              <a:buFont typeface="Wingdings" panose="05000000000000000000" pitchFamily="2" charset="2"/>
              <a:buNone/>
            </a:pPr>
            <a:r>
              <a:rPr lang="en-US" altLang="en-US" sz="3500" b="1" u="sng" dirty="0"/>
              <a:t>Evaluation of Expressions</a:t>
            </a:r>
            <a:endParaRPr lang="en-US" altLang="en-US" sz="2800" dirty="0"/>
          </a:p>
          <a:p>
            <a:pPr algn="just"/>
            <a:r>
              <a:rPr lang="en-US" altLang="en-US" sz="2400" dirty="0"/>
              <a:t> </a:t>
            </a:r>
            <a:r>
              <a:rPr lang="en-US" altLang="en-US" sz="2400" b="1" dirty="0"/>
              <a:t>Pipelining:</a:t>
            </a:r>
          </a:p>
          <a:p>
            <a:pPr algn="just"/>
            <a:r>
              <a:rPr lang="en-US" altLang="en-US" sz="2400" dirty="0"/>
              <a:t>We can improve query-evaluation efficiency by reducing the number of temporary files that are produced. We achieve this reduction by combining several relational operations into a </a:t>
            </a:r>
            <a:r>
              <a:rPr lang="en-US" altLang="en-US" sz="2400" i="1" dirty="0"/>
              <a:t>pipeline of operations, in which the results of one operation </a:t>
            </a:r>
            <a:r>
              <a:rPr lang="en-US" altLang="en-US" sz="2400" dirty="0"/>
              <a:t>are passed along to the next operation in the pipeline. This is called </a:t>
            </a:r>
            <a:r>
              <a:rPr lang="en-US" altLang="en-US" sz="2400" b="1" dirty="0"/>
              <a:t>pipelined evaluation.</a:t>
            </a:r>
          </a:p>
          <a:p>
            <a:pPr algn="just"/>
            <a:r>
              <a:rPr lang="en-US" altLang="en-US" sz="2400" dirty="0"/>
              <a:t>For example, consider the expression                     </a:t>
            </a:r>
            <a:r>
              <a:rPr lang="en-US" altLang="en-US" sz="2400" i="1" dirty="0"/>
              <a:t>If materialization were applied, evaluation would involve creating a temporary relation to hold the result of the join, and then reading back in the result to perform the projection.</a:t>
            </a:r>
            <a:r>
              <a:rPr lang="en-US" altLang="en-US" sz="2400" dirty="0"/>
              <a:t> These operations can be combined: When the join operation generates a tuple of its result, it passes that tuple immediately to the project operation for processing. By combining the join and the projection, we avoid creating the intermediate result, and instead create the final result directly.</a:t>
            </a:r>
            <a:endParaRPr lang="en-US" altLang="en-US" sz="2300" dirty="0"/>
          </a:p>
        </p:txBody>
      </p:sp>
      <p:pic>
        <p:nvPicPr>
          <p:cNvPr id="737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3550" y="3200400"/>
            <a:ext cx="16573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38790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681DBAD2-5684-438D-9AD0-74DBF30CCA33}" type="slidenum">
              <a:rPr lang="en-US" altLang="en-US" sz="1400"/>
              <a:pPr>
                <a:spcBef>
                  <a:spcPct val="50000"/>
                </a:spcBef>
                <a:buClrTx/>
                <a:buFontTx/>
                <a:buNone/>
              </a:pPr>
              <a:t>17</a:t>
            </a:fld>
            <a:endParaRPr lang="en-US" altLang="en-US" sz="1400"/>
          </a:p>
        </p:txBody>
      </p:sp>
      <p:sp>
        <p:nvSpPr>
          <p:cNvPr id="5124" name="Rectangle 2"/>
          <p:cNvSpPr>
            <a:spLocks noGrp="1" noChangeArrowheads="1"/>
          </p:cNvSpPr>
          <p:nvPr>
            <p:ph type="body" idx="1"/>
          </p:nvPr>
        </p:nvSpPr>
        <p:spPr>
          <a:xfrm>
            <a:off x="546100" y="1371600"/>
            <a:ext cx="10711814" cy="3439403"/>
          </a:xfrm>
        </p:spPr>
        <p:txBody>
          <a:bodyPr/>
          <a:lstStyle/>
          <a:p>
            <a:pPr algn="ctr" eaLnBrk="1" hangingPunct="1">
              <a:lnSpc>
                <a:spcPct val="90000"/>
              </a:lnSpc>
              <a:buFont typeface="Wingdings" panose="05000000000000000000" pitchFamily="2" charset="2"/>
              <a:buNone/>
              <a:defRPr/>
            </a:pPr>
            <a:r>
              <a:rPr lang="en-US" sz="3500" b="1" u="sng" dirty="0"/>
              <a:t>Evaluation of Expressions</a:t>
            </a:r>
            <a:endParaRPr lang="en-US" sz="2800" dirty="0"/>
          </a:p>
          <a:p>
            <a:pPr algn="just">
              <a:defRPr/>
            </a:pPr>
            <a:r>
              <a:rPr lang="en-US" sz="2400" dirty="0"/>
              <a:t> </a:t>
            </a:r>
            <a:r>
              <a:rPr lang="en-US" sz="2400" b="1" dirty="0"/>
              <a:t>Pipelining:</a:t>
            </a:r>
          </a:p>
          <a:p>
            <a:pPr>
              <a:defRPr/>
            </a:pPr>
            <a:r>
              <a:rPr lang="en-US" sz="2400" dirty="0"/>
              <a:t>Creating a pipeline of operations can provide two benefits:</a:t>
            </a:r>
          </a:p>
          <a:p>
            <a:pPr lvl="1" algn="just">
              <a:defRPr/>
            </a:pPr>
            <a:r>
              <a:rPr lang="en-US" sz="2400" b="1" dirty="0"/>
              <a:t>It eliminates the cost of reading and writing temporary relations, reducing </a:t>
            </a:r>
            <a:r>
              <a:rPr lang="en-US" sz="2400" dirty="0"/>
              <a:t>the cost of query evaluation.</a:t>
            </a:r>
            <a:endParaRPr lang="en-US" dirty="0" smtClean="0">
              <a:ea typeface="+mn-ea"/>
              <a:cs typeface="+mn-cs"/>
            </a:endParaRPr>
          </a:p>
          <a:p>
            <a:pPr lvl="1" algn="just">
              <a:defRPr/>
            </a:pPr>
            <a:r>
              <a:rPr lang="en-US" sz="2400" b="1" dirty="0"/>
              <a:t>It can start generating query results quickly, if the root operator of a query evaluation </a:t>
            </a:r>
            <a:r>
              <a:rPr lang="en-US" sz="2400" dirty="0"/>
              <a:t>plan is combined in a pipeline with its inputs. This can be quite useful if the results are displayed to a user as they are generated, since otherwise there may be a long delay before the user sees any query results.</a:t>
            </a:r>
            <a:endParaRPr lang="en-US" sz="2400" b="1" dirty="0"/>
          </a:p>
        </p:txBody>
      </p:sp>
    </p:spTree>
    <p:extLst>
      <p:ext uri="{BB962C8B-B14F-4D97-AF65-F5344CB8AC3E}">
        <p14:creationId xmlns:p14="http://schemas.microsoft.com/office/powerpoint/2010/main" val="15342518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5019040"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Query</a:t>
            </a:r>
            <a:r>
              <a:rPr sz="3600" spc="-80" dirty="0">
                <a:solidFill>
                  <a:srgbClr val="000000"/>
                </a:solidFill>
                <a:latin typeface="Verdana"/>
                <a:cs typeface="Verdana"/>
              </a:rPr>
              <a:t> </a:t>
            </a:r>
            <a:r>
              <a:rPr sz="3600" spc="-5" dirty="0">
                <a:solidFill>
                  <a:srgbClr val="000000"/>
                </a:solidFill>
                <a:latin typeface="Verdana"/>
                <a:cs typeface="Verdana"/>
              </a:rPr>
              <a:t>Optimization</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8005" cy="4990465"/>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a:buChar char=""/>
              <a:tabLst>
                <a:tab pos="355600" algn="l"/>
              </a:tabLst>
            </a:pPr>
            <a:r>
              <a:rPr sz="2200" dirty="0">
                <a:latin typeface="Arial"/>
                <a:cs typeface="Arial"/>
              </a:rPr>
              <a:t>A</a:t>
            </a:r>
            <a:r>
              <a:rPr sz="2200" spc="5" dirty="0">
                <a:latin typeface="Arial"/>
                <a:cs typeface="Arial"/>
              </a:rPr>
              <a:t> </a:t>
            </a:r>
            <a:r>
              <a:rPr sz="2200" spc="-10" dirty="0">
                <a:latin typeface="Arial"/>
                <a:cs typeface="Arial"/>
              </a:rPr>
              <a:t>single</a:t>
            </a:r>
            <a:r>
              <a:rPr sz="2200" spc="-5" dirty="0">
                <a:latin typeface="Arial"/>
                <a:cs typeface="Arial"/>
              </a:rPr>
              <a:t> </a:t>
            </a:r>
            <a:r>
              <a:rPr sz="2200" dirty="0">
                <a:latin typeface="Arial"/>
                <a:cs typeface="Arial"/>
              </a:rPr>
              <a:t>query</a:t>
            </a:r>
            <a:r>
              <a:rPr sz="2200" spc="5" dirty="0">
                <a:latin typeface="Arial"/>
                <a:cs typeface="Arial"/>
              </a:rPr>
              <a:t> </a:t>
            </a:r>
            <a:r>
              <a:rPr sz="2200" dirty="0">
                <a:latin typeface="Arial"/>
                <a:cs typeface="Arial"/>
              </a:rPr>
              <a:t>can</a:t>
            </a:r>
            <a:r>
              <a:rPr sz="2200" spc="5" dirty="0">
                <a:latin typeface="Arial"/>
                <a:cs typeface="Arial"/>
              </a:rPr>
              <a:t> </a:t>
            </a:r>
            <a:r>
              <a:rPr sz="2200" spc="-5" dirty="0">
                <a:latin typeface="Arial"/>
                <a:cs typeface="Arial"/>
              </a:rPr>
              <a:t>be</a:t>
            </a:r>
            <a:r>
              <a:rPr sz="2200" dirty="0">
                <a:latin typeface="Arial"/>
                <a:cs typeface="Arial"/>
              </a:rPr>
              <a:t> </a:t>
            </a:r>
            <a:r>
              <a:rPr sz="2200" spc="-5" dirty="0">
                <a:latin typeface="Arial"/>
                <a:cs typeface="Arial"/>
              </a:rPr>
              <a:t>executed</a:t>
            </a:r>
            <a:r>
              <a:rPr sz="2200" dirty="0">
                <a:latin typeface="Arial"/>
                <a:cs typeface="Arial"/>
              </a:rPr>
              <a:t> through</a:t>
            </a:r>
            <a:r>
              <a:rPr sz="2200" spc="5" dirty="0">
                <a:latin typeface="Arial"/>
                <a:cs typeface="Arial"/>
              </a:rPr>
              <a:t> </a:t>
            </a:r>
            <a:r>
              <a:rPr sz="2200" spc="-5" dirty="0">
                <a:latin typeface="Arial"/>
                <a:cs typeface="Arial"/>
              </a:rPr>
              <a:t>different</a:t>
            </a:r>
            <a:r>
              <a:rPr sz="2200" dirty="0">
                <a:latin typeface="Arial"/>
                <a:cs typeface="Arial"/>
              </a:rPr>
              <a:t> algorithms</a:t>
            </a:r>
            <a:r>
              <a:rPr sz="2200" spc="5" dirty="0">
                <a:latin typeface="Arial"/>
                <a:cs typeface="Arial"/>
              </a:rPr>
              <a:t> </a:t>
            </a:r>
            <a:r>
              <a:rPr sz="2200" spc="-5" dirty="0">
                <a:latin typeface="Arial"/>
                <a:cs typeface="Arial"/>
              </a:rPr>
              <a:t>or</a:t>
            </a:r>
            <a:r>
              <a:rPr sz="2200" spc="600" dirty="0">
                <a:latin typeface="Arial"/>
                <a:cs typeface="Arial"/>
              </a:rPr>
              <a:t> </a:t>
            </a:r>
            <a:r>
              <a:rPr sz="2200" spc="-5" dirty="0">
                <a:latin typeface="Arial"/>
                <a:cs typeface="Arial"/>
              </a:rPr>
              <a:t>re-written</a:t>
            </a:r>
            <a:r>
              <a:rPr sz="2200" spc="600" dirty="0">
                <a:latin typeface="Arial"/>
                <a:cs typeface="Arial"/>
              </a:rPr>
              <a:t> </a:t>
            </a:r>
            <a:r>
              <a:rPr sz="2200" spc="-15" dirty="0">
                <a:latin typeface="Arial"/>
                <a:cs typeface="Arial"/>
              </a:rPr>
              <a:t>in </a:t>
            </a:r>
            <a:r>
              <a:rPr sz="2200" spc="-10" dirty="0">
                <a:latin typeface="Arial"/>
                <a:cs typeface="Arial"/>
              </a:rPr>
              <a:t> </a:t>
            </a:r>
            <a:r>
              <a:rPr sz="2200" spc="-5" dirty="0">
                <a:latin typeface="Arial"/>
                <a:cs typeface="Arial"/>
              </a:rPr>
              <a:t>different</a:t>
            </a:r>
            <a:r>
              <a:rPr sz="2200" spc="10" dirty="0">
                <a:latin typeface="Arial"/>
                <a:cs typeface="Arial"/>
              </a:rPr>
              <a:t> </a:t>
            </a:r>
            <a:r>
              <a:rPr sz="2200" dirty="0">
                <a:latin typeface="Arial"/>
                <a:cs typeface="Arial"/>
              </a:rPr>
              <a:t>forms</a:t>
            </a:r>
            <a:r>
              <a:rPr sz="2200" spc="-15" dirty="0">
                <a:latin typeface="Arial"/>
                <a:cs typeface="Arial"/>
              </a:rPr>
              <a:t> </a:t>
            </a:r>
            <a:r>
              <a:rPr sz="2200" spc="-5" dirty="0">
                <a:latin typeface="Arial"/>
                <a:cs typeface="Arial"/>
              </a:rPr>
              <a:t>and</a:t>
            </a:r>
            <a:r>
              <a:rPr sz="2200" spc="5" dirty="0">
                <a:latin typeface="Arial"/>
                <a:cs typeface="Arial"/>
              </a:rPr>
              <a:t> </a:t>
            </a:r>
            <a:r>
              <a:rPr sz="2200" dirty="0">
                <a:latin typeface="Arial"/>
                <a:cs typeface="Arial"/>
              </a:rPr>
              <a:t>structures.</a:t>
            </a:r>
            <a:endParaRPr sz="2200">
              <a:latin typeface="Arial"/>
              <a:cs typeface="Arial"/>
            </a:endParaRPr>
          </a:p>
          <a:p>
            <a:pPr marL="354965" marR="5080" indent="-342900" algn="just">
              <a:lnSpc>
                <a:spcPct val="100000"/>
              </a:lnSpc>
              <a:spcBef>
                <a:spcPts val="520"/>
              </a:spcBef>
              <a:buFont typeface="Wingdings"/>
              <a:buChar char=""/>
              <a:tabLst>
                <a:tab pos="355600" algn="l"/>
              </a:tabLst>
            </a:pPr>
            <a:r>
              <a:rPr sz="2200" spc="-5" dirty="0">
                <a:latin typeface="Arial"/>
                <a:cs typeface="Arial"/>
              </a:rPr>
              <a:t>Hence,</a:t>
            </a:r>
            <a:r>
              <a:rPr sz="2200" dirty="0">
                <a:latin typeface="Arial"/>
                <a:cs typeface="Arial"/>
              </a:rPr>
              <a:t> the </a:t>
            </a:r>
            <a:r>
              <a:rPr sz="2200" spc="-5" dirty="0">
                <a:latin typeface="Arial"/>
                <a:cs typeface="Arial"/>
              </a:rPr>
              <a:t>question</a:t>
            </a:r>
            <a:r>
              <a:rPr sz="2200" dirty="0">
                <a:latin typeface="Arial"/>
                <a:cs typeface="Arial"/>
              </a:rPr>
              <a:t> </a:t>
            </a:r>
            <a:r>
              <a:rPr sz="2200" spc="-5" dirty="0">
                <a:latin typeface="Arial"/>
                <a:cs typeface="Arial"/>
              </a:rPr>
              <a:t>of</a:t>
            </a:r>
            <a:r>
              <a:rPr sz="2200" spc="600" dirty="0">
                <a:latin typeface="Arial"/>
                <a:cs typeface="Arial"/>
              </a:rPr>
              <a:t> </a:t>
            </a:r>
            <a:r>
              <a:rPr sz="2200" b="1" dirty="0">
                <a:latin typeface="Arial"/>
                <a:cs typeface="Arial"/>
              </a:rPr>
              <a:t>query optimization </a:t>
            </a:r>
            <a:r>
              <a:rPr sz="2200" spc="-5" dirty="0">
                <a:latin typeface="Arial"/>
                <a:cs typeface="Arial"/>
              </a:rPr>
              <a:t>comes into </a:t>
            </a:r>
            <a:r>
              <a:rPr sz="2200" dirty="0">
                <a:latin typeface="Arial"/>
                <a:cs typeface="Arial"/>
              </a:rPr>
              <a:t>the </a:t>
            </a:r>
            <a:r>
              <a:rPr sz="2200" spc="-5" dirty="0">
                <a:latin typeface="Arial"/>
                <a:cs typeface="Arial"/>
              </a:rPr>
              <a:t>picture</a:t>
            </a:r>
            <a:r>
              <a:rPr sz="2200" spc="600" dirty="0">
                <a:latin typeface="Arial"/>
                <a:cs typeface="Arial"/>
              </a:rPr>
              <a:t> </a:t>
            </a:r>
            <a:r>
              <a:rPr sz="2200" dirty="0">
                <a:latin typeface="Arial"/>
                <a:cs typeface="Arial"/>
              </a:rPr>
              <a:t>– Which </a:t>
            </a:r>
            <a:r>
              <a:rPr sz="2200" spc="-5" dirty="0">
                <a:latin typeface="Arial"/>
                <a:cs typeface="Arial"/>
              </a:rPr>
              <a:t>of </a:t>
            </a:r>
            <a:r>
              <a:rPr sz="2200" dirty="0">
                <a:latin typeface="Arial"/>
                <a:cs typeface="Arial"/>
              </a:rPr>
              <a:t> these forms </a:t>
            </a:r>
            <a:r>
              <a:rPr sz="2200" spc="-5" dirty="0">
                <a:latin typeface="Arial"/>
                <a:cs typeface="Arial"/>
              </a:rPr>
              <a:t>or pathways </a:t>
            </a:r>
            <a:r>
              <a:rPr sz="2200" spc="-10" dirty="0">
                <a:latin typeface="Arial"/>
                <a:cs typeface="Arial"/>
              </a:rPr>
              <a:t>is </a:t>
            </a:r>
            <a:r>
              <a:rPr sz="2200" dirty="0">
                <a:latin typeface="Arial"/>
                <a:cs typeface="Arial"/>
              </a:rPr>
              <a:t>the most optimal? </a:t>
            </a:r>
            <a:r>
              <a:rPr sz="2200" spc="5" dirty="0">
                <a:latin typeface="Arial"/>
                <a:cs typeface="Arial"/>
              </a:rPr>
              <a:t>The </a:t>
            </a:r>
            <a:r>
              <a:rPr sz="2200" dirty="0">
                <a:latin typeface="Arial"/>
                <a:cs typeface="Arial"/>
              </a:rPr>
              <a:t>query </a:t>
            </a:r>
            <a:r>
              <a:rPr sz="2200" spc="-5" dirty="0">
                <a:latin typeface="Arial"/>
                <a:cs typeface="Arial"/>
              </a:rPr>
              <a:t>optimizer </a:t>
            </a:r>
            <a:r>
              <a:rPr sz="2200" dirty="0">
                <a:latin typeface="Arial"/>
                <a:cs typeface="Arial"/>
              </a:rPr>
              <a:t>attempts to </a:t>
            </a:r>
            <a:r>
              <a:rPr sz="2200" spc="5" dirty="0">
                <a:latin typeface="Arial"/>
                <a:cs typeface="Arial"/>
              </a:rPr>
              <a:t> </a:t>
            </a:r>
            <a:r>
              <a:rPr sz="2200" spc="-5" dirty="0">
                <a:latin typeface="Arial"/>
                <a:cs typeface="Arial"/>
              </a:rPr>
              <a:t>determine</a:t>
            </a:r>
            <a:r>
              <a:rPr sz="2200" dirty="0">
                <a:latin typeface="Arial"/>
                <a:cs typeface="Arial"/>
              </a:rPr>
              <a:t> the most</a:t>
            </a:r>
            <a:r>
              <a:rPr sz="2200" spc="5" dirty="0">
                <a:latin typeface="Arial"/>
                <a:cs typeface="Arial"/>
              </a:rPr>
              <a:t> </a:t>
            </a:r>
            <a:r>
              <a:rPr sz="2200" spc="-5" dirty="0">
                <a:latin typeface="Arial"/>
                <a:cs typeface="Arial"/>
              </a:rPr>
              <a:t>efficient</a:t>
            </a:r>
            <a:r>
              <a:rPr sz="2200" dirty="0">
                <a:latin typeface="Arial"/>
                <a:cs typeface="Arial"/>
              </a:rPr>
              <a:t> </a:t>
            </a:r>
            <a:r>
              <a:rPr sz="2200" spc="-15" dirty="0">
                <a:latin typeface="Arial"/>
                <a:cs typeface="Arial"/>
              </a:rPr>
              <a:t>way</a:t>
            </a:r>
            <a:r>
              <a:rPr sz="2200" spc="-10" dirty="0">
                <a:latin typeface="Arial"/>
                <a:cs typeface="Arial"/>
              </a:rPr>
              <a:t> </a:t>
            </a:r>
            <a:r>
              <a:rPr sz="2200" dirty="0">
                <a:latin typeface="Arial"/>
                <a:cs typeface="Arial"/>
              </a:rPr>
              <a:t>to </a:t>
            </a:r>
            <a:r>
              <a:rPr sz="2200" spc="-5" dirty="0">
                <a:latin typeface="Arial"/>
                <a:cs typeface="Arial"/>
              </a:rPr>
              <a:t>execute</a:t>
            </a:r>
            <a:r>
              <a:rPr sz="2200" dirty="0">
                <a:latin typeface="Arial"/>
                <a:cs typeface="Arial"/>
              </a:rPr>
              <a:t> a </a:t>
            </a:r>
            <a:r>
              <a:rPr sz="2200" spc="-5" dirty="0">
                <a:latin typeface="Arial"/>
                <a:cs typeface="Arial"/>
              </a:rPr>
              <a:t>given</a:t>
            </a:r>
            <a:r>
              <a:rPr sz="2200" dirty="0">
                <a:latin typeface="Arial"/>
                <a:cs typeface="Arial"/>
              </a:rPr>
              <a:t> query </a:t>
            </a:r>
            <a:r>
              <a:rPr sz="2200" spc="5" dirty="0">
                <a:latin typeface="Arial"/>
                <a:cs typeface="Arial"/>
              </a:rPr>
              <a:t>by </a:t>
            </a:r>
            <a:r>
              <a:rPr sz="2200" dirty="0">
                <a:latin typeface="Arial"/>
                <a:cs typeface="Arial"/>
              </a:rPr>
              <a:t>considering the </a:t>
            </a:r>
            <a:r>
              <a:rPr sz="2200" spc="5" dirty="0">
                <a:latin typeface="Arial"/>
                <a:cs typeface="Arial"/>
              </a:rPr>
              <a:t> </a:t>
            </a:r>
            <a:r>
              <a:rPr sz="2200" spc="-5" dirty="0">
                <a:latin typeface="Arial"/>
                <a:cs typeface="Arial"/>
              </a:rPr>
              <a:t>possible</a:t>
            </a:r>
            <a:r>
              <a:rPr sz="2200" spc="20" dirty="0">
                <a:latin typeface="Arial"/>
                <a:cs typeface="Arial"/>
              </a:rPr>
              <a:t> </a:t>
            </a:r>
            <a:r>
              <a:rPr sz="2200" spc="-5" dirty="0">
                <a:latin typeface="Arial"/>
                <a:cs typeface="Arial"/>
              </a:rPr>
              <a:t>query</a:t>
            </a:r>
            <a:r>
              <a:rPr sz="2200" spc="30" dirty="0">
                <a:latin typeface="Arial"/>
                <a:cs typeface="Arial"/>
              </a:rPr>
              <a:t> </a:t>
            </a:r>
            <a:r>
              <a:rPr sz="2200" spc="-5" dirty="0">
                <a:latin typeface="Arial"/>
                <a:cs typeface="Arial"/>
              </a:rPr>
              <a:t>plans.</a:t>
            </a:r>
            <a:endParaRPr sz="2200">
              <a:latin typeface="Arial"/>
              <a:cs typeface="Arial"/>
            </a:endParaRPr>
          </a:p>
          <a:p>
            <a:pPr marL="354965" marR="5080" indent="-342900" algn="just">
              <a:lnSpc>
                <a:spcPct val="100000"/>
              </a:lnSpc>
              <a:spcBef>
                <a:spcPts val="545"/>
              </a:spcBef>
              <a:buFont typeface="Wingdings"/>
              <a:buChar char=""/>
              <a:tabLst>
                <a:tab pos="355600" algn="l"/>
              </a:tabLst>
            </a:pPr>
            <a:r>
              <a:rPr sz="2200" dirty="0">
                <a:latin typeface="Arial"/>
                <a:cs typeface="Arial"/>
              </a:rPr>
              <a:t>A </a:t>
            </a:r>
            <a:r>
              <a:rPr sz="2200" b="1" dirty="0">
                <a:latin typeface="Arial"/>
                <a:cs typeface="Arial"/>
              </a:rPr>
              <a:t>query optimizer </a:t>
            </a:r>
            <a:r>
              <a:rPr sz="2200" spc="-5" dirty="0">
                <a:latin typeface="Arial"/>
                <a:cs typeface="Arial"/>
              </a:rPr>
              <a:t>is </a:t>
            </a:r>
            <a:r>
              <a:rPr sz="2200" dirty="0">
                <a:latin typeface="Arial"/>
                <a:cs typeface="Arial"/>
              </a:rPr>
              <a:t>a </a:t>
            </a:r>
            <a:r>
              <a:rPr sz="2200" spc="-5" dirty="0">
                <a:latin typeface="Arial"/>
                <a:cs typeface="Arial"/>
              </a:rPr>
              <a:t>critical </a:t>
            </a:r>
            <a:r>
              <a:rPr sz="2200" dirty="0">
                <a:latin typeface="Arial"/>
                <a:cs typeface="Arial"/>
              </a:rPr>
              <a:t>database </a:t>
            </a:r>
            <a:r>
              <a:rPr sz="2200" spc="-5" dirty="0">
                <a:latin typeface="Arial"/>
                <a:cs typeface="Arial"/>
              </a:rPr>
              <a:t>management </a:t>
            </a:r>
            <a:r>
              <a:rPr sz="2200" dirty="0">
                <a:latin typeface="Arial"/>
                <a:cs typeface="Arial"/>
              </a:rPr>
              <a:t>system </a:t>
            </a:r>
            <a:r>
              <a:rPr sz="2200" spc="-10" dirty="0">
                <a:latin typeface="Arial"/>
                <a:cs typeface="Arial"/>
              </a:rPr>
              <a:t>(DBMS) </a:t>
            </a:r>
            <a:r>
              <a:rPr sz="2200" dirty="0">
                <a:latin typeface="Arial"/>
                <a:cs typeface="Arial"/>
              </a:rPr>
              <a:t>component </a:t>
            </a:r>
            <a:r>
              <a:rPr sz="2200" spc="5" dirty="0">
                <a:latin typeface="Arial"/>
                <a:cs typeface="Arial"/>
              </a:rPr>
              <a:t> </a:t>
            </a:r>
            <a:r>
              <a:rPr sz="2200" dirty="0">
                <a:latin typeface="Arial"/>
                <a:cs typeface="Arial"/>
              </a:rPr>
              <a:t>that </a:t>
            </a:r>
            <a:r>
              <a:rPr sz="2200" spc="-10" dirty="0">
                <a:latin typeface="Arial"/>
                <a:cs typeface="Arial"/>
              </a:rPr>
              <a:t>analyses </a:t>
            </a:r>
            <a:r>
              <a:rPr sz="2200" dirty="0">
                <a:latin typeface="Arial"/>
                <a:cs typeface="Arial"/>
              </a:rPr>
              <a:t>Structured Query Language (SQL) </a:t>
            </a:r>
            <a:r>
              <a:rPr sz="2200" spc="-5" dirty="0">
                <a:latin typeface="Arial"/>
                <a:cs typeface="Arial"/>
              </a:rPr>
              <a:t>queries and determines efficient </a:t>
            </a:r>
            <a:r>
              <a:rPr sz="2200" dirty="0">
                <a:latin typeface="Arial"/>
                <a:cs typeface="Arial"/>
              </a:rPr>
              <a:t> </a:t>
            </a:r>
            <a:r>
              <a:rPr sz="2200" spc="-5" dirty="0">
                <a:latin typeface="Arial"/>
                <a:cs typeface="Arial"/>
              </a:rPr>
              <a:t>execution</a:t>
            </a:r>
            <a:r>
              <a:rPr sz="2200" spc="40" dirty="0">
                <a:latin typeface="Arial"/>
                <a:cs typeface="Arial"/>
              </a:rPr>
              <a:t> </a:t>
            </a:r>
            <a:r>
              <a:rPr sz="2200" spc="-5" dirty="0">
                <a:latin typeface="Arial"/>
                <a:cs typeface="Arial"/>
              </a:rPr>
              <a:t>mechanisms.</a:t>
            </a:r>
            <a:endParaRPr sz="2200">
              <a:latin typeface="Arial"/>
              <a:cs typeface="Arial"/>
            </a:endParaRPr>
          </a:p>
          <a:p>
            <a:pPr marL="354965" marR="7620" indent="-342900" algn="just">
              <a:lnSpc>
                <a:spcPct val="100000"/>
              </a:lnSpc>
              <a:spcBef>
                <a:spcPts val="525"/>
              </a:spcBef>
              <a:buFont typeface="Wingdings"/>
              <a:buChar char=""/>
              <a:tabLst>
                <a:tab pos="355600" algn="l"/>
              </a:tabLst>
            </a:pPr>
            <a:r>
              <a:rPr sz="2200" dirty="0">
                <a:latin typeface="Arial"/>
                <a:cs typeface="Arial"/>
              </a:rPr>
              <a:t>A</a:t>
            </a:r>
            <a:r>
              <a:rPr sz="2200" spc="5" dirty="0">
                <a:latin typeface="Arial"/>
                <a:cs typeface="Arial"/>
              </a:rPr>
              <a:t> </a:t>
            </a:r>
            <a:r>
              <a:rPr sz="2200" dirty="0">
                <a:latin typeface="Arial"/>
                <a:cs typeface="Arial"/>
              </a:rPr>
              <a:t>query optimizer</a:t>
            </a:r>
            <a:r>
              <a:rPr sz="2200" spc="5" dirty="0">
                <a:latin typeface="Arial"/>
                <a:cs typeface="Arial"/>
              </a:rPr>
              <a:t> </a:t>
            </a:r>
            <a:r>
              <a:rPr sz="2200" dirty="0">
                <a:latin typeface="Arial"/>
                <a:cs typeface="Arial"/>
              </a:rPr>
              <a:t>generates </a:t>
            </a:r>
            <a:r>
              <a:rPr sz="2200" spc="-5" dirty="0">
                <a:latin typeface="Arial"/>
                <a:cs typeface="Arial"/>
              </a:rPr>
              <a:t>one</a:t>
            </a:r>
            <a:r>
              <a:rPr sz="2200" dirty="0">
                <a:latin typeface="Arial"/>
                <a:cs typeface="Arial"/>
              </a:rPr>
              <a:t> </a:t>
            </a:r>
            <a:r>
              <a:rPr sz="2200" spc="-5" dirty="0">
                <a:latin typeface="Arial"/>
                <a:cs typeface="Arial"/>
              </a:rPr>
              <a:t>or</a:t>
            </a:r>
            <a:r>
              <a:rPr sz="2200" dirty="0">
                <a:latin typeface="Arial"/>
                <a:cs typeface="Arial"/>
              </a:rPr>
              <a:t> </a:t>
            </a:r>
            <a:r>
              <a:rPr sz="2200" spc="-5" dirty="0">
                <a:latin typeface="Arial"/>
                <a:cs typeface="Arial"/>
              </a:rPr>
              <a:t>more</a:t>
            </a:r>
            <a:r>
              <a:rPr sz="2200" dirty="0">
                <a:latin typeface="Arial"/>
                <a:cs typeface="Arial"/>
              </a:rPr>
              <a:t> query plans</a:t>
            </a:r>
            <a:r>
              <a:rPr sz="2200" spc="5" dirty="0">
                <a:latin typeface="Arial"/>
                <a:cs typeface="Arial"/>
              </a:rPr>
              <a:t> </a:t>
            </a:r>
            <a:r>
              <a:rPr sz="2200" dirty="0">
                <a:latin typeface="Arial"/>
                <a:cs typeface="Arial"/>
              </a:rPr>
              <a:t>for</a:t>
            </a:r>
            <a:r>
              <a:rPr sz="2200" spc="5" dirty="0">
                <a:latin typeface="Arial"/>
                <a:cs typeface="Arial"/>
              </a:rPr>
              <a:t> </a:t>
            </a:r>
            <a:r>
              <a:rPr sz="2200" spc="-5" dirty="0">
                <a:latin typeface="Arial"/>
                <a:cs typeface="Arial"/>
              </a:rPr>
              <a:t>each</a:t>
            </a:r>
            <a:r>
              <a:rPr sz="2200" dirty="0">
                <a:latin typeface="Arial"/>
                <a:cs typeface="Arial"/>
              </a:rPr>
              <a:t> </a:t>
            </a:r>
            <a:r>
              <a:rPr sz="2200" spc="-10" dirty="0">
                <a:latin typeface="Arial"/>
                <a:cs typeface="Arial"/>
              </a:rPr>
              <a:t>query,</a:t>
            </a:r>
            <a:r>
              <a:rPr sz="2200" spc="590" dirty="0">
                <a:latin typeface="Arial"/>
                <a:cs typeface="Arial"/>
              </a:rPr>
              <a:t> </a:t>
            </a:r>
            <a:r>
              <a:rPr sz="2200" spc="-5" dirty="0">
                <a:latin typeface="Arial"/>
                <a:cs typeface="Arial"/>
              </a:rPr>
              <a:t>each</a:t>
            </a:r>
            <a:r>
              <a:rPr sz="2200" spc="600" dirty="0">
                <a:latin typeface="Arial"/>
                <a:cs typeface="Arial"/>
              </a:rPr>
              <a:t> </a:t>
            </a:r>
            <a:r>
              <a:rPr sz="2200" spc="-5" dirty="0">
                <a:latin typeface="Arial"/>
                <a:cs typeface="Arial"/>
              </a:rPr>
              <a:t>of </a:t>
            </a:r>
            <a:r>
              <a:rPr sz="2200" spc="-600" dirty="0">
                <a:latin typeface="Arial"/>
                <a:cs typeface="Arial"/>
              </a:rPr>
              <a:t> </a:t>
            </a:r>
            <a:r>
              <a:rPr sz="2200" spc="-10" dirty="0">
                <a:latin typeface="Arial"/>
                <a:cs typeface="Arial"/>
              </a:rPr>
              <a:t>which </a:t>
            </a:r>
            <a:r>
              <a:rPr sz="2200" dirty="0">
                <a:latin typeface="Arial"/>
                <a:cs typeface="Arial"/>
              </a:rPr>
              <a:t>may </a:t>
            </a:r>
            <a:r>
              <a:rPr sz="2200" spc="-5" dirty="0">
                <a:latin typeface="Arial"/>
                <a:cs typeface="Arial"/>
              </a:rPr>
              <a:t>be a mechanism used </a:t>
            </a:r>
            <a:r>
              <a:rPr sz="2200" dirty="0">
                <a:latin typeface="Arial"/>
                <a:cs typeface="Arial"/>
              </a:rPr>
              <a:t>to </a:t>
            </a:r>
            <a:r>
              <a:rPr sz="2200" spc="-5" dirty="0">
                <a:latin typeface="Arial"/>
                <a:cs typeface="Arial"/>
              </a:rPr>
              <a:t>run a </a:t>
            </a:r>
            <a:r>
              <a:rPr sz="2200" spc="-10" dirty="0">
                <a:latin typeface="Arial"/>
                <a:cs typeface="Arial"/>
              </a:rPr>
              <a:t>query. </a:t>
            </a:r>
            <a:r>
              <a:rPr sz="2200" spc="5" dirty="0">
                <a:latin typeface="Arial"/>
                <a:cs typeface="Arial"/>
              </a:rPr>
              <a:t>The </a:t>
            </a:r>
            <a:r>
              <a:rPr sz="2200" spc="-10" dirty="0">
                <a:latin typeface="Arial"/>
                <a:cs typeface="Arial"/>
              </a:rPr>
              <a:t>most </a:t>
            </a:r>
            <a:r>
              <a:rPr sz="2200" spc="-5" dirty="0">
                <a:latin typeface="Arial"/>
                <a:cs typeface="Arial"/>
              </a:rPr>
              <a:t>efficient </a:t>
            </a:r>
            <a:r>
              <a:rPr sz="2200" dirty="0">
                <a:latin typeface="Arial"/>
                <a:cs typeface="Arial"/>
              </a:rPr>
              <a:t>query </a:t>
            </a:r>
            <a:r>
              <a:rPr sz="2200" spc="-5" dirty="0">
                <a:latin typeface="Arial"/>
                <a:cs typeface="Arial"/>
              </a:rPr>
              <a:t>plan </a:t>
            </a:r>
            <a:r>
              <a:rPr sz="2200" spc="-15" dirty="0">
                <a:latin typeface="Arial"/>
                <a:cs typeface="Arial"/>
              </a:rPr>
              <a:t>is </a:t>
            </a:r>
            <a:r>
              <a:rPr sz="2200" spc="-10" dirty="0">
                <a:latin typeface="Arial"/>
                <a:cs typeface="Arial"/>
              </a:rPr>
              <a:t> </a:t>
            </a:r>
            <a:r>
              <a:rPr sz="2200" spc="-5" dirty="0">
                <a:latin typeface="Arial"/>
                <a:cs typeface="Arial"/>
              </a:rPr>
              <a:t>selected</a:t>
            </a:r>
            <a:r>
              <a:rPr sz="2200" spc="15" dirty="0">
                <a:latin typeface="Arial"/>
                <a:cs typeface="Arial"/>
              </a:rPr>
              <a:t> </a:t>
            </a:r>
            <a:r>
              <a:rPr sz="2200" spc="-5" dirty="0">
                <a:latin typeface="Arial"/>
                <a:cs typeface="Arial"/>
              </a:rPr>
              <a:t>and</a:t>
            </a:r>
            <a:r>
              <a:rPr sz="2200" dirty="0">
                <a:latin typeface="Arial"/>
                <a:cs typeface="Arial"/>
              </a:rPr>
              <a:t> </a:t>
            </a:r>
            <a:r>
              <a:rPr sz="2200" spc="-5" dirty="0">
                <a:latin typeface="Arial"/>
                <a:cs typeface="Arial"/>
              </a:rPr>
              <a:t>used</a:t>
            </a:r>
            <a:r>
              <a:rPr sz="2200" dirty="0">
                <a:latin typeface="Arial"/>
                <a:cs typeface="Arial"/>
              </a:rPr>
              <a:t> to</a:t>
            </a:r>
            <a:r>
              <a:rPr sz="2200" spc="5" dirty="0">
                <a:latin typeface="Arial"/>
                <a:cs typeface="Arial"/>
              </a:rPr>
              <a:t> </a:t>
            </a:r>
            <a:r>
              <a:rPr sz="2200" dirty="0">
                <a:latin typeface="Arial"/>
                <a:cs typeface="Arial"/>
              </a:rPr>
              <a:t>run</a:t>
            </a:r>
            <a:r>
              <a:rPr sz="2200" spc="5" dirty="0">
                <a:latin typeface="Arial"/>
                <a:cs typeface="Arial"/>
              </a:rPr>
              <a:t> </a:t>
            </a:r>
            <a:r>
              <a:rPr sz="2200" dirty="0">
                <a:latin typeface="Arial"/>
                <a:cs typeface="Arial"/>
              </a:rPr>
              <a:t>the </a:t>
            </a:r>
            <a:r>
              <a:rPr sz="2200" spc="-10" dirty="0">
                <a:latin typeface="Arial"/>
                <a:cs typeface="Arial"/>
              </a:rPr>
              <a:t>query.</a:t>
            </a:r>
            <a:endParaRPr sz="2200">
              <a:latin typeface="Arial"/>
              <a:cs typeface="Arial"/>
            </a:endParaRPr>
          </a:p>
          <a:p>
            <a:pPr marL="355600" indent="-342900" algn="just">
              <a:lnSpc>
                <a:spcPct val="100000"/>
              </a:lnSpc>
              <a:spcBef>
                <a:spcPts val="540"/>
              </a:spcBef>
              <a:buFont typeface="Wingdings"/>
              <a:buChar char=""/>
              <a:tabLst>
                <a:tab pos="355600" algn="l"/>
              </a:tabLst>
            </a:pPr>
            <a:r>
              <a:rPr sz="2200" spc="-5" dirty="0">
                <a:latin typeface="Arial"/>
                <a:cs typeface="Arial"/>
              </a:rPr>
              <a:t>Database</a:t>
            </a:r>
            <a:r>
              <a:rPr sz="2200" spc="145" dirty="0">
                <a:latin typeface="Arial"/>
                <a:cs typeface="Arial"/>
              </a:rPr>
              <a:t> </a:t>
            </a:r>
            <a:r>
              <a:rPr sz="2200" spc="-5" dirty="0">
                <a:latin typeface="Arial"/>
                <a:cs typeface="Arial"/>
              </a:rPr>
              <a:t>users</a:t>
            </a:r>
            <a:r>
              <a:rPr sz="2200" spc="150" dirty="0">
                <a:latin typeface="Arial"/>
                <a:cs typeface="Arial"/>
              </a:rPr>
              <a:t> </a:t>
            </a:r>
            <a:r>
              <a:rPr sz="2200" spc="-5" dirty="0">
                <a:latin typeface="Arial"/>
                <a:cs typeface="Arial"/>
              </a:rPr>
              <a:t>do</a:t>
            </a:r>
            <a:r>
              <a:rPr sz="2200" spc="155" dirty="0">
                <a:latin typeface="Arial"/>
                <a:cs typeface="Arial"/>
              </a:rPr>
              <a:t> </a:t>
            </a:r>
            <a:r>
              <a:rPr sz="2200" spc="-5" dirty="0">
                <a:latin typeface="Arial"/>
                <a:cs typeface="Arial"/>
              </a:rPr>
              <a:t>not</a:t>
            </a:r>
            <a:r>
              <a:rPr sz="2200" spc="160" dirty="0">
                <a:latin typeface="Arial"/>
                <a:cs typeface="Arial"/>
              </a:rPr>
              <a:t> </a:t>
            </a:r>
            <a:r>
              <a:rPr sz="2200" spc="-5" dirty="0">
                <a:latin typeface="Arial"/>
                <a:cs typeface="Arial"/>
              </a:rPr>
              <a:t>typically</a:t>
            </a:r>
            <a:r>
              <a:rPr sz="2200" spc="120" dirty="0">
                <a:latin typeface="Arial"/>
                <a:cs typeface="Arial"/>
              </a:rPr>
              <a:t> </a:t>
            </a:r>
            <a:r>
              <a:rPr sz="2200" spc="-5" dirty="0">
                <a:latin typeface="Arial"/>
                <a:cs typeface="Arial"/>
              </a:rPr>
              <a:t>interact</a:t>
            </a:r>
            <a:r>
              <a:rPr sz="2200" spc="165" dirty="0">
                <a:latin typeface="Arial"/>
                <a:cs typeface="Arial"/>
              </a:rPr>
              <a:t> </a:t>
            </a:r>
            <a:r>
              <a:rPr sz="2200" spc="-5" dirty="0">
                <a:latin typeface="Arial"/>
                <a:cs typeface="Arial"/>
              </a:rPr>
              <a:t>with</a:t>
            </a:r>
            <a:r>
              <a:rPr sz="2200" spc="155" dirty="0">
                <a:latin typeface="Arial"/>
                <a:cs typeface="Arial"/>
              </a:rPr>
              <a:t> </a:t>
            </a:r>
            <a:r>
              <a:rPr sz="2200" spc="-5" dirty="0">
                <a:latin typeface="Arial"/>
                <a:cs typeface="Arial"/>
              </a:rPr>
              <a:t>a</a:t>
            </a:r>
            <a:r>
              <a:rPr sz="2200" spc="155" dirty="0">
                <a:latin typeface="Arial"/>
                <a:cs typeface="Arial"/>
              </a:rPr>
              <a:t> </a:t>
            </a:r>
            <a:r>
              <a:rPr sz="2200" dirty="0">
                <a:latin typeface="Arial"/>
                <a:cs typeface="Arial"/>
              </a:rPr>
              <a:t>query</a:t>
            </a:r>
            <a:r>
              <a:rPr sz="2200" spc="114" dirty="0">
                <a:latin typeface="Arial"/>
                <a:cs typeface="Arial"/>
              </a:rPr>
              <a:t> </a:t>
            </a:r>
            <a:r>
              <a:rPr sz="2200" dirty="0">
                <a:latin typeface="Arial"/>
                <a:cs typeface="Arial"/>
              </a:rPr>
              <a:t>optimizer,</a:t>
            </a:r>
            <a:r>
              <a:rPr sz="2200" spc="165" dirty="0">
                <a:latin typeface="Arial"/>
                <a:cs typeface="Arial"/>
              </a:rPr>
              <a:t> </a:t>
            </a:r>
            <a:r>
              <a:rPr sz="2200" spc="-10" dirty="0">
                <a:latin typeface="Arial"/>
                <a:cs typeface="Arial"/>
              </a:rPr>
              <a:t>which</a:t>
            </a:r>
            <a:r>
              <a:rPr sz="2200" spc="175" dirty="0">
                <a:latin typeface="Arial"/>
                <a:cs typeface="Arial"/>
              </a:rPr>
              <a:t> </a:t>
            </a:r>
            <a:r>
              <a:rPr sz="2200" spc="-10" dirty="0">
                <a:latin typeface="Arial"/>
                <a:cs typeface="Arial"/>
              </a:rPr>
              <a:t>works</a:t>
            </a:r>
            <a:r>
              <a:rPr sz="2200" spc="155" dirty="0">
                <a:latin typeface="Arial"/>
                <a:cs typeface="Arial"/>
              </a:rPr>
              <a:t> </a:t>
            </a:r>
            <a:r>
              <a:rPr sz="2200" spc="-10" dirty="0">
                <a:latin typeface="Arial"/>
                <a:cs typeface="Arial"/>
              </a:rPr>
              <a:t>in</a:t>
            </a:r>
            <a:r>
              <a:rPr sz="2200" spc="155" dirty="0">
                <a:latin typeface="Arial"/>
                <a:cs typeface="Arial"/>
              </a:rPr>
              <a:t> </a:t>
            </a:r>
            <a:r>
              <a:rPr sz="2200" spc="-10" dirty="0">
                <a:latin typeface="Arial"/>
                <a:cs typeface="Arial"/>
              </a:rPr>
              <a:t>the</a:t>
            </a:r>
            <a:endParaRPr sz="2200">
              <a:latin typeface="Arial"/>
              <a:cs typeface="Arial"/>
            </a:endParaRPr>
          </a:p>
          <a:p>
            <a:pPr marL="354965">
              <a:lnSpc>
                <a:spcPct val="100000"/>
              </a:lnSpc>
            </a:pPr>
            <a:r>
              <a:rPr sz="2200" spc="-5" dirty="0">
                <a:latin typeface="Arial"/>
                <a:cs typeface="Arial"/>
              </a:rPr>
              <a:t>background.</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18</a:t>
            </a:fld>
            <a:endParaRPr spc="-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6B61C591-27EC-4160-8C1D-04E020001106}" type="slidenum">
              <a:rPr lang="en-US" altLang="en-US" sz="1400"/>
              <a:pPr>
                <a:spcBef>
                  <a:spcPct val="50000"/>
                </a:spcBef>
                <a:buClrTx/>
                <a:buFontTx/>
                <a:buNone/>
              </a:pPr>
              <a:t>19</a:t>
            </a:fld>
            <a:endParaRPr lang="en-US" altLang="en-US" sz="1400"/>
          </a:p>
        </p:txBody>
      </p:sp>
      <p:sp>
        <p:nvSpPr>
          <p:cNvPr id="79876" name="Rectangle 2"/>
          <p:cNvSpPr>
            <a:spLocks noGrp="1" noChangeArrowheads="1"/>
          </p:cNvSpPr>
          <p:nvPr>
            <p:ph type="body" idx="1"/>
          </p:nvPr>
        </p:nvSpPr>
        <p:spPr>
          <a:xfrm>
            <a:off x="560706" y="645869"/>
            <a:ext cx="10711814" cy="4916731"/>
          </a:xfrm>
        </p:spPr>
        <p:txBody>
          <a:bodyPr/>
          <a:lstStyle/>
          <a:p>
            <a:pPr algn="ctr" eaLnBrk="1" hangingPunct="1">
              <a:lnSpc>
                <a:spcPct val="90000"/>
              </a:lnSpc>
              <a:buFont typeface="Wingdings" panose="05000000000000000000" pitchFamily="2" charset="2"/>
              <a:buNone/>
            </a:pPr>
            <a:r>
              <a:rPr lang="en-US" altLang="en-US" sz="3500" b="1" u="sng" dirty="0"/>
              <a:t>Query Optimization</a:t>
            </a:r>
            <a:endParaRPr lang="en-US" altLang="en-US" sz="2800" dirty="0"/>
          </a:p>
          <a:p>
            <a:pPr algn="just"/>
            <a:endParaRPr lang="en-US" altLang="en-US" sz="2400" b="1" dirty="0"/>
          </a:p>
          <a:p>
            <a:pPr algn="just"/>
            <a:r>
              <a:rPr lang="en-US" altLang="en-US" sz="2400" dirty="0"/>
              <a:t>Consider the following relational-algebra expression, for the query “Find the names of all instructors in the Music department together with the course title of all the courses that the instructors teach.”</a:t>
            </a:r>
          </a:p>
          <a:p>
            <a:pPr algn="just"/>
            <a:endParaRPr lang="en-US" altLang="en-US" sz="2400" b="1" dirty="0"/>
          </a:p>
          <a:p>
            <a:pPr algn="just"/>
            <a:endParaRPr lang="en-US" altLang="en-US" sz="2400" b="1" dirty="0"/>
          </a:p>
          <a:p>
            <a:pPr algn="just"/>
            <a:r>
              <a:rPr lang="en-US" altLang="en-US" sz="2400" dirty="0"/>
              <a:t>Since we are concerned with only those tuples in the </a:t>
            </a:r>
            <a:r>
              <a:rPr lang="en-US" altLang="en-US" sz="2400" i="1" dirty="0"/>
              <a:t>instructor relation that pertain to the Music department, we </a:t>
            </a:r>
            <a:r>
              <a:rPr lang="en-US" altLang="en-US" sz="2400" dirty="0"/>
              <a:t>do not need to consider those tuples that do not have </a:t>
            </a:r>
            <a:r>
              <a:rPr lang="en-US" altLang="en-US" sz="2400" i="1" dirty="0" err="1"/>
              <a:t>dept</a:t>
            </a:r>
            <a:r>
              <a:rPr lang="en-US" altLang="en-US" sz="2400" i="1" dirty="0"/>
              <a:t> name = “Music”. By </a:t>
            </a:r>
            <a:r>
              <a:rPr lang="en-US" altLang="en-US" sz="2400" dirty="0"/>
              <a:t>reducing the number of tuples of the </a:t>
            </a:r>
            <a:r>
              <a:rPr lang="en-US" altLang="en-US" sz="2400" i="1" dirty="0"/>
              <a:t>instructor relation that we need to access, </a:t>
            </a:r>
            <a:r>
              <a:rPr lang="en-US" altLang="en-US" sz="2400" dirty="0"/>
              <a:t>we reduce the size of the intermediate result. Our query is now represented by the relational-algebra expression:</a:t>
            </a:r>
            <a:endParaRPr lang="en-US" altLang="en-US" sz="2400" b="1" dirty="0"/>
          </a:p>
        </p:txBody>
      </p:sp>
      <p:pic>
        <p:nvPicPr>
          <p:cNvPr id="7987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938" y="2624138"/>
            <a:ext cx="7954962"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7301" y="5715000"/>
            <a:ext cx="677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72603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A45F63CD-581D-4D7D-9D38-60FF7BD7E3FE}" type="slidenum">
              <a:rPr lang="en-US" altLang="en-US" sz="1400"/>
              <a:pPr>
                <a:spcBef>
                  <a:spcPct val="50000"/>
                </a:spcBef>
                <a:buClrTx/>
                <a:buFontTx/>
                <a:buNone/>
              </a:pPr>
              <a:t>20</a:t>
            </a:fld>
            <a:endParaRPr lang="en-US" altLang="en-US" sz="1400"/>
          </a:p>
        </p:txBody>
      </p:sp>
      <p:sp>
        <p:nvSpPr>
          <p:cNvPr id="81924" name="Rectangle 2"/>
          <p:cNvSpPr>
            <a:spLocks noGrp="1" noChangeArrowheads="1"/>
          </p:cNvSpPr>
          <p:nvPr>
            <p:ph type="body" idx="1"/>
          </p:nvPr>
        </p:nvSpPr>
        <p:spPr>
          <a:xfrm>
            <a:off x="469900" y="385758"/>
            <a:ext cx="10711814" cy="854080"/>
          </a:xfrm>
        </p:spPr>
        <p:txBody>
          <a:bodyPr/>
          <a:lstStyle/>
          <a:p>
            <a:pPr algn="ctr" eaLnBrk="1" hangingPunct="1">
              <a:lnSpc>
                <a:spcPct val="90000"/>
              </a:lnSpc>
              <a:buFont typeface="Wingdings" panose="05000000000000000000" pitchFamily="2" charset="2"/>
              <a:buNone/>
            </a:pPr>
            <a:r>
              <a:rPr lang="en-US" altLang="en-US" sz="3500" b="1" u="sng" dirty="0"/>
              <a:t>Query Optimization</a:t>
            </a:r>
            <a:endParaRPr lang="en-US" altLang="en-US" sz="2800" dirty="0"/>
          </a:p>
          <a:p>
            <a:pPr algn="just"/>
            <a:endParaRPr lang="en-US" altLang="en-US" sz="2400" b="1" dirty="0"/>
          </a:p>
        </p:txBody>
      </p:sp>
      <p:pic>
        <p:nvPicPr>
          <p:cNvPr id="819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1239838"/>
            <a:ext cx="8318500" cy="477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20225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E395741B-135D-4DF7-8CAD-2073D603454B}" type="slidenum">
              <a:rPr lang="en-US" altLang="en-US" sz="1400"/>
              <a:pPr>
                <a:spcBef>
                  <a:spcPct val="50000"/>
                </a:spcBef>
                <a:buClrTx/>
                <a:buFontTx/>
                <a:buNone/>
              </a:pPr>
              <a:t>21</a:t>
            </a:fld>
            <a:endParaRPr lang="en-US" altLang="en-US" sz="1400"/>
          </a:p>
        </p:txBody>
      </p:sp>
      <p:sp>
        <p:nvSpPr>
          <p:cNvPr id="5124" name="Rectangle 2"/>
          <p:cNvSpPr>
            <a:spLocks noGrp="1" noChangeArrowheads="1"/>
          </p:cNvSpPr>
          <p:nvPr>
            <p:ph type="body" idx="1"/>
          </p:nvPr>
        </p:nvSpPr>
        <p:spPr>
          <a:xfrm>
            <a:off x="850900" y="1066800"/>
            <a:ext cx="10711814" cy="4178067"/>
          </a:xfrm>
        </p:spPr>
        <p:txBody>
          <a:bodyPr/>
          <a:lstStyle/>
          <a:p>
            <a:pPr algn="ctr" eaLnBrk="1" hangingPunct="1">
              <a:lnSpc>
                <a:spcPct val="90000"/>
              </a:lnSpc>
              <a:buFont typeface="Wingdings" panose="05000000000000000000" pitchFamily="2" charset="2"/>
              <a:buNone/>
              <a:defRPr/>
            </a:pPr>
            <a:r>
              <a:rPr lang="en-US" sz="3500" b="1" u="sng" dirty="0"/>
              <a:t>Query Optimization</a:t>
            </a:r>
            <a:endParaRPr lang="en-US" sz="2800" dirty="0"/>
          </a:p>
          <a:p>
            <a:pPr algn="just">
              <a:defRPr/>
            </a:pPr>
            <a:endParaRPr lang="en-US" sz="2400" b="1" dirty="0"/>
          </a:p>
          <a:p>
            <a:pPr algn="just">
              <a:defRPr/>
            </a:pPr>
            <a:r>
              <a:rPr lang="en-US" sz="2400" dirty="0"/>
              <a:t>To find the least-costly query-evaluation plan, the optimizer needs to generate alternative plans that produce the same result as the given expression, and to choose the least-costly one. Generation of query-evaluation plans involves three steps: </a:t>
            </a:r>
          </a:p>
          <a:p>
            <a:pPr lvl="1" algn="just">
              <a:defRPr/>
            </a:pPr>
            <a:r>
              <a:rPr lang="en-US" sz="2400" dirty="0"/>
              <a:t>generating expressions that are logically equivalent to the given expression,</a:t>
            </a:r>
          </a:p>
          <a:p>
            <a:pPr lvl="1" algn="just">
              <a:defRPr/>
            </a:pPr>
            <a:r>
              <a:rPr lang="en-US" sz="2400" dirty="0"/>
              <a:t>annotating the resultant expressions in alternative ways to generate alternative query-evaluation plans, and </a:t>
            </a:r>
          </a:p>
          <a:p>
            <a:pPr lvl="1" algn="just">
              <a:defRPr/>
            </a:pPr>
            <a:r>
              <a:rPr lang="en-US" sz="2400" dirty="0"/>
              <a:t>estimating the cost of each evaluation plan, and choosing the one whose estimated cost is the least</a:t>
            </a:r>
            <a:endParaRPr lang="en-US" sz="2400" b="1" dirty="0"/>
          </a:p>
        </p:txBody>
      </p:sp>
    </p:spTree>
    <p:extLst>
      <p:ext uri="{BB962C8B-B14F-4D97-AF65-F5344CB8AC3E}">
        <p14:creationId xmlns:p14="http://schemas.microsoft.com/office/powerpoint/2010/main" val="40357678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EA7EF319-96BE-4406-B5A1-B8516A79E58C}" type="slidenum">
              <a:rPr lang="en-US" altLang="en-US" sz="1400"/>
              <a:pPr>
                <a:spcBef>
                  <a:spcPct val="50000"/>
                </a:spcBef>
                <a:buClrTx/>
                <a:buFontTx/>
                <a:buNone/>
              </a:pPr>
              <a:t>22</a:t>
            </a:fld>
            <a:endParaRPr lang="en-US" altLang="en-US" sz="1400"/>
          </a:p>
        </p:txBody>
      </p:sp>
      <p:sp>
        <p:nvSpPr>
          <p:cNvPr id="86020" name="Rectangle 2"/>
          <p:cNvSpPr>
            <a:spLocks noGrp="1" noChangeArrowheads="1"/>
          </p:cNvSpPr>
          <p:nvPr>
            <p:ph type="body" idx="1"/>
          </p:nvPr>
        </p:nvSpPr>
        <p:spPr>
          <a:xfrm>
            <a:off x="850900" y="304800"/>
            <a:ext cx="10711814" cy="854080"/>
          </a:xfrm>
        </p:spPr>
        <p:txBody>
          <a:bodyPr/>
          <a:lstStyle/>
          <a:p>
            <a:pPr algn="ctr" eaLnBrk="1" hangingPunct="1">
              <a:lnSpc>
                <a:spcPct val="90000"/>
              </a:lnSpc>
              <a:buFont typeface="Wingdings" panose="05000000000000000000" pitchFamily="2" charset="2"/>
              <a:buNone/>
            </a:pPr>
            <a:r>
              <a:rPr lang="en-US" altLang="en-US" sz="3500" b="1" u="sng" dirty="0"/>
              <a:t>Query Optimization</a:t>
            </a:r>
            <a:endParaRPr lang="en-US" altLang="en-US" sz="2800" dirty="0"/>
          </a:p>
          <a:p>
            <a:pPr algn="just"/>
            <a:endParaRPr lang="en-US" altLang="en-US" sz="2400" b="1" dirty="0"/>
          </a:p>
        </p:txBody>
      </p:sp>
      <p:pic>
        <p:nvPicPr>
          <p:cNvPr id="860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700" y="1025525"/>
            <a:ext cx="6705600" cy="542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91930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8840470" cy="574675"/>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000000"/>
                </a:solidFill>
                <a:latin typeface="Verdana"/>
                <a:cs typeface="Verdana"/>
              </a:rPr>
              <a:t>Importance </a:t>
            </a:r>
            <a:r>
              <a:rPr sz="3600" dirty="0">
                <a:solidFill>
                  <a:srgbClr val="000000"/>
                </a:solidFill>
                <a:latin typeface="Verdana"/>
                <a:cs typeface="Verdana"/>
              </a:rPr>
              <a:t>of</a:t>
            </a:r>
            <a:r>
              <a:rPr sz="3600" spc="-15" dirty="0">
                <a:solidFill>
                  <a:srgbClr val="000000"/>
                </a:solidFill>
                <a:latin typeface="Verdana"/>
                <a:cs typeface="Verdana"/>
              </a:rPr>
              <a:t> </a:t>
            </a:r>
            <a:r>
              <a:rPr sz="3600" spc="-5" dirty="0">
                <a:solidFill>
                  <a:srgbClr val="000000"/>
                </a:solidFill>
                <a:latin typeface="Verdana"/>
                <a:cs typeface="Verdana"/>
              </a:rPr>
              <a:t>Query</a:t>
            </a:r>
            <a:r>
              <a:rPr sz="3600" spc="-25" dirty="0">
                <a:solidFill>
                  <a:srgbClr val="000000"/>
                </a:solidFill>
                <a:latin typeface="Verdana"/>
                <a:cs typeface="Verdana"/>
              </a:rPr>
              <a:t> </a:t>
            </a:r>
            <a:r>
              <a:rPr sz="3600" spc="-5" dirty="0">
                <a:solidFill>
                  <a:srgbClr val="000000"/>
                </a:solidFill>
                <a:latin typeface="Verdana"/>
                <a:cs typeface="Verdana"/>
              </a:rPr>
              <a:t>Optimization</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9275" cy="4451985"/>
          </a:xfrm>
          <a:prstGeom prst="rect">
            <a:avLst/>
          </a:prstGeom>
        </p:spPr>
        <p:txBody>
          <a:bodyPr vert="horz" wrap="square" lIns="0" tIns="12700" rIns="0" bIns="0" rtlCol="0">
            <a:spAutoFit/>
          </a:bodyPr>
          <a:lstStyle/>
          <a:p>
            <a:pPr marL="354965" marR="7620" indent="-342900">
              <a:lnSpc>
                <a:spcPct val="100000"/>
              </a:lnSpc>
              <a:spcBef>
                <a:spcPts val="100"/>
              </a:spcBef>
              <a:buFont typeface="Wingdings"/>
              <a:buChar char=""/>
              <a:tabLst>
                <a:tab pos="355600" algn="l"/>
              </a:tabLst>
            </a:pPr>
            <a:r>
              <a:rPr sz="2200" spc="5" dirty="0">
                <a:latin typeface="Arial"/>
                <a:cs typeface="Arial"/>
              </a:rPr>
              <a:t>The</a:t>
            </a:r>
            <a:r>
              <a:rPr sz="2200" spc="25" dirty="0">
                <a:latin typeface="Arial"/>
                <a:cs typeface="Arial"/>
              </a:rPr>
              <a:t> </a:t>
            </a:r>
            <a:r>
              <a:rPr sz="2200" spc="-5" dirty="0">
                <a:latin typeface="Arial"/>
                <a:cs typeface="Arial"/>
              </a:rPr>
              <a:t>goal</a:t>
            </a:r>
            <a:r>
              <a:rPr sz="2200" spc="25" dirty="0">
                <a:latin typeface="Arial"/>
                <a:cs typeface="Arial"/>
              </a:rPr>
              <a:t> </a:t>
            </a:r>
            <a:r>
              <a:rPr sz="2200" spc="-5" dirty="0">
                <a:latin typeface="Arial"/>
                <a:cs typeface="Arial"/>
              </a:rPr>
              <a:t>of</a:t>
            </a:r>
            <a:r>
              <a:rPr sz="2200" spc="40" dirty="0">
                <a:latin typeface="Arial"/>
                <a:cs typeface="Arial"/>
              </a:rPr>
              <a:t> </a:t>
            </a:r>
            <a:r>
              <a:rPr sz="2200" dirty="0">
                <a:latin typeface="Arial"/>
                <a:cs typeface="Arial"/>
              </a:rPr>
              <a:t>query </a:t>
            </a:r>
            <a:r>
              <a:rPr sz="2200" spc="-5" dirty="0">
                <a:latin typeface="Arial"/>
                <a:cs typeface="Arial"/>
              </a:rPr>
              <a:t>optimization</a:t>
            </a:r>
            <a:r>
              <a:rPr sz="2200" spc="30" dirty="0">
                <a:latin typeface="Arial"/>
                <a:cs typeface="Arial"/>
              </a:rPr>
              <a:t> </a:t>
            </a:r>
            <a:r>
              <a:rPr sz="2200" spc="-10" dirty="0">
                <a:latin typeface="Arial"/>
                <a:cs typeface="Arial"/>
              </a:rPr>
              <a:t>is</a:t>
            </a:r>
            <a:r>
              <a:rPr sz="2200" spc="35" dirty="0">
                <a:latin typeface="Arial"/>
                <a:cs typeface="Arial"/>
              </a:rPr>
              <a:t> </a:t>
            </a:r>
            <a:r>
              <a:rPr sz="2200" dirty="0">
                <a:latin typeface="Arial"/>
                <a:cs typeface="Arial"/>
              </a:rPr>
              <a:t>to</a:t>
            </a:r>
            <a:r>
              <a:rPr sz="2200" spc="35" dirty="0">
                <a:latin typeface="Arial"/>
                <a:cs typeface="Arial"/>
              </a:rPr>
              <a:t> </a:t>
            </a:r>
            <a:r>
              <a:rPr sz="2200" dirty="0">
                <a:latin typeface="Arial"/>
                <a:cs typeface="Arial"/>
              </a:rPr>
              <a:t>reduce</a:t>
            </a:r>
            <a:r>
              <a:rPr sz="2200" spc="35" dirty="0">
                <a:latin typeface="Arial"/>
                <a:cs typeface="Arial"/>
              </a:rPr>
              <a:t> </a:t>
            </a:r>
            <a:r>
              <a:rPr sz="2200" dirty="0">
                <a:latin typeface="Arial"/>
                <a:cs typeface="Arial"/>
              </a:rPr>
              <a:t>the</a:t>
            </a:r>
            <a:r>
              <a:rPr sz="2200" spc="30" dirty="0">
                <a:latin typeface="Arial"/>
                <a:cs typeface="Arial"/>
              </a:rPr>
              <a:t> </a:t>
            </a:r>
            <a:r>
              <a:rPr sz="2200" spc="-5" dirty="0">
                <a:latin typeface="Arial"/>
                <a:cs typeface="Arial"/>
              </a:rPr>
              <a:t>system</a:t>
            </a:r>
            <a:r>
              <a:rPr sz="2200" spc="45" dirty="0">
                <a:latin typeface="Arial"/>
                <a:cs typeface="Arial"/>
              </a:rPr>
              <a:t> </a:t>
            </a:r>
            <a:r>
              <a:rPr sz="2200" dirty="0">
                <a:latin typeface="Arial"/>
                <a:cs typeface="Arial"/>
              </a:rPr>
              <a:t>resources</a:t>
            </a:r>
            <a:r>
              <a:rPr sz="2200" spc="25" dirty="0">
                <a:latin typeface="Arial"/>
                <a:cs typeface="Arial"/>
              </a:rPr>
              <a:t> </a:t>
            </a:r>
            <a:r>
              <a:rPr sz="2200" spc="-5" dirty="0">
                <a:latin typeface="Arial"/>
                <a:cs typeface="Arial"/>
              </a:rPr>
              <a:t>required</a:t>
            </a:r>
            <a:r>
              <a:rPr sz="2200" spc="35" dirty="0">
                <a:latin typeface="Arial"/>
                <a:cs typeface="Arial"/>
              </a:rPr>
              <a:t> </a:t>
            </a:r>
            <a:r>
              <a:rPr sz="2200" dirty="0">
                <a:latin typeface="Arial"/>
                <a:cs typeface="Arial"/>
              </a:rPr>
              <a:t>to</a:t>
            </a:r>
            <a:r>
              <a:rPr sz="2200" spc="35" dirty="0">
                <a:latin typeface="Arial"/>
                <a:cs typeface="Arial"/>
              </a:rPr>
              <a:t> </a:t>
            </a:r>
            <a:r>
              <a:rPr sz="2200" spc="-5" dirty="0">
                <a:latin typeface="Arial"/>
                <a:cs typeface="Arial"/>
              </a:rPr>
              <a:t>fulfill</a:t>
            </a:r>
            <a:r>
              <a:rPr sz="2200" spc="50" dirty="0">
                <a:latin typeface="Arial"/>
                <a:cs typeface="Arial"/>
              </a:rPr>
              <a:t> </a:t>
            </a:r>
            <a:r>
              <a:rPr sz="2200" spc="-5" dirty="0">
                <a:latin typeface="Arial"/>
                <a:cs typeface="Arial"/>
              </a:rPr>
              <a:t>a </a:t>
            </a:r>
            <a:r>
              <a:rPr sz="2200" spc="-595" dirty="0">
                <a:latin typeface="Arial"/>
                <a:cs typeface="Arial"/>
              </a:rPr>
              <a:t> </a:t>
            </a:r>
            <a:r>
              <a:rPr sz="2200" spc="-10" dirty="0">
                <a:latin typeface="Arial"/>
                <a:cs typeface="Arial"/>
              </a:rPr>
              <a:t>query,</a:t>
            </a:r>
            <a:r>
              <a:rPr sz="2200" spc="55"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ultimately</a:t>
            </a:r>
            <a:r>
              <a:rPr sz="2200" spc="30" dirty="0">
                <a:latin typeface="Arial"/>
                <a:cs typeface="Arial"/>
              </a:rPr>
              <a:t> </a:t>
            </a:r>
            <a:r>
              <a:rPr sz="2200" spc="-5" dirty="0">
                <a:latin typeface="Arial"/>
                <a:cs typeface="Arial"/>
              </a:rPr>
              <a:t>provide</a:t>
            </a:r>
            <a:r>
              <a:rPr sz="2200" spc="20" dirty="0">
                <a:latin typeface="Arial"/>
                <a:cs typeface="Arial"/>
              </a:rPr>
              <a:t> </a:t>
            </a:r>
            <a:r>
              <a:rPr sz="2200" dirty="0">
                <a:latin typeface="Arial"/>
                <a:cs typeface="Arial"/>
              </a:rPr>
              <a:t>the</a:t>
            </a:r>
            <a:r>
              <a:rPr sz="2200" spc="10" dirty="0">
                <a:latin typeface="Arial"/>
                <a:cs typeface="Arial"/>
              </a:rPr>
              <a:t> </a:t>
            </a:r>
            <a:r>
              <a:rPr sz="2200" spc="-5" dirty="0">
                <a:latin typeface="Arial"/>
                <a:cs typeface="Arial"/>
              </a:rPr>
              <a:t>user</a:t>
            </a:r>
            <a:r>
              <a:rPr sz="2200" spc="5" dirty="0">
                <a:latin typeface="Arial"/>
                <a:cs typeface="Arial"/>
              </a:rPr>
              <a:t> </a:t>
            </a:r>
            <a:r>
              <a:rPr sz="2200" spc="-15" dirty="0">
                <a:latin typeface="Arial"/>
                <a:cs typeface="Arial"/>
              </a:rPr>
              <a:t>with</a:t>
            </a:r>
            <a:r>
              <a:rPr sz="2200" spc="45" dirty="0">
                <a:latin typeface="Arial"/>
                <a:cs typeface="Arial"/>
              </a:rPr>
              <a:t> </a:t>
            </a:r>
            <a:r>
              <a:rPr sz="2200" dirty="0">
                <a:latin typeface="Arial"/>
                <a:cs typeface="Arial"/>
              </a:rPr>
              <a:t>the</a:t>
            </a:r>
            <a:r>
              <a:rPr sz="2200" spc="5" dirty="0">
                <a:latin typeface="Arial"/>
                <a:cs typeface="Arial"/>
              </a:rPr>
              <a:t> </a:t>
            </a:r>
            <a:r>
              <a:rPr sz="2200" dirty="0">
                <a:latin typeface="Arial"/>
                <a:cs typeface="Arial"/>
              </a:rPr>
              <a:t>correct </a:t>
            </a:r>
            <a:r>
              <a:rPr sz="2200" spc="-5" dirty="0">
                <a:latin typeface="Arial"/>
                <a:cs typeface="Arial"/>
              </a:rPr>
              <a:t>result</a:t>
            </a:r>
            <a:r>
              <a:rPr sz="2200" spc="10" dirty="0">
                <a:latin typeface="Arial"/>
                <a:cs typeface="Arial"/>
              </a:rPr>
              <a:t> </a:t>
            </a:r>
            <a:r>
              <a:rPr sz="2200" dirty="0">
                <a:latin typeface="Arial"/>
                <a:cs typeface="Arial"/>
              </a:rPr>
              <a:t>set</a:t>
            </a:r>
            <a:r>
              <a:rPr sz="2200" spc="10" dirty="0">
                <a:latin typeface="Arial"/>
                <a:cs typeface="Arial"/>
              </a:rPr>
              <a:t> </a:t>
            </a:r>
            <a:r>
              <a:rPr sz="2200" dirty="0">
                <a:latin typeface="Arial"/>
                <a:cs typeface="Arial"/>
              </a:rPr>
              <a:t>faster.</a:t>
            </a:r>
            <a:endParaRPr sz="2200">
              <a:latin typeface="Arial"/>
              <a:cs typeface="Arial"/>
            </a:endParaRPr>
          </a:p>
          <a:p>
            <a:pPr>
              <a:lnSpc>
                <a:spcPct val="100000"/>
              </a:lnSpc>
              <a:spcBef>
                <a:spcPts val="20"/>
              </a:spcBef>
              <a:buFont typeface="Wingdings"/>
              <a:buChar char=""/>
            </a:pPr>
            <a:endParaRPr sz="3200">
              <a:latin typeface="Arial"/>
              <a:cs typeface="Arial"/>
            </a:endParaRPr>
          </a:p>
          <a:p>
            <a:pPr marL="756285" lvl="1" indent="-287655">
              <a:lnSpc>
                <a:spcPct val="100000"/>
              </a:lnSpc>
              <a:buChar char="–"/>
              <a:tabLst>
                <a:tab pos="756285" algn="l"/>
                <a:tab pos="756920" algn="l"/>
              </a:tabLst>
            </a:pPr>
            <a:r>
              <a:rPr sz="2200" spc="-5" dirty="0">
                <a:latin typeface="Arial"/>
                <a:cs typeface="Arial"/>
              </a:rPr>
              <a:t>First,</a:t>
            </a:r>
            <a:r>
              <a:rPr sz="2200" spc="170" dirty="0">
                <a:latin typeface="Arial"/>
                <a:cs typeface="Arial"/>
              </a:rPr>
              <a:t> </a:t>
            </a:r>
            <a:r>
              <a:rPr sz="2200" spc="-5" dirty="0">
                <a:latin typeface="Arial"/>
                <a:cs typeface="Arial"/>
              </a:rPr>
              <a:t>it</a:t>
            </a:r>
            <a:r>
              <a:rPr sz="2200" spc="160" dirty="0">
                <a:latin typeface="Arial"/>
                <a:cs typeface="Arial"/>
              </a:rPr>
              <a:t> </a:t>
            </a:r>
            <a:r>
              <a:rPr sz="2200" spc="-5" dirty="0">
                <a:latin typeface="Arial"/>
                <a:cs typeface="Arial"/>
              </a:rPr>
              <a:t>provides</a:t>
            </a:r>
            <a:r>
              <a:rPr sz="2200" spc="145" dirty="0">
                <a:latin typeface="Arial"/>
                <a:cs typeface="Arial"/>
              </a:rPr>
              <a:t> </a:t>
            </a:r>
            <a:r>
              <a:rPr sz="2200" dirty="0">
                <a:latin typeface="Arial"/>
                <a:cs typeface="Arial"/>
              </a:rPr>
              <a:t>the</a:t>
            </a:r>
            <a:r>
              <a:rPr sz="2200" spc="110" dirty="0">
                <a:latin typeface="Arial"/>
                <a:cs typeface="Arial"/>
              </a:rPr>
              <a:t> </a:t>
            </a:r>
            <a:r>
              <a:rPr sz="2200" spc="-5" dirty="0">
                <a:latin typeface="Arial"/>
                <a:cs typeface="Arial"/>
              </a:rPr>
              <a:t>user</a:t>
            </a:r>
            <a:r>
              <a:rPr sz="2200" spc="175" dirty="0">
                <a:latin typeface="Arial"/>
                <a:cs typeface="Arial"/>
              </a:rPr>
              <a:t> </a:t>
            </a:r>
            <a:r>
              <a:rPr sz="2200" spc="-15" dirty="0">
                <a:latin typeface="Arial"/>
                <a:cs typeface="Arial"/>
              </a:rPr>
              <a:t>with</a:t>
            </a:r>
            <a:r>
              <a:rPr sz="2200" spc="150" dirty="0">
                <a:latin typeface="Arial"/>
                <a:cs typeface="Arial"/>
              </a:rPr>
              <a:t> </a:t>
            </a:r>
            <a:r>
              <a:rPr sz="2200" dirty="0">
                <a:latin typeface="Arial"/>
                <a:cs typeface="Arial"/>
              </a:rPr>
              <a:t>faster</a:t>
            </a:r>
            <a:r>
              <a:rPr sz="2200" spc="165" dirty="0">
                <a:latin typeface="Arial"/>
                <a:cs typeface="Arial"/>
              </a:rPr>
              <a:t> </a:t>
            </a:r>
            <a:r>
              <a:rPr sz="2200" spc="-5" dirty="0">
                <a:latin typeface="Arial"/>
                <a:cs typeface="Arial"/>
              </a:rPr>
              <a:t>results,</a:t>
            </a:r>
            <a:r>
              <a:rPr sz="2200" spc="165" dirty="0">
                <a:latin typeface="Arial"/>
                <a:cs typeface="Arial"/>
              </a:rPr>
              <a:t> </a:t>
            </a:r>
            <a:r>
              <a:rPr sz="2200" spc="-10" dirty="0">
                <a:latin typeface="Arial"/>
                <a:cs typeface="Arial"/>
              </a:rPr>
              <a:t>which</a:t>
            </a:r>
            <a:r>
              <a:rPr sz="2200" spc="155" dirty="0">
                <a:latin typeface="Arial"/>
                <a:cs typeface="Arial"/>
              </a:rPr>
              <a:t> </a:t>
            </a:r>
            <a:r>
              <a:rPr sz="2200" dirty="0">
                <a:latin typeface="Arial"/>
                <a:cs typeface="Arial"/>
              </a:rPr>
              <a:t>makes</a:t>
            </a:r>
            <a:r>
              <a:rPr sz="2200" spc="150" dirty="0">
                <a:latin typeface="Arial"/>
                <a:cs typeface="Arial"/>
              </a:rPr>
              <a:t> </a:t>
            </a:r>
            <a:r>
              <a:rPr sz="2200" dirty="0">
                <a:latin typeface="Arial"/>
                <a:cs typeface="Arial"/>
              </a:rPr>
              <a:t>the</a:t>
            </a:r>
            <a:r>
              <a:rPr sz="2200" spc="145" dirty="0">
                <a:latin typeface="Arial"/>
                <a:cs typeface="Arial"/>
              </a:rPr>
              <a:t> </a:t>
            </a:r>
            <a:r>
              <a:rPr sz="2200" spc="-5" dirty="0">
                <a:latin typeface="Arial"/>
                <a:cs typeface="Arial"/>
              </a:rPr>
              <a:t>application</a:t>
            </a:r>
            <a:r>
              <a:rPr sz="2200" spc="140" dirty="0">
                <a:latin typeface="Arial"/>
                <a:cs typeface="Arial"/>
              </a:rPr>
              <a:t> </a:t>
            </a:r>
            <a:r>
              <a:rPr sz="2200" spc="-5" dirty="0">
                <a:latin typeface="Arial"/>
                <a:cs typeface="Arial"/>
              </a:rPr>
              <a:t>seem</a:t>
            </a:r>
            <a:endParaRPr sz="2200">
              <a:latin typeface="Arial"/>
              <a:cs typeface="Arial"/>
            </a:endParaRPr>
          </a:p>
          <a:p>
            <a:pPr marL="756285">
              <a:lnSpc>
                <a:spcPct val="100000"/>
              </a:lnSpc>
            </a:pPr>
            <a:r>
              <a:rPr sz="2200" dirty="0">
                <a:latin typeface="Arial"/>
                <a:cs typeface="Arial"/>
              </a:rPr>
              <a:t>faster</a:t>
            </a:r>
            <a:r>
              <a:rPr sz="2200" spc="-20" dirty="0">
                <a:latin typeface="Arial"/>
                <a:cs typeface="Arial"/>
              </a:rPr>
              <a:t> </a:t>
            </a:r>
            <a:r>
              <a:rPr sz="2200" dirty="0">
                <a:latin typeface="Arial"/>
                <a:cs typeface="Arial"/>
              </a:rPr>
              <a:t>to</a:t>
            </a:r>
            <a:r>
              <a:rPr sz="2200" spc="-15" dirty="0">
                <a:latin typeface="Arial"/>
                <a:cs typeface="Arial"/>
              </a:rPr>
              <a:t> </a:t>
            </a:r>
            <a:r>
              <a:rPr sz="2200" dirty="0">
                <a:latin typeface="Arial"/>
                <a:cs typeface="Arial"/>
              </a:rPr>
              <a:t>the</a:t>
            </a:r>
            <a:r>
              <a:rPr sz="2200" spc="-20" dirty="0">
                <a:latin typeface="Arial"/>
                <a:cs typeface="Arial"/>
              </a:rPr>
              <a:t> </a:t>
            </a:r>
            <a:r>
              <a:rPr sz="2200" spc="-5" dirty="0">
                <a:latin typeface="Arial"/>
                <a:cs typeface="Arial"/>
              </a:rPr>
              <a:t>user.</a:t>
            </a:r>
            <a:endParaRPr sz="2200">
              <a:latin typeface="Arial"/>
              <a:cs typeface="Arial"/>
            </a:endParaRPr>
          </a:p>
          <a:p>
            <a:pPr>
              <a:lnSpc>
                <a:spcPct val="100000"/>
              </a:lnSpc>
              <a:spcBef>
                <a:spcPts val="25"/>
              </a:spcBef>
            </a:pPr>
            <a:endParaRPr sz="3200">
              <a:latin typeface="Arial"/>
              <a:cs typeface="Arial"/>
            </a:endParaRPr>
          </a:p>
          <a:p>
            <a:pPr marL="756285" lvl="1" indent="-287655">
              <a:lnSpc>
                <a:spcPct val="100000"/>
              </a:lnSpc>
              <a:buChar char="–"/>
              <a:tabLst>
                <a:tab pos="756285" algn="l"/>
                <a:tab pos="756920" algn="l"/>
              </a:tabLst>
            </a:pPr>
            <a:r>
              <a:rPr sz="2200" spc="-10" dirty="0">
                <a:latin typeface="Arial"/>
                <a:cs typeface="Arial"/>
              </a:rPr>
              <a:t>Secondly,</a:t>
            </a:r>
            <a:r>
              <a:rPr sz="2200" spc="245" dirty="0">
                <a:latin typeface="Arial"/>
                <a:cs typeface="Arial"/>
              </a:rPr>
              <a:t> </a:t>
            </a:r>
            <a:r>
              <a:rPr sz="2200" spc="-5" dirty="0">
                <a:latin typeface="Arial"/>
                <a:cs typeface="Arial"/>
              </a:rPr>
              <a:t>it</a:t>
            </a:r>
            <a:r>
              <a:rPr sz="2200" spc="240" dirty="0">
                <a:latin typeface="Arial"/>
                <a:cs typeface="Arial"/>
              </a:rPr>
              <a:t> </a:t>
            </a:r>
            <a:r>
              <a:rPr sz="2200" spc="-5" dirty="0">
                <a:latin typeface="Arial"/>
                <a:cs typeface="Arial"/>
              </a:rPr>
              <a:t>allows</a:t>
            </a:r>
            <a:r>
              <a:rPr sz="2200" spc="235" dirty="0">
                <a:latin typeface="Arial"/>
                <a:cs typeface="Arial"/>
              </a:rPr>
              <a:t> </a:t>
            </a:r>
            <a:r>
              <a:rPr sz="2200" dirty="0">
                <a:latin typeface="Arial"/>
                <a:cs typeface="Arial"/>
              </a:rPr>
              <a:t>the</a:t>
            </a:r>
            <a:r>
              <a:rPr sz="2200" spc="225" dirty="0">
                <a:latin typeface="Arial"/>
                <a:cs typeface="Arial"/>
              </a:rPr>
              <a:t> </a:t>
            </a:r>
            <a:r>
              <a:rPr sz="2200" spc="-5" dirty="0">
                <a:latin typeface="Arial"/>
                <a:cs typeface="Arial"/>
              </a:rPr>
              <a:t>system</a:t>
            </a:r>
            <a:r>
              <a:rPr sz="2200" spc="240" dirty="0">
                <a:latin typeface="Arial"/>
                <a:cs typeface="Arial"/>
              </a:rPr>
              <a:t> </a:t>
            </a:r>
            <a:r>
              <a:rPr sz="2200" dirty="0">
                <a:latin typeface="Arial"/>
                <a:cs typeface="Arial"/>
              </a:rPr>
              <a:t>to</a:t>
            </a:r>
            <a:r>
              <a:rPr sz="2200" spc="225" dirty="0">
                <a:latin typeface="Arial"/>
                <a:cs typeface="Arial"/>
              </a:rPr>
              <a:t> </a:t>
            </a:r>
            <a:r>
              <a:rPr sz="2200" dirty="0">
                <a:latin typeface="Arial"/>
                <a:cs typeface="Arial"/>
              </a:rPr>
              <a:t>service</a:t>
            </a:r>
            <a:r>
              <a:rPr sz="2200" spc="229" dirty="0">
                <a:latin typeface="Arial"/>
                <a:cs typeface="Arial"/>
              </a:rPr>
              <a:t> </a:t>
            </a:r>
            <a:r>
              <a:rPr sz="2200" dirty="0">
                <a:latin typeface="Arial"/>
                <a:cs typeface="Arial"/>
              </a:rPr>
              <a:t>more</a:t>
            </a:r>
            <a:r>
              <a:rPr sz="2200" spc="229" dirty="0">
                <a:latin typeface="Arial"/>
                <a:cs typeface="Arial"/>
              </a:rPr>
              <a:t> </a:t>
            </a:r>
            <a:r>
              <a:rPr sz="2200" dirty="0">
                <a:latin typeface="Arial"/>
                <a:cs typeface="Arial"/>
              </a:rPr>
              <a:t>queries</a:t>
            </a:r>
            <a:r>
              <a:rPr sz="2200" spc="229" dirty="0">
                <a:latin typeface="Arial"/>
                <a:cs typeface="Arial"/>
              </a:rPr>
              <a:t> </a:t>
            </a:r>
            <a:r>
              <a:rPr sz="2200" spc="-5" dirty="0">
                <a:latin typeface="Arial"/>
                <a:cs typeface="Arial"/>
              </a:rPr>
              <a:t>in</a:t>
            </a:r>
            <a:r>
              <a:rPr sz="2200" spc="225" dirty="0">
                <a:latin typeface="Arial"/>
                <a:cs typeface="Arial"/>
              </a:rPr>
              <a:t> </a:t>
            </a:r>
            <a:r>
              <a:rPr sz="2200" dirty="0">
                <a:latin typeface="Arial"/>
                <a:cs typeface="Arial"/>
              </a:rPr>
              <a:t>the</a:t>
            </a:r>
            <a:r>
              <a:rPr sz="2200" spc="229" dirty="0">
                <a:latin typeface="Arial"/>
                <a:cs typeface="Arial"/>
              </a:rPr>
              <a:t> </a:t>
            </a:r>
            <a:r>
              <a:rPr sz="2200" dirty="0">
                <a:latin typeface="Arial"/>
                <a:cs typeface="Arial"/>
              </a:rPr>
              <a:t>same</a:t>
            </a:r>
            <a:r>
              <a:rPr sz="2200" spc="225" dirty="0">
                <a:latin typeface="Arial"/>
                <a:cs typeface="Arial"/>
              </a:rPr>
              <a:t> </a:t>
            </a:r>
            <a:r>
              <a:rPr sz="2200" spc="-5" dirty="0">
                <a:latin typeface="Arial"/>
                <a:cs typeface="Arial"/>
              </a:rPr>
              <a:t>amount</a:t>
            </a:r>
            <a:r>
              <a:rPr sz="2200" spc="240" dirty="0">
                <a:latin typeface="Arial"/>
                <a:cs typeface="Arial"/>
              </a:rPr>
              <a:t> </a:t>
            </a:r>
            <a:r>
              <a:rPr sz="2200" spc="-5" dirty="0">
                <a:latin typeface="Arial"/>
                <a:cs typeface="Arial"/>
              </a:rPr>
              <a:t>of</a:t>
            </a:r>
            <a:endParaRPr sz="2200">
              <a:latin typeface="Arial"/>
              <a:cs typeface="Arial"/>
            </a:endParaRPr>
          </a:p>
          <a:p>
            <a:pPr marL="756285">
              <a:lnSpc>
                <a:spcPct val="100000"/>
              </a:lnSpc>
            </a:pPr>
            <a:r>
              <a:rPr sz="2200" spc="-5" dirty="0">
                <a:latin typeface="Arial"/>
                <a:cs typeface="Arial"/>
              </a:rPr>
              <a:t>time,</a:t>
            </a:r>
            <a:r>
              <a:rPr sz="2200" spc="5" dirty="0">
                <a:latin typeface="Arial"/>
                <a:cs typeface="Arial"/>
              </a:rPr>
              <a:t> </a:t>
            </a:r>
            <a:r>
              <a:rPr sz="2200" spc="-5" dirty="0">
                <a:latin typeface="Arial"/>
                <a:cs typeface="Arial"/>
              </a:rPr>
              <a:t>because</a:t>
            </a:r>
            <a:r>
              <a:rPr sz="2200" spc="20" dirty="0">
                <a:latin typeface="Arial"/>
                <a:cs typeface="Arial"/>
              </a:rPr>
              <a:t> </a:t>
            </a:r>
            <a:r>
              <a:rPr sz="2200" spc="-5" dirty="0">
                <a:latin typeface="Arial"/>
                <a:cs typeface="Arial"/>
              </a:rPr>
              <a:t>each</a:t>
            </a:r>
            <a:r>
              <a:rPr sz="2200" spc="30" dirty="0">
                <a:latin typeface="Arial"/>
                <a:cs typeface="Arial"/>
              </a:rPr>
              <a:t> </a:t>
            </a:r>
            <a:r>
              <a:rPr sz="2200" spc="-5" dirty="0">
                <a:latin typeface="Arial"/>
                <a:cs typeface="Arial"/>
              </a:rPr>
              <a:t>request</a:t>
            </a:r>
            <a:r>
              <a:rPr sz="2200" spc="20" dirty="0">
                <a:latin typeface="Arial"/>
                <a:cs typeface="Arial"/>
              </a:rPr>
              <a:t> </a:t>
            </a:r>
            <a:r>
              <a:rPr sz="2200" dirty="0">
                <a:latin typeface="Arial"/>
                <a:cs typeface="Arial"/>
              </a:rPr>
              <a:t>takes</a:t>
            </a:r>
            <a:r>
              <a:rPr sz="2200" spc="10" dirty="0">
                <a:latin typeface="Arial"/>
                <a:cs typeface="Arial"/>
              </a:rPr>
              <a:t> </a:t>
            </a:r>
            <a:r>
              <a:rPr sz="2200" spc="-5" dirty="0">
                <a:latin typeface="Arial"/>
                <a:cs typeface="Arial"/>
              </a:rPr>
              <a:t>less</a:t>
            </a:r>
            <a:r>
              <a:rPr sz="2200" spc="15" dirty="0">
                <a:latin typeface="Arial"/>
                <a:cs typeface="Arial"/>
              </a:rPr>
              <a:t> </a:t>
            </a:r>
            <a:r>
              <a:rPr sz="2200" spc="-5" dirty="0">
                <a:latin typeface="Arial"/>
                <a:cs typeface="Arial"/>
              </a:rPr>
              <a:t>time</a:t>
            </a:r>
            <a:r>
              <a:rPr sz="2200" spc="15" dirty="0">
                <a:latin typeface="Arial"/>
                <a:cs typeface="Arial"/>
              </a:rPr>
              <a:t> </a:t>
            </a:r>
            <a:r>
              <a:rPr sz="2200" dirty="0">
                <a:latin typeface="Arial"/>
                <a:cs typeface="Arial"/>
              </a:rPr>
              <a:t>than</a:t>
            </a:r>
            <a:r>
              <a:rPr sz="2200" spc="10" dirty="0">
                <a:latin typeface="Arial"/>
                <a:cs typeface="Arial"/>
              </a:rPr>
              <a:t> </a:t>
            </a:r>
            <a:r>
              <a:rPr sz="2200" spc="-5" dirty="0">
                <a:latin typeface="Arial"/>
                <a:cs typeface="Arial"/>
              </a:rPr>
              <a:t>unoptimized</a:t>
            </a:r>
            <a:r>
              <a:rPr sz="2200" spc="35" dirty="0">
                <a:latin typeface="Arial"/>
                <a:cs typeface="Arial"/>
              </a:rPr>
              <a:t> </a:t>
            </a:r>
            <a:r>
              <a:rPr sz="2200" spc="-5" dirty="0">
                <a:latin typeface="Arial"/>
                <a:cs typeface="Arial"/>
              </a:rPr>
              <a:t>queries.</a:t>
            </a:r>
            <a:endParaRPr sz="2200">
              <a:latin typeface="Arial"/>
              <a:cs typeface="Arial"/>
            </a:endParaRPr>
          </a:p>
          <a:p>
            <a:pPr>
              <a:lnSpc>
                <a:spcPct val="100000"/>
              </a:lnSpc>
              <a:spcBef>
                <a:spcPts val="5"/>
              </a:spcBef>
            </a:pPr>
            <a:endParaRPr sz="3200">
              <a:latin typeface="Arial"/>
              <a:cs typeface="Arial"/>
            </a:endParaRPr>
          </a:p>
          <a:p>
            <a:pPr marL="756285" marR="5080" lvl="1" indent="-287020" algn="just">
              <a:lnSpc>
                <a:spcPct val="100000"/>
              </a:lnSpc>
              <a:buChar char="–"/>
              <a:tabLst>
                <a:tab pos="756920" algn="l"/>
              </a:tabLst>
            </a:pPr>
            <a:r>
              <a:rPr sz="2200" spc="-5" dirty="0">
                <a:latin typeface="Arial"/>
                <a:cs typeface="Arial"/>
              </a:rPr>
              <a:t>Thirdly,</a:t>
            </a:r>
            <a:r>
              <a:rPr sz="2200" dirty="0">
                <a:latin typeface="Arial"/>
                <a:cs typeface="Arial"/>
              </a:rPr>
              <a:t> query</a:t>
            </a:r>
            <a:r>
              <a:rPr sz="2200" spc="5" dirty="0">
                <a:latin typeface="Arial"/>
                <a:cs typeface="Arial"/>
              </a:rPr>
              <a:t> </a:t>
            </a:r>
            <a:r>
              <a:rPr sz="2200" spc="-5" dirty="0">
                <a:latin typeface="Arial"/>
                <a:cs typeface="Arial"/>
              </a:rPr>
              <a:t>optimization</a:t>
            </a:r>
            <a:r>
              <a:rPr sz="2200" dirty="0">
                <a:latin typeface="Arial"/>
                <a:cs typeface="Arial"/>
              </a:rPr>
              <a:t> </a:t>
            </a:r>
            <a:r>
              <a:rPr sz="2200" spc="-5" dirty="0">
                <a:latin typeface="Arial"/>
                <a:cs typeface="Arial"/>
              </a:rPr>
              <a:t>ultimately</a:t>
            </a:r>
            <a:r>
              <a:rPr sz="2200" dirty="0">
                <a:latin typeface="Arial"/>
                <a:cs typeface="Arial"/>
              </a:rPr>
              <a:t> reduces</a:t>
            </a:r>
            <a:r>
              <a:rPr sz="2200" spc="5" dirty="0">
                <a:latin typeface="Arial"/>
                <a:cs typeface="Arial"/>
              </a:rPr>
              <a:t> </a:t>
            </a:r>
            <a:r>
              <a:rPr sz="2200" dirty="0">
                <a:latin typeface="Arial"/>
                <a:cs typeface="Arial"/>
              </a:rPr>
              <a:t>the</a:t>
            </a:r>
            <a:r>
              <a:rPr sz="2200" spc="5" dirty="0">
                <a:latin typeface="Arial"/>
                <a:cs typeface="Arial"/>
              </a:rPr>
              <a:t> </a:t>
            </a:r>
            <a:r>
              <a:rPr sz="2200" dirty="0">
                <a:latin typeface="Arial"/>
                <a:cs typeface="Arial"/>
              </a:rPr>
              <a:t>amount</a:t>
            </a:r>
            <a:r>
              <a:rPr sz="2200" spc="5" dirty="0">
                <a:latin typeface="Arial"/>
                <a:cs typeface="Arial"/>
              </a:rPr>
              <a:t> </a:t>
            </a:r>
            <a:r>
              <a:rPr sz="2200" spc="-5" dirty="0">
                <a:latin typeface="Arial"/>
                <a:cs typeface="Arial"/>
              </a:rPr>
              <a:t>of</a:t>
            </a:r>
            <a:r>
              <a:rPr sz="2200" dirty="0">
                <a:latin typeface="Arial"/>
                <a:cs typeface="Arial"/>
              </a:rPr>
              <a:t> </a:t>
            </a:r>
            <a:r>
              <a:rPr sz="2200" spc="-15" dirty="0">
                <a:latin typeface="Arial"/>
                <a:cs typeface="Arial"/>
              </a:rPr>
              <a:t>wear</a:t>
            </a:r>
            <a:r>
              <a:rPr sz="2200" spc="-10" dirty="0">
                <a:latin typeface="Arial"/>
                <a:cs typeface="Arial"/>
              </a:rPr>
              <a:t> </a:t>
            </a:r>
            <a:r>
              <a:rPr sz="2200" spc="-5" dirty="0">
                <a:latin typeface="Arial"/>
                <a:cs typeface="Arial"/>
              </a:rPr>
              <a:t>on</a:t>
            </a:r>
            <a:r>
              <a:rPr sz="2200" dirty="0">
                <a:latin typeface="Arial"/>
                <a:cs typeface="Arial"/>
              </a:rPr>
              <a:t> the </a:t>
            </a:r>
            <a:r>
              <a:rPr sz="2200" spc="5" dirty="0">
                <a:latin typeface="Arial"/>
                <a:cs typeface="Arial"/>
              </a:rPr>
              <a:t> </a:t>
            </a:r>
            <a:r>
              <a:rPr sz="2200" spc="-5" dirty="0">
                <a:latin typeface="Arial"/>
                <a:cs typeface="Arial"/>
              </a:rPr>
              <a:t>hardware </a:t>
            </a:r>
            <a:r>
              <a:rPr sz="2200" dirty="0">
                <a:latin typeface="Arial"/>
                <a:cs typeface="Arial"/>
              </a:rPr>
              <a:t>(e.g. </a:t>
            </a:r>
            <a:r>
              <a:rPr sz="2200" spc="-5" dirty="0">
                <a:latin typeface="Arial"/>
                <a:cs typeface="Arial"/>
              </a:rPr>
              <a:t>disk drives), and </a:t>
            </a:r>
            <a:r>
              <a:rPr sz="2200" spc="-10" dirty="0">
                <a:latin typeface="Arial"/>
                <a:cs typeface="Arial"/>
              </a:rPr>
              <a:t>allows </a:t>
            </a:r>
            <a:r>
              <a:rPr sz="2200" dirty="0">
                <a:latin typeface="Arial"/>
                <a:cs typeface="Arial"/>
              </a:rPr>
              <a:t>the server </a:t>
            </a:r>
            <a:r>
              <a:rPr sz="2200" spc="5" dirty="0">
                <a:latin typeface="Arial"/>
                <a:cs typeface="Arial"/>
              </a:rPr>
              <a:t>to </a:t>
            </a:r>
            <a:r>
              <a:rPr sz="2200" dirty="0">
                <a:latin typeface="Arial"/>
                <a:cs typeface="Arial"/>
              </a:rPr>
              <a:t>run more </a:t>
            </a:r>
            <a:r>
              <a:rPr sz="2200" spc="-5" dirty="0">
                <a:latin typeface="Arial"/>
                <a:cs typeface="Arial"/>
              </a:rPr>
              <a:t>efficiently </a:t>
            </a:r>
            <a:r>
              <a:rPr sz="2200" dirty="0">
                <a:latin typeface="Arial"/>
                <a:cs typeface="Arial"/>
              </a:rPr>
              <a:t>(e.g. </a:t>
            </a:r>
            <a:r>
              <a:rPr sz="2200" spc="5" dirty="0">
                <a:latin typeface="Arial"/>
                <a:cs typeface="Arial"/>
              </a:rPr>
              <a:t> </a:t>
            </a:r>
            <a:r>
              <a:rPr sz="2200" spc="-15" dirty="0">
                <a:latin typeface="Arial"/>
                <a:cs typeface="Arial"/>
              </a:rPr>
              <a:t>lower</a:t>
            </a:r>
            <a:r>
              <a:rPr sz="2200" spc="75" dirty="0">
                <a:latin typeface="Arial"/>
                <a:cs typeface="Arial"/>
              </a:rPr>
              <a:t> </a:t>
            </a:r>
            <a:r>
              <a:rPr sz="2200" spc="-15" dirty="0">
                <a:latin typeface="Arial"/>
                <a:cs typeface="Arial"/>
              </a:rPr>
              <a:t>power</a:t>
            </a:r>
            <a:r>
              <a:rPr sz="2200" spc="50" dirty="0">
                <a:latin typeface="Arial"/>
                <a:cs typeface="Arial"/>
              </a:rPr>
              <a:t> </a:t>
            </a:r>
            <a:r>
              <a:rPr sz="2200" spc="-5" dirty="0">
                <a:latin typeface="Arial"/>
                <a:cs typeface="Arial"/>
              </a:rPr>
              <a:t>consumption,</a:t>
            </a:r>
            <a:r>
              <a:rPr sz="2200" spc="40" dirty="0">
                <a:latin typeface="Arial"/>
                <a:cs typeface="Arial"/>
              </a:rPr>
              <a:t> </a:t>
            </a:r>
            <a:r>
              <a:rPr sz="2200" spc="-5" dirty="0">
                <a:latin typeface="Arial"/>
                <a:cs typeface="Arial"/>
              </a:rPr>
              <a:t>less</a:t>
            </a:r>
            <a:r>
              <a:rPr sz="2200" spc="5" dirty="0">
                <a:latin typeface="Arial"/>
                <a:cs typeface="Arial"/>
              </a:rPr>
              <a:t> </a:t>
            </a:r>
            <a:r>
              <a:rPr sz="2200" dirty="0">
                <a:latin typeface="Arial"/>
                <a:cs typeface="Arial"/>
              </a:rPr>
              <a:t>memory</a:t>
            </a:r>
            <a:r>
              <a:rPr sz="2200" spc="10" dirty="0">
                <a:latin typeface="Arial"/>
                <a:cs typeface="Arial"/>
              </a:rPr>
              <a:t> </a:t>
            </a:r>
            <a:r>
              <a:rPr sz="2200" spc="-5" dirty="0">
                <a:latin typeface="Arial"/>
                <a:cs typeface="Arial"/>
              </a:rPr>
              <a:t>usage).</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23</a:t>
            </a:fld>
            <a:endParaRPr spc="-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7165975"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Query</a:t>
            </a:r>
            <a:r>
              <a:rPr sz="3600" spc="-40" dirty="0">
                <a:solidFill>
                  <a:srgbClr val="000000"/>
                </a:solidFill>
                <a:latin typeface="Verdana"/>
                <a:cs typeface="Verdana"/>
              </a:rPr>
              <a:t> </a:t>
            </a:r>
            <a:r>
              <a:rPr sz="3600" spc="-5" dirty="0">
                <a:solidFill>
                  <a:srgbClr val="000000"/>
                </a:solidFill>
                <a:latin typeface="Verdana"/>
                <a:cs typeface="Verdana"/>
              </a:rPr>
              <a:t>Optimization</a:t>
            </a:r>
            <a:r>
              <a:rPr sz="3600" spc="-40" dirty="0">
                <a:solidFill>
                  <a:srgbClr val="000000"/>
                </a:solidFill>
                <a:latin typeface="Verdana"/>
                <a:cs typeface="Verdana"/>
              </a:rPr>
              <a:t> </a:t>
            </a:r>
            <a:r>
              <a:rPr sz="3600" spc="-5" dirty="0">
                <a:solidFill>
                  <a:srgbClr val="000000"/>
                </a:solidFill>
                <a:latin typeface="Verdana"/>
                <a:cs typeface="Verdana"/>
              </a:rPr>
              <a:t>Process</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8005" cy="3313429"/>
          </a:xfrm>
          <a:prstGeom prst="rect">
            <a:avLst/>
          </a:prstGeom>
        </p:spPr>
        <p:txBody>
          <a:bodyPr vert="horz" wrap="square" lIns="0" tIns="12700" rIns="0" bIns="0" rtlCol="0">
            <a:spAutoFit/>
          </a:bodyPr>
          <a:lstStyle/>
          <a:p>
            <a:pPr marL="12700">
              <a:lnSpc>
                <a:spcPct val="100000"/>
              </a:lnSpc>
              <a:spcBef>
                <a:spcPts val="100"/>
              </a:spcBef>
            </a:pPr>
            <a:r>
              <a:rPr sz="2200" spc="5" dirty="0">
                <a:latin typeface="Arial"/>
                <a:cs typeface="Arial"/>
              </a:rPr>
              <a:t>There</a:t>
            </a:r>
            <a:r>
              <a:rPr sz="2200" spc="-15" dirty="0">
                <a:latin typeface="Arial"/>
                <a:cs typeface="Arial"/>
              </a:rPr>
              <a:t> </a:t>
            </a:r>
            <a:r>
              <a:rPr sz="2200" spc="-5" dirty="0">
                <a:latin typeface="Arial"/>
                <a:cs typeface="Arial"/>
              </a:rPr>
              <a:t>are</a:t>
            </a:r>
            <a:r>
              <a:rPr sz="2200" spc="10" dirty="0">
                <a:latin typeface="Arial"/>
                <a:cs typeface="Arial"/>
              </a:rPr>
              <a:t> </a:t>
            </a:r>
            <a:r>
              <a:rPr sz="2200" spc="-5" dirty="0">
                <a:latin typeface="Arial"/>
                <a:cs typeface="Arial"/>
              </a:rPr>
              <a:t>broadly</a:t>
            </a:r>
            <a:r>
              <a:rPr sz="2200" spc="20" dirty="0">
                <a:latin typeface="Arial"/>
                <a:cs typeface="Arial"/>
              </a:rPr>
              <a:t> </a:t>
            </a:r>
            <a:r>
              <a:rPr sz="2200" spc="-20" dirty="0">
                <a:latin typeface="Arial"/>
                <a:cs typeface="Arial"/>
              </a:rPr>
              <a:t>two</a:t>
            </a:r>
            <a:r>
              <a:rPr sz="2200" spc="50" dirty="0">
                <a:latin typeface="Arial"/>
                <a:cs typeface="Arial"/>
              </a:rPr>
              <a:t> </a:t>
            </a:r>
            <a:r>
              <a:rPr sz="2200" spc="-25" dirty="0">
                <a:latin typeface="Arial"/>
                <a:cs typeface="Arial"/>
              </a:rPr>
              <a:t>ways</a:t>
            </a:r>
            <a:r>
              <a:rPr sz="2200" spc="80" dirty="0">
                <a:latin typeface="Arial"/>
                <a:cs typeface="Arial"/>
              </a:rPr>
              <a:t> </a:t>
            </a:r>
            <a:r>
              <a:rPr sz="2200" spc="-5" dirty="0">
                <a:latin typeface="Arial"/>
                <a:cs typeface="Arial"/>
              </a:rPr>
              <a:t>a</a:t>
            </a:r>
            <a:r>
              <a:rPr sz="2200" spc="10" dirty="0">
                <a:latin typeface="Arial"/>
                <a:cs typeface="Arial"/>
              </a:rPr>
              <a:t> </a:t>
            </a:r>
            <a:r>
              <a:rPr sz="2200" spc="-5" dirty="0">
                <a:latin typeface="Arial"/>
                <a:cs typeface="Arial"/>
              </a:rPr>
              <a:t>query</a:t>
            </a:r>
            <a:r>
              <a:rPr sz="2200" spc="10" dirty="0">
                <a:latin typeface="Arial"/>
                <a:cs typeface="Arial"/>
              </a:rPr>
              <a:t> </a:t>
            </a:r>
            <a:r>
              <a:rPr sz="2200" spc="-5" dirty="0">
                <a:latin typeface="Arial"/>
                <a:cs typeface="Arial"/>
              </a:rPr>
              <a:t>can</a:t>
            </a:r>
            <a:r>
              <a:rPr sz="2200" spc="5" dirty="0">
                <a:latin typeface="Arial"/>
                <a:cs typeface="Arial"/>
              </a:rPr>
              <a:t> </a:t>
            </a:r>
            <a:r>
              <a:rPr sz="2200" spc="-5" dirty="0">
                <a:latin typeface="Arial"/>
                <a:cs typeface="Arial"/>
              </a:rPr>
              <a:t>be</a:t>
            </a:r>
            <a:r>
              <a:rPr sz="2200" spc="5" dirty="0">
                <a:latin typeface="Arial"/>
                <a:cs typeface="Arial"/>
              </a:rPr>
              <a:t> </a:t>
            </a:r>
            <a:r>
              <a:rPr sz="2200" spc="-5" dirty="0">
                <a:latin typeface="Arial"/>
                <a:cs typeface="Arial"/>
              </a:rPr>
              <a:t>optimized:</a:t>
            </a:r>
            <a:endParaRPr sz="2200">
              <a:latin typeface="Arial"/>
              <a:cs typeface="Arial"/>
            </a:endParaRPr>
          </a:p>
          <a:p>
            <a:pPr>
              <a:lnSpc>
                <a:spcPct val="100000"/>
              </a:lnSpc>
              <a:spcBef>
                <a:spcPts val="20"/>
              </a:spcBef>
            </a:pPr>
            <a:endParaRPr sz="3200">
              <a:latin typeface="Arial"/>
              <a:cs typeface="Arial"/>
            </a:endParaRPr>
          </a:p>
          <a:p>
            <a:pPr marL="354965" marR="6350" indent="-342900" algn="just">
              <a:lnSpc>
                <a:spcPct val="100000"/>
              </a:lnSpc>
              <a:buFont typeface="Wingdings"/>
              <a:buChar char=""/>
              <a:tabLst>
                <a:tab pos="355600" algn="l"/>
              </a:tabLst>
            </a:pPr>
            <a:r>
              <a:rPr sz="2200" b="1" spc="-5" dirty="0">
                <a:latin typeface="Arial"/>
                <a:cs typeface="Arial"/>
              </a:rPr>
              <a:t>Analyze </a:t>
            </a:r>
            <a:r>
              <a:rPr sz="2200" b="1" spc="5" dirty="0">
                <a:latin typeface="Arial"/>
                <a:cs typeface="Arial"/>
              </a:rPr>
              <a:t>and </a:t>
            </a:r>
            <a:r>
              <a:rPr sz="2200" b="1" dirty="0">
                <a:latin typeface="Arial"/>
                <a:cs typeface="Arial"/>
              </a:rPr>
              <a:t>transform </a:t>
            </a:r>
            <a:r>
              <a:rPr sz="2200" b="1" spc="-5" dirty="0">
                <a:latin typeface="Arial"/>
                <a:cs typeface="Arial"/>
              </a:rPr>
              <a:t>equivalent </a:t>
            </a:r>
            <a:r>
              <a:rPr sz="2200" b="1" dirty="0">
                <a:latin typeface="Arial"/>
                <a:cs typeface="Arial"/>
              </a:rPr>
              <a:t>relational expressions</a:t>
            </a:r>
            <a:r>
              <a:rPr sz="2200" dirty="0">
                <a:latin typeface="Arial"/>
                <a:cs typeface="Arial"/>
              </a:rPr>
              <a:t>: </a:t>
            </a:r>
            <a:r>
              <a:rPr sz="2200" spc="10" dirty="0">
                <a:latin typeface="Arial"/>
                <a:cs typeface="Arial"/>
              </a:rPr>
              <a:t>Try </a:t>
            </a:r>
            <a:r>
              <a:rPr sz="2200" dirty="0">
                <a:latin typeface="Arial"/>
                <a:cs typeface="Arial"/>
              </a:rPr>
              <a:t>to </a:t>
            </a:r>
            <a:r>
              <a:rPr sz="2200" spc="-5" dirty="0">
                <a:latin typeface="Arial"/>
                <a:cs typeface="Arial"/>
              </a:rPr>
              <a:t>minimize </a:t>
            </a:r>
            <a:r>
              <a:rPr sz="2200" spc="5" dirty="0">
                <a:latin typeface="Arial"/>
                <a:cs typeface="Arial"/>
              </a:rPr>
              <a:t>the </a:t>
            </a:r>
            <a:r>
              <a:rPr sz="2200" spc="10" dirty="0">
                <a:latin typeface="Arial"/>
                <a:cs typeface="Arial"/>
              </a:rPr>
              <a:t> </a:t>
            </a:r>
            <a:r>
              <a:rPr sz="2200" spc="-5" dirty="0">
                <a:latin typeface="Arial"/>
                <a:cs typeface="Arial"/>
              </a:rPr>
              <a:t>tuple</a:t>
            </a:r>
            <a:r>
              <a:rPr sz="2200" spc="5" dirty="0">
                <a:latin typeface="Arial"/>
                <a:cs typeface="Arial"/>
              </a:rPr>
              <a:t> </a:t>
            </a:r>
            <a:r>
              <a:rPr sz="2200" spc="-5" dirty="0">
                <a:latin typeface="Arial"/>
                <a:cs typeface="Arial"/>
              </a:rPr>
              <a:t>and</a:t>
            </a:r>
            <a:r>
              <a:rPr sz="2200" spc="30" dirty="0">
                <a:latin typeface="Arial"/>
                <a:cs typeface="Arial"/>
              </a:rPr>
              <a:t> </a:t>
            </a:r>
            <a:r>
              <a:rPr sz="2200" spc="-5" dirty="0">
                <a:latin typeface="Arial"/>
                <a:cs typeface="Arial"/>
              </a:rPr>
              <a:t>column</a:t>
            </a:r>
            <a:r>
              <a:rPr sz="2200" spc="5" dirty="0">
                <a:latin typeface="Arial"/>
                <a:cs typeface="Arial"/>
              </a:rPr>
              <a:t> </a:t>
            </a:r>
            <a:r>
              <a:rPr sz="2200" spc="-5" dirty="0">
                <a:latin typeface="Arial"/>
                <a:cs typeface="Arial"/>
              </a:rPr>
              <a:t>counts</a:t>
            </a:r>
            <a:r>
              <a:rPr sz="2200" spc="15" dirty="0">
                <a:latin typeface="Arial"/>
                <a:cs typeface="Arial"/>
              </a:rPr>
              <a:t> </a:t>
            </a:r>
            <a:r>
              <a:rPr sz="2200" spc="-5" dirty="0">
                <a:latin typeface="Arial"/>
                <a:cs typeface="Arial"/>
              </a:rPr>
              <a:t>of</a:t>
            </a:r>
            <a:r>
              <a:rPr sz="2200" spc="15" dirty="0">
                <a:latin typeface="Arial"/>
                <a:cs typeface="Arial"/>
              </a:rPr>
              <a:t> </a:t>
            </a:r>
            <a:r>
              <a:rPr sz="2200" dirty="0">
                <a:latin typeface="Arial"/>
                <a:cs typeface="Arial"/>
              </a:rPr>
              <a:t>the</a:t>
            </a:r>
            <a:r>
              <a:rPr sz="2200" spc="10" dirty="0">
                <a:latin typeface="Arial"/>
                <a:cs typeface="Arial"/>
              </a:rPr>
              <a:t> </a:t>
            </a:r>
            <a:r>
              <a:rPr sz="2200" spc="-5" dirty="0">
                <a:latin typeface="Arial"/>
                <a:cs typeface="Arial"/>
              </a:rPr>
              <a:t>intermediate</a:t>
            </a:r>
            <a:r>
              <a:rPr sz="2200" spc="25" dirty="0">
                <a:latin typeface="Arial"/>
                <a:cs typeface="Arial"/>
              </a:rPr>
              <a:t> </a:t>
            </a:r>
            <a:r>
              <a:rPr sz="2200" spc="-5" dirty="0">
                <a:latin typeface="Arial"/>
                <a:cs typeface="Arial"/>
              </a:rPr>
              <a:t>and</a:t>
            </a:r>
            <a:r>
              <a:rPr sz="2200" spc="10" dirty="0">
                <a:latin typeface="Arial"/>
                <a:cs typeface="Arial"/>
              </a:rPr>
              <a:t> </a:t>
            </a:r>
            <a:r>
              <a:rPr sz="2200" spc="-5" dirty="0">
                <a:latin typeface="Arial"/>
                <a:cs typeface="Arial"/>
              </a:rPr>
              <a:t>final</a:t>
            </a:r>
            <a:r>
              <a:rPr sz="2200" dirty="0">
                <a:latin typeface="Arial"/>
                <a:cs typeface="Arial"/>
              </a:rPr>
              <a:t> </a:t>
            </a:r>
            <a:r>
              <a:rPr sz="2200" spc="-5" dirty="0">
                <a:latin typeface="Arial"/>
                <a:cs typeface="Arial"/>
              </a:rPr>
              <a:t>query</a:t>
            </a:r>
            <a:r>
              <a:rPr sz="2200" spc="30" dirty="0">
                <a:latin typeface="Arial"/>
                <a:cs typeface="Arial"/>
              </a:rPr>
              <a:t> </a:t>
            </a:r>
            <a:r>
              <a:rPr sz="2200" spc="-5" dirty="0">
                <a:latin typeface="Arial"/>
                <a:cs typeface="Arial"/>
              </a:rPr>
              <a:t>processes.</a:t>
            </a:r>
            <a:endParaRPr sz="2200">
              <a:latin typeface="Arial"/>
              <a:cs typeface="Arial"/>
            </a:endParaRPr>
          </a:p>
          <a:p>
            <a:pPr>
              <a:lnSpc>
                <a:spcPct val="100000"/>
              </a:lnSpc>
              <a:spcBef>
                <a:spcPts val="25"/>
              </a:spcBef>
              <a:buFont typeface="Wingdings"/>
              <a:buChar char=""/>
            </a:pPr>
            <a:endParaRPr sz="3200">
              <a:latin typeface="Arial"/>
              <a:cs typeface="Arial"/>
            </a:endParaRPr>
          </a:p>
          <a:p>
            <a:pPr marL="354965" marR="5080" indent="-342900" algn="just">
              <a:lnSpc>
                <a:spcPct val="100000"/>
              </a:lnSpc>
              <a:buFont typeface="Wingdings"/>
              <a:buChar char=""/>
              <a:tabLst>
                <a:tab pos="355600" algn="l"/>
              </a:tabLst>
            </a:pPr>
            <a:r>
              <a:rPr sz="2200" b="1" spc="-5" dirty="0">
                <a:latin typeface="Arial"/>
                <a:cs typeface="Arial"/>
              </a:rPr>
              <a:t>Using</a:t>
            </a:r>
            <a:r>
              <a:rPr sz="2200" b="1" dirty="0">
                <a:latin typeface="Arial"/>
                <a:cs typeface="Arial"/>
              </a:rPr>
              <a:t> different</a:t>
            </a:r>
            <a:r>
              <a:rPr sz="2200" b="1" spc="5" dirty="0">
                <a:latin typeface="Arial"/>
                <a:cs typeface="Arial"/>
              </a:rPr>
              <a:t> </a:t>
            </a:r>
            <a:r>
              <a:rPr sz="2200" b="1" dirty="0">
                <a:latin typeface="Arial"/>
                <a:cs typeface="Arial"/>
              </a:rPr>
              <a:t>algorithms</a:t>
            </a:r>
            <a:r>
              <a:rPr sz="2200" b="1" spc="5" dirty="0">
                <a:latin typeface="Arial"/>
                <a:cs typeface="Arial"/>
              </a:rPr>
              <a:t> </a:t>
            </a:r>
            <a:r>
              <a:rPr sz="2200" b="1" dirty="0">
                <a:latin typeface="Arial"/>
                <a:cs typeface="Arial"/>
              </a:rPr>
              <a:t>for</a:t>
            </a:r>
            <a:r>
              <a:rPr sz="2200" b="1" spc="5" dirty="0">
                <a:latin typeface="Arial"/>
                <a:cs typeface="Arial"/>
              </a:rPr>
              <a:t> </a:t>
            </a:r>
            <a:r>
              <a:rPr sz="2200" b="1" spc="-5" dirty="0">
                <a:latin typeface="Arial"/>
                <a:cs typeface="Arial"/>
              </a:rPr>
              <a:t>each</a:t>
            </a:r>
            <a:r>
              <a:rPr sz="2200" b="1" dirty="0">
                <a:latin typeface="Arial"/>
                <a:cs typeface="Arial"/>
              </a:rPr>
              <a:t> </a:t>
            </a:r>
            <a:r>
              <a:rPr sz="2200" b="1" spc="-5" dirty="0">
                <a:latin typeface="Arial"/>
                <a:cs typeface="Arial"/>
              </a:rPr>
              <a:t>operation</a:t>
            </a:r>
            <a:r>
              <a:rPr sz="2200" spc="-5" dirty="0">
                <a:latin typeface="Arial"/>
                <a:cs typeface="Arial"/>
              </a:rPr>
              <a:t>:</a:t>
            </a:r>
            <a:r>
              <a:rPr sz="2200" dirty="0">
                <a:latin typeface="Arial"/>
                <a:cs typeface="Arial"/>
              </a:rPr>
              <a:t> </a:t>
            </a:r>
            <a:r>
              <a:rPr sz="2200" spc="5" dirty="0">
                <a:latin typeface="Arial"/>
                <a:cs typeface="Arial"/>
              </a:rPr>
              <a:t>These</a:t>
            </a:r>
            <a:r>
              <a:rPr sz="2200" spc="10" dirty="0">
                <a:latin typeface="Arial"/>
                <a:cs typeface="Arial"/>
              </a:rPr>
              <a:t> </a:t>
            </a:r>
            <a:r>
              <a:rPr sz="2200" spc="-5" dirty="0">
                <a:latin typeface="Arial"/>
                <a:cs typeface="Arial"/>
              </a:rPr>
              <a:t>underlying</a:t>
            </a:r>
            <a:r>
              <a:rPr sz="2200" dirty="0">
                <a:latin typeface="Arial"/>
                <a:cs typeface="Arial"/>
              </a:rPr>
              <a:t> </a:t>
            </a:r>
            <a:r>
              <a:rPr sz="2200" spc="-5" dirty="0">
                <a:latin typeface="Arial"/>
                <a:cs typeface="Arial"/>
              </a:rPr>
              <a:t>algorithms </a:t>
            </a:r>
            <a:r>
              <a:rPr sz="2200" spc="-600" dirty="0">
                <a:latin typeface="Arial"/>
                <a:cs typeface="Arial"/>
              </a:rPr>
              <a:t> </a:t>
            </a:r>
            <a:r>
              <a:rPr sz="2200" spc="-5" dirty="0">
                <a:latin typeface="Arial"/>
                <a:cs typeface="Arial"/>
              </a:rPr>
              <a:t>determine </a:t>
            </a:r>
            <a:r>
              <a:rPr sz="2200" spc="5" dirty="0">
                <a:latin typeface="Arial"/>
                <a:cs typeface="Arial"/>
              </a:rPr>
              <a:t>how </a:t>
            </a:r>
            <a:r>
              <a:rPr sz="2200" dirty="0">
                <a:latin typeface="Arial"/>
                <a:cs typeface="Arial"/>
              </a:rPr>
              <a:t>tuples are </a:t>
            </a:r>
            <a:r>
              <a:rPr sz="2200" spc="-5" dirty="0">
                <a:latin typeface="Arial"/>
                <a:cs typeface="Arial"/>
              </a:rPr>
              <a:t>accessed </a:t>
            </a:r>
            <a:r>
              <a:rPr sz="2200" spc="5" dirty="0">
                <a:latin typeface="Arial"/>
                <a:cs typeface="Arial"/>
              </a:rPr>
              <a:t>from </a:t>
            </a:r>
            <a:r>
              <a:rPr sz="2200" dirty="0">
                <a:latin typeface="Arial"/>
                <a:cs typeface="Arial"/>
              </a:rPr>
              <a:t>the </a:t>
            </a:r>
            <a:r>
              <a:rPr sz="2200" spc="-5" dirty="0">
                <a:latin typeface="Arial"/>
                <a:cs typeface="Arial"/>
              </a:rPr>
              <a:t>data </a:t>
            </a:r>
            <a:r>
              <a:rPr sz="2200" dirty="0">
                <a:latin typeface="Arial"/>
                <a:cs typeface="Arial"/>
              </a:rPr>
              <a:t>structures they are stored in, </a:t>
            </a:r>
            <a:r>
              <a:rPr sz="2200" spc="5" dirty="0">
                <a:latin typeface="Arial"/>
                <a:cs typeface="Arial"/>
              </a:rPr>
              <a:t> </a:t>
            </a:r>
            <a:r>
              <a:rPr sz="2200" spc="-5" dirty="0">
                <a:latin typeface="Arial"/>
                <a:cs typeface="Arial"/>
              </a:rPr>
              <a:t>indexing, hashing, data retrieval and </a:t>
            </a:r>
            <a:r>
              <a:rPr sz="2200" dirty="0">
                <a:latin typeface="Arial"/>
                <a:cs typeface="Arial"/>
              </a:rPr>
              <a:t>hence </a:t>
            </a:r>
            <a:r>
              <a:rPr sz="2200" spc="-5" dirty="0">
                <a:latin typeface="Arial"/>
                <a:cs typeface="Arial"/>
              </a:rPr>
              <a:t>influence </a:t>
            </a:r>
            <a:r>
              <a:rPr sz="2200" dirty="0">
                <a:latin typeface="Arial"/>
                <a:cs typeface="Arial"/>
              </a:rPr>
              <a:t>the number </a:t>
            </a:r>
            <a:r>
              <a:rPr sz="2200" spc="-5" dirty="0">
                <a:latin typeface="Arial"/>
                <a:cs typeface="Arial"/>
              </a:rPr>
              <a:t>of disk and </a:t>
            </a:r>
            <a:r>
              <a:rPr sz="2200" dirty="0">
                <a:latin typeface="Arial"/>
                <a:cs typeface="Arial"/>
              </a:rPr>
              <a:t>block </a:t>
            </a:r>
            <a:r>
              <a:rPr sz="2200" spc="5" dirty="0">
                <a:latin typeface="Arial"/>
                <a:cs typeface="Arial"/>
              </a:rPr>
              <a:t> </a:t>
            </a:r>
            <a:r>
              <a:rPr sz="2200" spc="-5" dirty="0">
                <a:latin typeface="Arial"/>
                <a:cs typeface="Arial"/>
              </a:rPr>
              <a:t>accesses.</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24</a:t>
            </a:fld>
            <a:endParaRPr spc="-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7865745"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Database</a:t>
            </a:r>
            <a:r>
              <a:rPr sz="3600" spc="-50" dirty="0">
                <a:solidFill>
                  <a:srgbClr val="000000"/>
                </a:solidFill>
                <a:latin typeface="Verdana"/>
                <a:cs typeface="Verdana"/>
              </a:rPr>
              <a:t> </a:t>
            </a:r>
            <a:r>
              <a:rPr sz="3600" spc="-5" dirty="0">
                <a:solidFill>
                  <a:srgbClr val="000000"/>
                </a:solidFill>
                <a:latin typeface="Verdana"/>
                <a:cs typeface="Verdana"/>
              </a:rPr>
              <a:t>Administrator</a:t>
            </a:r>
            <a:r>
              <a:rPr sz="3600" spc="-45" dirty="0">
                <a:solidFill>
                  <a:srgbClr val="000000"/>
                </a:solidFill>
                <a:latin typeface="Verdana"/>
                <a:cs typeface="Verdana"/>
              </a:rPr>
              <a:t> </a:t>
            </a:r>
            <a:r>
              <a:rPr sz="3600" spc="-10" dirty="0">
                <a:solidFill>
                  <a:srgbClr val="000000"/>
                </a:solidFill>
                <a:latin typeface="Verdana"/>
                <a:cs typeface="Verdana"/>
              </a:rPr>
              <a:t>(DBA)</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7370" cy="4319905"/>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a:buChar char=""/>
              <a:tabLst>
                <a:tab pos="355600" algn="l"/>
              </a:tabLst>
            </a:pPr>
            <a:r>
              <a:rPr sz="2200" dirty="0">
                <a:latin typeface="Arial"/>
                <a:cs typeface="Arial"/>
              </a:rPr>
              <a:t>A </a:t>
            </a:r>
            <a:r>
              <a:rPr sz="2200" b="1" spc="-5" dirty="0">
                <a:latin typeface="Arial"/>
                <a:cs typeface="Arial"/>
              </a:rPr>
              <a:t>database </a:t>
            </a:r>
            <a:r>
              <a:rPr sz="2200" b="1" dirty="0">
                <a:latin typeface="Arial"/>
                <a:cs typeface="Arial"/>
              </a:rPr>
              <a:t>administrator </a:t>
            </a:r>
            <a:r>
              <a:rPr sz="2200" b="1" spc="-15" dirty="0">
                <a:latin typeface="Arial"/>
                <a:cs typeface="Arial"/>
              </a:rPr>
              <a:t>(DBA) </a:t>
            </a:r>
            <a:r>
              <a:rPr sz="2200" spc="-10" dirty="0">
                <a:latin typeface="Arial"/>
                <a:cs typeface="Arial"/>
              </a:rPr>
              <a:t>is </a:t>
            </a:r>
            <a:r>
              <a:rPr sz="2200" spc="-5" dirty="0">
                <a:latin typeface="Arial"/>
                <a:cs typeface="Arial"/>
              </a:rPr>
              <a:t>a specialized computer systems administrator </a:t>
            </a:r>
            <a:r>
              <a:rPr sz="2200" dirty="0">
                <a:latin typeface="Arial"/>
                <a:cs typeface="Arial"/>
              </a:rPr>
              <a:t> </a:t>
            </a:r>
            <a:r>
              <a:rPr sz="2200" spc="-10" dirty="0">
                <a:latin typeface="Arial"/>
                <a:cs typeface="Arial"/>
              </a:rPr>
              <a:t>who </a:t>
            </a:r>
            <a:r>
              <a:rPr sz="2200" spc="-5" dirty="0">
                <a:latin typeface="Arial"/>
                <a:cs typeface="Arial"/>
              </a:rPr>
              <a:t>maintains a </a:t>
            </a:r>
            <a:r>
              <a:rPr sz="2200" dirty="0">
                <a:latin typeface="Arial"/>
                <a:cs typeface="Arial"/>
              </a:rPr>
              <a:t>successful </a:t>
            </a:r>
            <a:r>
              <a:rPr sz="2200" spc="-5" dirty="0">
                <a:latin typeface="Arial"/>
                <a:cs typeface="Arial"/>
              </a:rPr>
              <a:t>database environment </a:t>
            </a:r>
            <a:r>
              <a:rPr sz="2200" spc="5" dirty="0">
                <a:latin typeface="Arial"/>
                <a:cs typeface="Arial"/>
              </a:rPr>
              <a:t>by </a:t>
            </a:r>
            <a:r>
              <a:rPr sz="2200" dirty="0">
                <a:latin typeface="Arial"/>
                <a:cs typeface="Arial"/>
              </a:rPr>
              <a:t>directing </a:t>
            </a:r>
            <a:r>
              <a:rPr sz="2200" spc="-5" dirty="0">
                <a:latin typeface="Arial"/>
                <a:cs typeface="Arial"/>
              </a:rPr>
              <a:t>or performing </a:t>
            </a:r>
            <a:r>
              <a:rPr sz="2200" spc="-10" dirty="0">
                <a:latin typeface="Arial"/>
                <a:cs typeface="Arial"/>
              </a:rPr>
              <a:t>all </a:t>
            </a:r>
            <a:r>
              <a:rPr sz="2200" spc="-5" dirty="0">
                <a:latin typeface="Arial"/>
                <a:cs typeface="Arial"/>
              </a:rPr>
              <a:t> related</a:t>
            </a:r>
            <a:r>
              <a:rPr sz="2200" spc="20" dirty="0">
                <a:latin typeface="Arial"/>
                <a:cs typeface="Arial"/>
              </a:rPr>
              <a:t> </a:t>
            </a:r>
            <a:r>
              <a:rPr sz="2200" spc="-5" dirty="0">
                <a:latin typeface="Arial"/>
                <a:cs typeface="Arial"/>
              </a:rPr>
              <a:t>activities</a:t>
            </a:r>
            <a:r>
              <a:rPr sz="2200" dirty="0">
                <a:latin typeface="Arial"/>
                <a:cs typeface="Arial"/>
              </a:rPr>
              <a:t> to keep</a:t>
            </a:r>
            <a:r>
              <a:rPr sz="2200" spc="-5" dirty="0">
                <a:latin typeface="Arial"/>
                <a:cs typeface="Arial"/>
              </a:rPr>
              <a:t> </a:t>
            </a:r>
            <a:r>
              <a:rPr sz="2200" dirty="0">
                <a:latin typeface="Arial"/>
                <a:cs typeface="Arial"/>
              </a:rPr>
              <a:t>the </a:t>
            </a:r>
            <a:r>
              <a:rPr sz="2200" spc="-5" dirty="0">
                <a:latin typeface="Arial"/>
                <a:cs typeface="Arial"/>
              </a:rPr>
              <a:t>data</a:t>
            </a:r>
            <a:r>
              <a:rPr sz="2200" spc="5" dirty="0">
                <a:latin typeface="Arial"/>
                <a:cs typeface="Arial"/>
              </a:rPr>
              <a:t> </a:t>
            </a:r>
            <a:r>
              <a:rPr sz="2200" spc="-5" dirty="0">
                <a:latin typeface="Arial"/>
                <a:cs typeface="Arial"/>
              </a:rPr>
              <a:t>secure.</a:t>
            </a:r>
            <a:endParaRPr sz="2200">
              <a:latin typeface="Arial"/>
              <a:cs typeface="Arial"/>
            </a:endParaRPr>
          </a:p>
          <a:p>
            <a:pPr>
              <a:lnSpc>
                <a:spcPct val="100000"/>
              </a:lnSpc>
              <a:spcBef>
                <a:spcPts val="20"/>
              </a:spcBef>
              <a:buFont typeface="Wingdings"/>
              <a:buChar char=""/>
            </a:pPr>
            <a:endParaRPr sz="3200">
              <a:latin typeface="Arial"/>
              <a:cs typeface="Arial"/>
            </a:endParaRPr>
          </a:p>
          <a:p>
            <a:pPr marL="354965" marR="5715" indent="-342900" algn="just">
              <a:lnSpc>
                <a:spcPct val="100000"/>
              </a:lnSpc>
              <a:buFont typeface="Wingdings"/>
              <a:buChar char=""/>
              <a:tabLst>
                <a:tab pos="355600" algn="l"/>
              </a:tabLst>
            </a:pPr>
            <a:r>
              <a:rPr sz="2200" spc="10" dirty="0">
                <a:latin typeface="Arial"/>
                <a:cs typeface="Arial"/>
              </a:rPr>
              <a:t>The </a:t>
            </a:r>
            <a:r>
              <a:rPr sz="2200" dirty="0">
                <a:latin typeface="Arial"/>
                <a:cs typeface="Arial"/>
              </a:rPr>
              <a:t>top </a:t>
            </a:r>
            <a:r>
              <a:rPr sz="2200" b="1" dirty="0">
                <a:latin typeface="Arial"/>
                <a:cs typeface="Arial"/>
              </a:rPr>
              <a:t>responsibility </a:t>
            </a:r>
            <a:r>
              <a:rPr sz="2200" spc="-5" dirty="0">
                <a:latin typeface="Arial"/>
                <a:cs typeface="Arial"/>
              </a:rPr>
              <a:t>of </a:t>
            </a:r>
            <a:r>
              <a:rPr sz="2200" dirty="0">
                <a:latin typeface="Arial"/>
                <a:cs typeface="Arial"/>
              </a:rPr>
              <a:t>a </a:t>
            </a:r>
            <a:r>
              <a:rPr sz="2200" b="1" spc="-5" dirty="0">
                <a:latin typeface="Arial"/>
                <a:cs typeface="Arial"/>
              </a:rPr>
              <a:t>DBA </a:t>
            </a:r>
            <a:r>
              <a:rPr sz="2200" b="1" dirty="0">
                <a:latin typeface="Arial"/>
                <a:cs typeface="Arial"/>
              </a:rPr>
              <a:t>professional </a:t>
            </a:r>
            <a:r>
              <a:rPr sz="2200" spc="-5" dirty="0">
                <a:latin typeface="Arial"/>
                <a:cs typeface="Arial"/>
              </a:rPr>
              <a:t>is </a:t>
            </a:r>
            <a:r>
              <a:rPr sz="2200" dirty="0">
                <a:latin typeface="Arial"/>
                <a:cs typeface="Arial"/>
              </a:rPr>
              <a:t>to maintain </a:t>
            </a:r>
            <a:r>
              <a:rPr sz="2200" b="1" spc="-5" dirty="0">
                <a:latin typeface="Arial"/>
                <a:cs typeface="Arial"/>
              </a:rPr>
              <a:t>data integrity</a:t>
            </a:r>
            <a:r>
              <a:rPr sz="2200" spc="-5" dirty="0">
                <a:latin typeface="Arial"/>
                <a:cs typeface="Arial"/>
              </a:rPr>
              <a:t>. This </a:t>
            </a:r>
            <a:r>
              <a:rPr sz="2200" dirty="0">
                <a:latin typeface="Arial"/>
                <a:cs typeface="Arial"/>
              </a:rPr>
              <a:t> </a:t>
            </a:r>
            <a:r>
              <a:rPr sz="2200" spc="-5" dirty="0">
                <a:latin typeface="Arial"/>
                <a:cs typeface="Arial"/>
              </a:rPr>
              <a:t>means </a:t>
            </a:r>
            <a:r>
              <a:rPr sz="2200" dirty="0">
                <a:latin typeface="Arial"/>
                <a:cs typeface="Arial"/>
              </a:rPr>
              <a:t>the </a:t>
            </a:r>
            <a:r>
              <a:rPr sz="2200" spc="-10" dirty="0">
                <a:latin typeface="Arial"/>
                <a:cs typeface="Arial"/>
              </a:rPr>
              <a:t>DBA </a:t>
            </a:r>
            <a:r>
              <a:rPr sz="2200" spc="-15" dirty="0">
                <a:latin typeface="Arial"/>
                <a:cs typeface="Arial"/>
              </a:rPr>
              <a:t>will </a:t>
            </a:r>
            <a:r>
              <a:rPr sz="2200" spc="-5" dirty="0">
                <a:latin typeface="Arial"/>
                <a:cs typeface="Arial"/>
              </a:rPr>
              <a:t>ensure </a:t>
            </a:r>
            <a:r>
              <a:rPr sz="2200" dirty="0">
                <a:latin typeface="Arial"/>
                <a:cs typeface="Arial"/>
              </a:rPr>
              <a:t>that </a:t>
            </a:r>
            <a:r>
              <a:rPr sz="2200" spc="-5" dirty="0">
                <a:latin typeface="Arial"/>
                <a:cs typeface="Arial"/>
              </a:rPr>
              <a:t>data </a:t>
            </a:r>
            <a:r>
              <a:rPr sz="2200" spc="-10" dirty="0">
                <a:latin typeface="Arial"/>
                <a:cs typeface="Arial"/>
              </a:rPr>
              <a:t>is </a:t>
            </a:r>
            <a:r>
              <a:rPr sz="2200" spc="-5" dirty="0">
                <a:latin typeface="Arial"/>
                <a:cs typeface="Arial"/>
              </a:rPr>
              <a:t>secure </a:t>
            </a:r>
            <a:r>
              <a:rPr sz="2200" dirty="0">
                <a:latin typeface="Arial"/>
                <a:cs typeface="Arial"/>
              </a:rPr>
              <a:t>from </a:t>
            </a:r>
            <a:r>
              <a:rPr sz="2200" spc="-5" dirty="0">
                <a:latin typeface="Arial"/>
                <a:cs typeface="Arial"/>
              </a:rPr>
              <a:t>unauthorized </a:t>
            </a:r>
            <a:r>
              <a:rPr sz="2200" dirty="0">
                <a:latin typeface="Arial"/>
                <a:cs typeface="Arial"/>
              </a:rPr>
              <a:t>access </a:t>
            </a:r>
            <a:r>
              <a:rPr sz="2200" spc="-5" dirty="0">
                <a:latin typeface="Arial"/>
                <a:cs typeface="Arial"/>
              </a:rPr>
              <a:t>but </a:t>
            </a:r>
            <a:r>
              <a:rPr sz="2200" spc="-15" dirty="0">
                <a:latin typeface="Arial"/>
                <a:cs typeface="Arial"/>
              </a:rPr>
              <a:t>is </a:t>
            </a:r>
            <a:r>
              <a:rPr sz="2200" spc="-10" dirty="0">
                <a:latin typeface="Arial"/>
                <a:cs typeface="Arial"/>
              </a:rPr>
              <a:t> available</a:t>
            </a:r>
            <a:r>
              <a:rPr sz="2200" spc="40" dirty="0">
                <a:latin typeface="Arial"/>
                <a:cs typeface="Arial"/>
              </a:rPr>
              <a:t> </a:t>
            </a:r>
            <a:r>
              <a:rPr sz="2200" dirty="0">
                <a:latin typeface="Arial"/>
                <a:cs typeface="Arial"/>
              </a:rPr>
              <a:t>to </a:t>
            </a:r>
            <a:r>
              <a:rPr sz="2200" spc="-5" dirty="0">
                <a:latin typeface="Arial"/>
                <a:cs typeface="Arial"/>
              </a:rPr>
              <a:t>users.</a:t>
            </a:r>
            <a:endParaRPr sz="2200">
              <a:latin typeface="Arial"/>
              <a:cs typeface="Arial"/>
            </a:endParaRPr>
          </a:p>
          <a:p>
            <a:pPr>
              <a:lnSpc>
                <a:spcPct val="100000"/>
              </a:lnSpc>
              <a:spcBef>
                <a:spcPts val="25"/>
              </a:spcBef>
              <a:buFont typeface="Wingdings"/>
              <a:buChar char=""/>
            </a:pPr>
            <a:endParaRPr sz="3200">
              <a:latin typeface="Arial"/>
              <a:cs typeface="Arial"/>
            </a:endParaRPr>
          </a:p>
          <a:p>
            <a:pPr marL="354965" marR="5080" indent="-342900" algn="just">
              <a:lnSpc>
                <a:spcPct val="100000"/>
              </a:lnSpc>
              <a:buFont typeface="Wingdings"/>
              <a:buChar char=""/>
              <a:tabLst>
                <a:tab pos="355600" algn="l"/>
              </a:tabLst>
            </a:pPr>
            <a:r>
              <a:rPr sz="2200" dirty="0">
                <a:latin typeface="Arial"/>
                <a:cs typeface="Arial"/>
              </a:rPr>
              <a:t>A</a:t>
            </a:r>
            <a:r>
              <a:rPr sz="2200" spc="75" dirty="0">
                <a:latin typeface="Arial"/>
                <a:cs typeface="Arial"/>
              </a:rPr>
              <a:t> </a:t>
            </a:r>
            <a:r>
              <a:rPr sz="2200" spc="-5" dirty="0">
                <a:latin typeface="Arial"/>
                <a:cs typeface="Arial"/>
              </a:rPr>
              <a:t>database</a:t>
            </a:r>
            <a:r>
              <a:rPr sz="2200" spc="100" dirty="0">
                <a:latin typeface="Arial"/>
                <a:cs typeface="Arial"/>
              </a:rPr>
              <a:t> </a:t>
            </a:r>
            <a:r>
              <a:rPr sz="2200" dirty="0">
                <a:latin typeface="Arial"/>
                <a:cs typeface="Arial"/>
              </a:rPr>
              <a:t>administrator</a:t>
            </a:r>
            <a:r>
              <a:rPr sz="2200" spc="125" dirty="0">
                <a:latin typeface="Arial"/>
                <a:cs typeface="Arial"/>
              </a:rPr>
              <a:t> </a:t>
            </a:r>
            <a:r>
              <a:rPr sz="2200" spc="-15" dirty="0">
                <a:latin typeface="Arial"/>
                <a:cs typeface="Arial"/>
              </a:rPr>
              <a:t>will</a:t>
            </a:r>
            <a:r>
              <a:rPr sz="2200" spc="100" dirty="0">
                <a:latin typeface="Arial"/>
                <a:cs typeface="Arial"/>
              </a:rPr>
              <a:t> </a:t>
            </a:r>
            <a:r>
              <a:rPr sz="2200" dirty="0">
                <a:latin typeface="Arial"/>
                <a:cs typeface="Arial"/>
              </a:rPr>
              <a:t>often</a:t>
            </a:r>
            <a:r>
              <a:rPr sz="2200" spc="85" dirty="0">
                <a:latin typeface="Arial"/>
                <a:cs typeface="Arial"/>
              </a:rPr>
              <a:t> </a:t>
            </a:r>
            <a:r>
              <a:rPr sz="2200" spc="-5" dirty="0">
                <a:latin typeface="Arial"/>
                <a:cs typeface="Arial"/>
              </a:rPr>
              <a:t>have</a:t>
            </a:r>
            <a:r>
              <a:rPr sz="2200" spc="100" dirty="0">
                <a:latin typeface="Arial"/>
                <a:cs typeface="Arial"/>
              </a:rPr>
              <a:t> </a:t>
            </a:r>
            <a:r>
              <a:rPr sz="2200" dirty="0">
                <a:latin typeface="Arial"/>
                <a:cs typeface="Arial"/>
              </a:rPr>
              <a:t>a</a:t>
            </a:r>
            <a:r>
              <a:rPr sz="2200" spc="100" dirty="0">
                <a:latin typeface="Arial"/>
                <a:cs typeface="Arial"/>
              </a:rPr>
              <a:t> </a:t>
            </a:r>
            <a:r>
              <a:rPr sz="2200" spc="-5" dirty="0">
                <a:latin typeface="Arial"/>
                <a:cs typeface="Arial"/>
              </a:rPr>
              <a:t>working</a:t>
            </a:r>
            <a:r>
              <a:rPr sz="2200" spc="80" dirty="0">
                <a:latin typeface="Arial"/>
                <a:cs typeface="Arial"/>
              </a:rPr>
              <a:t> </a:t>
            </a:r>
            <a:r>
              <a:rPr sz="2200" dirty="0">
                <a:latin typeface="Arial"/>
                <a:cs typeface="Arial"/>
              </a:rPr>
              <a:t>knowledge</a:t>
            </a:r>
            <a:r>
              <a:rPr sz="2200" spc="90" dirty="0">
                <a:latin typeface="Arial"/>
                <a:cs typeface="Arial"/>
              </a:rPr>
              <a:t> </a:t>
            </a:r>
            <a:r>
              <a:rPr sz="2200" spc="-5" dirty="0">
                <a:latin typeface="Arial"/>
                <a:cs typeface="Arial"/>
              </a:rPr>
              <a:t>and</a:t>
            </a:r>
            <a:r>
              <a:rPr sz="2200" spc="90" dirty="0">
                <a:latin typeface="Arial"/>
                <a:cs typeface="Arial"/>
              </a:rPr>
              <a:t> </a:t>
            </a:r>
            <a:r>
              <a:rPr sz="2200" dirty="0">
                <a:latin typeface="Arial"/>
                <a:cs typeface="Arial"/>
              </a:rPr>
              <a:t>experience</a:t>
            </a:r>
            <a:r>
              <a:rPr sz="2200" spc="105" dirty="0">
                <a:latin typeface="Arial"/>
                <a:cs typeface="Arial"/>
              </a:rPr>
              <a:t> </a:t>
            </a:r>
            <a:r>
              <a:rPr sz="2200" spc="-5" dirty="0">
                <a:latin typeface="Arial"/>
                <a:cs typeface="Arial"/>
              </a:rPr>
              <a:t>with </a:t>
            </a:r>
            <a:r>
              <a:rPr sz="2200" spc="-600" dirty="0">
                <a:latin typeface="Arial"/>
                <a:cs typeface="Arial"/>
              </a:rPr>
              <a:t> </a:t>
            </a:r>
            <a:r>
              <a:rPr sz="2200" spc="-5" dirty="0">
                <a:latin typeface="Arial"/>
                <a:cs typeface="Arial"/>
              </a:rPr>
              <a:t>a </a:t>
            </a:r>
            <a:r>
              <a:rPr sz="2200" spc="-15" dirty="0">
                <a:latin typeface="Arial"/>
                <a:cs typeface="Arial"/>
              </a:rPr>
              <a:t>wide </a:t>
            </a:r>
            <a:r>
              <a:rPr sz="2200" spc="-5" dirty="0">
                <a:latin typeface="Arial"/>
                <a:cs typeface="Arial"/>
              </a:rPr>
              <a:t>range of database </a:t>
            </a:r>
            <a:r>
              <a:rPr sz="2200" dirty="0">
                <a:latin typeface="Arial"/>
                <a:cs typeface="Arial"/>
              </a:rPr>
              <a:t>management </a:t>
            </a:r>
            <a:r>
              <a:rPr sz="2200" spc="-5" dirty="0">
                <a:latin typeface="Arial"/>
                <a:cs typeface="Arial"/>
              </a:rPr>
              <a:t>products such as Oracle-based </a:t>
            </a:r>
            <a:r>
              <a:rPr sz="2200" dirty="0">
                <a:latin typeface="Arial"/>
                <a:cs typeface="Arial"/>
              </a:rPr>
              <a:t>software, </a:t>
            </a:r>
            <a:r>
              <a:rPr sz="2200" spc="5" dirty="0">
                <a:latin typeface="Arial"/>
                <a:cs typeface="Arial"/>
              </a:rPr>
              <a:t> </a:t>
            </a:r>
            <a:r>
              <a:rPr sz="2200" spc="-5" dirty="0">
                <a:latin typeface="Arial"/>
                <a:cs typeface="Arial"/>
              </a:rPr>
              <a:t>and</a:t>
            </a:r>
            <a:r>
              <a:rPr sz="2200" dirty="0">
                <a:latin typeface="Arial"/>
                <a:cs typeface="Arial"/>
              </a:rPr>
              <a:t> </a:t>
            </a:r>
            <a:r>
              <a:rPr sz="2200" spc="-5" dirty="0">
                <a:latin typeface="Arial"/>
                <a:cs typeface="Arial"/>
              </a:rPr>
              <a:t>SQL,</a:t>
            </a:r>
            <a:r>
              <a:rPr sz="2200" dirty="0">
                <a:latin typeface="Arial"/>
                <a:cs typeface="Arial"/>
              </a:rPr>
              <a:t> </a:t>
            </a:r>
            <a:r>
              <a:rPr sz="2200" spc="-10" dirty="0">
                <a:latin typeface="Arial"/>
                <a:cs typeface="Arial"/>
              </a:rPr>
              <a:t>in</a:t>
            </a:r>
            <a:r>
              <a:rPr sz="2200" spc="-5" dirty="0">
                <a:latin typeface="Arial"/>
                <a:cs typeface="Arial"/>
              </a:rPr>
              <a:t> addition</a:t>
            </a:r>
            <a:r>
              <a:rPr sz="2200" dirty="0">
                <a:latin typeface="Arial"/>
                <a:cs typeface="Arial"/>
              </a:rPr>
              <a:t> to</a:t>
            </a:r>
            <a:r>
              <a:rPr sz="2200" spc="5" dirty="0">
                <a:latin typeface="Arial"/>
                <a:cs typeface="Arial"/>
              </a:rPr>
              <a:t> </a:t>
            </a:r>
            <a:r>
              <a:rPr sz="2200" spc="-5" dirty="0">
                <a:latin typeface="Arial"/>
                <a:cs typeface="Arial"/>
              </a:rPr>
              <a:t>having</a:t>
            </a:r>
            <a:r>
              <a:rPr sz="2200" dirty="0">
                <a:latin typeface="Arial"/>
                <a:cs typeface="Arial"/>
              </a:rPr>
              <a:t> obtained</a:t>
            </a:r>
            <a:r>
              <a:rPr sz="2200" spc="5" dirty="0">
                <a:latin typeface="Arial"/>
                <a:cs typeface="Arial"/>
              </a:rPr>
              <a:t> </a:t>
            </a:r>
            <a:r>
              <a:rPr sz="2200" spc="-5" dirty="0">
                <a:latin typeface="Arial"/>
                <a:cs typeface="Arial"/>
              </a:rPr>
              <a:t>a</a:t>
            </a:r>
            <a:r>
              <a:rPr sz="2200" dirty="0">
                <a:latin typeface="Arial"/>
                <a:cs typeface="Arial"/>
              </a:rPr>
              <a:t> </a:t>
            </a:r>
            <a:r>
              <a:rPr sz="2200" spc="-5" dirty="0">
                <a:latin typeface="Arial"/>
                <a:cs typeface="Arial"/>
              </a:rPr>
              <a:t>degree</a:t>
            </a:r>
            <a:r>
              <a:rPr sz="2200" dirty="0">
                <a:latin typeface="Arial"/>
                <a:cs typeface="Arial"/>
              </a:rPr>
              <a:t> </a:t>
            </a:r>
            <a:r>
              <a:rPr sz="2200" spc="-10" dirty="0">
                <a:latin typeface="Arial"/>
                <a:cs typeface="Arial"/>
              </a:rPr>
              <a:t>in</a:t>
            </a:r>
            <a:r>
              <a:rPr sz="2200" spc="-5" dirty="0">
                <a:latin typeface="Arial"/>
                <a:cs typeface="Arial"/>
              </a:rPr>
              <a:t> </a:t>
            </a:r>
            <a:r>
              <a:rPr sz="2200" dirty="0">
                <a:latin typeface="Arial"/>
                <a:cs typeface="Arial"/>
              </a:rPr>
              <a:t>Computer</a:t>
            </a:r>
            <a:r>
              <a:rPr sz="2200" spc="5" dirty="0">
                <a:latin typeface="Arial"/>
                <a:cs typeface="Arial"/>
              </a:rPr>
              <a:t> </a:t>
            </a:r>
            <a:r>
              <a:rPr sz="2200" spc="-5" dirty="0">
                <a:latin typeface="Arial"/>
                <a:cs typeface="Arial"/>
              </a:rPr>
              <a:t>Science</a:t>
            </a:r>
            <a:r>
              <a:rPr sz="2200" spc="600" dirty="0">
                <a:latin typeface="Arial"/>
                <a:cs typeface="Arial"/>
              </a:rPr>
              <a:t> </a:t>
            </a:r>
            <a:r>
              <a:rPr sz="2200" dirty="0">
                <a:latin typeface="Arial"/>
                <a:cs typeface="Arial"/>
              </a:rPr>
              <a:t>and </a:t>
            </a:r>
            <a:r>
              <a:rPr sz="2200" spc="5" dirty="0">
                <a:latin typeface="Arial"/>
                <a:cs typeface="Arial"/>
              </a:rPr>
              <a:t> </a:t>
            </a:r>
            <a:r>
              <a:rPr sz="2200" spc="-5" dirty="0">
                <a:latin typeface="Arial"/>
                <a:cs typeface="Arial"/>
              </a:rPr>
              <a:t>practical</a:t>
            </a:r>
            <a:r>
              <a:rPr sz="2200" spc="20" dirty="0">
                <a:latin typeface="Arial"/>
                <a:cs typeface="Arial"/>
              </a:rPr>
              <a:t> </a:t>
            </a:r>
            <a:r>
              <a:rPr sz="2200" spc="-5" dirty="0">
                <a:latin typeface="Arial"/>
                <a:cs typeface="Arial"/>
              </a:rPr>
              <a:t>field</a:t>
            </a:r>
            <a:r>
              <a:rPr sz="2200" spc="5" dirty="0">
                <a:latin typeface="Arial"/>
                <a:cs typeface="Arial"/>
              </a:rPr>
              <a:t> </a:t>
            </a:r>
            <a:r>
              <a:rPr sz="2200" spc="-5" dirty="0">
                <a:latin typeface="Arial"/>
                <a:cs typeface="Arial"/>
              </a:rPr>
              <a:t>experience</a:t>
            </a:r>
            <a:r>
              <a:rPr sz="2200" spc="60"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additional,</a:t>
            </a:r>
            <a:r>
              <a:rPr sz="2200" spc="40" dirty="0">
                <a:latin typeface="Arial"/>
                <a:cs typeface="Arial"/>
              </a:rPr>
              <a:t> </a:t>
            </a:r>
            <a:r>
              <a:rPr sz="2200" spc="-5" dirty="0">
                <a:latin typeface="Arial"/>
                <a:cs typeface="Arial"/>
              </a:rPr>
              <a:t>related</a:t>
            </a:r>
            <a:r>
              <a:rPr sz="2200" spc="20" dirty="0">
                <a:latin typeface="Arial"/>
                <a:cs typeface="Arial"/>
              </a:rPr>
              <a:t> </a:t>
            </a:r>
            <a:r>
              <a:rPr sz="2200" dirty="0">
                <a:latin typeface="Arial"/>
                <a:cs typeface="Arial"/>
              </a:rPr>
              <a:t>IT</a:t>
            </a:r>
            <a:r>
              <a:rPr sz="2200" spc="5" dirty="0">
                <a:latin typeface="Arial"/>
                <a:cs typeface="Arial"/>
              </a:rPr>
              <a:t> </a:t>
            </a:r>
            <a:r>
              <a:rPr sz="2200" spc="-5" dirty="0">
                <a:latin typeface="Arial"/>
                <a:cs typeface="Arial"/>
              </a:rPr>
              <a:t>certifications.</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25</a:t>
            </a:fld>
            <a:endParaRPr spc="-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3430904"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Types</a:t>
            </a:r>
            <a:r>
              <a:rPr sz="3600" spc="-70" dirty="0">
                <a:solidFill>
                  <a:srgbClr val="000000"/>
                </a:solidFill>
                <a:latin typeface="Verdana"/>
                <a:cs typeface="Verdana"/>
              </a:rPr>
              <a:t> </a:t>
            </a:r>
            <a:r>
              <a:rPr sz="3600" dirty="0">
                <a:solidFill>
                  <a:srgbClr val="000000"/>
                </a:solidFill>
                <a:latin typeface="Verdana"/>
                <a:cs typeface="Verdana"/>
              </a:rPr>
              <a:t>of</a:t>
            </a:r>
            <a:r>
              <a:rPr sz="3600" spc="-35" dirty="0">
                <a:solidFill>
                  <a:srgbClr val="000000"/>
                </a:solidFill>
                <a:latin typeface="Verdana"/>
                <a:cs typeface="Verdana"/>
              </a:rPr>
              <a:t> </a:t>
            </a:r>
            <a:r>
              <a:rPr sz="3600" spc="-5" dirty="0">
                <a:solidFill>
                  <a:srgbClr val="000000"/>
                </a:solidFill>
                <a:latin typeface="Verdana"/>
                <a:cs typeface="Verdana"/>
              </a:rPr>
              <a:t>DBA</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7397"/>
            <a:ext cx="10708005" cy="4904105"/>
          </a:xfrm>
          <a:prstGeom prst="rect">
            <a:avLst/>
          </a:prstGeom>
        </p:spPr>
        <p:txBody>
          <a:bodyPr vert="horz" wrap="square" lIns="0" tIns="73660" rIns="0" bIns="0" rtlCol="0">
            <a:spAutoFit/>
          </a:bodyPr>
          <a:lstStyle/>
          <a:p>
            <a:pPr marL="355600" indent="-342900" algn="just">
              <a:lnSpc>
                <a:spcPct val="100000"/>
              </a:lnSpc>
              <a:spcBef>
                <a:spcPts val="580"/>
              </a:spcBef>
              <a:buFont typeface="Wingdings"/>
              <a:buChar char=""/>
              <a:tabLst>
                <a:tab pos="355600" algn="l"/>
              </a:tabLst>
            </a:pPr>
            <a:r>
              <a:rPr sz="2000" dirty="0">
                <a:latin typeface="Arial"/>
                <a:cs typeface="Arial"/>
              </a:rPr>
              <a:t>There</a:t>
            </a:r>
            <a:r>
              <a:rPr sz="2000" spc="-25" dirty="0">
                <a:latin typeface="Arial"/>
                <a:cs typeface="Arial"/>
              </a:rPr>
              <a:t> </a:t>
            </a:r>
            <a:r>
              <a:rPr sz="2000" dirty="0">
                <a:latin typeface="Arial"/>
                <a:cs typeface="Arial"/>
              </a:rPr>
              <a:t>are different</a:t>
            </a:r>
            <a:r>
              <a:rPr sz="2000" spc="-60" dirty="0">
                <a:latin typeface="Arial"/>
                <a:cs typeface="Arial"/>
              </a:rPr>
              <a:t> </a:t>
            </a:r>
            <a:r>
              <a:rPr sz="2000" spc="-5" dirty="0">
                <a:latin typeface="Arial"/>
                <a:cs typeface="Arial"/>
              </a:rPr>
              <a:t>types</a:t>
            </a:r>
            <a:r>
              <a:rPr sz="2000" dirty="0">
                <a:latin typeface="Arial"/>
                <a:cs typeface="Arial"/>
              </a:rPr>
              <a:t> of</a:t>
            </a:r>
            <a:r>
              <a:rPr sz="2000" spc="-5" dirty="0">
                <a:latin typeface="Arial"/>
                <a:cs typeface="Arial"/>
              </a:rPr>
              <a:t> </a:t>
            </a:r>
            <a:r>
              <a:rPr sz="2000" dirty="0">
                <a:latin typeface="Arial"/>
                <a:cs typeface="Arial"/>
              </a:rPr>
              <a:t>DBAs</a:t>
            </a:r>
            <a:r>
              <a:rPr sz="2000" spc="-10" dirty="0">
                <a:latin typeface="Arial"/>
                <a:cs typeface="Arial"/>
              </a:rPr>
              <a:t> </a:t>
            </a:r>
            <a:r>
              <a:rPr sz="2000" dirty="0">
                <a:latin typeface="Arial"/>
                <a:cs typeface="Arial"/>
              </a:rPr>
              <a:t>depending</a:t>
            </a:r>
            <a:r>
              <a:rPr sz="2000" spc="-40" dirty="0">
                <a:latin typeface="Arial"/>
                <a:cs typeface="Arial"/>
              </a:rPr>
              <a:t> </a:t>
            </a:r>
            <a:r>
              <a:rPr sz="2000" dirty="0">
                <a:latin typeface="Arial"/>
                <a:cs typeface="Arial"/>
              </a:rPr>
              <a:t>on</a:t>
            </a:r>
            <a:r>
              <a:rPr sz="2000" spc="-5" dirty="0">
                <a:latin typeface="Arial"/>
                <a:cs typeface="Arial"/>
              </a:rPr>
              <a:t> </a:t>
            </a:r>
            <a:r>
              <a:rPr sz="2000" dirty="0">
                <a:latin typeface="Arial"/>
                <a:cs typeface="Arial"/>
              </a:rPr>
              <a:t>the</a:t>
            </a:r>
            <a:r>
              <a:rPr sz="2000" spc="-15" dirty="0">
                <a:latin typeface="Arial"/>
                <a:cs typeface="Arial"/>
              </a:rPr>
              <a:t> </a:t>
            </a:r>
            <a:r>
              <a:rPr sz="2000" dirty="0">
                <a:latin typeface="Arial"/>
                <a:cs typeface="Arial"/>
              </a:rPr>
              <a:t>an </a:t>
            </a:r>
            <a:r>
              <a:rPr sz="2000" spc="-5" dirty="0">
                <a:latin typeface="Arial"/>
                <a:cs typeface="Arial"/>
              </a:rPr>
              <a:t>organization's</a:t>
            </a:r>
            <a:r>
              <a:rPr sz="2000" spc="20" dirty="0">
                <a:latin typeface="Arial"/>
                <a:cs typeface="Arial"/>
              </a:rPr>
              <a:t> </a:t>
            </a:r>
            <a:r>
              <a:rPr sz="2000" dirty="0">
                <a:latin typeface="Arial"/>
                <a:cs typeface="Arial"/>
              </a:rPr>
              <a:t>requirements:</a:t>
            </a:r>
            <a:endParaRPr sz="2000">
              <a:latin typeface="Arial"/>
              <a:cs typeface="Arial"/>
            </a:endParaRPr>
          </a:p>
          <a:p>
            <a:pPr marL="469265" marR="5715" indent="-457200" algn="just">
              <a:lnSpc>
                <a:spcPct val="100000"/>
              </a:lnSpc>
              <a:spcBef>
                <a:spcPts val="480"/>
              </a:spcBef>
              <a:buAutoNum type="arabicPeriod"/>
              <a:tabLst>
                <a:tab pos="469900" algn="l"/>
              </a:tabLst>
            </a:pPr>
            <a:r>
              <a:rPr sz="2000" b="1" u="heavy" spc="-5" dirty="0">
                <a:uFill>
                  <a:solidFill>
                    <a:srgbClr val="000000"/>
                  </a:solidFill>
                </a:uFill>
                <a:latin typeface="Arial"/>
                <a:cs typeface="Arial"/>
              </a:rPr>
              <a:t>Administrative </a:t>
            </a:r>
            <a:r>
              <a:rPr sz="2000" b="1" u="heavy" dirty="0">
                <a:uFill>
                  <a:solidFill>
                    <a:srgbClr val="000000"/>
                  </a:solidFill>
                </a:uFill>
                <a:latin typeface="Arial"/>
                <a:cs typeface="Arial"/>
              </a:rPr>
              <a:t>DBA – </a:t>
            </a:r>
            <a:r>
              <a:rPr sz="2000" dirty="0">
                <a:latin typeface="Arial"/>
                <a:cs typeface="Arial"/>
              </a:rPr>
              <a:t>maintains the </a:t>
            </a:r>
            <a:r>
              <a:rPr sz="2000" spc="-10" dirty="0">
                <a:latin typeface="Arial"/>
                <a:cs typeface="Arial"/>
              </a:rPr>
              <a:t>servers </a:t>
            </a:r>
            <a:r>
              <a:rPr sz="2000" spc="-5" dirty="0">
                <a:latin typeface="Arial"/>
                <a:cs typeface="Arial"/>
              </a:rPr>
              <a:t>and databases and keeps </a:t>
            </a:r>
            <a:r>
              <a:rPr sz="2000" spc="-10" dirty="0">
                <a:latin typeface="Arial"/>
                <a:cs typeface="Arial"/>
              </a:rPr>
              <a:t>them </a:t>
            </a:r>
            <a:r>
              <a:rPr sz="2000" spc="-5" dirty="0">
                <a:latin typeface="Arial"/>
                <a:cs typeface="Arial"/>
              </a:rPr>
              <a:t>running. </a:t>
            </a:r>
            <a:r>
              <a:rPr sz="2000" dirty="0">
                <a:latin typeface="Arial"/>
                <a:cs typeface="Arial"/>
              </a:rPr>
              <a:t> Concerned </a:t>
            </a:r>
            <a:r>
              <a:rPr sz="2000" spc="-10" dirty="0">
                <a:latin typeface="Arial"/>
                <a:cs typeface="Arial"/>
              </a:rPr>
              <a:t>with </a:t>
            </a:r>
            <a:r>
              <a:rPr sz="2000" spc="-5" dirty="0">
                <a:latin typeface="Arial"/>
                <a:cs typeface="Arial"/>
              </a:rPr>
              <a:t>backups, </a:t>
            </a:r>
            <a:r>
              <a:rPr sz="2000" spc="-10" dirty="0">
                <a:latin typeface="Arial"/>
                <a:cs typeface="Arial"/>
              </a:rPr>
              <a:t>security, </a:t>
            </a:r>
            <a:r>
              <a:rPr sz="2000" spc="-5" dirty="0">
                <a:latin typeface="Arial"/>
                <a:cs typeface="Arial"/>
              </a:rPr>
              <a:t>patches, replication. </a:t>
            </a:r>
            <a:r>
              <a:rPr sz="2000" dirty="0">
                <a:latin typeface="Arial"/>
                <a:cs typeface="Arial"/>
              </a:rPr>
              <a:t>These </a:t>
            </a:r>
            <a:r>
              <a:rPr sz="2000" spc="-5" dirty="0">
                <a:latin typeface="Arial"/>
                <a:cs typeface="Arial"/>
              </a:rPr>
              <a:t>are activities </a:t>
            </a:r>
            <a:r>
              <a:rPr sz="2000" dirty="0">
                <a:latin typeface="Arial"/>
                <a:cs typeface="Arial"/>
              </a:rPr>
              <a:t>mostly </a:t>
            </a:r>
            <a:r>
              <a:rPr sz="2000" spc="-5" dirty="0">
                <a:latin typeface="Arial"/>
                <a:cs typeface="Arial"/>
              </a:rPr>
              <a:t>geared </a:t>
            </a:r>
            <a:r>
              <a:rPr sz="2000" dirty="0">
                <a:latin typeface="Arial"/>
                <a:cs typeface="Arial"/>
              </a:rPr>
              <a:t> </a:t>
            </a:r>
            <a:r>
              <a:rPr sz="2000" spc="-5" dirty="0">
                <a:latin typeface="Arial"/>
                <a:cs typeface="Arial"/>
              </a:rPr>
              <a:t>towards</a:t>
            </a:r>
            <a:r>
              <a:rPr sz="2000" dirty="0">
                <a:latin typeface="Arial"/>
                <a:cs typeface="Arial"/>
              </a:rPr>
              <a:t> maintaining</a:t>
            </a:r>
            <a:r>
              <a:rPr sz="2000" spc="5" dirty="0">
                <a:latin typeface="Arial"/>
                <a:cs typeface="Arial"/>
              </a:rPr>
              <a:t> </a:t>
            </a:r>
            <a:r>
              <a:rPr sz="2000" spc="-10" dirty="0">
                <a:latin typeface="Arial"/>
                <a:cs typeface="Arial"/>
              </a:rPr>
              <a:t>the</a:t>
            </a:r>
            <a:r>
              <a:rPr sz="2000" spc="-5" dirty="0">
                <a:latin typeface="Arial"/>
                <a:cs typeface="Arial"/>
              </a:rPr>
              <a:t> database</a:t>
            </a:r>
            <a:r>
              <a:rPr sz="2000" dirty="0">
                <a:latin typeface="Arial"/>
                <a:cs typeface="Arial"/>
              </a:rPr>
              <a:t> </a:t>
            </a:r>
            <a:r>
              <a:rPr sz="2000" spc="-5" dirty="0">
                <a:latin typeface="Arial"/>
                <a:cs typeface="Arial"/>
              </a:rPr>
              <a:t>and</a:t>
            </a:r>
            <a:r>
              <a:rPr sz="2000" dirty="0">
                <a:latin typeface="Arial"/>
                <a:cs typeface="Arial"/>
              </a:rPr>
              <a:t> </a:t>
            </a:r>
            <a:r>
              <a:rPr sz="2000" spc="-10" dirty="0">
                <a:latin typeface="Arial"/>
                <a:cs typeface="Arial"/>
              </a:rPr>
              <a:t>software</a:t>
            </a:r>
            <a:r>
              <a:rPr sz="2000" spc="-5" dirty="0">
                <a:latin typeface="Arial"/>
                <a:cs typeface="Arial"/>
              </a:rPr>
              <a:t> platform,</a:t>
            </a:r>
            <a:r>
              <a:rPr sz="2000" dirty="0">
                <a:latin typeface="Arial"/>
                <a:cs typeface="Arial"/>
              </a:rPr>
              <a:t> </a:t>
            </a:r>
            <a:r>
              <a:rPr sz="2000" spc="-5" dirty="0">
                <a:latin typeface="Arial"/>
                <a:cs typeface="Arial"/>
              </a:rPr>
              <a:t>but</a:t>
            </a:r>
            <a:r>
              <a:rPr sz="2000" dirty="0">
                <a:latin typeface="Arial"/>
                <a:cs typeface="Arial"/>
              </a:rPr>
              <a:t> </a:t>
            </a:r>
            <a:r>
              <a:rPr sz="2000" spc="-5" dirty="0">
                <a:latin typeface="Arial"/>
                <a:cs typeface="Arial"/>
              </a:rPr>
              <a:t>not</a:t>
            </a:r>
            <a:r>
              <a:rPr sz="2000" dirty="0">
                <a:latin typeface="Arial"/>
                <a:cs typeface="Arial"/>
              </a:rPr>
              <a:t> really</a:t>
            </a:r>
            <a:r>
              <a:rPr sz="2000" spc="5" dirty="0">
                <a:latin typeface="Arial"/>
                <a:cs typeface="Arial"/>
              </a:rPr>
              <a:t> </a:t>
            </a:r>
            <a:r>
              <a:rPr sz="2000" spc="-5" dirty="0">
                <a:latin typeface="Arial"/>
                <a:cs typeface="Arial"/>
              </a:rPr>
              <a:t>involved</a:t>
            </a:r>
            <a:r>
              <a:rPr sz="2000" dirty="0">
                <a:latin typeface="Arial"/>
                <a:cs typeface="Arial"/>
              </a:rPr>
              <a:t> </a:t>
            </a:r>
            <a:r>
              <a:rPr sz="2000" spc="-10" dirty="0">
                <a:latin typeface="Arial"/>
                <a:cs typeface="Arial"/>
              </a:rPr>
              <a:t>in </a:t>
            </a:r>
            <a:r>
              <a:rPr sz="2000" spc="-5" dirty="0">
                <a:latin typeface="Arial"/>
                <a:cs typeface="Arial"/>
              </a:rPr>
              <a:t> </a:t>
            </a:r>
            <a:r>
              <a:rPr sz="2000" dirty="0">
                <a:latin typeface="Arial"/>
                <a:cs typeface="Arial"/>
              </a:rPr>
              <a:t>enhancing</a:t>
            </a:r>
            <a:r>
              <a:rPr sz="2000" spc="-40" dirty="0">
                <a:latin typeface="Arial"/>
                <a:cs typeface="Arial"/>
              </a:rPr>
              <a:t> </a:t>
            </a:r>
            <a:r>
              <a:rPr sz="2000" dirty="0">
                <a:latin typeface="Arial"/>
                <a:cs typeface="Arial"/>
              </a:rPr>
              <a:t>or</a:t>
            </a:r>
            <a:r>
              <a:rPr sz="2000" spc="-5" dirty="0">
                <a:latin typeface="Arial"/>
                <a:cs typeface="Arial"/>
              </a:rPr>
              <a:t> developing</a:t>
            </a:r>
            <a:r>
              <a:rPr sz="2000" spc="5" dirty="0">
                <a:latin typeface="Arial"/>
                <a:cs typeface="Arial"/>
              </a:rPr>
              <a:t> </a:t>
            </a:r>
            <a:r>
              <a:rPr sz="2000" spc="-5" dirty="0">
                <a:latin typeface="Arial"/>
                <a:cs typeface="Arial"/>
              </a:rPr>
              <a:t>it.</a:t>
            </a:r>
            <a:endParaRPr sz="2000">
              <a:latin typeface="Arial"/>
              <a:cs typeface="Arial"/>
            </a:endParaRPr>
          </a:p>
          <a:p>
            <a:pPr marL="469265" marR="5080" indent="-457200" algn="just">
              <a:lnSpc>
                <a:spcPct val="100000"/>
              </a:lnSpc>
              <a:spcBef>
                <a:spcPts val="484"/>
              </a:spcBef>
              <a:buAutoNum type="arabicPeriod"/>
              <a:tabLst>
                <a:tab pos="469900" algn="l"/>
              </a:tabLst>
            </a:pPr>
            <a:r>
              <a:rPr sz="2000" b="1" u="heavy" spc="-5" dirty="0">
                <a:uFill>
                  <a:solidFill>
                    <a:srgbClr val="000000"/>
                  </a:solidFill>
                </a:uFill>
                <a:latin typeface="Arial"/>
                <a:cs typeface="Arial"/>
              </a:rPr>
              <a:t>Development </a:t>
            </a:r>
            <a:r>
              <a:rPr sz="2000" b="1" u="heavy" spc="5" dirty="0">
                <a:uFill>
                  <a:solidFill>
                    <a:srgbClr val="000000"/>
                  </a:solidFill>
                </a:uFill>
                <a:latin typeface="Arial"/>
                <a:cs typeface="Arial"/>
              </a:rPr>
              <a:t>DBA </a:t>
            </a:r>
            <a:r>
              <a:rPr sz="2000" b="1" u="heavy" dirty="0">
                <a:uFill>
                  <a:solidFill>
                    <a:srgbClr val="000000"/>
                  </a:solidFill>
                </a:uFill>
                <a:latin typeface="Arial"/>
                <a:cs typeface="Arial"/>
              </a:rPr>
              <a:t>- </a:t>
            </a:r>
            <a:r>
              <a:rPr sz="2000" spc="-5" dirty="0">
                <a:latin typeface="Arial"/>
                <a:cs typeface="Arial"/>
              </a:rPr>
              <a:t>works </a:t>
            </a:r>
            <a:r>
              <a:rPr sz="2000" dirty="0">
                <a:latin typeface="Arial"/>
                <a:cs typeface="Arial"/>
              </a:rPr>
              <a:t>on building </a:t>
            </a:r>
            <a:r>
              <a:rPr sz="2000" spc="-5" dirty="0">
                <a:latin typeface="Arial"/>
                <a:cs typeface="Arial"/>
              </a:rPr>
              <a:t>SQL queries, </a:t>
            </a:r>
            <a:r>
              <a:rPr sz="2000" spc="-10" dirty="0">
                <a:latin typeface="Arial"/>
                <a:cs typeface="Arial"/>
              </a:rPr>
              <a:t>stored </a:t>
            </a:r>
            <a:r>
              <a:rPr sz="2000" spc="-5" dirty="0">
                <a:latin typeface="Arial"/>
                <a:cs typeface="Arial"/>
              </a:rPr>
              <a:t>procedures, </a:t>
            </a:r>
            <a:r>
              <a:rPr sz="2000" dirty="0">
                <a:latin typeface="Arial"/>
                <a:cs typeface="Arial"/>
              </a:rPr>
              <a:t>and </a:t>
            </a:r>
            <a:r>
              <a:rPr sz="2000" spc="-5" dirty="0">
                <a:latin typeface="Arial"/>
                <a:cs typeface="Arial"/>
              </a:rPr>
              <a:t>so on, that </a:t>
            </a:r>
            <a:r>
              <a:rPr sz="2000" dirty="0">
                <a:latin typeface="Arial"/>
                <a:cs typeface="Arial"/>
              </a:rPr>
              <a:t> </a:t>
            </a:r>
            <a:r>
              <a:rPr sz="2000" spc="-5" dirty="0">
                <a:latin typeface="Arial"/>
                <a:cs typeface="Arial"/>
              </a:rPr>
              <a:t>meet business </a:t>
            </a:r>
            <a:r>
              <a:rPr sz="2000" dirty="0">
                <a:latin typeface="Arial"/>
                <a:cs typeface="Arial"/>
              </a:rPr>
              <a:t>needs. This </a:t>
            </a:r>
            <a:r>
              <a:rPr sz="2000" spc="-5" dirty="0">
                <a:latin typeface="Arial"/>
                <a:cs typeface="Arial"/>
              </a:rPr>
              <a:t>is the equivalent </a:t>
            </a:r>
            <a:r>
              <a:rPr sz="2000" spc="-10" dirty="0">
                <a:latin typeface="Arial"/>
                <a:cs typeface="Arial"/>
              </a:rPr>
              <a:t>of </a:t>
            </a:r>
            <a:r>
              <a:rPr sz="2000" spc="-5" dirty="0">
                <a:latin typeface="Arial"/>
                <a:cs typeface="Arial"/>
              </a:rPr>
              <a:t>a programmer, but specializing in database </a:t>
            </a:r>
            <a:r>
              <a:rPr sz="2000" dirty="0">
                <a:latin typeface="Arial"/>
                <a:cs typeface="Arial"/>
              </a:rPr>
              <a:t> development.</a:t>
            </a:r>
            <a:r>
              <a:rPr sz="2000" spc="-55" dirty="0">
                <a:latin typeface="Arial"/>
                <a:cs typeface="Arial"/>
              </a:rPr>
              <a:t> </a:t>
            </a:r>
            <a:r>
              <a:rPr sz="2000" dirty="0">
                <a:latin typeface="Arial"/>
                <a:cs typeface="Arial"/>
              </a:rPr>
              <a:t>Commonly</a:t>
            </a:r>
            <a:r>
              <a:rPr sz="2000" spc="-50" dirty="0">
                <a:latin typeface="Arial"/>
                <a:cs typeface="Arial"/>
              </a:rPr>
              <a:t> </a:t>
            </a:r>
            <a:r>
              <a:rPr sz="2000" dirty="0">
                <a:latin typeface="Arial"/>
                <a:cs typeface="Arial"/>
              </a:rPr>
              <a:t>combined</a:t>
            </a:r>
            <a:r>
              <a:rPr sz="2000" spc="-45" dirty="0">
                <a:latin typeface="Arial"/>
                <a:cs typeface="Arial"/>
              </a:rPr>
              <a:t> </a:t>
            </a:r>
            <a:r>
              <a:rPr sz="2000" dirty="0">
                <a:latin typeface="Arial"/>
                <a:cs typeface="Arial"/>
              </a:rPr>
              <a:t>the</a:t>
            </a:r>
            <a:r>
              <a:rPr sz="2000" spc="-10" dirty="0">
                <a:latin typeface="Arial"/>
                <a:cs typeface="Arial"/>
              </a:rPr>
              <a:t> </a:t>
            </a:r>
            <a:r>
              <a:rPr sz="2000" spc="-5" dirty="0">
                <a:latin typeface="Arial"/>
                <a:cs typeface="Arial"/>
              </a:rPr>
              <a:t>role</a:t>
            </a:r>
            <a:r>
              <a:rPr sz="2000" spc="-15" dirty="0">
                <a:latin typeface="Arial"/>
                <a:cs typeface="Arial"/>
              </a:rPr>
              <a:t> </a:t>
            </a:r>
            <a:r>
              <a:rPr sz="2000" dirty="0">
                <a:latin typeface="Arial"/>
                <a:cs typeface="Arial"/>
              </a:rPr>
              <a:t>of</a:t>
            </a:r>
            <a:r>
              <a:rPr sz="2000" spc="-10" dirty="0">
                <a:latin typeface="Arial"/>
                <a:cs typeface="Arial"/>
              </a:rPr>
              <a:t> </a:t>
            </a:r>
            <a:r>
              <a:rPr sz="2000" dirty="0">
                <a:latin typeface="Arial"/>
                <a:cs typeface="Arial"/>
              </a:rPr>
              <a:t>Administrative</a:t>
            </a:r>
            <a:r>
              <a:rPr sz="2000" spc="-50" dirty="0">
                <a:latin typeface="Arial"/>
                <a:cs typeface="Arial"/>
              </a:rPr>
              <a:t> </a:t>
            </a:r>
            <a:r>
              <a:rPr sz="2000" dirty="0">
                <a:latin typeface="Arial"/>
                <a:cs typeface="Arial"/>
              </a:rPr>
              <a:t>DBA.</a:t>
            </a:r>
            <a:endParaRPr sz="2000">
              <a:latin typeface="Arial"/>
              <a:cs typeface="Arial"/>
            </a:endParaRPr>
          </a:p>
          <a:p>
            <a:pPr marL="469265" marR="5080" indent="-457200" algn="just">
              <a:lnSpc>
                <a:spcPct val="100000"/>
              </a:lnSpc>
              <a:spcBef>
                <a:spcPts val="480"/>
              </a:spcBef>
              <a:buAutoNum type="arabicPeriod"/>
              <a:tabLst>
                <a:tab pos="469900" algn="l"/>
              </a:tabLst>
            </a:pPr>
            <a:r>
              <a:rPr sz="2000" b="1" u="heavy" spc="-5" dirty="0">
                <a:uFill>
                  <a:solidFill>
                    <a:srgbClr val="000000"/>
                  </a:solidFill>
                </a:uFill>
                <a:latin typeface="Arial"/>
                <a:cs typeface="Arial"/>
              </a:rPr>
              <a:t>Data</a:t>
            </a:r>
            <a:r>
              <a:rPr sz="2000" b="1" u="heavy" dirty="0">
                <a:uFill>
                  <a:solidFill>
                    <a:srgbClr val="000000"/>
                  </a:solidFill>
                </a:uFill>
                <a:latin typeface="Arial"/>
                <a:cs typeface="Arial"/>
              </a:rPr>
              <a:t> </a:t>
            </a:r>
            <a:r>
              <a:rPr sz="2000" b="1" u="heavy" spc="-5" dirty="0">
                <a:uFill>
                  <a:solidFill>
                    <a:srgbClr val="000000"/>
                  </a:solidFill>
                </a:uFill>
                <a:latin typeface="Arial"/>
                <a:cs typeface="Arial"/>
              </a:rPr>
              <a:t>Architect</a:t>
            </a:r>
            <a:r>
              <a:rPr sz="2000" b="1" u="heavy" dirty="0">
                <a:uFill>
                  <a:solidFill>
                    <a:srgbClr val="000000"/>
                  </a:solidFill>
                </a:uFill>
                <a:latin typeface="Arial"/>
                <a:cs typeface="Arial"/>
              </a:rPr>
              <a:t> –</a:t>
            </a:r>
            <a:r>
              <a:rPr sz="2000" b="1" u="heavy" spc="5" dirty="0">
                <a:uFill>
                  <a:solidFill>
                    <a:srgbClr val="000000"/>
                  </a:solidFill>
                </a:uFill>
                <a:latin typeface="Arial"/>
                <a:cs typeface="Arial"/>
              </a:rPr>
              <a:t> </a:t>
            </a:r>
            <a:r>
              <a:rPr sz="2000" spc="-5" dirty="0">
                <a:latin typeface="Arial"/>
                <a:cs typeface="Arial"/>
              </a:rPr>
              <a:t>designs</a:t>
            </a:r>
            <a:r>
              <a:rPr sz="2000" dirty="0">
                <a:latin typeface="Arial"/>
                <a:cs typeface="Arial"/>
              </a:rPr>
              <a:t> </a:t>
            </a:r>
            <a:r>
              <a:rPr sz="2000" spc="-5" dirty="0">
                <a:latin typeface="Arial"/>
                <a:cs typeface="Arial"/>
              </a:rPr>
              <a:t>schemas,</a:t>
            </a:r>
            <a:r>
              <a:rPr sz="2000" dirty="0">
                <a:latin typeface="Arial"/>
                <a:cs typeface="Arial"/>
              </a:rPr>
              <a:t> </a:t>
            </a:r>
            <a:r>
              <a:rPr sz="2000" spc="-5" dirty="0">
                <a:latin typeface="Arial"/>
                <a:cs typeface="Arial"/>
              </a:rPr>
              <a:t>builds</a:t>
            </a:r>
            <a:r>
              <a:rPr sz="2000" dirty="0">
                <a:latin typeface="Arial"/>
                <a:cs typeface="Arial"/>
              </a:rPr>
              <a:t> </a:t>
            </a:r>
            <a:r>
              <a:rPr sz="2000" spc="-5" dirty="0">
                <a:latin typeface="Arial"/>
                <a:cs typeface="Arial"/>
              </a:rPr>
              <a:t>tables</a:t>
            </a:r>
            <a:r>
              <a:rPr sz="2000" dirty="0">
                <a:latin typeface="Arial"/>
                <a:cs typeface="Arial"/>
              </a:rPr>
              <a:t> </a:t>
            </a:r>
            <a:r>
              <a:rPr sz="2000" spc="-5" dirty="0">
                <a:latin typeface="Arial"/>
                <a:cs typeface="Arial"/>
              </a:rPr>
              <a:t>indexes,</a:t>
            </a:r>
            <a:r>
              <a:rPr sz="2000" dirty="0">
                <a:latin typeface="Arial"/>
                <a:cs typeface="Arial"/>
              </a:rPr>
              <a:t> </a:t>
            </a:r>
            <a:r>
              <a:rPr sz="2000" spc="-5" dirty="0">
                <a:latin typeface="Arial"/>
                <a:cs typeface="Arial"/>
              </a:rPr>
              <a:t>data</a:t>
            </a:r>
            <a:r>
              <a:rPr sz="2000" dirty="0">
                <a:latin typeface="Arial"/>
                <a:cs typeface="Arial"/>
              </a:rPr>
              <a:t> </a:t>
            </a:r>
            <a:r>
              <a:rPr sz="2000" spc="-5" dirty="0">
                <a:latin typeface="Arial"/>
                <a:cs typeface="Arial"/>
              </a:rPr>
              <a:t>structures</a:t>
            </a:r>
            <a:r>
              <a:rPr sz="2000" dirty="0">
                <a:latin typeface="Arial"/>
                <a:cs typeface="Arial"/>
              </a:rPr>
              <a:t> </a:t>
            </a:r>
            <a:r>
              <a:rPr sz="2000" spc="-5" dirty="0">
                <a:latin typeface="Arial"/>
                <a:cs typeface="Arial"/>
              </a:rPr>
              <a:t>and </a:t>
            </a:r>
            <a:r>
              <a:rPr sz="2000" dirty="0">
                <a:latin typeface="Arial"/>
                <a:cs typeface="Arial"/>
              </a:rPr>
              <a:t> relationships. </a:t>
            </a:r>
            <a:r>
              <a:rPr sz="2000" spc="-5" dirty="0">
                <a:latin typeface="Arial"/>
                <a:cs typeface="Arial"/>
              </a:rPr>
              <a:t>This role works </a:t>
            </a:r>
            <a:r>
              <a:rPr sz="2000" spc="-10" dirty="0">
                <a:latin typeface="Arial"/>
                <a:cs typeface="Arial"/>
              </a:rPr>
              <a:t>to </a:t>
            </a:r>
            <a:r>
              <a:rPr sz="2000" spc="-5" dirty="0">
                <a:latin typeface="Arial"/>
                <a:cs typeface="Arial"/>
              </a:rPr>
              <a:t>build a structure that </a:t>
            </a:r>
            <a:r>
              <a:rPr sz="2000" dirty="0">
                <a:latin typeface="Arial"/>
                <a:cs typeface="Arial"/>
              </a:rPr>
              <a:t>meets </a:t>
            </a:r>
            <a:r>
              <a:rPr sz="2000" spc="-5" dirty="0">
                <a:latin typeface="Arial"/>
                <a:cs typeface="Arial"/>
              </a:rPr>
              <a:t>a general business needs </a:t>
            </a:r>
            <a:r>
              <a:rPr sz="2000" spc="-15" dirty="0">
                <a:latin typeface="Arial"/>
                <a:cs typeface="Arial"/>
              </a:rPr>
              <a:t>in </a:t>
            </a:r>
            <a:r>
              <a:rPr sz="2000" spc="-5" dirty="0">
                <a:latin typeface="Arial"/>
                <a:cs typeface="Arial"/>
              </a:rPr>
              <a:t>a </a:t>
            </a:r>
            <a:r>
              <a:rPr sz="2000" dirty="0">
                <a:latin typeface="Arial"/>
                <a:cs typeface="Arial"/>
              </a:rPr>
              <a:t> particular</a:t>
            </a:r>
            <a:r>
              <a:rPr sz="2000" spc="-20" dirty="0">
                <a:latin typeface="Arial"/>
                <a:cs typeface="Arial"/>
              </a:rPr>
              <a:t> </a:t>
            </a:r>
            <a:r>
              <a:rPr sz="2000" dirty="0">
                <a:latin typeface="Arial"/>
                <a:cs typeface="Arial"/>
              </a:rPr>
              <a:t>area.</a:t>
            </a:r>
            <a:endParaRPr sz="2000">
              <a:latin typeface="Arial"/>
              <a:cs typeface="Arial"/>
            </a:endParaRPr>
          </a:p>
          <a:p>
            <a:pPr marL="469265" marR="5715" indent="-457200" algn="just">
              <a:lnSpc>
                <a:spcPct val="100000"/>
              </a:lnSpc>
              <a:spcBef>
                <a:spcPts val="484"/>
              </a:spcBef>
              <a:buAutoNum type="arabicPeriod"/>
              <a:tabLst>
                <a:tab pos="469900" algn="l"/>
              </a:tabLst>
            </a:pPr>
            <a:r>
              <a:rPr sz="2000" b="1" u="heavy" spc="-5" dirty="0">
                <a:uFill>
                  <a:solidFill>
                    <a:srgbClr val="000000"/>
                  </a:solidFill>
                </a:uFill>
                <a:latin typeface="Arial"/>
                <a:cs typeface="Arial"/>
              </a:rPr>
              <a:t>Data </a:t>
            </a:r>
            <a:r>
              <a:rPr sz="2000" b="1" u="heavy" dirty="0">
                <a:uFill>
                  <a:solidFill>
                    <a:srgbClr val="000000"/>
                  </a:solidFill>
                </a:uFill>
                <a:latin typeface="Arial"/>
                <a:cs typeface="Arial"/>
              </a:rPr>
              <a:t>Warehouse </a:t>
            </a:r>
            <a:r>
              <a:rPr sz="2000" b="1" u="heavy" spc="-5" dirty="0">
                <a:uFill>
                  <a:solidFill>
                    <a:srgbClr val="000000"/>
                  </a:solidFill>
                </a:uFill>
                <a:latin typeface="Arial"/>
                <a:cs typeface="Arial"/>
              </a:rPr>
              <a:t>DBA </a:t>
            </a:r>
            <a:r>
              <a:rPr sz="2000" b="1" u="heavy" dirty="0">
                <a:uFill>
                  <a:solidFill>
                    <a:srgbClr val="000000"/>
                  </a:solidFill>
                </a:uFill>
                <a:latin typeface="Arial"/>
                <a:cs typeface="Arial"/>
              </a:rPr>
              <a:t>- </a:t>
            </a:r>
            <a:r>
              <a:rPr sz="2000" dirty="0">
                <a:latin typeface="Arial"/>
                <a:cs typeface="Arial"/>
              </a:rPr>
              <a:t>this </a:t>
            </a:r>
            <a:r>
              <a:rPr sz="2000" spc="-5" dirty="0">
                <a:latin typeface="Arial"/>
                <a:cs typeface="Arial"/>
              </a:rPr>
              <a:t>is a </a:t>
            </a:r>
            <a:r>
              <a:rPr sz="2000" dirty="0">
                <a:latin typeface="Arial"/>
                <a:cs typeface="Arial"/>
              </a:rPr>
              <a:t>relatively </a:t>
            </a:r>
            <a:r>
              <a:rPr sz="2000" spc="-5" dirty="0">
                <a:latin typeface="Arial"/>
                <a:cs typeface="Arial"/>
              </a:rPr>
              <a:t>newer role, responsible </a:t>
            </a:r>
            <a:r>
              <a:rPr sz="2000" spc="5" dirty="0">
                <a:latin typeface="Arial"/>
                <a:cs typeface="Arial"/>
              </a:rPr>
              <a:t>for </a:t>
            </a:r>
            <a:r>
              <a:rPr sz="2000" spc="-5" dirty="0">
                <a:latin typeface="Arial"/>
                <a:cs typeface="Arial"/>
              </a:rPr>
              <a:t>merging </a:t>
            </a:r>
            <a:r>
              <a:rPr sz="2000" dirty="0">
                <a:latin typeface="Arial"/>
                <a:cs typeface="Arial"/>
              </a:rPr>
              <a:t>data </a:t>
            </a:r>
            <a:r>
              <a:rPr sz="2000" spc="-10" dirty="0">
                <a:latin typeface="Arial"/>
                <a:cs typeface="Arial"/>
              </a:rPr>
              <a:t>from </a:t>
            </a:r>
            <a:r>
              <a:rPr sz="2000" spc="-5" dirty="0">
                <a:latin typeface="Arial"/>
                <a:cs typeface="Arial"/>
              </a:rPr>
              <a:t> </a:t>
            </a:r>
            <a:r>
              <a:rPr sz="2000" dirty="0">
                <a:latin typeface="Arial"/>
                <a:cs typeface="Arial"/>
              </a:rPr>
              <a:t>multiple sources </a:t>
            </a:r>
            <a:r>
              <a:rPr sz="2000" spc="-5" dirty="0">
                <a:latin typeface="Arial"/>
                <a:cs typeface="Arial"/>
              </a:rPr>
              <a:t>into</a:t>
            </a:r>
            <a:r>
              <a:rPr sz="2000" dirty="0">
                <a:latin typeface="Arial"/>
                <a:cs typeface="Arial"/>
              </a:rPr>
              <a:t> a </a:t>
            </a:r>
            <a:r>
              <a:rPr sz="2000" spc="-5" dirty="0">
                <a:latin typeface="Arial"/>
                <a:cs typeface="Arial"/>
              </a:rPr>
              <a:t>data</a:t>
            </a:r>
            <a:r>
              <a:rPr sz="2000" dirty="0">
                <a:latin typeface="Arial"/>
                <a:cs typeface="Arial"/>
              </a:rPr>
              <a:t> </a:t>
            </a:r>
            <a:r>
              <a:rPr sz="2000" spc="-5" dirty="0">
                <a:latin typeface="Arial"/>
                <a:cs typeface="Arial"/>
              </a:rPr>
              <a:t>warehouse. May have </a:t>
            </a:r>
            <a:r>
              <a:rPr sz="2000" dirty="0">
                <a:latin typeface="Arial"/>
                <a:cs typeface="Arial"/>
              </a:rPr>
              <a:t>to </a:t>
            </a:r>
            <a:r>
              <a:rPr sz="2000" spc="-5" dirty="0">
                <a:latin typeface="Arial"/>
                <a:cs typeface="Arial"/>
              </a:rPr>
              <a:t>design</a:t>
            </a:r>
            <a:r>
              <a:rPr sz="2000" spc="545" dirty="0">
                <a:latin typeface="Arial"/>
                <a:cs typeface="Arial"/>
              </a:rPr>
              <a:t> </a:t>
            </a:r>
            <a:r>
              <a:rPr sz="2000" spc="-5" dirty="0">
                <a:latin typeface="Arial"/>
                <a:cs typeface="Arial"/>
              </a:rPr>
              <a:t>the data</a:t>
            </a:r>
            <a:r>
              <a:rPr sz="2000" spc="545" dirty="0">
                <a:latin typeface="Arial"/>
                <a:cs typeface="Arial"/>
              </a:rPr>
              <a:t> </a:t>
            </a:r>
            <a:r>
              <a:rPr sz="2000" spc="-5" dirty="0">
                <a:latin typeface="Arial"/>
                <a:cs typeface="Arial"/>
              </a:rPr>
              <a:t>warehouse </a:t>
            </a:r>
            <a:r>
              <a:rPr sz="2000" dirty="0">
                <a:latin typeface="Arial"/>
                <a:cs typeface="Arial"/>
              </a:rPr>
              <a:t>as </a:t>
            </a:r>
            <a:r>
              <a:rPr sz="2000" spc="-10" dirty="0">
                <a:latin typeface="Arial"/>
                <a:cs typeface="Arial"/>
              </a:rPr>
              <a:t>well </a:t>
            </a:r>
            <a:r>
              <a:rPr sz="2000" spc="-5" dirty="0">
                <a:latin typeface="Arial"/>
                <a:cs typeface="Arial"/>
              </a:rPr>
              <a:t> </a:t>
            </a:r>
            <a:r>
              <a:rPr sz="2000" dirty="0">
                <a:latin typeface="Arial"/>
                <a:cs typeface="Arial"/>
              </a:rPr>
              <a:t>as cleaning </a:t>
            </a:r>
            <a:r>
              <a:rPr sz="2000" spc="-10" dirty="0">
                <a:latin typeface="Arial"/>
                <a:cs typeface="Arial"/>
              </a:rPr>
              <a:t>up </a:t>
            </a:r>
            <a:r>
              <a:rPr sz="2000" dirty="0">
                <a:latin typeface="Arial"/>
                <a:cs typeface="Arial"/>
              </a:rPr>
              <a:t>and </a:t>
            </a:r>
            <a:r>
              <a:rPr sz="2000" spc="-5" dirty="0">
                <a:latin typeface="Arial"/>
                <a:cs typeface="Arial"/>
              </a:rPr>
              <a:t>standardizing </a:t>
            </a:r>
            <a:r>
              <a:rPr sz="2000" dirty="0">
                <a:latin typeface="Arial"/>
                <a:cs typeface="Arial"/>
              </a:rPr>
              <a:t>the </a:t>
            </a:r>
            <a:r>
              <a:rPr sz="2000" spc="-5" dirty="0">
                <a:latin typeface="Arial"/>
                <a:cs typeface="Arial"/>
              </a:rPr>
              <a:t>data before </a:t>
            </a:r>
            <a:r>
              <a:rPr sz="2000" dirty="0">
                <a:latin typeface="Arial"/>
                <a:cs typeface="Arial"/>
              </a:rPr>
              <a:t>loading using </a:t>
            </a:r>
            <a:r>
              <a:rPr sz="2000" spc="-5" dirty="0">
                <a:latin typeface="Arial"/>
                <a:cs typeface="Arial"/>
              </a:rPr>
              <a:t>specialist </a:t>
            </a:r>
            <a:r>
              <a:rPr sz="2000" dirty="0">
                <a:latin typeface="Arial"/>
                <a:cs typeface="Arial"/>
              </a:rPr>
              <a:t>data loading </a:t>
            </a:r>
            <a:r>
              <a:rPr sz="2000" spc="-20" dirty="0">
                <a:latin typeface="Arial"/>
                <a:cs typeface="Arial"/>
              </a:rPr>
              <a:t>and </a:t>
            </a:r>
            <a:r>
              <a:rPr sz="2000" spc="-15" dirty="0">
                <a:latin typeface="Arial"/>
                <a:cs typeface="Arial"/>
              </a:rPr>
              <a:t> </a:t>
            </a:r>
            <a:r>
              <a:rPr sz="2000" spc="-5" dirty="0">
                <a:latin typeface="Arial"/>
                <a:cs typeface="Arial"/>
              </a:rPr>
              <a:t>transformation</a:t>
            </a:r>
            <a:r>
              <a:rPr sz="2000" spc="-40" dirty="0">
                <a:latin typeface="Arial"/>
                <a:cs typeface="Arial"/>
              </a:rPr>
              <a:t> </a:t>
            </a:r>
            <a:r>
              <a:rPr sz="2000" dirty="0">
                <a:latin typeface="Arial"/>
                <a:cs typeface="Arial"/>
              </a:rPr>
              <a:t>tools.</a:t>
            </a:r>
            <a:endParaRPr sz="2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26</a:t>
            </a:fld>
            <a:endParaRPr spc="-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807212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Roles</a:t>
            </a:r>
            <a:r>
              <a:rPr sz="3600" spc="-60" dirty="0">
                <a:solidFill>
                  <a:srgbClr val="000000"/>
                </a:solidFill>
                <a:latin typeface="Verdana"/>
                <a:cs typeface="Verdana"/>
              </a:rPr>
              <a:t> </a:t>
            </a:r>
            <a:r>
              <a:rPr sz="3600" dirty="0">
                <a:solidFill>
                  <a:srgbClr val="000000"/>
                </a:solidFill>
                <a:latin typeface="Verdana"/>
                <a:cs typeface="Verdana"/>
              </a:rPr>
              <a:t>&amp;</a:t>
            </a:r>
            <a:r>
              <a:rPr sz="3600" spc="-35" dirty="0">
                <a:solidFill>
                  <a:srgbClr val="000000"/>
                </a:solidFill>
                <a:latin typeface="Verdana"/>
                <a:cs typeface="Verdana"/>
              </a:rPr>
              <a:t> </a:t>
            </a:r>
            <a:r>
              <a:rPr sz="3600" spc="-5" dirty="0">
                <a:solidFill>
                  <a:srgbClr val="000000"/>
                </a:solidFill>
                <a:latin typeface="Verdana"/>
                <a:cs typeface="Verdana"/>
              </a:rPr>
              <a:t>Responsibilities</a:t>
            </a:r>
            <a:r>
              <a:rPr sz="3600" spc="-75" dirty="0">
                <a:solidFill>
                  <a:srgbClr val="000000"/>
                </a:solidFill>
                <a:latin typeface="Verdana"/>
                <a:cs typeface="Verdana"/>
              </a:rPr>
              <a:t> </a:t>
            </a:r>
            <a:r>
              <a:rPr sz="3600" dirty="0">
                <a:solidFill>
                  <a:srgbClr val="000000"/>
                </a:solidFill>
                <a:latin typeface="Verdana"/>
                <a:cs typeface="Verdana"/>
              </a:rPr>
              <a:t>of</a:t>
            </a:r>
            <a:r>
              <a:rPr sz="3600" spc="-10" dirty="0">
                <a:solidFill>
                  <a:srgbClr val="000000"/>
                </a:solidFill>
                <a:latin typeface="Verdana"/>
                <a:cs typeface="Verdana"/>
              </a:rPr>
              <a:t> </a:t>
            </a:r>
            <a:r>
              <a:rPr sz="3600" spc="-5" dirty="0">
                <a:solidFill>
                  <a:srgbClr val="000000"/>
                </a:solidFill>
                <a:latin typeface="Verdana"/>
                <a:cs typeface="Verdana"/>
              </a:rPr>
              <a:t>DBA</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10705465" cy="5122545"/>
          </a:xfrm>
          <a:prstGeom prst="rect">
            <a:avLst/>
          </a:prstGeom>
        </p:spPr>
        <p:txBody>
          <a:bodyPr vert="horz" wrap="square" lIns="0" tIns="78740" rIns="0" bIns="0" rtlCol="0">
            <a:spAutoFit/>
          </a:bodyPr>
          <a:lstStyle/>
          <a:p>
            <a:pPr marL="469900" indent="-457200">
              <a:lnSpc>
                <a:spcPct val="100000"/>
              </a:lnSpc>
              <a:spcBef>
                <a:spcPts val="620"/>
              </a:spcBef>
              <a:buAutoNum type="arabicPeriod"/>
              <a:tabLst>
                <a:tab pos="469265" algn="l"/>
                <a:tab pos="469900" algn="l"/>
              </a:tabLst>
            </a:pPr>
            <a:r>
              <a:rPr sz="2200" spc="-5" dirty="0">
                <a:latin typeface="Arial"/>
                <a:cs typeface="Arial"/>
              </a:rPr>
              <a:t>Database</a:t>
            </a:r>
            <a:r>
              <a:rPr sz="2200" spc="20" dirty="0">
                <a:latin typeface="Arial"/>
                <a:cs typeface="Arial"/>
              </a:rPr>
              <a:t> </a:t>
            </a:r>
            <a:r>
              <a:rPr sz="2200" spc="-5" dirty="0">
                <a:latin typeface="Arial"/>
                <a:cs typeface="Arial"/>
              </a:rPr>
              <a:t>installation,</a:t>
            </a:r>
            <a:r>
              <a:rPr sz="2200" spc="40" dirty="0">
                <a:latin typeface="Arial"/>
                <a:cs typeface="Arial"/>
              </a:rPr>
              <a:t> </a:t>
            </a:r>
            <a:r>
              <a:rPr sz="2200" spc="-5" dirty="0">
                <a:latin typeface="Arial"/>
                <a:cs typeface="Arial"/>
              </a:rPr>
              <a:t>upgrade</a:t>
            </a:r>
            <a:r>
              <a:rPr sz="2200" spc="20" dirty="0">
                <a:latin typeface="Arial"/>
                <a:cs typeface="Arial"/>
              </a:rPr>
              <a:t> </a:t>
            </a:r>
            <a:r>
              <a:rPr sz="2200" spc="-5" dirty="0">
                <a:latin typeface="Arial"/>
                <a:cs typeface="Arial"/>
              </a:rPr>
              <a:t>and</a:t>
            </a:r>
            <a:r>
              <a:rPr sz="2200" spc="20" dirty="0">
                <a:latin typeface="Arial"/>
                <a:cs typeface="Arial"/>
              </a:rPr>
              <a:t> </a:t>
            </a:r>
            <a:r>
              <a:rPr sz="2200" spc="-5" dirty="0">
                <a:latin typeface="Arial"/>
                <a:cs typeface="Arial"/>
              </a:rPr>
              <a:t>patching</a:t>
            </a:r>
            <a:endParaRPr sz="2200">
              <a:latin typeface="Arial"/>
              <a:cs typeface="Arial"/>
            </a:endParaRPr>
          </a:p>
          <a:p>
            <a:pPr marL="469900" indent="-457200">
              <a:lnSpc>
                <a:spcPct val="100000"/>
              </a:lnSpc>
              <a:spcBef>
                <a:spcPts val="520"/>
              </a:spcBef>
              <a:buAutoNum type="arabicPeriod"/>
              <a:tabLst>
                <a:tab pos="469265" algn="l"/>
                <a:tab pos="469900" algn="l"/>
              </a:tabLst>
            </a:pPr>
            <a:r>
              <a:rPr sz="2200" dirty="0">
                <a:latin typeface="Arial"/>
                <a:cs typeface="Arial"/>
              </a:rPr>
              <a:t>Install</a:t>
            </a:r>
            <a:r>
              <a:rPr sz="2200" spc="-5" dirty="0">
                <a:latin typeface="Arial"/>
                <a:cs typeface="Arial"/>
              </a:rPr>
              <a:t> and</a:t>
            </a:r>
            <a:r>
              <a:rPr sz="2200" spc="20" dirty="0">
                <a:latin typeface="Arial"/>
                <a:cs typeface="Arial"/>
              </a:rPr>
              <a:t> </a:t>
            </a:r>
            <a:r>
              <a:rPr sz="2200" spc="-5" dirty="0">
                <a:latin typeface="Arial"/>
                <a:cs typeface="Arial"/>
              </a:rPr>
              <a:t>configure</a:t>
            </a:r>
            <a:r>
              <a:rPr sz="2200" spc="15" dirty="0">
                <a:latin typeface="Arial"/>
                <a:cs typeface="Arial"/>
              </a:rPr>
              <a:t> </a:t>
            </a:r>
            <a:r>
              <a:rPr sz="2200" spc="-5" dirty="0">
                <a:latin typeface="Arial"/>
                <a:cs typeface="Arial"/>
              </a:rPr>
              <a:t>relevant</a:t>
            </a:r>
            <a:r>
              <a:rPr sz="2200" spc="35" dirty="0">
                <a:latin typeface="Arial"/>
                <a:cs typeface="Arial"/>
              </a:rPr>
              <a:t> </a:t>
            </a:r>
            <a:r>
              <a:rPr sz="2200" spc="-10" dirty="0">
                <a:latin typeface="Arial"/>
                <a:cs typeface="Arial"/>
              </a:rPr>
              <a:t>network</a:t>
            </a:r>
            <a:r>
              <a:rPr sz="2200" spc="55" dirty="0">
                <a:latin typeface="Arial"/>
                <a:cs typeface="Arial"/>
              </a:rPr>
              <a:t> </a:t>
            </a:r>
            <a:r>
              <a:rPr sz="2200" spc="-5" dirty="0">
                <a:latin typeface="Arial"/>
                <a:cs typeface="Arial"/>
              </a:rPr>
              <a:t>components</a:t>
            </a:r>
            <a:endParaRPr sz="2200">
              <a:latin typeface="Arial"/>
              <a:cs typeface="Arial"/>
            </a:endParaRPr>
          </a:p>
          <a:p>
            <a:pPr marL="469900" indent="-457200">
              <a:lnSpc>
                <a:spcPct val="100000"/>
              </a:lnSpc>
              <a:spcBef>
                <a:spcPts val="540"/>
              </a:spcBef>
              <a:buAutoNum type="arabicPeriod"/>
              <a:tabLst>
                <a:tab pos="469265" algn="l"/>
                <a:tab pos="469900" algn="l"/>
              </a:tabLst>
            </a:pPr>
            <a:r>
              <a:rPr sz="2200" spc="-5" dirty="0">
                <a:latin typeface="Arial"/>
                <a:cs typeface="Arial"/>
              </a:rPr>
              <a:t>Ensure</a:t>
            </a:r>
            <a:r>
              <a:rPr sz="2200" spc="5" dirty="0">
                <a:latin typeface="Arial"/>
                <a:cs typeface="Arial"/>
              </a:rPr>
              <a:t> </a:t>
            </a:r>
            <a:r>
              <a:rPr sz="2200" dirty="0">
                <a:latin typeface="Arial"/>
                <a:cs typeface="Arial"/>
              </a:rPr>
              <a:t>database</a:t>
            </a:r>
            <a:r>
              <a:rPr sz="2200" spc="10" dirty="0">
                <a:latin typeface="Arial"/>
                <a:cs typeface="Arial"/>
              </a:rPr>
              <a:t> </a:t>
            </a:r>
            <a:r>
              <a:rPr sz="2200" dirty="0">
                <a:latin typeface="Arial"/>
                <a:cs typeface="Arial"/>
              </a:rPr>
              <a:t>access,</a:t>
            </a:r>
            <a:r>
              <a:rPr sz="2200" spc="10" dirty="0">
                <a:latin typeface="Arial"/>
                <a:cs typeface="Arial"/>
              </a:rPr>
              <a:t> </a:t>
            </a:r>
            <a:r>
              <a:rPr sz="2200" spc="-5" dirty="0">
                <a:latin typeface="Arial"/>
                <a:cs typeface="Arial"/>
              </a:rPr>
              <a:t>consistency</a:t>
            </a:r>
            <a:r>
              <a:rPr sz="2200" spc="30"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integrity</a:t>
            </a:r>
            <a:endParaRPr sz="2200">
              <a:latin typeface="Arial"/>
              <a:cs typeface="Arial"/>
            </a:endParaRPr>
          </a:p>
          <a:p>
            <a:pPr marL="469900" indent="-457200">
              <a:lnSpc>
                <a:spcPct val="100000"/>
              </a:lnSpc>
              <a:spcBef>
                <a:spcPts val="520"/>
              </a:spcBef>
              <a:buAutoNum type="arabicPeriod"/>
              <a:tabLst>
                <a:tab pos="469265" algn="l"/>
                <a:tab pos="469900" algn="l"/>
              </a:tabLst>
            </a:pPr>
            <a:r>
              <a:rPr sz="2200" spc="-5" dirty="0">
                <a:latin typeface="Arial"/>
                <a:cs typeface="Arial"/>
              </a:rPr>
              <a:t>Resolving</a:t>
            </a:r>
            <a:r>
              <a:rPr sz="2200" spc="40" dirty="0">
                <a:latin typeface="Arial"/>
                <a:cs typeface="Arial"/>
              </a:rPr>
              <a:t> </a:t>
            </a:r>
            <a:r>
              <a:rPr sz="2200" spc="-5" dirty="0">
                <a:latin typeface="Arial"/>
                <a:cs typeface="Arial"/>
              </a:rPr>
              <a:t>issues</a:t>
            </a:r>
            <a:r>
              <a:rPr sz="2200" dirty="0">
                <a:latin typeface="Arial"/>
                <a:cs typeface="Arial"/>
              </a:rPr>
              <a:t> </a:t>
            </a:r>
            <a:r>
              <a:rPr sz="2200" spc="-5" dirty="0">
                <a:latin typeface="Arial"/>
                <a:cs typeface="Arial"/>
              </a:rPr>
              <a:t>related</a:t>
            </a:r>
            <a:r>
              <a:rPr sz="2200" spc="30" dirty="0">
                <a:latin typeface="Arial"/>
                <a:cs typeface="Arial"/>
              </a:rPr>
              <a:t> </a:t>
            </a:r>
            <a:r>
              <a:rPr sz="2200" dirty="0">
                <a:latin typeface="Arial"/>
                <a:cs typeface="Arial"/>
              </a:rPr>
              <a:t>to</a:t>
            </a:r>
            <a:r>
              <a:rPr sz="2200" spc="-15" dirty="0">
                <a:latin typeface="Arial"/>
                <a:cs typeface="Arial"/>
              </a:rPr>
              <a:t> </a:t>
            </a:r>
            <a:r>
              <a:rPr sz="2200" dirty="0">
                <a:latin typeface="Arial"/>
                <a:cs typeface="Arial"/>
              </a:rPr>
              <a:t>performance</a:t>
            </a:r>
            <a:r>
              <a:rPr sz="2200" spc="20" dirty="0">
                <a:latin typeface="Arial"/>
                <a:cs typeface="Arial"/>
              </a:rPr>
              <a:t> </a:t>
            </a:r>
            <a:r>
              <a:rPr sz="2200" spc="-5" dirty="0">
                <a:latin typeface="Arial"/>
                <a:cs typeface="Arial"/>
              </a:rPr>
              <a:t>bottlenecks</a:t>
            </a:r>
            <a:endParaRPr sz="2200">
              <a:latin typeface="Arial"/>
              <a:cs typeface="Arial"/>
            </a:endParaRPr>
          </a:p>
          <a:p>
            <a:pPr marL="469900" indent="-457200">
              <a:lnSpc>
                <a:spcPct val="100000"/>
              </a:lnSpc>
              <a:spcBef>
                <a:spcPts val="545"/>
              </a:spcBef>
              <a:buAutoNum type="arabicPeriod"/>
              <a:tabLst>
                <a:tab pos="469265" algn="l"/>
                <a:tab pos="469900" algn="l"/>
              </a:tabLst>
            </a:pPr>
            <a:r>
              <a:rPr sz="2200" spc="-5" dirty="0">
                <a:latin typeface="Arial"/>
                <a:cs typeface="Arial"/>
              </a:rPr>
              <a:t>Provide</a:t>
            </a:r>
            <a:r>
              <a:rPr sz="2200" spc="30" dirty="0">
                <a:latin typeface="Arial"/>
                <a:cs typeface="Arial"/>
              </a:rPr>
              <a:t> </a:t>
            </a:r>
            <a:r>
              <a:rPr sz="2200" spc="-5" dirty="0">
                <a:latin typeface="Arial"/>
                <a:cs typeface="Arial"/>
              </a:rPr>
              <a:t>reporting</a:t>
            </a:r>
            <a:r>
              <a:rPr sz="2200" spc="15" dirty="0">
                <a:latin typeface="Arial"/>
                <a:cs typeface="Arial"/>
              </a:rPr>
              <a:t> </a:t>
            </a:r>
            <a:r>
              <a:rPr sz="2200" spc="-5" dirty="0">
                <a:latin typeface="Arial"/>
                <a:cs typeface="Arial"/>
              </a:rPr>
              <a:t>on</a:t>
            </a:r>
            <a:r>
              <a:rPr sz="2200" spc="35" dirty="0">
                <a:latin typeface="Arial"/>
                <a:cs typeface="Arial"/>
              </a:rPr>
              <a:t> </a:t>
            </a:r>
            <a:r>
              <a:rPr sz="2200" spc="-5" dirty="0">
                <a:latin typeface="Arial"/>
                <a:cs typeface="Arial"/>
              </a:rPr>
              <a:t>various</a:t>
            </a:r>
            <a:r>
              <a:rPr sz="2200" spc="10" dirty="0">
                <a:latin typeface="Arial"/>
                <a:cs typeface="Arial"/>
              </a:rPr>
              <a:t> </a:t>
            </a:r>
            <a:r>
              <a:rPr sz="2200" spc="-5" dirty="0">
                <a:latin typeface="Arial"/>
                <a:cs typeface="Arial"/>
              </a:rPr>
              <a:t>metrics</a:t>
            </a:r>
            <a:r>
              <a:rPr sz="2200" spc="20" dirty="0">
                <a:latin typeface="Arial"/>
                <a:cs typeface="Arial"/>
              </a:rPr>
              <a:t> </a:t>
            </a:r>
            <a:r>
              <a:rPr sz="2200" spc="-10" dirty="0">
                <a:latin typeface="Arial"/>
                <a:cs typeface="Arial"/>
              </a:rPr>
              <a:t>including</a:t>
            </a:r>
            <a:r>
              <a:rPr sz="2200" spc="55" dirty="0">
                <a:latin typeface="Arial"/>
                <a:cs typeface="Arial"/>
              </a:rPr>
              <a:t> </a:t>
            </a:r>
            <a:r>
              <a:rPr sz="2200" spc="-10" dirty="0">
                <a:latin typeface="Arial"/>
                <a:cs typeface="Arial"/>
              </a:rPr>
              <a:t>availability,</a:t>
            </a:r>
            <a:r>
              <a:rPr sz="2200" spc="110" dirty="0">
                <a:latin typeface="Arial"/>
                <a:cs typeface="Arial"/>
              </a:rPr>
              <a:t> </a:t>
            </a:r>
            <a:r>
              <a:rPr sz="2200" spc="-5" dirty="0">
                <a:latin typeface="Arial"/>
                <a:cs typeface="Arial"/>
              </a:rPr>
              <a:t>usage</a:t>
            </a:r>
            <a:r>
              <a:rPr sz="2200" spc="10" dirty="0">
                <a:latin typeface="Arial"/>
                <a:cs typeface="Arial"/>
              </a:rPr>
              <a:t> </a:t>
            </a:r>
            <a:r>
              <a:rPr sz="2200" spc="-5" dirty="0">
                <a:latin typeface="Arial"/>
                <a:cs typeface="Arial"/>
              </a:rPr>
              <a:t>and</a:t>
            </a:r>
            <a:r>
              <a:rPr sz="2200" spc="35" dirty="0">
                <a:latin typeface="Arial"/>
                <a:cs typeface="Arial"/>
              </a:rPr>
              <a:t> </a:t>
            </a:r>
            <a:r>
              <a:rPr sz="2200" dirty="0">
                <a:latin typeface="Arial"/>
                <a:cs typeface="Arial"/>
              </a:rPr>
              <a:t>performance</a:t>
            </a:r>
            <a:endParaRPr sz="2200">
              <a:latin typeface="Arial"/>
              <a:cs typeface="Arial"/>
            </a:endParaRPr>
          </a:p>
          <a:p>
            <a:pPr marL="469900" indent="-457200">
              <a:lnSpc>
                <a:spcPct val="100000"/>
              </a:lnSpc>
              <a:spcBef>
                <a:spcPts val="520"/>
              </a:spcBef>
              <a:buAutoNum type="arabicPeriod"/>
              <a:tabLst>
                <a:tab pos="469265" algn="l"/>
                <a:tab pos="469900" algn="l"/>
              </a:tabLst>
            </a:pPr>
            <a:r>
              <a:rPr sz="2200" dirty="0">
                <a:latin typeface="Arial"/>
                <a:cs typeface="Arial"/>
              </a:rPr>
              <a:t>Performance testing</a:t>
            </a:r>
            <a:r>
              <a:rPr sz="2200" spc="-5" dirty="0">
                <a:latin typeface="Arial"/>
                <a:cs typeface="Arial"/>
              </a:rPr>
              <a:t> and</a:t>
            </a:r>
            <a:r>
              <a:rPr sz="2200" spc="20" dirty="0">
                <a:latin typeface="Arial"/>
                <a:cs typeface="Arial"/>
              </a:rPr>
              <a:t> </a:t>
            </a:r>
            <a:r>
              <a:rPr sz="2200" spc="-5" dirty="0">
                <a:latin typeface="Arial"/>
                <a:cs typeface="Arial"/>
              </a:rPr>
              <a:t>benchmark</a:t>
            </a:r>
            <a:r>
              <a:rPr sz="2200" spc="5" dirty="0">
                <a:latin typeface="Arial"/>
                <a:cs typeface="Arial"/>
              </a:rPr>
              <a:t> </a:t>
            </a:r>
            <a:r>
              <a:rPr sz="2200" spc="-5" dirty="0">
                <a:latin typeface="Arial"/>
                <a:cs typeface="Arial"/>
              </a:rPr>
              <a:t>activities</a:t>
            </a:r>
            <a:endParaRPr sz="2200">
              <a:latin typeface="Arial"/>
              <a:cs typeface="Arial"/>
            </a:endParaRPr>
          </a:p>
          <a:p>
            <a:pPr marL="469265" marR="5080" indent="-457200">
              <a:lnSpc>
                <a:spcPct val="100000"/>
              </a:lnSpc>
              <a:spcBef>
                <a:spcPts val="520"/>
              </a:spcBef>
              <a:buAutoNum type="arabicPeriod"/>
              <a:tabLst>
                <a:tab pos="469265" algn="l"/>
                <a:tab pos="469900" algn="l"/>
                <a:tab pos="1297940" algn="l"/>
                <a:tab pos="1960880" algn="l"/>
                <a:tab pos="3736340" algn="l"/>
                <a:tab pos="4438015" algn="l"/>
                <a:tab pos="4920615" algn="l"/>
                <a:tab pos="6772275" algn="l"/>
                <a:tab pos="7766050" algn="l"/>
                <a:tab pos="9244330" algn="l"/>
                <a:tab pos="9882505" algn="l"/>
              </a:tabLst>
            </a:pPr>
            <a:r>
              <a:rPr sz="2200" spc="20" dirty="0">
                <a:latin typeface="Arial"/>
                <a:cs typeface="Arial"/>
              </a:rPr>
              <a:t>W</a:t>
            </a:r>
            <a:r>
              <a:rPr sz="2200" spc="-5" dirty="0">
                <a:latin typeface="Arial"/>
                <a:cs typeface="Arial"/>
              </a:rPr>
              <a:t>ork</a:t>
            </a:r>
            <a:r>
              <a:rPr sz="2200" dirty="0">
                <a:latin typeface="Arial"/>
                <a:cs typeface="Arial"/>
              </a:rPr>
              <a:t>	</a:t>
            </a:r>
            <a:r>
              <a:rPr sz="2200" spc="-55" dirty="0">
                <a:latin typeface="Arial"/>
                <a:cs typeface="Arial"/>
              </a:rPr>
              <a:t>w</a:t>
            </a:r>
            <a:r>
              <a:rPr sz="2200" spc="-15" dirty="0">
                <a:latin typeface="Arial"/>
                <a:cs typeface="Arial"/>
              </a:rPr>
              <a:t>i</a:t>
            </a:r>
            <a:r>
              <a:rPr sz="2200" spc="5" dirty="0">
                <a:latin typeface="Arial"/>
                <a:cs typeface="Arial"/>
              </a:rPr>
              <a:t>t</a:t>
            </a:r>
            <a:r>
              <a:rPr sz="2200" spc="-5" dirty="0">
                <a:latin typeface="Arial"/>
                <a:cs typeface="Arial"/>
              </a:rPr>
              <a:t>h</a:t>
            </a:r>
            <a:r>
              <a:rPr sz="2200" dirty="0">
                <a:latin typeface="Arial"/>
                <a:cs typeface="Arial"/>
              </a:rPr>
              <a:t>	</a:t>
            </a:r>
            <a:r>
              <a:rPr sz="2200" spc="-5" dirty="0">
                <a:latin typeface="Arial"/>
                <a:cs typeface="Arial"/>
              </a:rPr>
              <a:t>de</a:t>
            </a:r>
            <a:r>
              <a:rPr sz="2200" spc="5" dirty="0">
                <a:latin typeface="Arial"/>
                <a:cs typeface="Arial"/>
              </a:rPr>
              <a:t>v</a:t>
            </a:r>
            <a:r>
              <a:rPr sz="2200" spc="-5" dirty="0">
                <a:latin typeface="Arial"/>
                <a:cs typeface="Arial"/>
              </a:rPr>
              <a:t>e</a:t>
            </a:r>
            <a:r>
              <a:rPr sz="2200" spc="-20" dirty="0">
                <a:latin typeface="Arial"/>
                <a:cs typeface="Arial"/>
              </a:rPr>
              <a:t>l</a:t>
            </a:r>
            <a:r>
              <a:rPr sz="2200" spc="-5" dirty="0">
                <a:latin typeface="Arial"/>
                <a:cs typeface="Arial"/>
              </a:rPr>
              <a:t>o</a:t>
            </a:r>
            <a:r>
              <a:rPr sz="2200" spc="5" dirty="0">
                <a:latin typeface="Arial"/>
                <a:cs typeface="Arial"/>
              </a:rPr>
              <a:t>p</a:t>
            </a:r>
            <a:r>
              <a:rPr sz="2200" dirty="0">
                <a:latin typeface="Arial"/>
                <a:cs typeface="Arial"/>
              </a:rPr>
              <a:t>ment	s</a:t>
            </a:r>
            <a:r>
              <a:rPr sz="2200" spc="5" dirty="0">
                <a:latin typeface="Arial"/>
                <a:cs typeface="Arial"/>
              </a:rPr>
              <a:t>t</a:t>
            </a:r>
            <a:r>
              <a:rPr sz="2200" dirty="0">
                <a:latin typeface="Arial"/>
                <a:cs typeface="Arial"/>
              </a:rPr>
              <a:t>aff	</a:t>
            </a:r>
            <a:r>
              <a:rPr sz="2200" spc="-10" dirty="0">
                <a:latin typeface="Arial"/>
                <a:cs typeface="Arial"/>
              </a:rPr>
              <a:t>o</a:t>
            </a:r>
            <a:r>
              <a:rPr sz="2200" spc="-5" dirty="0">
                <a:latin typeface="Arial"/>
                <a:cs typeface="Arial"/>
              </a:rPr>
              <a:t>n</a:t>
            </a:r>
            <a:r>
              <a:rPr sz="2200" dirty="0">
                <a:latin typeface="Arial"/>
                <a:cs typeface="Arial"/>
              </a:rPr>
              <a:t>	</a:t>
            </a:r>
            <a:r>
              <a:rPr sz="2200" spc="-5" dirty="0">
                <a:latin typeface="Arial"/>
                <a:cs typeface="Arial"/>
              </a:rPr>
              <a:t>arch</a:t>
            </a:r>
            <a:r>
              <a:rPr sz="2200" spc="-15" dirty="0">
                <a:latin typeface="Arial"/>
                <a:cs typeface="Arial"/>
              </a:rPr>
              <a:t>i</a:t>
            </a:r>
            <a:r>
              <a:rPr sz="2200" spc="5" dirty="0">
                <a:latin typeface="Arial"/>
                <a:cs typeface="Arial"/>
              </a:rPr>
              <a:t>t</a:t>
            </a:r>
            <a:r>
              <a:rPr sz="2200" spc="-5" dirty="0">
                <a:latin typeface="Arial"/>
                <a:cs typeface="Arial"/>
              </a:rPr>
              <a:t>ectu</a:t>
            </a:r>
            <a:r>
              <a:rPr sz="2200" spc="5" dirty="0">
                <a:latin typeface="Arial"/>
                <a:cs typeface="Arial"/>
              </a:rPr>
              <a:t>r</a:t>
            </a:r>
            <a:r>
              <a:rPr sz="2200" spc="-5" dirty="0">
                <a:latin typeface="Arial"/>
                <a:cs typeface="Arial"/>
              </a:rPr>
              <a:t>es,	cod</a:t>
            </a:r>
            <a:r>
              <a:rPr sz="2200" spc="-25" dirty="0">
                <a:latin typeface="Arial"/>
                <a:cs typeface="Arial"/>
              </a:rPr>
              <a:t>i</a:t>
            </a:r>
            <a:r>
              <a:rPr sz="2200" spc="-5" dirty="0">
                <a:latin typeface="Arial"/>
                <a:cs typeface="Arial"/>
              </a:rPr>
              <a:t>ng</a:t>
            </a:r>
            <a:r>
              <a:rPr sz="2200" dirty="0">
                <a:latin typeface="Arial"/>
                <a:cs typeface="Arial"/>
              </a:rPr>
              <a:t>	s</a:t>
            </a:r>
            <a:r>
              <a:rPr sz="2200" spc="5" dirty="0">
                <a:latin typeface="Arial"/>
                <a:cs typeface="Arial"/>
              </a:rPr>
              <a:t>t</a:t>
            </a:r>
            <a:r>
              <a:rPr sz="2200" spc="-5" dirty="0">
                <a:latin typeface="Arial"/>
                <a:cs typeface="Arial"/>
              </a:rPr>
              <a:t>an</a:t>
            </a:r>
            <a:r>
              <a:rPr sz="2200" spc="-15" dirty="0">
                <a:latin typeface="Arial"/>
                <a:cs typeface="Arial"/>
              </a:rPr>
              <a:t>d</a:t>
            </a:r>
            <a:r>
              <a:rPr sz="2200" spc="-5" dirty="0">
                <a:latin typeface="Arial"/>
                <a:cs typeface="Arial"/>
              </a:rPr>
              <a:t>ards,	</a:t>
            </a:r>
            <a:r>
              <a:rPr sz="2200" spc="-10" dirty="0">
                <a:latin typeface="Arial"/>
                <a:cs typeface="Arial"/>
              </a:rPr>
              <a:t>an</a:t>
            </a:r>
            <a:r>
              <a:rPr sz="2200" spc="-5" dirty="0">
                <a:latin typeface="Arial"/>
                <a:cs typeface="Arial"/>
              </a:rPr>
              <a:t>d</a:t>
            </a:r>
            <a:r>
              <a:rPr sz="2200" dirty="0">
                <a:latin typeface="Arial"/>
                <a:cs typeface="Arial"/>
              </a:rPr>
              <a:t>	</a:t>
            </a:r>
            <a:r>
              <a:rPr sz="2200" spc="-5" dirty="0">
                <a:latin typeface="Arial"/>
                <a:cs typeface="Arial"/>
              </a:rPr>
              <a:t>q</a:t>
            </a:r>
            <a:r>
              <a:rPr sz="2200" spc="5" dirty="0">
                <a:latin typeface="Arial"/>
                <a:cs typeface="Arial"/>
              </a:rPr>
              <a:t>u</a:t>
            </a:r>
            <a:r>
              <a:rPr sz="2200" spc="-5" dirty="0">
                <a:latin typeface="Arial"/>
                <a:cs typeface="Arial"/>
              </a:rPr>
              <a:t>a</a:t>
            </a:r>
            <a:r>
              <a:rPr sz="2200" spc="-20" dirty="0">
                <a:latin typeface="Arial"/>
                <a:cs typeface="Arial"/>
              </a:rPr>
              <a:t>l</a:t>
            </a:r>
            <a:r>
              <a:rPr sz="2200" spc="-15" dirty="0">
                <a:latin typeface="Arial"/>
                <a:cs typeface="Arial"/>
              </a:rPr>
              <a:t>i</a:t>
            </a:r>
            <a:r>
              <a:rPr sz="2200" spc="25" dirty="0">
                <a:latin typeface="Arial"/>
                <a:cs typeface="Arial"/>
              </a:rPr>
              <a:t>t</a:t>
            </a:r>
            <a:r>
              <a:rPr sz="2200" dirty="0">
                <a:latin typeface="Arial"/>
                <a:cs typeface="Arial"/>
              </a:rPr>
              <a:t>y  </a:t>
            </a:r>
            <a:r>
              <a:rPr sz="2200" spc="-5" dirty="0">
                <a:latin typeface="Arial"/>
                <a:cs typeface="Arial"/>
              </a:rPr>
              <a:t>assurance</a:t>
            </a:r>
            <a:r>
              <a:rPr sz="2200" spc="15" dirty="0">
                <a:latin typeface="Arial"/>
                <a:cs typeface="Arial"/>
              </a:rPr>
              <a:t> </a:t>
            </a:r>
            <a:r>
              <a:rPr sz="2200" spc="-10" dirty="0">
                <a:latin typeface="Arial"/>
                <a:cs typeface="Arial"/>
              </a:rPr>
              <a:t>policies</a:t>
            </a:r>
            <a:endParaRPr sz="2200">
              <a:latin typeface="Arial"/>
              <a:cs typeface="Arial"/>
            </a:endParaRPr>
          </a:p>
          <a:p>
            <a:pPr marL="469900" indent="-457200">
              <a:lnSpc>
                <a:spcPct val="100000"/>
              </a:lnSpc>
              <a:spcBef>
                <a:spcPts val="540"/>
              </a:spcBef>
              <a:buAutoNum type="arabicPeriod"/>
              <a:tabLst>
                <a:tab pos="469265" algn="l"/>
                <a:tab pos="469900" algn="l"/>
              </a:tabLst>
            </a:pPr>
            <a:r>
              <a:rPr sz="2200" spc="-5" dirty="0">
                <a:latin typeface="Arial"/>
                <a:cs typeface="Arial"/>
              </a:rPr>
              <a:t>Create</a:t>
            </a:r>
            <a:r>
              <a:rPr sz="2200" spc="15" dirty="0">
                <a:latin typeface="Arial"/>
                <a:cs typeface="Arial"/>
              </a:rPr>
              <a:t> </a:t>
            </a:r>
            <a:r>
              <a:rPr sz="2200" spc="-5" dirty="0">
                <a:latin typeface="Arial"/>
                <a:cs typeface="Arial"/>
              </a:rPr>
              <a:t>models</a:t>
            </a:r>
            <a:r>
              <a:rPr sz="2200" spc="25" dirty="0">
                <a:latin typeface="Arial"/>
                <a:cs typeface="Arial"/>
              </a:rPr>
              <a:t> </a:t>
            </a:r>
            <a:r>
              <a:rPr sz="2200" dirty="0">
                <a:latin typeface="Arial"/>
                <a:cs typeface="Arial"/>
              </a:rPr>
              <a:t>for</a:t>
            </a:r>
            <a:r>
              <a:rPr sz="2200" spc="-5" dirty="0">
                <a:latin typeface="Arial"/>
                <a:cs typeface="Arial"/>
              </a:rPr>
              <a:t> new</a:t>
            </a:r>
            <a:r>
              <a:rPr sz="2200" spc="25" dirty="0">
                <a:latin typeface="Arial"/>
                <a:cs typeface="Arial"/>
              </a:rPr>
              <a:t> </a:t>
            </a:r>
            <a:r>
              <a:rPr sz="2200" spc="-5" dirty="0">
                <a:latin typeface="Arial"/>
                <a:cs typeface="Arial"/>
              </a:rPr>
              <a:t>database</a:t>
            </a:r>
            <a:r>
              <a:rPr sz="2200" spc="25" dirty="0">
                <a:latin typeface="Arial"/>
                <a:cs typeface="Arial"/>
              </a:rPr>
              <a:t> </a:t>
            </a:r>
            <a:r>
              <a:rPr sz="2200" spc="-5" dirty="0">
                <a:latin typeface="Arial"/>
                <a:cs typeface="Arial"/>
              </a:rPr>
              <a:t>development</a:t>
            </a:r>
            <a:r>
              <a:rPr sz="2200" spc="45" dirty="0">
                <a:latin typeface="Arial"/>
                <a:cs typeface="Arial"/>
              </a:rPr>
              <a:t> </a:t>
            </a:r>
            <a:r>
              <a:rPr sz="2200" spc="-5" dirty="0">
                <a:latin typeface="Arial"/>
                <a:cs typeface="Arial"/>
              </a:rPr>
              <a:t>or</a:t>
            </a:r>
            <a:r>
              <a:rPr sz="2200" spc="20" dirty="0">
                <a:latin typeface="Arial"/>
                <a:cs typeface="Arial"/>
              </a:rPr>
              <a:t> </a:t>
            </a:r>
            <a:r>
              <a:rPr sz="2200" spc="-5" dirty="0">
                <a:latin typeface="Arial"/>
                <a:cs typeface="Arial"/>
              </a:rPr>
              <a:t>changes</a:t>
            </a:r>
            <a:r>
              <a:rPr sz="2200" spc="10" dirty="0">
                <a:latin typeface="Arial"/>
                <a:cs typeface="Arial"/>
              </a:rPr>
              <a:t> </a:t>
            </a:r>
            <a:r>
              <a:rPr sz="2200" dirty="0">
                <a:latin typeface="Arial"/>
                <a:cs typeface="Arial"/>
              </a:rPr>
              <a:t>to</a:t>
            </a:r>
            <a:r>
              <a:rPr sz="2200" spc="10" dirty="0">
                <a:latin typeface="Arial"/>
                <a:cs typeface="Arial"/>
              </a:rPr>
              <a:t> </a:t>
            </a:r>
            <a:r>
              <a:rPr sz="2200" spc="-10" dirty="0">
                <a:latin typeface="Arial"/>
                <a:cs typeface="Arial"/>
              </a:rPr>
              <a:t>existing</a:t>
            </a:r>
            <a:r>
              <a:rPr sz="2200" spc="50" dirty="0">
                <a:latin typeface="Arial"/>
                <a:cs typeface="Arial"/>
              </a:rPr>
              <a:t> </a:t>
            </a:r>
            <a:r>
              <a:rPr sz="2200" spc="-5" dirty="0">
                <a:latin typeface="Arial"/>
                <a:cs typeface="Arial"/>
              </a:rPr>
              <a:t>ones</a:t>
            </a:r>
            <a:endParaRPr sz="2200">
              <a:latin typeface="Arial"/>
              <a:cs typeface="Arial"/>
            </a:endParaRPr>
          </a:p>
          <a:p>
            <a:pPr marL="469900" indent="-457200">
              <a:lnSpc>
                <a:spcPct val="100000"/>
              </a:lnSpc>
              <a:spcBef>
                <a:spcPts val="525"/>
              </a:spcBef>
              <a:buAutoNum type="arabicPeriod"/>
              <a:tabLst>
                <a:tab pos="469265" algn="l"/>
                <a:tab pos="469900" algn="l"/>
              </a:tabLst>
            </a:pPr>
            <a:r>
              <a:rPr sz="2200" spc="-5" dirty="0">
                <a:latin typeface="Arial"/>
                <a:cs typeface="Arial"/>
              </a:rPr>
              <a:t>Respond</a:t>
            </a:r>
            <a:r>
              <a:rPr sz="2200" spc="15" dirty="0">
                <a:latin typeface="Arial"/>
                <a:cs typeface="Arial"/>
              </a:rPr>
              <a:t> </a:t>
            </a:r>
            <a:r>
              <a:rPr sz="2200" dirty="0">
                <a:latin typeface="Arial"/>
                <a:cs typeface="Arial"/>
              </a:rPr>
              <a:t>to</a:t>
            </a:r>
            <a:r>
              <a:rPr sz="2200" spc="5"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resolve</a:t>
            </a:r>
            <a:r>
              <a:rPr sz="2200" spc="30" dirty="0">
                <a:latin typeface="Arial"/>
                <a:cs typeface="Arial"/>
              </a:rPr>
              <a:t> </a:t>
            </a:r>
            <a:r>
              <a:rPr sz="2200" spc="-5" dirty="0">
                <a:latin typeface="Arial"/>
                <a:cs typeface="Arial"/>
              </a:rPr>
              <a:t>database</a:t>
            </a:r>
            <a:r>
              <a:rPr sz="2200" spc="25" dirty="0">
                <a:latin typeface="Arial"/>
                <a:cs typeface="Arial"/>
              </a:rPr>
              <a:t> </a:t>
            </a:r>
            <a:r>
              <a:rPr sz="2200" dirty="0">
                <a:latin typeface="Arial"/>
                <a:cs typeface="Arial"/>
              </a:rPr>
              <a:t>access </a:t>
            </a:r>
            <a:r>
              <a:rPr sz="2200" spc="-5" dirty="0">
                <a:latin typeface="Arial"/>
                <a:cs typeface="Arial"/>
              </a:rPr>
              <a:t>and</a:t>
            </a:r>
            <a:r>
              <a:rPr sz="2200" dirty="0">
                <a:latin typeface="Arial"/>
                <a:cs typeface="Arial"/>
              </a:rPr>
              <a:t> performance</a:t>
            </a:r>
            <a:r>
              <a:rPr sz="2200" spc="5" dirty="0">
                <a:latin typeface="Arial"/>
                <a:cs typeface="Arial"/>
              </a:rPr>
              <a:t> </a:t>
            </a:r>
            <a:r>
              <a:rPr sz="2200" spc="-5" dirty="0">
                <a:latin typeface="Arial"/>
                <a:cs typeface="Arial"/>
              </a:rPr>
              <a:t>issues</a:t>
            </a:r>
            <a:endParaRPr sz="2200">
              <a:latin typeface="Arial"/>
              <a:cs typeface="Arial"/>
            </a:endParaRPr>
          </a:p>
          <a:p>
            <a:pPr marL="469900" indent="-457200">
              <a:lnSpc>
                <a:spcPct val="100000"/>
              </a:lnSpc>
              <a:spcBef>
                <a:spcPts val="540"/>
              </a:spcBef>
              <a:buAutoNum type="arabicPeriod"/>
              <a:tabLst>
                <a:tab pos="469900" algn="l"/>
              </a:tabLst>
            </a:pPr>
            <a:r>
              <a:rPr sz="2200" spc="-5" dirty="0">
                <a:latin typeface="Arial"/>
                <a:cs typeface="Arial"/>
              </a:rPr>
              <a:t>Monitor</a:t>
            </a:r>
            <a:r>
              <a:rPr sz="2200" spc="25" dirty="0">
                <a:latin typeface="Arial"/>
                <a:cs typeface="Arial"/>
              </a:rPr>
              <a:t> </a:t>
            </a:r>
            <a:r>
              <a:rPr sz="2200" spc="-5" dirty="0">
                <a:latin typeface="Arial"/>
                <a:cs typeface="Arial"/>
              </a:rPr>
              <a:t>database</a:t>
            </a:r>
            <a:r>
              <a:rPr sz="2200" spc="10" dirty="0">
                <a:latin typeface="Arial"/>
                <a:cs typeface="Arial"/>
              </a:rPr>
              <a:t> </a:t>
            </a:r>
            <a:r>
              <a:rPr sz="2200" spc="-10" dirty="0">
                <a:latin typeface="Arial"/>
                <a:cs typeface="Arial"/>
              </a:rPr>
              <a:t>system</a:t>
            </a:r>
            <a:r>
              <a:rPr sz="2200" spc="25" dirty="0">
                <a:latin typeface="Arial"/>
                <a:cs typeface="Arial"/>
              </a:rPr>
              <a:t> </a:t>
            </a:r>
            <a:r>
              <a:rPr sz="2200" spc="-5" dirty="0">
                <a:latin typeface="Arial"/>
                <a:cs typeface="Arial"/>
              </a:rPr>
              <a:t>details</a:t>
            </a:r>
            <a:endParaRPr sz="2200">
              <a:latin typeface="Arial"/>
              <a:cs typeface="Arial"/>
            </a:endParaRPr>
          </a:p>
          <a:p>
            <a:pPr marL="469900" indent="-457200">
              <a:lnSpc>
                <a:spcPct val="100000"/>
              </a:lnSpc>
              <a:spcBef>
                <a:spcPts val="520"/>
              </a:spcBef>
              <a:buAutoNum type="arabicPeriod"/>
              <a:tabLst>
                <a:tab pos="469900" algn="l"/>
              </a:tabLst>
            </a:pPr>
            <a:r>
              <a:rPr sz="2200" spc="-5" dirty="0">
                <a:latin typeface="Arial"/>
                <a:cs typeface="Arial"/>
              </a:rPr>
              <a:t>Design</a:t>
            </a:r>
            <a:r>
              <a:rPr sz="2200" spc="315" dirty="0">
                <a:latin typeface="Arial"/>
                <a:cs typeface="Arial"/>
              </a:rPr>
              <a:t> </a:t>
            </a:r>
            <a:r>
              <a:rPr sz="2200" spc="-5" dirty="0">
                <a:latin typeface="Arial"/>
                <a:cs typeface="Arial"/>
              </a:rPr>
              <a:t>and</a:t>
            </a:r>
            <a:r>
              <a:rPr sz="2200" spc="315" dirty="0">
                <a:latin typeface="Arial"/>
                <a:cs typeface="Arial"/>
              </a:rPr>
              <a:t> </a:t>
            </a:r>
            <a:r>
              <a:rPr sz="2200" dirty="0">
                <a:latin typeface="Arial"/>
                <a:cs typeface="Arial"/>
              </a:rPr>
              <a:t>implement</a:t>
            </a:r>
            <a:r>
              <a:rPr sz="2200" spc="325" dirty="0">
                <a:latin typeface="Arial"/>
                <a:cs typeface="Arial"/>
              </a:rPr>
              <a:t> </a:t>
            </a:r>
            <a:r>
              <a:rPr sz="2200" spc="-5" dirty="0">
                <a:latin typeface="Arial"/>
                <a:cs typeface="Arial"/>
              </a:rPr>
              <a:t>redundant</a:t>
            </a:r>
            <a:r>
              <a:rPr sz="2200" spc="330" dirty="0">
                <a:latin typeface="Arial"/>
                <a:cs typeface="Arial"/>
              </a:rPr>
              <a:t> </a:t>
            </a:r>
            <a:r>
              <a:rPr sz="2200" spc="-5" dirty="0">
                <a:latin typeface="Arial"/>
                <a:cs typeface="Arial"/>
              </a:rPr>
              <a:t>systems,</a:t>
            </a:r>
            <a:r>
              <a:rPr sz="2200" spc="335" dirty="0">
                <a:latin typeface="Arial"/>
                <a:cs typeface="Arial"/>
              </a:rPr>
              <a:t> </a:t>
            </a:r>
            <a:r>
              <a:rPr sz="2200" spc="-5" dirty="0">
                <a:latin typeface="Arial"/>
                <a:cs typeface="Arial"/>
              </a:rPr>
              <a:t>policies,</a:t>
            </a:r>
            <a:r>
              <a:rPr sz="2200" spc="325" dirty="0">
                <a:latin typeface="Arial"/>
                <a:cs typeface="Arial"/>
              </a:rPr>
              <a:t> </a:t>
            </a:r>
            <a:r>
              <a:rPr sz="2200" spc="-5" dirty="0">
                <a:latin typeface="Arial"/>
                <a:cs typeface="Arial"/>
              </a:rPr>
              <a:t>and</a:t>
            </a:r>
            <a:r>
              <a:rPr sz="2200" spc="330" dirty="0">
                <a:latin typeface="Arial"/>
                <a:cs typeface="Arial"/>
              </a:rPr>
              <a:t> </a:t>
            </a:r>
            <a:r>
              <a:rPr sz="2200" spc="-5" dirty="0">
                <a:latin typeface="Arial"/>
                <a:cs typeface="Arial"/>
              </a:rPr>
              <a:t>procedures</a:t>
            </a:r>
            <a:r>
              <a:rPr sz="2200" spc="320" dirty="0">
                <a:latin typeface="Arial"/>
                <a:cs typeface="Arial"/>
              </a:rPr>
              <a:t> </a:t>
            </a:r>
            <a:r>
              <a:rPr sz="2200" dirty="0">
                <a:latin typeface="Arial"/>
                <a:cs typeface="Arial"/>
              </a:rPr>
              <a:t>for</a:t>
            </a:r>
            <a:r>
              <a:rPr sz="2200" spc="325" dirty="0">
                <a:latin typeface="Arial"/>
                <a:cs typeface="Arial"/>
              </a:rPr>
              <a:t> </a:t>
            </a:r>
            <a:r>
              <a:rPr sz="2200" spc="-5" dirty="0">
                <a:latin typeface="Arial"/>
                <a:cs typeface="Arial"/>
              </a:rPr>
              <a:t>disaster</a:t>
            </a:r>
            <a:endParaRPr sz="2200">
              <a:latin typeface="Arial"/>
              <a:cs typeface="Arial"/>
            </a:endParaRPr>
          </a:p>
          <a:p>
            <a:pPr marL="469265">
              <a:lnSpc>
                <a:spcPct val="100000"/>
              </a:lnSpc>
            </a:pPr>
            <a:r>
              <a:rPr sz="2200" spc="-5" dirty="0">
                <a:latin typeface="Arial"/>
                <a:cs typeface="Arial"/>
              </a:rPr>
              <a:t>recovery</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27</a:t>
            </a:fld>
            <a:endParaRPr spc="-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807212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Roles</a:t>
            </a:r>
            <a:r>
              <a:rPr sz="3600" spc="-60" dirty="0">
                <a:solidFill>
                  <a:srgbClr val="000000"/>
                </a:solidFill>
                <a:latin typeface="Verdana"/>
                <a:cs typeface="Verdana"/>
              </a:rPr>
              <a:t> </a:t>
            </a:r>
            <a:r>
              <a:rPr sz="3600" dirty="0">
                <a:solidFill>
                  <a:srgbClr val="000000"/>
                </a:solidFill>
                <a:latin typeface="Verdana"/>
                <a:cs typeface="Verdana"/>
              </a:rPr>
              <a:t>&amp;</a:t>
            </a:r>
            <a:r>
              <a:rPr sz="3600" spc="-35" dirty="0">
                <a:solidFill>
                  <a:srgbClr val="000000"/>
                </a:solidFill>
                <a:latin typeface="Verdana"/>
                <a:cs typeface="Verdana"/>
              </a:rPr>
              <a:t> </a:t>
            </a:r>
            <a:r>
              <a:rPr sz="3600" spc="-5" dirty="0">
                <a:solidFill>
                  <a:srgbClr val="000000"/>
                </a:solidFill>
                <a:latin typeface="Verdana"/>
                <a:cs typeface="Verdana"/>
              </a:rPr>
              <a:t>Responsibilities</a:t>
            </a:r>
            <a:r>
              <a:rPr sz="3600" spc="-75" dirty="0">
                <a:solidFill>
                  <a:srgbClr val="000000"/>
                </a:solidFill>
                <a:latin typeface="Verdana"/>
                <a:cs typeface="Verdana"/>
              </a:rPr>
              <a:t> </a:t>
            </a:r>
            <a:r>
              <a:rPr sz="3600" dirty="0">
                <a:solidFill>
                  <a:srgbClr val="000000"/>
                </a:solidFill>
                <a:latin typeface="Verdana"/>
                <a:cs typeface="Verdana"/>
              </a:rPr>
              <a:t>of</a:t>
            </a:r>
            <a:r>
              <a:rPr sz="3600" spc="-10" dirty="0">
                <a:solidFill>
                  <a:srgbClr val="000000"/>
                </a:solidFill>
                <a:latin typeface="Verdana"/>
                <a:cs typeface="Verdana"/>
              </a:rPr>
              <a:t> </a:t>
            </a:r>
            <a:r>
              <a:rPr sz="3600" spc="-5" dirty="0">
                <a:solidFill>
                  <a:srgbClr val="000000"/>
                </a:solidFill>
                <a:latin typeface="Verdana"/>
                <a:cs typeface="Verdana"/>
              </a:rPr>
              <a:t>DBA</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10706735" cy="4987925"/>
          </a:xfrm>
          <a:prstGeom prst="rect">
            <a:avLst/>
          </a:prstGeom>
        </p:spPr>
        <p:txBody>
          <a:bodyPr vert="horz" wrap="square" lIns="0" tIns="78740" rIns="0" bIns="0" rtlCol="0">
            <a:spAutoFit/>
          </a:bodyPr>
          <a:lstStyle/>
          <a:p>
            <a:pPr marL="469900" indent="-457200">
              <a:lnSpc>
                <a:spcPct val="100000"/>
              </a:lnSpc>
              <a:spcBef>
                <a:spcPts val="620"/>
              </a:spcBef>
              <a:buAutoNum type="arabicPeriod" startAt="12"/>
              <a:tabLst>
                <a:tab pos="469900" algn="l"/>
              </a:tabLst>
            </a:pPr>
            <a:r>
              <a:rPr sz="2200" spc="-5" dirty="0">
                <a:latin typeface="Arial"/>
                <a:cs typeface="Arial"/>
              </a:rPr>
              <a:t>Monitor,</a:t>
            </a:r>
            <a:r>
              <a:rPr sz="2200" spc="50" dirty="0">
                <a:latin typeface="Arial"/>
                <a:cs typeface="Arial"/>
              </a:rPr>
              <a:t> </a:t>
            </a:r>
            <a:r>
              <a:rPr sz="2200" spc="-5" dirty="0">
                <a:latin typeface="Arial"/>
                <a:cs typeface="Arial"/>
              </a:rPr>
              <a:t>optimize</a:t>
            </a:r>
            <a:r>
              <a:rPr sz="2200" spc="5" dirty="0">
                <a:latin typeface="Arial"/>
                <a:cs typeface="Arial"/>
              </a:rPr>
              <a:t> </a:t>
            </a:r>
            <a:r>
              <a:rPr sz="2200" spc="-5" dirty="0">
                <a:latin typeface="Arial"/>
                <a:cs typeface="Arial"/>
              </a:rPr>
              <a:t>and</a:t>
            </a:r>
            <a:r>
              <a:rPr sz="2200" spc="30" dirty="0">
                <a:latin typeface="Arial"/>
                <a:cs typeface="Arial"/>
              </a:rPr>
              <a:t> </a:t>
            </a:r>
            <a:r>
              <a:rPr sz="2200" spc="-5" dirty="0">
                <a:latin typeface="Arial"/>
                <a:cs typeface="Arial"/>
              </a:rPr>
              <a:t>allocate</a:t>
            </a:r>
            <a:r>
              <a:rPr sz="2200" spc="30" dirty="0">
                <a:latin typeface="Arial"/>
                <a:cs typeface="Arial"/>
              </a:rPr>
              <a:t> </a:t>
            </a:r>
            <a:r>
              <a:rPr sz="2200" spc="-10" dirty="0">
                <a:latin typeface="Arial"/>
                <a:cs typeface="Arial"/>
              </a:rPr>
              <a:t>physical</a:t>
            </a:r>
            <a:r>
              <a:rPr sz="2200" spc="55" dirty="0">
                <a:latin typeface="Arial"/>
                <a:cs typeface="Arial"/>
              </a:rPr>
              <a:t> </a:t>
            </a:r>
            <a:r>
              <a:rPr sz="2200" spc="-5" dirty="0">
                <a:latin typeface="Arial"/>
                <a:cs typeface="Arial"/>
              </a:rPr>
              <a:t>data</a:t>
            </a:r>
            <a:r>
              <a:rPr sz="2200" spc="10" dirty="0">
                <a:latin typeface="Arial"/>
                <a:cs typeface="Arial"/>
              </a:rPr>
              <a:t> </a:t>
            </a:r>
            <a:r>
              <a:rPr sz="2200" dirty="0">
                <a:latin typeface="Arial"/>
                <a:cs typeface="Arial"/>
              </a:rPr>
              <a:t>storage</a:t>
            </a:r>
            <a:r>
              <a:rPr sz="2200" spc="10" dirty="0">
                <a:latin typeface="Arial"/>
                <a:cs typeface="Arial"/>
              </a:rPr>
              <a:t> </a:t>
            </a:r>
            <a:r>
              <a:rPr sz="2200" dirty="0">
                <a:latin typeface="Arial"/>
                <a:cs typeface="Arial"/>
              </a:rPr>
              <a:t>for </a:t>
            </a:r>
            <a:r>
              <a:rPr sz="2200" spc="-5" dirty="0">
                <a:latin typeface="Arial"/>
                <a:cs typeface="Arial"/>
              </a:rPr>
              <a:t>database</a:t>
            </a:r>
            <a:r>
              <a:rPr sz="2200" spc="25" dirty="0">
                <a:latin typeface="Arial"/>
                <a:cs typeface="Arial"/>
              </a:rPr>
              <a:t> </a:t>
            </a:r>
            <a:r>
              <a:rPr sz="2200" spc="-5" dirty="0">
                <a:latin typeface="Arial"/>
                <a:cs typeface="Arial"/>
              </a:rPr>
              <a:t>systems</a:t>
            </a:r>
            <a:endParaRPr sz="2200">
              <a:latin typeface="Arial"/>
              <a:cs typeface="Arial"/>
            </a:endParaRPr>
          </a:p>
          <a:p>
            <a:pPr marL="469900" indent="-457200">
              <a:lnSpc>
                <a:spcPct val="100000"/>
              </a:lnSpc>
              <a:spcBef>
                <a:spcPts val="520"/>
              </a:spcBef>
              <a:buAutoNum type="arabicPeriod" startAt="12"/>
              <a:tabLst>
                <a:tab pos="469900" algn="l"/>
              </a:tabLst>
            </a:pPr>
            <a:r>
              <a:rPr sz="2200" spc="-10" dirty="0">
                <a:latin typeface="Arial"/>
                <a:cs typeface="Arial"/>
              </a:rPr>
              <a:t>Plan</a:t>
            </a:r>
            <a:r>
              <a:rPr sz="2200" spc="20"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coordinate</a:t>
            </a:r>
            <a:r>
              <a:rPr sz="2200" spc="30" dirty="0">
                <a:latin typeface="Arial"/>
                <a:cs typeface="Arial"/>
              </a:rPr>
              <a:t> </a:t>
            </a:r>
            <a:r>
              <a:rPr sz="2200" spc="-5" dirty="0">
                <a:latin typeface="Arial"/>
                <a:cs typeface="Arial"/>
              </a:rPr>
              <a:t>data</a:t>
            </a:r>
            <a:r>
              <a:rPr sz="2200" spc="10" dirty="0">
                <a:latin typeface="Arial"/>
                <a:cs typeface="Arial"/>
              </a:rPr>
              <a:t> </a:t>
            </a:r>
            <a:r>
              <a:rPr sz="2200" spc="-5" dirty="0">
                <a:latin typeface="Arial"/>
                <a:cs typeface="Arial"/>
              </a:rPr>
              <a:t>migrations</a:t>
            </a:r>
            <a:endParaRPr sz="2200">
              <a:latin typeface="Arial"/>
              <a:cs typeface="Arial"/>
            </a:endParaRPr>
          </a:p>
          <a:p>
            <a:pPr marL="469900" indent="-457200">
              <a:lnSpc>
                <a:spcPct val="100000"/>
              </a:lnSpc>
              <a:spcBef>
                <a:spcPts val="540"/>
              </a:spcBef>
              <a:buAutoNum type="arabicPeriod" startAt="12"/>
              <a:tabLst>
                <a:tab pos="469900" algn="l"/>
              </a:tabLst>
            </a:pPr>
            <a:r>
              <a:rPr sz="2200" spc="-5" dirty="0">
                <a:latin typeface="Arial"/>
                <a:cs typeface="Arial"/>
              </a:rPr>
              <a:t>Develop,</a:t>
            </a:r>
            <a:r>
              <a:rPr sz="2200" spc="30" dirty="0">
                <a:latin typeface="Arial"/>
                <a:cs typeface="Arial"/>
              </a:rPr>
              <a:t> </a:t>
            </a:r>
            <a:r>
              <a:rPr sz="2200" spc="-5" dirty="0">
                <a:latin typeface="Arial"/>
                <a:cs typeface="Arial"/>
              </a:rPr>
              <a:t>implement,</a:t>
            </a:r>
            <a:r>
              <a:rPr sz="2200" spc="30" dirty="0">
                <a:latin typeface="Arial"/>
                <a:cs typeface="Arial"/>
              </a:rPr>
              <a:t> </a:t>
            </a:r>
            <a:r>
              <a:rPr sz="2200" spc="-5" dirty="0">
                <a:latin typeface="Arial"/>
                <a:cs typeface="Arial"/>
              </a:rPr>
              <a:t>and</a:t>
            </a:r>
            <a:r>
              <a:rPr sz="2200" spc="30" dirty="0">
                <a:latin typeface="Arial"/>
                <a:cs typeface="Arial"/>
              </a:rPr>
              <a:t> </a:t>
            </a:r>
            <a:r>
              <a:rPr sz="2200" spc="-5" dirty="0">
                <a:latin typeface="Arial"/>
                <a:cs typeface="Arial"/>
              </a:rPr>
              <a:t>maintain</a:t>
            </a:r>
            <a:r>
              <a:rPr sz="2200" spc="25" dirty="0">
                <a:latin typeface="Arial"/>
                <a:cs typeface="Arial"/>
              </a:rPr>
              <a:t> </a:t>
            </a:r>
            <a:r>
              <a:rPr sz="2200" spc="-5" dirty="0">
                <a:latin typeface="Arial"/>
                <a:cs typeface="Arial"/>
              </a:rPr>
              <a:t>change</a:t>
            </a:r>
            <a:r>
              <a:rPr sz="2200" spc="25" dirty="0">
                <a:latin typeface="Arial"/>
                <a:cs typeface="Arial"/>
              </a:rPr>
              <a:t> </a:t>
            </a:r>
            <a:r>
              <a:rPr sz="2200" dirty="0">
                <a:latin typeface="Arial"/>
                <a:cs typeface="Arial"/>
              </a:rPr>
              <a:t>control</a:t>
            </a:r>
            <a:r>
              <a:rPr sz="2200" spc="-5" dirty="0">
                <a:latin typeface="Arial"/>
                <a:cs typeface="Arial"/>
              </a:rPr>
              <a:t> and</a:t>
            </a:r>
            <a:r>
              <a:rPr sz="2200" spc="5" dirty="0">
                <a:latin typeface="Arial"/>
                <a:cs typeface="Arial"/>
              </a:rPr>
              <a:t> </a:t>
            </a:r>
            <a:r>
              <a:rPr sz="2200" dirty="0">
                <a:latin typeface="Arial"/>
                <a:cs typeface="Arial"/>
              </a:rPr>
              <a:t>testing </a:t>
            </a:r>
            <a:r>
              <a:rPr sz="2200" spc="-5" dirty="0">
                <a:latin typeface="Arial"/>
                <a:cs typeface="Arial"/>
              </a:rPr>
              <a:t>processes</a:t>
            </a:r>
            <a:endParaRPr sz="2200">
              <a:latin typeface="Arial"/>
              <a:cs typeface="Arial"/>
            </a:endParaRPr>
          </a:p>
          <a:p>
            <a:pPr marL="469900" indent="-457200">
              <a:lnSpc>
                <a:spcPct val="100000"/>
              </a:lnSpc>
              <a:spcBef>
                <a:spcPts val="520"/>
              </a:spcBef>
              <a:buAutoNum type="arabicPeriod" startAt="12"/>
              <a:tabLst>
                <a:tab pos="469900" algn="l"/>
              </a:tabLst>
            </a:pPr>
            <a:r>
              <a:rPr sz="2200" dirty="0">
                <a:latin typeface="Arial"/>
                <a:cs typeface="Arial"/>
              </a:rPr>
              <a:t>Perform</a:t>
            </a:r>
            <a:r>
              <a:rPr sz="2200" spc="25" dirty="0">
                <a:latin typeface="Arial"/>
                <a:cs typeface="Arial"/>
              </a:rPr>
              <a:t> </a:t>
            </a:r>
            <a:r>
              <a:rPr sz="2200" spc="-5" dirty="0">
                <a:latin typeface="Arial"/>
                <a:cs typeface="Arial"/>
              </a:rPr>
              <a:t>database</a:t>
            </a:r>
            <a:r>
              <a:rPr sz="2200" spc="5" dirty="0">
                <a:latin typeface="Arial"/>
                <a:cs typeface="Arial"/>
              </a:rPr>
              <a:t> </a:t>
            </a:r>
            <a:r>
              <a:rPr sz="2200" spc="-5" dirty="0">
                <a:latin typeface="Arial"/>
                <a:cs typeface="Arial"/>
              </a:rPr>
              <a:t>transaction</a:t>
            </a:r>
            <a:r>
              <a:rPr sz="2200" spc="25"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security</a:t>
            </a:r>
            <a:r>
              <a:rPr sz="2200" spc="15" dirty="0">
                <a:latin typeface="Arial"/>
                <a:cs typeface="Arial"/>
              </a:rPr>
              <a:t> </a:t>
            </a:r>
            <a:r>
              <a:rPr sz="2200" spc="-5" dirty="0">
                <a:latin typeface="Arial"/>
                <a:cs typeface="Arial"/>
              </a:rPr>
              <a:t>audits</a:t>
            </a:r>
            <a:endParaRPr sz="2200">
              <a:latin typeface="Arial"/>
              <a:cs typeface="Arial"/>
            </a:endParaRPr>
          </a:p>
          <a:p>
            <a:pPr marL="469900" indent="-457200">
              <a:lnSpc>
                <a:spcPct val="100000"/>
              </a:lnSpc>
              <a:spcBef>
                <a:spcPts val="545"/>
              </a:spcBef>
              <a:buAutoNum type="arabicPeriod" startAt="12"/>
              <a:tabLst>
                <a:tab pos="469900" algn="l"/>
              </a:tabLst>
            </a:pPr>
            <a:r>
              <a:rPr sz="2200" spc="-5" dirty="0">
                <a:latin typeface="Arial"/>
                <a:cs typeface="Arial"/>
              </a:rPr>
              <a:t>Establish</a:t>
            </a:r>
            <a:r>
              <a:rPr sz="2200" spc="25" dirty="0">
                <a:latin typeface="Arial"/>
                <a:cs typeface="Arial"/>
              </a:rPr>
              <a:t> </a:t>
            </a:r>
            <a:r>
              <a:rPr sz="2200" spc="-5" dirty="0">
                <a:latin typeface="Arial"/>
                <a:cs typeface="Arial"/>
              </a:rPr>
              <a:t>end-user</a:t>
            </a:r>
            <a:r>
              <a:rPr sz="2200" spc="20" dirty="0">
                <a:latin typeface="Arial"/>
                <a:cs typeface="Arial"/>
              </a:rPr>
              <a:t> </a:t>
            </a:r>
            <a:r>
              <a:rPr sz="2200" dirty="0">
                <a:latin typeface="Arial"/>
                <a:cs typeface="Arial"/>
              </a:rPr>
              <a:t>database</a:t>
            </a:r>
            <a:r>
              <a:rPr sz="2200" spc="-15" dirty="0">
                <a:latin typeface="Arial"/>
                <a:cs typeface="Arial"/>
              </a:rPr>
              <a:t> </a:t>
            </a:r>
            <a:r>
              <a:rPr sz="2200" dirty="0">
                <a:latin typeface="Arial"/>
                <a:cs typeface="Arial"/>
              </a:rPr>
              <a:t>access</a:t>
            </a:r>
            <a:r>
              <a:rPr sz="2200" spc="-5" dirty="0">
                <a:latin typeface="Arial"/>
                <a:cs typeface="Arial"/>
              </a:rPr>
              <a:t> </a:t>
            </a:r>
            <a:r>
              <a:rPr sz="2200" dirty="0">
                <a:latin typeface="Arial"/>
                <a:cs typeface="Arial"/>
              </a:rPr>
              <a:t>control</a:t>
            </a:r>
            <a:r>
              <a:rPr sz="2200" spc="15" dirty="0">
                <a:latin typeface="Arial"/>
                <a:cs typeface="Arial"/>
              </a:rPr>
              <a:t> </a:t>
            </a:r>
            <a:r>
              <a:rPr sz="2200" spc="-10" dirty="0">
                <a:latin typeface="Arial"/>
                <a:cs typeface="Arial"/>
              </a:rPr>
              <a:t>levels</a:t>
            </a:r>
            <a:endParaRPr sz="2200">
              <a:latin typeface="Arial"/>
              <a:cs typeface="Arial"/>
            </a:endParaRPr>
          </a:p>
          <a:p>
            <a:pPr marL="469900" indent="-457200">
              <a:lnSpc>
                <a:spcPct val="100000"/>
              </a:lnSpc>
              <a:spcBef>
                <a:spcPts val="520"/>
              </a:spcBef>
              <a:buAutoNum type="arabicPeriod" startAt="12"/>
              <a:tabLst>
                <a:tab pos="469900" algn="l"/>
              </a:tabLst>
            </a:pPr>
            <a:r>
              <a:rPr sz="2200" spc="-5" dirty="0">
                <a:latin typeface="Arial"/>
                <a:cs typeface="Arial"/>
              </a:rPr>
              <a:t>Implement</a:t>
            </a:r>
            <a:r>
              <a:rPr sz="2200" spc="20" dirty="0">
                <a:latin typeface="Arial"/>
                <a:cs typeface="Arial"/>
              </a:rPr>
              <a:t> </a:t>
            </a:r>
            <a:r>
              <a:rPr sz="2200" spc="-5" dirty="0">
                <a:latin typeface="Arial"/>
                <a:cs typeface="Arial"/>
              </a:rPr>
              <a:t>database</a:t>
            </a:r>
            <a:r>
              <a:rPr sz="2200" spc="25" dirty="0">
                <a:latin typeface="Arial"/>
                <a:cs typeface="Arial"/>
              </a:rPr>
              <a:t> </a:t>
            </a:r>
            <a:r>
              <a:rPr sz="2200" spc="-5" dirty="0">
                <a:latin typeface="Arial"/>
                <a:cs typeface="Arial"/>
              </a:rPr>
              <a:t>encryption</a:t>
            </a:r>
            <a:r>
              <a:rPr sz="2200" spc="60"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data</a:t>
            </a:r>
            <a:r>
              <a:rPr sz="2200" spc="5" dirty="0">
                <a:latin typeface="Arial"/>
                <a:cs typeface="Arial"/>
              </a:rPr>
              <a:t> </a:t>
            </a:r>
            <a:r>
              <a:rPr sz="2200" spc="-5" dirty="0">
                <a:latin typeface="Arial"/>
                <a:cs typeface="Arial"/>
              </a:rPr>
              <a:t>encryption</a:t>
            </a:r>
            <a:endParaRPr sz="2200">
              <a:latin typeface="Arial"/>
              <a:cs typeface="Arial"/>
            </a:endParaRPr>
          </a:p>
          <a:p>
            <a:pPr marL="469265" marR="6350" indent="-457200">
              <a:lnSpc>
                <a:spcPct val="100000"/>
              </a:lnSpc>
              <a:spcBef>
                <a:spcPts val="520"/>
              </a:spcBef>
              <a:buAutoNum type="arabicPeriod" startAt="12"/>
              <a:tabLst>
                <a:tab pos="469900" algn="l"/>
              </a:tabLst>
            </a:pPr>
            <a:r>
              <a:rPr sz="2200" spc="-10" dirty="0">
                <a:latin typeface="Arial"/>
                <a:cs typeface="Arial"/>
              </a:rPr>
              <a:t>Plan</a:t>
            </a:r>
            <a:r>
              <a:rPr sz="2200" spc="200" dirty="0">
                <a:latin typeface="Arial"/>
                <a:cs typeface="Arial"/>
              </a:rPr>
              <a:t> </a:t>
            </a:r>
            <a:r>
              <a:rPr sz="2200" dirty="0">
                <a:latin typeface="Arial"/>
                <a:cs typeface="Arial"/>
              </a:rPr>
              <a:t>and</a:t>
            </a:r>
            <a:r>
              <a:rPr sz="2200" spc="210" dirty="0">
                <a:latin typeface="Arial"/>
                <a:cs typeface="Arial"/>
              </a:rPr>
              <a:t> </a:t>
            </a:r>
            <a:r>
              <a:rPr sz="2200" spc="-5" dirty="0">
                <a:latin typeface="Arial"/>
                <a:cs typeface="Arial"/>
              </a:rPr>
              <a:t>ensure</a:t>
            </a:r>
            <a:r>
              <a:rPr sz="2200" spc="204" dirty="0">
                <a:latin typeface="Arial"/>
                <a:cs typeface="Arial"/>
              </a:rPr>
              <a:t> </a:t>
            </a:r>
            <a:r>
              <a:rPr sz="2200" dirty="0">
                <a:latin typeface="Arial"/>
                <a:cs typeface="Arial"/>
              </a:rPr>
              <a:t>compliance</a:t>
            </a:r>
            <a:r>
              <a:rPr sz="2200" spc="229" dirty="0">
                <a:latin typeface="Arial"/>
                <a:cs typeface="Arial"/>
              </a:rPr>
              <a:t> </a:t>
            </a:r>
            <a:r>
              <a:rPr sz="2200" spc="-10" dirty="0">
                <a:latin typeface="Arial"/>
                <a:cs typeface="Arial"/>
              </a:rPr>
              <a:t>with</a:t>
            </a:r>
            <a:r>
              <a:rPr sz="2200" spc="210" dirty="0">
                <a:latin typeface="Arial"/>
                <a:cs typeface="Arial"/>
              </a:rPr>
              <a:t> </a:t>
            </a:r>
            <a:r>
              <a:rPr sz="2200" dirty="0">
                <a:latin typeface="Arial"/>
                <a:cs typeface="Arial"/>
              </a:rPr>
              <a:t>established</a:t>
            </a:r>
            <a:r>
              <a:rPr sz="2200" spc="204" dirty="0">
                <a:latin typeface="Arial"/>
                <a:cs typeface="Arial"/>
              </a:rPr>
              <a:t> </a:t>
            </a:r>
            <a:r>
              <a:rPr sz="2200" dirty="0">
                <a:latin typeface="Arial"/>
                <a:cs typeface="Arial"/>
              </a:rPr>
              <a:t>best</a:t>
            </a:r>
            <a:r>
              <a:rPr sz="2200" spc="204" dirty="0">
                <a:latin typeface="Arial"/>
                <a:cs typeface="Arial"/>
              </a:rPr>
              <a:t> </a:t>
            </a:r>
            <a:r>
              <a:rPr sz="2200" dirty="0">
                <a:latin typeface="Arial"/>
                <a:cs typeface="Arial"/>
              </a:rPr>
              <a:t>practices,</a:t>
            </a:r>
            <a:r>
              <a:rPr sz="2200" spc="220" dirty="0">
                <a:latin typeface="Arial"/>
                <a:cs typeface="Arial"/>
              </a:rPr>
              <a:t> </a:t>
            </a:r>
            <a:r>
              <a:rPr sz="2200" spc="-5" dirty="0">
                <a:latin typeface="Arial"/>
                <a:cs typeface="Arial"/>
              </a:rPr>
              <a:t>related</a:t>
            </a:r>
            <a:r>
              <a:rPr sz="2200" spc="215" dirty="0">
                <a:latin typeface="Arial"/>
                <a:cs typeface="Arial"/>
              </a:rPr>
              <a:t> </a:t>
            </a:r>
            <a:r>
              <a:rPr sz="2200" spc="-5" dirty="0">
                <a:latin typeface="Arial"/>
                <a:cs typeface="Arial"/>
              </a:rPr>
              <a:t>policies</a:t>
            </a:r>
            <a:r>
              <a:rPr sz="2200" spc="210" dirty="0">
                <a:latin typeface="Arial"/>
                <a:cs typeface="Arial"/>
              </a:rPr>
              <a:t> </a:t>
            </a:r>
            <a:r>
              <a:rPr sz="2200" dirty="0">
                <a:latin typeface="Arial"/>
                <a:cs typeface="Arial"/>
              </a:rPr>
              <a:t>and </a:t>
            </a:r>
            <a:r>
              <a:rPr sz="2200" spc="-595" dirty="0">
                <a:latin typeface="Arial"/>
                <a:cs typeface="Arial"/>
              </a:rPr>
              <a:t> </a:t>
            </a:r>
            <a:r>
              <a:rPr sz="2200" spc="-5" dirty="0">
                <a:latin typeface="Arial"/>
                <a:cs typeface="Arial"/>
              </a:rPr>
              <a:t>legislation</a:t>
            </a:r>
            <a:endParaRPr sz="2200">
              <a:latin typeface="Arial"/>
              <a:cs typeface="Arial"/>
            </a:endParaRPr>
          </a:p>
          <a:p>
            <a:pPr marL="469900" indent="-457200">
              <a:lnSpc>
                <a:spcPct val="100000"/>
              </a:lnSpc>
              <a:spcBef>
                <a:spcPts val="540"/>
              </a:spcBef>
              <a:buAutoNum type="arabicPeriod" startAt="12"/>
              <a:tabLst>
                <a:tab pos="469900" algn="l"/>
              </a:tabLst>
            </a:pPr>
            <a:r>
              <a:rPr sz="2200" spc="-5" dirty="0">
                <a:latin typeface="Arial"/>
                <a:cs typeface="Arial"/>
              </a:rPr>
              <a:t>Participate</a:t>
            </a:r>
            <a:r>
              <a:rPr sz="2200" spc="130" dirty="0">
                <a:latin typeface="Arial"/>
                <a:cs typeface="Arial"/>
              </a:rPr>
              <a:t> </a:t>
            </a:r>
            <a:r>
              <a:rPr sz="2200" spc="-5" dirty="0">
                <a:latin typeface="Arial"/>
                <a:cs typeface="Arial"/>
              </a:rPr>
              <a:t>as</a:t>
            </a:r>
            <a:r>
              <a:rPr sz="2200" spc="130" dirty="0">
                <a:latin typeface="Arial"/>
                <a:cs typeface="Arial"/>
              </a:rPr>
              <a:t> </a:t>
            </a:r>
            <a:r>
              <a:rPr sz="2200" dirty="0">
                <a:latin typeface="Arial"/>
                <a:cs typeface="Arial"/>
              </a:rPr>
              <a:t>a</a:t>
            </a:r>
            <a:r>
              <a:rPr sz="2200" spc="125" dirty="0">
                <a:latin typeface="Arial"/>
                <a:cs typeface="Arial"/>
              </a:rPr>
              <a:t> </a:t>
            </a:r>
            <a:r>
              <a:rPr sz="2200" dirty="0">
                <a:latin typeface="Arial"/>
                <a:cs typeface="Arial"/>
              </a:rPr>
              <a:t>member</a:t>
            </a:r>
            <a:r>
              <a:rPr sz="2200" spc="135" dirty="0">
                <a:latin typeface="Arial"/>
                <a:cs typeface="Arial"/>
              </a:rPr>
              <a:t> </a:t>
            </a:r>
            <a:r>
              <a:rPr sz="2200" spc="-5" dirty="0">
                <a:latin typeface="Arial"/>
                <a:cs typeface="Arial"/>
              </a:rPr>
              <a:t>of</a:t>
            </a:r>
            <a:r>
              <a:rPr sz="2200" spc="140" dirty="0">
                <a:latin typeface="Arial"/>
                <a:cs typeface="Arial"/>
              </a:rPr>
              <a:t> </a:t>
            </a:r>
            <a:r>
              <a:rPr sz="2200" dirty="0">
                <a:latin typeface="Arial"/>
                <a:cs typeface="Arial"/>
              </a:rPr>
              <a:t>a</a:t>
            </a:r>
            <a:r>
              <a:rPr sz="2200" spc="110" dirty="0">
                <a:latin typeface="Arial"/>
                <a:cs typeface="Arial"/>
              </a:rPr>
              <a:t> </a:t>
            </a:r>
            <a:r>
              <a:rPr sz="2200" dirty="0">
                <a:latin typeface="Arial"/>
                <a:cs typeface="Arial"/>
              </a:rPr>
              <a:t>team</a:t>
            </a:r>
            <a:r>
              <a:rPr sz="2200" spc="135" dirty="0">
                <a:latin typeface="Arial"/>
                <a:cs typeface="Arial"/>
              </a:rPr>
              <a:t> </a:t>
            </a:r>
            <a:r>
              <a:rPr sz="2200" dirty="0">
                <a:latin typeface="Arial"/>
                <a:cs typeface="Arial"/>
              </a:rPr>
              <a:t>to</a:t>
            </a:r>
            <a:r>
              <a:rPr sz="2200" spc="100" dirty="0">
                <a:latin typeface="Arial"/>
                <a:cs typeface="Arial"/>
              </a:rPr>
              <a:t> </a:t>
            </a:r>
            <a:r>
              <a:rPr sz="2200" spc="-5" dirty="0">
                <a:latin typeface="Arial"/>
                <a:cs typeface="Arial"/>
              </a:rPr>
              <a:t>move</a:t>
            </a:r>
            <a:r>
              <a:rPr sz="2200" spc="125" dirty="0">
                <a:latin typeface="Arial"/>
                <a:cs typeface="Arial"/>
              </a:rPr>
              <a:t> </a:t>
            </a:r>
            <a:r>
              <a:rPr sz="2200" dirty="0">
                <a:latin typeface="Arial"/>
                <a:cs typeface="Arial"/>
              </a:rPr>
              <a:t>the</a:t>
            </a:r>
            <a:r>
              <a:rPr sz="2200" spc="125" dirty="0">
                <a:latin typeface="Arial"/>
                <a:cs typeface="Arial"/>
              </a:rPr>
              <a:t> </a:t>
            </a:r>
            <a:r>
              <a:rPr sz="2200" spc="-5" dirty="0">
                <a:latin typeface="Arial"/>
                <a:cs typeface="Arial"/>
              </a:rPr>
              <a:t>team</a:t>
            </a:r>
            <a:r>
              <a:rPr sz="2200" spc="140" dirty="0">
                <a:latin typeface="Arial"/>
                <a:cs typeface="Arial"/>
              </a:rPr>
              <a:t> </a:t>
            </a:r>
            <a:r>
              <a:rPr sz="2200" spc="-5" dirty="0">
                <a:latin typeface="Arial"/>
                <a:cs typeface="Arial"/>
              </a:rPr>
              <a:t>toward</a:t>
            </a:r>
            <a:r>
              <a:rPr sz="2200" spc="135" dirty="0">
                <a:latin typeface="Arial"/>
                <a:cs typeface="Arial"/>
              </a:rPr>
              <a:t> </a:t>
            </a:r>
            <a:r>
              <a:rPr sz="2200" dirty="0">
                <a:latin typeface="Arial"/>
                <a:cs typeface="Arial"/>
              </a:rPr>
              <a:t>the</a:t>
            </a:r>
            <a:r>
              <a:rPr sz="2200" spc="125" dirty="0">
                <a:latin typeface="Arial"/>
                <a:cs typeface="Arial"/>
              </a:rPr>
              <a:t> </a:t>
            </a:r>
            <a:r>
              <a:rPr sz="2200" spc="-5" dirty="0">
                <a:latin typeface="Arial"/>
                <a:cs typeface="Arial"/>
              </a:rPr>
              <a:t>completion</a:t>
            </a:r>
            <a:r>
              <a:rPr sz="2200" spc="110" dirty="0">
                <a:latin typeface="Arial"/>
                <a:cs typeface="Arial"/>
              </a:rPr>
              <a:t> </a:t>
            </a:r>
            <a:r>
              <a:rPr sz="2200" spc="-5" dirty="0">
                <a:latin typeface="Arial"/>
                <a:cs typeface="Arial"/>
              </a:rPr>
              <a:t>of</a:t>
            </a:r>
            <a:r>
              <a:rPr sz="2200" spc="135" dirty="0">
                <a:latin typeface="Arial"/>
                <a:cs typeface="Arial"/>
              </a:rPr>
              <a:t> </a:t>
            </a:r>
            <a:r>
              <a:rPr sz="2200" spc="-10" dirty="0">
                <a:latin typeface="Arial"/>
                <a:cs typeface="Arial"/>
              </a:rPr>
              <a:t>its</a:t>
            </a:r>
            <a:endParaRPr sz="2200">
              <a:latin typeface="Arial"/>
              <a:cs typeface="Arial"/>
            </a:endParaRPr>
          </a:p>
          <a:p>
            <a:pPr marL="469265">
              <a:lnSpc>
                <a:spcPct val="100000"/>
              </a:lnSpc>
              <a:spcBef>
                <a:spcPts val="5"/>
              </a:spcBef>
            </a:pPr>
            <a:r>
              <a:rPr sz="2200" spc="-5" dirty="0">
                <a:latin typeface="Arial"/>
                <a:cs typeface="Arial"/>
              </a:rPr>
              <a:t>goals</a:t>
            </a:r>
            <a:endParaRPr sz="2200">
              <a:latin typeface="Arial"/>
              <a:cs typeface="Arial"/>
            </a:endParaRPr>
          </a:p>
          <a:p>
            <a:pPr marL="469265" marR="5080" indent="-457200" algn="just">
              <a:lnSpc>
                <a:spcPct val="100000"/>
              </a:lnSpc>
              <a:spcBef>
                <a:spcPts val="520"/>
              </a:spcBef>
              <a:buAutoNum type="arabicPeriod" startAt="20"/>
              <a:tabLst>
                <a:tab pos="469900" algn="l"/>
              </a:tabLst>
            </a:pPr>
            <a:r>
              <a:rPr sz="2200" dirty="0">
                <a:latin typeface="Arial"/>
                <a:cs typeface="Arial"/>
              </a:rPr>
              <a:t>Capacity</a:t>
            </a:r>
            <a:r>
              <a:rPr sz="2200" spc="5" dirty="0">
                <a:latin typeface="Arial"/>
                <a:cs typeface="Arial"/>
              </a:rPr>
              <a:t> </a:t>
            </a:r>
            <a:r>
              <a:rPr sz="2200" spc="-5" dirty="0">
                <a:latin typeface="Arial"/>
                <a:cs typeface="Arial"/>
              </a:rPr>
              <a:t>planning,</a:t>
            </a:r>
            <a:r>
              <a:rPr sz="2200" dirty="0">
                <a:latin typeface="Arial"/>
                <a:cs typeface="Arial"/>
              </a:rPr>
              <a:t> </a:t>
            </a:r>
            <a:r>
              <a:rPr sz="2200" spc="-5" dirty="0">
                <a:latin typeface="Arial"/>
                <a:cs typeface="Arial"/>
              </a:rPr>
              <a:t>installation,</a:t>
            </a:r>
            <a:r>
              <a:rPr sz="2200" dirty="0">
                <a:latin typeface="Arial"/>
                <a:cs typeface="Arial"/>
              </a:rPr>
              <a:t> </a:t>
            </a:r>
            <a:r>
              <a:rPr sz="2200" spc="-5" dirty="0">
                <a:latin typeface="Arial"/>
                <a:cs typeface="Arial"/>
              </a:rPr>
              <a:t>configuration,</a:t>
            </a:r>
            <a:r>
              <a:rPr sz="2200" dirty="0">
                <a:latin typeface="Arial"/>
                <a:cs typeface="Arial"/>
              </a:rPr>
              <a:t> </a:t>
            </a:r>
            <a:r>
              <a:rPr sz="2200" spc="-5" dirty="0">
                <a:latin typeface="Arial"/>
                <a:cs typeface="Arial"/>
              </a:rPr>
              <a:t>database</a:t>
            </a:r>
            <a:r>
              <a:rPr sz="2200" dirty="0">
                <a:latin typeface="Arial"/>
                <a:cs typeface="Arial"/>
              </a:rPr>
              <a:t> </a:t>
            </a:r>
            <a:r>
              <a:rPr sz="2200" spc="-5" dirty="0">
                <a:latin typeface="Arial"/>
                <a:cs typeface="Arial"/>
              </a:rPr>
              <a:t>design,</a:t>
            </a:r>
            <a:r>
              <a:rPr sz="2200" dirty="0">
                <a:latin typeface="Arial"/>
                <a:cs typeface="Arial"/>
              </a:rPr>
              <a:t> migration, </a:t>
            </a:r>
            <a:r>
              <a:rPr sz="2200" spc="5" dirty="0">
                <a:latin typeface="Arial"/>
                <a:cs typeface="Arial"/>
              </a:rPr>
              <a:t> </a:t>
            </a:r>
            <a:r>
              <a:rPr sz="2200" dirty="0">
                <a:latin typeface="Arial"/>
                <a:cs typeface="Arial"/>
              </a:rPr>
              <a:t>performance </a:t>
            </a:r>
            <a:r>
              <a:rPr sz="2200" spc="-5" dirty="0">
                <a:latin typeface="Arial"/>
                <a:cs typeface="Arial"/>
              </a:rPr>
              <a:t>monitoring, security, troubleshooting, as </a:t>
            </a:r>
            <a:r>
              <a:rPr sz="2200" spc="-15" dirty="0">
                <a:latin typeface="Arial"/>
                <a:cs typeface="Arial"/>
              </a:rPr>
              <a:t>well </a:t>
            </a:r>
            <a:r>
              <a:rPr sz="2200" spc="-5" dirty="0">
                <a:latin typeface="Arial"/>
                <a:cs typeface="Arial"/>
              </a:rPr>
              <a:t>as backup and </a:t>
            </a:r>
            <a:r>
              <a:rPr sz="2200" spc="5" dirty="0">
                <a:latin typeface="Arial"/>
                <a:cs typeface="Arial"/>
              </a:rPr>
              <a:t>data </a:t>
            </a:r>
            <a:r>
              <a:rPr sz="2200" spc="10" dirty="0">
                <a:latin typeface="Arial"/>
                <a:cs typeface="Arial"/>
              </a:rPr>
              <a:t> </a:t>
            </a:r>
            <a:r>
              <a:rPr sz="2200" spc="-10" dirty="0">
                <a:latin typeface="Arial"/>
                <a:cs typeface="Arial"/>
              </a:rPr>
              <a:t>recovery.</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28</a:t>
            </a:fld>
            <a:endParaRPr spc="-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4688205"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Database</a:t>
            </a:r>
            <a:r>
              <a:rPr sz="3600" spc="-90" dirty="0">
                <a:solidFill>
                  <a:srgbClr val="000000"/>
                </a:solidFill>
                <a:latin typeface="Verdana"/>
                <a:cs typeface="Verdana"/>
              </a:rPr>
              <a:t> </a:t>
            </a:r>
            <a:r>
              <a:rPr sz="3600" spc="-5" dirty="0">
                <a:solidFill>
                  <a:srgbClr val="000000"/>
                </a:solidFill>
                <a:latin typeface="Verdana"/>
                <a:cs typeface="Verdana"/>
              </a:rPr>
              <a:t>Security</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4830" cy="4739005"/>
          </a:xfrm>
          <a:prstGeom prst="rect">
            <a:avLst/>
          </a:prstGeom>
        </p:spPr>
        <p:txBody>
          <a:bodyPr vert="horz" wrap="square" lIns="0" tIns="12700" rIns="0" bIns="0" rtlCol="0">
            <a:spAutoFit/>
          </a:bodyPr>
          <a:lstStyle/>
          <a:p>
            <a:pPr marL="469265" marR="5080" indent="-457200" algn="just">
              <a:lnSpc>
                <a:spcPct val="100000"/>
              </a:lnSpc>
              <a:spcBef>
                <a:spcPts val="100"/>
              </a:spcBef>
              <a:buFont typeface="Wingdings"/>
              <a:buChar char=""/>
              <a:tabLst>
                <a:tab pos="469900" algn="l"/>
              </a:tabLst>
            </a:pPr>
            <a:r>
              <a:rPr sz="2200" spc="-5" dirty="0">
                <a:latin typeface="Arial"/>
                <a:cs typeface="Arial"/>
              </a:rPr>
              <a:t>Database </a:t>
            </a:r>
            <a:r>
              <a:rPr sz="2200" dirty="0">
                <a:latin typeface="Arial"/>
                <a:cs typeface="Arial"/>
              </a:rPr>
              <a:t>security refers to the </a:t>
            </a:r>
            <a:r>
              <a:rPr sz="2200" spc="-5" dirty="0">
                <a:latin typeface="Arial"/>
                <a:cs typeface="Arial"/>
              </a:rPr>
              <a:t>collective </a:t>
            </a:r>
            <a:r>
              <a:rPr sz="2200" dirty="0">
                <a:latin typeface="Arial"/>
                <a:cs typeface="Arial"/>
              </a:rPr>
              <a:t>measures used to protect </a:t>
            </a:r>
            <a:r>
              <a:rPr sz="2200" spc="-5" dirty="0">
                <a:latin typeface="Arial"/>
                <a:cs typeface="Arial"/>
              </a:rPr>
              <a:t>and secure a </a:t>
            </a:r>
            <a:r>
              <a:rPr sz="2200" dirty="0">
                <a:latin typeface="Arial"/>
                <a:cs typeface="Arial"/>
              </a:rPr>
              <a:t> </a:t>
            </a:r>
            <a:r>
              <a:rPr sz="2200" spc="-5" dirty="0">
                <a:latin typeface="Arial"/>
                <a:cs typeface="Arial"/>
              </a:rPr>
              <a:t>database or </a:t>
            </a:r>
            <a:r>
              <a:rPr sz="2200" dirty="0">
                <a:latin typeface="Arial"/>
                <a:cs typeface="Arial"/>
              </a:rPr>
              <a:t>database </a:t>
            </a:r>
            <a:r>
              <a:rPr sz="2200" spc="-5" dirty="0">
                <a:latin typeface="Arial"/>
                <a:cs typeface="Arial"/>
              </a:rPr>
              <a:t>management software </a:t>
            </a:r>
            <a:r>
              <a:rPr sz="2200" dirty="0">
                <a:latin typeface="Arial"/>
                <a:cs typeface="Arial"/>
              </a:rPr>
              <a:t>from </a:t>
            </a:r>
            <a:r>
              <a:rPr sz="2200" spc="-5" dirty="0">
                <a:latin typeface="Arial"/>
                <a:cs typeface="Arial"/>
              </a:rPr>
              <a:t>illegitimate use and malicious </a:t>
            </a:r>
            <a:r>
              <a:rPr sz="2200" dirty="0">
                <a:latin typeface="Arial"/>
                <a:cs typeface="Arial"/>
              </a:rPr>
              <a:t> </a:t>
            </a:r>
            <a:r>
              <a:rPr sz="2200" spc="-5" dirty="0">
                <a:latin typeface="Arial"/>
                <a:cs typeface="Arial"/>
              </a:rPr>
              <a:t>threats</a:t>
            </a:r>
            <a:r>
              <a:rPr sz="2200" spc="5" dirty="0">
                <a:latin typeface="Arial"/>
                <a:cs typeface="Arial"/>
              </a:rPr>
              <a:t> </a:t>
            </a:r>
            <a:r>
              <a:rPr sz="2200" spc="-5" dirty="0">
                <a:latin typeface="Arial"/>
                <a:cs typeface="Arial"/>
              </a:rPr>
              <a:t>and</a:t>
            </a:r>
            <a:r>
              <a:rPr sz="2200" dirty="0">
                <a:latin typeface="Arial"/>
                <a:cs typeface="Arial"/>
              </a:rPr>
              <a:t> attacks.</a:t>
            </a:r>
            <a:endParaRPr sz="2200">
              <a:latin typeface="Arial"/>
              <a:cs typeface="Arial"/>
            </a:endParaRPr>
          </a:p>
          <a:p>
            <a:pPr>
              <a:lnSpc>
                <a:spcPct val="100000"/>
              </a:lnSpc>
              <a:spcBef>
                <a:spcPts val="20"/>
              </a:spcBef>
              <a:buFont typeface="Wingdings"/>
              <a:buChar char=""/>
            </a:pPr>
            <a:endParaRPr sz="3200">
              <a:latin typeface="Arial"/>
              <a:cs typeface="Arial"/>
            </a:endParaRPr>
          </a:p>
          <a:p>
            <a:pPr marL="469900" indent="-457200">
              <a:lnSpc>
                <a:spcPct val="100000"/>
              </a:lnSpc>
              <a:buFont typeface="Wingdings"/>
              <a:buChar char=""/>
              <a:tabLst>
                <a:tab pos="469265" algn="l"/>
                <a:tab pos="469900" algn="l"/>
              </a:tabLst>
            </a:pPr>
            <a:r>
              <a:rPr sz="2200" spc="-5" dirty="0">
                <a:latin typeface="Arial"/>
                <a:cs typeface="Arial"/>
              </a:rPr>
              <a:t>Database</a:t>
            </a:r>
            <a:r>
              <a:rPr sz="2200" spc="90" dirty="0">
                <a:latin typeface="Arial"/>
                <a:cs typeface="Arial"/>
              </a:rPr>
              <a:t> </a:t>
            </a:r>
            <a:r>
              <a:rPr sz="2200" dirty="0">
                <a:latin typeface="Arial"/>
                <a:cs typeface="Arial"/>
              </a:rPr>
              <a:t>security</a:t>
            </a:r>
            <a:r>
              <a:rPr sz="2200" spc="50" dirty="0">
                <a:latin typeface="Arial"/>
                <a:cs typeface="Arial"/>
              </a:rPr>
              <a:t> </a:t>
            </a:r>
            <a:r>
              <a:rPr sz="2200" dirty="0">
                <a:latin typeface="Arial"/>
                <a:cs typeface="Arial"/>
              </a:rPr>
              <a:t>covers</a:t>
            </a:r>
            <a:r>
              <a:rPr sz="2200" spc="95" dirty="0">
                <a:latin typeface="Arial"/>
                <a:cs typeface="Arial"/>
              </a:rPr>
              <a:t> </a:t>
            </a:r>
            <a:r>
              <a:rPr sz="2200" spc="-5" dirty="0">
                <a:latin typeface="Arial"/>
                <a:cs typeface="Arial"/>
              </a:rPr>
              <a:t>and</a:t>
            </a:r>
            <a:r>
              <a:rPr sz="2200" spc="85" dirty="0">
                <a:latin typeface="Arial"/>
                <a:cs typeface="Arial"/>
              </a:rPr>
              <a:t> </a:t>
            </a:r>
            <a:r>
              <a:rPr sz="2200" dirty="0">
                <a:latin typeface="Arial"/>
                <a:cs typeface="Arial"/>
              </a:rPr>
              <a:t>enforces</a:t>
            </a:r>
            <a:r>
              <a:rPr sz="2200" spc="55" dirty="0">
                <a:latin typeface="Arial"/>
                <a:cs typeface="Arial"/>
              </a:rPr>
              <a:t> </a:t>
            </a:r>
            <a:r>
              <a:rPr sz="2200" dirty="0">
                <a:latin typeface="Arial"/>
                <a:cs typeface="Arial"/>
              </a:rPr>
              <a:t>security</a:t>
            </a:r>
            <a:r>
              <a:rPr sz="2200" spc="60" dirty="0">
                <a:latin typeface="Arial"/>
                <a:cs typeface="Arial"/>
              </a:rPr>
              <a:t> </a:t>
            </a:r>
            <a:r>
              <a:rPr sz="2200" spc="-5" dirty="0">
                <a:latin typeface="Arial"/>
                <a:cs typeface="Arial"/>
              </a:rPr>
              <a:t>on</a:t>
            </a:r>
            <a:r>
              <a:rPr sz="2200" spc="85" dirty="0">
                <a:latin typeface="Arial"/>
                <a:cs typeface="Arial"/>
              </a:rPr>
              <a:t> </a:t>
            </a:r>
            <a:r>
              <a:rPr sz="2200" spc="-5" dirty="0">
                <a:latin typeface="Arial"/>
                <a:cs typeface="Arial"/>
              </a:rPr>
              <a:t>all</a:t>
            </a:r>
            <a:r>
              <a:rPr sz="2200" spc="85" dirty="0">
                <a:latin typeface="Arial"/>
                <a:cs typeface="Arial"/>
              </a:rPr>
              <a:t> </a:t>
            </a:r>
            <a:r>
              <a:rPr sz="2200" dirty="0">
                <a:latin typeface="Arial"/>
                <a:cs typeface="Arial"/>
              </a:rPr>
              <a:t>aspects</a:t>
            </a:r>
            <a:r>
              <a:rPr sz="2200" spc="85" dirty="0">
                <a:latin typeface="Arial"/>
                <a:cs typeface="Arial"/>
              </a:rPr>
              <a:t> </a:t>
            </a:r>
            <a:r>
              <a:rPr sz="2200" spc="-5" dirty="0">
                <a:latin typeface="Arial"/>
                <a:cs typeface="Arial"/>
              </a:rPr>
              <a:t>and</a:t>
            </a:r>
            <a:r>
              <a:rPr sz="2200" spc="90" dirty="0">
                <a:latin typeface="Arial"/>
                <a:cs typeface="Arial"/>
              </a:rPr>
              <a:t> </a:t>
            </a:r>
            <a:r>
              <a:rPr sz="2200" spc="-5" dirty="0">
                <a:latin typeface="Arial"/>
                <a:cs typeface="Arial"/>
              </a:rPr>
              <a:t>components</a:t>
            </a:r>
            <a:r>
              <a:rPr sz="2200" spc="75" dirty="0">
                <a:latin typeface="Arial"/>
                <a:cs typeface="Arial"/>
              </a:rPr>
              <a:t> </a:t>
            </a:r>
            <a:r>
              <a:rPr sz="2200" spc="-5" dirty="0">
                <a:latin typeface="Arial"/>
                <a:cs typeface="Arial"/>
              </a:rPr>
              <a:t>of</a:t>
            </a:r>
            <a:endParaRPr sz="2200">
              <a:latin typeface="Arial"/>
              <a:cs typeface="Arial"/>
            </a:endParaRPr>
          </a:p>
          <a:p>
            <a:pPr marL="469265">
              <a:lnSpc>
                <a:spcPct val="100000"/>
              </a:lnSpc>
              <a:spcBef>
                <a:spcPts val="5"/>
              </a:spcBef>
            </a:pPr>
            <a:r>
              <a:rPr sz="2200" spc="-5" dirty="0">
                <a:latin typeface="Arial"/>
                <a:cs typeface="Arial"/>
              </a:rPr>
              <a:t>databases.</a:t>
            </a:r>
            <a:r>
              <a:rPr sz="2200" dirty="0">
                <a:latin typeface="Arial"/>
                <a:cs typeface="Arial"/>
              </a:rPr>
              <a:t> This</a:t>
            </a:r>
            <a:r>
              <a:rPr sz="2200" spc="-25" dirty="0">
                <a:latin typeface="Arial"/>
                <a:cs typeface="Arial"/>
              </a:rPr>
              <a:t> </a:t>
            </a:r>
            <a:r>
              <a:rPr sz="2200" spc="-5" dirty="0">
                <a:latin typeface="Arial"/>
                <a:cs typeface="Arial"/>
              </a:rPr>
              <a:t>includes:</a:t>
            </a:r>
            <a:endParaRPr sz="2200">
              <a:latin typeface="Arial"/>
              <a:cs typeface="Arial"/>
            </a:endParaRPr>
          </a:p>
          <a:p>
            <a:pPr marL="756285" lvl="1" indent="-287655">
              <a:lnSpc>
                <a:spcPct val="100000"/>
              </a:lnSpc>
              <a:spcBef>
                <a:spcPts val="480"/>
              </a:spcBef>
              <a:buChar char="–"/>
              <a:tabLst>
                <a:tab pos="756285" algn="l"/>
                <a:tab pos="756920" algn="l"/>
              </a:tabLst>
            </a:pPr>
            <a:r>
              <a:rPr sz="2000" dirty="0">
                <a:latin typeface="Arial"/>
                <a:cs typeface="Arial"/>
              </a:rPr>
              <a:t>Data</a:t>
            </a:r>
            <a:r>
              <a:rPr sz="2000" spc="-20" dirty="0">
                <a:latin typeface="Arial"/>
                <a:cs typeface="Arial"/>
              </a:rPr>
              <a:t> </a:t>
            </a:r>
            <a:r>
              <a:rPr sz="2000" dirty="0">
                <a:latin typeface="Arial"/>
                <a:cs typeface="Arial"/>
              </a:rPr>
              <a:t>stored</a:t>
            </a:r>
            <a:r>
              <a:rPr sz="2000" spc="-50" dirty="0">
                <a:latin typeface="Arial"/>
                <a:cs typeface="Arial"/>
              </a:rPr>
              <a:t> </a:t>
            </a:r>
            <a:r>
              <a:rPr sz="2000" spc="-5" dirty="0">
                <a:latin typeface="Arial"/>
                <a:cs typeface="Arial"/>
              </a:rPr>
              <a:t>in</a:t>
            </a:r>
            <a:r>
              <a:rPr sz="2000" spc="-25" dirty="0">
                <a:latin typeface="Arial"/>
                <a:cs typeface="Arial"/>
              </a:rPr>
              <a:t> </a:t>
            </a:r>
            <a:r>
              <a:rPr sz="2000" dirty="0">
                <a:latin typeface="Arial"/>
                <a:cs typeface="Arial"/>
              </a:rPr>
              <a:t>database</a:t>
            </a:r>
            <a:endParaRPr sz="2000">
              <a:latin typeface="Arial"/>
              <a:cs typeface="Arial"/>
            </a:endParaRPr>
          </a:p>
          <a:p>
            <a:pPr marL="756285" lvl="1" indent="-287655">
              <a:lnSpc>
                <a:spcPct val="100000"/>
              </a:lnSpc>
              <a:spcBef>
                <a:spcPts val="480"/>
              </a:spcBef>
              <a:buChar char="–"/>
              <a:tabLst>
                <a:tab pos="756285" algn="l"/>
                <a:tab pos="756920" algn="l"/>
              </a:tabLst>
            </a:pPr>
            <a:r>
              <a:rPr sz="2000" dirty="0">
                <a:latin typeface="Arial"/>
                <a:cs typeface="Arial"/>
              </a:rPr>
              <a:t>Database</a:t>
            </a:r>
            <a:r>
              <a:rPr sz="2000" spc="-55" dirty="0">
                <a:latin typeface="Arial"/>
                <a:cs typeface="Arial"/>
              </a:rPr>
              <a:t> </a:t>
            </a:r>
            <a:r>
              <a:rPr sz="2000" spc="-5" dirty="0">
                <a:latin typeface="Arial"/>
                <a:cs typeface="Arial"/>
              </a:rPr>
              <a:t>server</a:t>
            </a:r>
            <a:endParaRPr sz="2000">
              <a:latin typeface="Arial"/>
              <a:cs typeface="Arial"/>
            </a:endParaRPr>
          </a:p>
          <a:p>
            <a:pPr marL="756285" lvl="1" indent="-287655">
              <a:lnSpc>
                <a:spcPct val="100000"/>
              </a:lnSpc>
              <a:spcBef>
                <a:spcPts val="480"/>
              </a:spcBef>
              <a:buChar char="–"/>
              <a:tabLst>
                <a:tab pos="756285" algn="l"/>
                <a:tab pos="756920" algn="l"/>
              </a:tabLst>
            </a:pPr>
            <a:r>
              <a:rPr sz="2000" dirty="0">
                <a:latin typeface="Arial"/>
                <a:cs typeface="Arial"/>
              </a:rPr>
              <a:t>Database</a:t>
            </a:r>
            <a:r>
              <a:rPr sz="2000" spc="-35" dirty="0">
                <a:latin typeface="Arial"/>
                <a:cs typeface="Arial"/>
              </a:rPr>
              <a:t> </a:t>
            </a:r>
            <a:r>
              <a:rPr sz="2000" dirty="0">
                <a:latin typeface="Arial"/>
                <a:cs typeface="Arial"/>
              </a:rPr>
              <a:t>management</a:t>
            </a:r>
            <a:r>
              <a:rPr sz="2000" spc="-65" dirty="0">
                <a:latin typeface="Arial"/>
                <a:cs typeface="Arial"/>
              </a:rPr>
              <a:t> </a:t>
            </a:r>
            <a:r>
              <a:rPr sz="2000" spc="-5" dirty="0">
                <a:latin typeface="Arial"/>
                <a:cs typeface="Arial"/>
              </a:rPr>
              <a:t>system</a:t>
            </a:r>
            <a:r>
              <a:rPr sz="2000" spc="-15" dirty="0">
                <a:latin typeface="Arial"/>
                <a:cs typeface="Arial"/>
              </a:rPr>
              <a:t> </a:t>
            </a:r>
            <a:r>
              <a:rPr sz="2000" dirty="0">
                <a:latin typeface="Arial"/>
                <a:cs typeface="Arial"/>
              </a:rPr>
              <a:t>(DBMS)</a:t>
            </a:r>
            <a:endParaRPr sz="2000">
              <a:latin typeface="Arial"/>
              <a:cs typeface="Arial"/>
            </a:endParaRPr>
          </a:p>
          <a:p>
            <a:pPr marL="756285" lvl="1" indent="-287655">
              <a:lnSpc>
                <a:spcPct val="100000"/>
              </a:lnSpc>
              <a:spcBef>
                <a:spcPts val="484"/>
              </a:spcBef>
              <a:buChar char="–"/>
              <a:tabLst>
                <a:tab pos="756285" algn="l"/>
                <a:tab pos="756920" algn="l"/>
              </a:tabLst>
            </a:pPr>
            <a:r>
              <a:rPr sz="2000" dirty="0">
                <a:latin typeface="Arial"/>
                <a:cs typeface="Arial"/>
              </a:rPr>
              <a:t>Other</a:t>
            </a:r>
            <a:r>
              <a:rPr sz="2000" spc="-40" dirty="0">
                <a:latin typeface="Arial"/>
                <a:cs typeface="Arial"/>
              </a:rPr>
              <a:t> </a:t>
            </a:r>
            <a:r>
              <a:rPr sz="2000" dirty="0">
                <a:latin typeface="Arial"/>
                <a:cs typeface="Arial"/>
              </a:rPr>
              <a:t>database</a:t>
            </a:r>
            <a:r>
              <a:rPr sz="2000" spc="-40" dirty="0">
                <a:latin typeface="Arial"/>
                <a:cs typeface="Arial"/>
              </a:rPr>
              <a:t> </a:t>
            </a:r>
            <a:r>
              <a:rPr sz="2000" spc="-5" dirty="0">
                <a:latin typeface="Arial"/>
                <a:cs typeface="Arial"/>
              </a:rPr>
              <a:t>workflow</a:t>
            </a:r>
            <a:r>
              <a:rPr sz="2000" spc="10" dirty="0">
                <a:latin typeface="Arial"/>
                <a:cs typeface="Arial"/>
              </a:rPr>
              <a:t> </a:t>
            </a:r>
            <a:r>
              <a:rPr sz="2000" dirty="0">
                <a:latin typeface="Arial"/>
                <a:cs typeface="Arial"/>
              </a:rPr>
              <a:t>applications</a:t>
            </a:r>
            <a:endParaRPr sz="2000">
              <a:latin typeface="Arial"/>
              <a:cs typeface="Arial"/>
            </a:endParaRPr>
          </a:p>
          <a:p>
            <a:pPr lvl="1">
              <a:lnSpc>
                <a:spcPct val="100000"/>
              </a:lnSpc>
              <a:spcBef>
                <a:spcPts val="10"/>
              </a:spcBef>
              <a:buFont typeface="Arial"/>
              <a:buChar char="–"/>
            </a:pPr>
            <a:endParaRPr sz="2950">
              <a:latin typeface="Arial"/>
              <a:cs typeface="Arial"/>
            </a:endParaRPr>
          </a:p>
          <a:p>
            <a:pPr marL="469265" marR="5715" indent="-457200" algn="just">
              <a:lnSpc>
                <a:spcPct val="100000"/>
              </a:lnSpc>
              <a:buFont typeface="Wingdings"/>
              <a:buChar char=""/>
              <a:tabLst>
                <a:tab pos="469900" algn="l"/>
              </a:tabLst>
            </a:pPr>
            <a:r>
              <a:rPr sz="2200" spc="-5" dirty="0">
                <a:latin typeface="Arial"/>
                <a:cs typeface="Arial"/>
              </a:rPr>
              <a:t>Database</a:t>
            </a:r>
            <a:r>
              <a:rPr sz="2200" dirty="0">
                <a:latin typeface="Arial"/>
                <a:cs typeface="Arial"/>
              </a:rPr>
              <a:t> security</a:t>
            </a:r>
            <a:r>
              <a:rPr sz="2200" spc="5" dirty="0">
                <a:latin typeface="Arial"/>
                <a:cs typeface="Arial"/>
              </a:rPr>
              <a:t> </a:t>
            </a:r>
            <a:r>
              <a:rPr sz="2200" spc="-10" dirty="0">
                <a:latin typeface="Arial"/>
                <a:cs typeface="Arial"/>
              </a:rPr>
              <a:t>is</a:t>
            </a:r>
            <a:r>
              <a:rPr sz="2200" spc="-5" dirty="0">
                <a:latin typeface="Arial"/>
                <a:cs typeface="Arial"/>
              </a:rPr>
              <a:t> generally</a:t>
            </a:r>
            <a:r>
              <a:rPr sz="2200" dirty="0">
                <a:latin typeface="Arial"/>
                <a:cs typeface="Arial"/>
              </a:rPr>
              <a:t> planned,</a:t>
            </a:r>
            <a:r>
              <a:rPr sz="2200" spc="5" dirty="0">
                <a:latin typeface="Arial"/>
                <a:cs typeface="Arial"/>
              </a:rPr>
              <a:t> </a:t>
            </a:r>
            <a:r>
              <a:rPr sz="2200" spc="-5" dirty="0">
                <a:latin typeface="Arial"/>
                <a:cs typeface="Arial"/>
              </a:rPr>
              <a:t>implemented</a:t>
            </a:r>
            <a:r>
              <a:rPr sz="2200" dirty="0">
                <a:latin typeface="Arial"/>
                <a:cs typeface="Arial"/>
              </a:rPr>
              <a:t> </a:t>
            </a:r>
            <a:r>
              <a:rPr sz="2200" spc="-5" dirty="0">
                <a:latin typeface="Arial"/>
                <a:cs typeface="Arial"/>
              </a:rPr>
              <a:t>and</a:t>
            </a:r>
            <a:r>
              <a:rPr sz="2200" dirty="0">
                <a:latin typeface="Arial"/>
                <a:cs typeface="Arial"/>
              </a:rPr>
              <a:t> </a:t>
            </a:r>
            <a:r>
              <a:rPr sz="2200" spc="-5" dirty="0">
                <a:latin typeface="Arial"/>
                <a:cs typeface="Arial"/>
              </a:rPr>
              <a:t>maintained</a:t>
            </a:r>
            <a:r>
              <a:rPr sz="2200" dirty="0">
                <a:latin typeface="Arial"/>
                <a:cs typeface="Arial"/>
              </a:rPr>
              <a:t> </a:t>
            </a:r>
            <a:r>
              <a:rPr sz="2200" spc="5" dirty="0">
                <a:latin typeface="Arial"/>
                <a:cs typeface="Arial"/>
              </a:rPr>
              <a:t>by</a:t>
            </a:r>
            <a:r>
              <a:rPr sz="2200" spc="10" dirty="0">
                <a:latin typeface="Arial"/>
                <a:cs typeface="Arial"/>
              </a:rPr>
              <a:t> </a:t>
            </a:r>
            <a:r>
              <a:rPr sz="2200" spc="-5" dirty="0">
                <a:latin typeface="Arial"/>
                <a:cs typeface="Arial"/>
              </a:rPr>
              <a:t>a </a:t>
            </a:r>
            <a:r>
              <a:rPr sz="2200" dirty="0">
                <a:latin typeface="Arial"/>
                <a:cs typeface="Arial"/>
              </a:rPr>
              <a:t> </a:t>
            </a:r>
            <a:r>
              <a:rPr sz="2200" spc="-5" dirty="0">
                <a:latin typeface="Arial"/>
                <a:cs typeface="Arial"/>
              </a:rPr>
              <a:t>database</a:t>
            </a:r>
            <a:r>
              <a:rPr sz="2200" spc="25" dirty="0">
                <a:latin typeface="Arial"/>
                <a:cs typeface="Arial"/>
              </a:rPr>
              <a:t> </a:t>
            </a:r>
            <a:r>
              <a:rPr sz="2200" spc="-5" dirty="0">
                <a:latin typeface="Arial"/>
                <a:cs typeface="Arial"/>
              </a:rPr>
              <a:t>administrator</a:t>
            </a:r>
            <a:r>
              <a:rPr sz="2200" spc="25" dirty="0">
                <a:latin typeface="Arial"/>
                <a:cs typeface="Arial"/>
              </a:rPr>
              <a:t> </a:t>
            </a:r>
            <a:r>
              <a:rPr sz="2200" spc="-5" dirty="0">
                <a:latin typeface="Arial"/>
                <a:cs typeface="Arial"/>
              </a:rPr>
              <a:t>and</a:t>
            </a:r>
            <a:r>
              <a:rPr sz="2200" spc="30" dirty="0">
                <a:latin typeface="Arial"/>
                <a:cs typeface="Arial"/>
              </a:rPr>
              <a:t> </a:t>
            </a:r>
            <a:r>
              <a:rPr sz="2200" spc="-5" dirty="0">
                <a:latin typeface="Arial"/>
                <a:cs typeface="Arial"/>
              </a:rPr>
              <a:t>or</a:t>
            </a:r>
            <a:r>
              <a:rPr sz="2200" dirty="0">
                <a:latin typeface="Arial"/>
                <a:cs typeface="Arial"/>
              </a:rPr>
              <a:t> other</a:t>
            </a:r>
            <a:r>
              <a:rPr sz="2200" spc="5" dirty="0">
                <a:latin typeface="Arial"/>
                <a:cs typeface="Arial"/>
              </a:rPr>
              <a:t> </a:t>
            </a:r>
            <a:r>
              <a:rPr sz="2200" spc="-5" dirty="0">
                <a:latin typeface="Arial"/>
                <a:cs typeface="Arial"/>
              </a:rPr>
              <a:t>information</a:t>
            </a:r>
            <a:r>
              <a:rPr sz="2200" spc="30" dirty="0">
                <a:latin typeface="Arial"/>
                <a:cs typeface="Arial"/>
              </a:rPr>
              <a:t> </a:t>
            </a:r>
            <a:r>
              <a:rPr sz="2200" spc="-5" dirty="0">
                <a:latin typeface="Arial"/>
                <a:cs typeface="Arial"/>
              </a:rPr>
              <a:t>security</a:t>
            </a:r>
            <a:r>
              <a:rPr sz="2200" spc="15" dirty="0">
                <a:latin typeface="Arial"/>
                <a:cs typeface="Arial"/>
              </a:rPr>
              <a:t> </a:t>
            </a:r>
            <a:r>
              <a:rPr sz="2200" spc="-5" dirty="0">
                <a:latin typeface="Arial"/>
                <a:cs typeface="Arial"/>
              </a:rPr>
              <a:t>professional.</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29</a:t>
            </a:fld>
            <a:endParaRPr spc="-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3AC4F3B3-85AA-40AE-9A08-4FCDBB56FB2B}" type="slidenum">
              <a:rPr lang="en-US" altLang="en-US" sz="1400"/>
              <a:pPr>
                <a:spcBef>
                  <a:spcPct val="50000"/>
                </a:spcBef>
                <a:buClrTx/>
                <a:buFontTx/>
                <a:buNone/>
              </a:pPr>
              <a:t>30</a:t>
            </a:fld>
            <a:endParaRPr lang="en-US" altLang="en-US" sz="1400"/>
          </a:p>
        </p:txBody>
      </p:sp>
      <p:sp>
        <p:nvSpPr>
          <p:cNvPr id="98308" name="Rectangle 2"/>
          <p:cNvSpPr>
            <a:spLocks noGrp="1" noChangeArrowheads="1"/>
          </p:cNvSpPr>
          <p:nvPr>
            <p:ph type="body" idx="1"/>
          </p:nvPr>
        </p:nvSpPr>
        <p:spPr>
          <a:xfrm>
            <a:off x="850900" y="913939"/>
            <a:ext cx="10711814" cy="5563061"/>
          </a:xfrm>
        </p:spPr>
        <p:txBody>
          <a:bodyPr/>
          <a:lstStyle/>
          <a:p>
            <a:pPr algn="ctr" eaLnBrk="1" hangingPunct="1">
              <a:lnSpc>
                <a:spcPct val="90000"/>
              </a:lnSpc>
              <a:buFont typeface="Wingdings" panose="05000000000000000000" pitchFamily="2" charset="2"/>
              <a:buNone/>
            </a:pPr>
            <a:r>
              <a:rPr lang="en-US" altLang="en-US" sz="3500" b="1" u="sng" dirty="0"/>
              <a:t>Threats to Database</a:t>
            </a:r>
            <a:endParaRPr lang="en-US" altLang="en-US" sz="2800" dirty="0"/>
          </a:p>
          <a:p>
            <a:pPr algn="just"/>
            <a:r>
              <a:rPr lang="en-US" altLang="en-US" b="1" dirty="0"/>
              <a:t> Loss of integrity: Database integrity </a:t>
            </a:r>
            <a:r>
              <a:rPr lang="en-US" altLang="en-US" dirty="0"/>
              <a:t>refers to the requirement that information be protected from improper modification. Modification of data includes creating, inserting, and updating data; changing the status of data; and deleting data. Integrity is lost if unauthorized changes are made to the data by either intentional or accidental acts. If the loss of system or data integrity is not corrected, continued use of the contaminated system or corrupted data could result in inaccuracy, fraud, or erroneous decisions.</a:t>
            </a:r>
          </a:p>
          <a:p>
            <a:pPr algn="just"/>
            <a:r>
              <a:rPr lang="en-US" altLang="en-US" b="1" dirty="0"/>
              <a:t>Loss of availability: Database availability </a:t>
            </a:r>
            <a:r>
              <a:rPr lang="en-US" altLang="en-US" dirty="0"/>
              <a:t>refers to making objects available to a human user or a program who/which has a legitimate right to those data objects. </a:t>
            </a:r>
            <a:r>
              <a:rPr lang="en-US" altLang="en-US" i="1" dirty="0"/>
              <a:t>Loss of availability occurs when the user or program cannot access these objects.</a:t>
            </a:r>
          </a:p>
          <a:p>
            <a:pPr algn="just"/>
            <a:r>
              <a:rPr lang="en-US" altLang="en-US" b="1" dirty="0"/>
              <a:t>Loss of confidentiality: Database confidentiality </a:t>
            </a:r>
            <a:r>
              <a:rPr lang="en-US" altLang="en-US" dirty="0"/>
              <a:t>refers to the protection of data from unauthorized disclosure. The impact of unauthorized disclosure of confidential information can range from violation of the Data Privacy Act to the </a:t>
            </a:r>
            <a:r>
              <a:rPr lang="en-US" altLang="en-US" dirty="0" err="1"/>
              <a:t>jeopardization</a:t>
            </a:r>
            <a:r>
              <a:rPr lang="en-US" altLang="en-US" dirty="0"/>
              <a:t> of national security. Unauthorized, unanticipated, or unintentional disclosure could result in loss of public confidence, embarrassment, or legal action against the organization.</a:t>
            </a:r>
            <a:endParaRPr lang="en-US" altLang="en-US" b="1" dirty="0"/>
          </a:p>
          <a:p>
            <a:pPr algn="just"/>
            <a:endParaRPr lang="en-US" altLang="en-US" b="1" dirty="0"/>
          </a:p>
        </p:txBody>
      </p:sp>
    </p:spTree>
    <p:extLst>
      <p:ext uri="{BB962C8B-B14F-4D97-AF65-F5344CB8AC3E}">
        <p14:creationId xmlns:p14="http://schemas.microsoft.com/office/powerpoint/2010/main" val="7384372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6534784"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Database</a:t>
            </a:r>
            <a:r>
              <a:rPr sz="3600" spc="-55" dirty="0">
                <a:solidFill>
                  <a:srgbClr val="000000"/>
                </a:solidFill>
                <a:latin typeface="Verdana"/>
                <a:cs typeface="Verdana"/>
              </a:rPr>
              <a:t> </a:t>
            </a:r>
            <a:r>
              <a:rPr sz="3600" spc="-5" dirty="0">
                <a:solidFill>
                  <a:srgbClr val="000000"/>
                </a:solidFill>
                <a:latin typeface="Verdana"/>
                <a:cs typeface="Verdana"/>
              </a:rPr>
              <a:t>Security</a:t>
            </a:r>
            <a:r>
              <a:rPr sz="3600" spc="-60" dirty="0">
                <a:solidFill>
                  <a:srgbClr val="000000"/>
                </a:solidFill>
                <a:latin typeface="Verdana"/>
                <a:cs typeface="Verdana"/>
              </a:rPr>
              <a:t> </a:t>
            </a:r>
            <a:r>
              <a:rPr sz="3600" dirty="0">
                <a:solidFill>
                  <a:srgbClr val="000000"/>
                </a:solidFill>
                <a:latin typeface="Verdana"/>
                <a:cs typeface="Verdana"/>
              </a:rPr>
              <a:t>Issues</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12317"/>
            <a:ext cx="7312025" cy="3244850"/>
          </a:xfrm>
          <a:prstGeom prst="rect">
            <a:avLst/>
          </a:prstGeom>
        </p:spPr>
        <p:txBody>
          <a:bodyPr vert="horz" wrap="square" lIns="0" tIns="78740" rIns="0" bIns="0" rtlCol="0">
            <a:spAutoFit/>
          </a:bodyPr>
          <a:lstStyle/>
          <a:p>
            <a:pPr marL="469900" indent="-457200">
              <a:lnSpc>
                <a:spcPct val="100000"/>
              </a:lnSpc>
              <a:spcBef>
                <a:spcPts val="620"/>
              </a:spcBef>
              <a:buAutoNum type="arabicParenR"/>
              <a:tabLst>
                <a:tab pos="469265" algn="l"/>
                <a:tab pos="469900" algn="l"/>
              </a:tabLst>
            </a:pPr>
            <a:r>
              <a:rPr sz="2200" spc="-10" dirty="0">
                <a:latin typeface="Arial"/>
                <a:cs typeface="Arial"/>
              </a:rPr>
              <a:t>No</a:t>
            </a:r>
            <a:r>
              <a:rPr sz="2200" spc="5" dirty="0">
                <a:latin typeface="Arial"/>
                <a:cs typeface="Arial"/>
              </a:rPr>
              <a:t> </a:t>
            </a:r>
            <a:r>
              <a:rPr sz="2200" spc="-5" dirty="0">
                <a:latin typeface="Arial"/>
                <a:cs typeface="Arial"/>
              </a:rPr>
              <a:t>Security</a:t>
            </a:r>
            <a:r>
              <a:rPr sz="2200" spc="10" dirty="0">
                <a:latin typeface="Arial"/>
                <a:cs typeface="Arial"/>
              </a:rPr>
              <a:t> </a:t>
            </a:r>
            <a:r>
              <a:rPr sz="2200" dirty="0">
                <a:latin typeface="Arial"/>
                <a:cs typeface="Arial"/>
              </a:rPr>
              <a:t>Testing</a:t>
            </a:r>
            <a:r>
              <a:rPr sz="2200" spc="-10" dirty="0">
                <a:latin typeface="Arial"/>
                <a:cs typeface="Arial"/>
              </a:rPr>
              <a:t> </a:t>
            </a:r>
            <a:r>
              <a:rPr sz="2200" spc="-5" dirty="0">
                <a:latin typeface="Arial"/>
                <a:cs typeface="Arial"/>
              </a:rPr>
              <a:t>Before</a:t>
            </a:r>
            <a:r>
              <a:rPr sz="2200" spc="5" dirty="0">
                <a:latin typeface="Arial"/>
                <a:cs typeface="Arial"/>
              </a:rPr>
              <a:t> </a:t>
            </a:r>
            <a:r>
              <a:rPr sz="2200" spc="-10" dirty="0">
                <a:latin typeface="Arial"/>
                <a:cs typeface="Arial"/>
              </a:rPr>
              <a:t>Deployment</a:t>
            </a:r>
            <a:endParaRPr sz="2200">
              <a:latin typeface="Arial"/>
              <a:cs typeface="Arial"/>
            </a:endParaRPr>
          </a:p>
          <a:p>
            <a:pPr marL="469900" indent="-457200">
              <a:lnSpc>
                <a:spcPct val="100000"/>
              </a:lnSpc>
              <a:spcBef>
                <a:spcPts val="520"/>
              </a:spcBef>
              <a:buAutoNum type="arabicParenR"/>
              <a:tabLst>
                <a:tab pos="469265" algn="l"/>
                <a:tab pos="469900" algn="l"/>
              </a:tabLst>
            </a:pPr>
            <a:r>
              <a:rPr sz="2200" spc="-5" dirty="0">
                <a:latin typeface="Arial"/>
                <a:cs typeface="Arial"/>
              </a:rPr>
              <a:t>Poor</a:t>
            </a:r>
            <a:r>
              <a:rPr sz="2200" spc="5" dirty="0">
                <a:latin typeface="Arial"/>
                <a:cs typeface="Arial"/>
              </a:rPr>
              <a:t> </a:t>
            </a:r>
            <a:r>
              <a:rPr sz="2200" spc="-10" dirty="0">
                <a:latin typeface="Arial"/>
                <a:cs typeface="Arial"/>
              </a:rPr>
              <a:t>Encryption</a:t>
            </a:r>
            <a:r>
              <a:rPr sz="2200" spc="60"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Data</a:t>
            </a:r>
            <a:r>
              <a:rPr sz="2200" spc="15" dirty="0">
                <a:latin typeface="Arial"/>
                <a:cs typeface="Arial"/>
              </a:rPr>
              <a:t> </a:t>
            </a:r>
            <a:r>
              <a:rPr sz="2200" spc="-5" dirty="0">
                <a:latin typeface="Arial"/>
                <a:cs typeface="Arial"/>
              </a:rPr>
              <a:t>Breaches</a:t>
            </a:r>
            <a:r>
              <a:rPr sz="2200" spc="30" dirty="0">
                <a:latin typeface="Arial"/>
                <a:cs typeface="Arial"/>
              </a:rPr>
              <a:t> </a:t>
            </a:r>
            <a:r>
              <a:rPr sz="2200" spc="-5" dirty="0">
                <a:latin typeface="Arial"/>
                <a:cs typeface="Arial"/>
              </a:rPr>
              <a:t>Come</a:t>
            </a:r>
            <a:r>
              <a:rPr sz="2200" spc="10" dirty="0">
                <a:latin typeface="Arial"/>
                <a:cs typeface="Arial"/>
              </a:rPr>
              <a:t> </a:t>
            </a:r>
            <a:r>
              <a:rPr sz="2200" dirty="0">
                <a:latin typeface="Arial"/>
                <a:cs typeface="Arial"/>
              </a:rPr>
              <a:t>Together</a:t>
            </a:r>
            <a:endParaRPr sz="2200">
              <a:latin typeface="Arial"/>
              <a:cs typeface="Arial"/>
            </a:endParaRPr>
          </a:p>
          <a:p>
            <a:pPr marL="469900" indent="-457200">
              <a:lnSpc>
                <a:spcPct val="100000"/>
              </a:lnSpc>
              <a:spcBef>
                <a:spcPts val="540"/>
              </a:spcBef>
              <a:buAutoNum type="arabicParenR"/>
              <a:tabLst>
                <a:tab pos="469265" algn="l"/>
                <a:tab pos="469900" algn="l"/>
              </a:tabLst>
            </a:pPr>
            <a:r>
              <a:rPr sz="2200" spc="-5" dirty="0">
                <a:latin typeface="Arial"/>
                <a:cs typeface="Arial"/>
              </a:rPr>
              <a:t>Stolen</a:t>
            </a:r>
            <a:r>
              <a:rPr sz="2200" spc="5" dirty="0">
                <a:latin typeface="Arial"/>
                <a:cs typeface="Arial"/>
              </a:rPr>
              <a:t> </a:t>
            </a:r>
            <a:r>
              <a:rPr sz="2200" spc="-5" dirty="0">
                <a:latin typeface="Arial"/>
                <a:cs typeface="Arial"/>
              </a:rPr>
              <a:t>Database</a:t>
            </a:r>
            <a:r>
              <a:rPr sz="2200" spc="-25" dirty="0">
                <a:latin typeface="Arial"/>
                <a:cs typeface="Arial"/>
              </a:rPr>
              <a:t> </a:t>
            </a:r>
            <a:r>
              <a:rPr sz="2200" spc="-5" dirty="0">
                <a:latin typeface="Arial"/>
                <a:cs typeface="Arial"/>
              </a:rPr>
              <a:t>Backups</a:t>
            </a:r>
            <a:endParaRPr sz="2200">
              <a:latin typeface="Arial"/>
              <a:cs typeface="Arial"/>
            </a:endParaRPr>
          </a:p>
          <a:p>
            <a:pPr marL="469900" indent="-457200">
              <a:lnSpc>
                <a:spcPct val="100000"/>
              </a:lnSpc>
              <a:spcBef>
                <a:spcPts val="520"/>
              </a:spcBef>
              <a:buAutoNum type="arabicParenR"/>
              <a:tabLst>
                <a:tab pos="469265" algn="l"/>
                <a:tab pos="469900" algn="l"/>
              </a:tabLst>
            </a:pPr>
            <a:r>
              <a:rPr sz="2200" spc="-15" dirty="0">
                <a:latin typeface="Arial"/>
                <a:cs typeface="Arial"/>
              </a:rPr>
              <a:t>Flaws</a:t>
            </a:r>
            <a:r>
              <a:rPr sz="2200" spc="45" dirty="0">
                <a:latin typeface="Arial"/>
                <a:cs typeface="Arial"/>
              </a:rPr>
              <a:t> </a:t>
            </a:r>
            <a:r>
              <a:rPr sz="2200" spc="-10" dirty="0">
                <a:latin typeface="Arial"/>
                <a:cs typeface="Arial"/>
              </a:rPr>
              <a:t>in </a:t>
            </a:r>
            <a:r>
              <a:rPr sz="2200" spc="-5" dirty="0">
                <a:latin typeface="Arial"/>
                <a:cs typeface="Arial"/>
              </a:rPr>
              <a:t>Features</a:t>
            </a:r>
            <a:endParaRPr sz="2200">
              <a:latin typeface="Arial"/>
              <a:cs typeface="Arial"/>
            </a:endParaRPr>
          </a:p>
          <a:p>
            <a:pPr marL="469900" indent="-457200">
              <a:lnSpc>
                <a:spcPct val="100000"/>
              </a:lnSpc>
              <a:spcBef>
                <a:spcPts val="545"/>
              </a:spcBef>
              <a:buAutoNum type="arabicParenR"/>
              <a:tabLst>
                <a:tab pos="469265" algn="l"/>
                <a:tab pos="469900" algn="l"/>
              </a:tabLst>
            </a:pPr>
            <a:r>
              <a:rPr sz="2200" spc="5" dirty="0">
                <a:latin typeface="Arial"/>
                <a:cs typeface="Arial"/>
              </a:rPr>
              <a:t>Weak</a:t>
            </a:r>
            <a:r>
              <a:rPr sz="2200" spc="-45" dirty="0">
                <a:latin typeface="Arial"/>
                <a:cs typeface="Arial"/>
              </a:rPr>
              <a:t> </a:t>
            </a:r>
            <a:r>
              <a:rPr sz="2200" spc="-5" dirty="0">
                <a:latin typeface="Arial"/>
                <a:cs typeface="Arial"/>
              </a:rPr>
              <a:t>and</a:t>
            </a:r>
            <a:r>
              <a:rPr sz="2200" dirty="0">
                <a:latin typeface="Arial"/>
                <a:cs typeface="Arial"/>
              </a:rPr>
              <a:t> </a:t>
            </a:r>
            <a:r>
              <a:rPr sz="2200" spc="-5" dirty="0">
                <a:latin typeface="Arial"/>
                <a:cs typeface="Arial"/>
              </a:rPr>
              <a:t>Complex</a:t>
            </a:r>
            <a:r>
              <a:rPr sz="2200" spc="20" dirty="0">
                <a:latin typeface="Arial"/>
                <a:cs typeface="Arial"/>
              </a:rPr>
              <a:t> </a:t>
            </a:r>
            <a:r>
              <a:rPr sz="2200" spc="-10" dirty="0">
                <a:latin typeface="Arial"/>
                <a:cs typeface="Arial"/>
              </a:rPr>
              <a:t>DB</a:t>
            </a:r>
            <a:r>
              <a:rPr sz="2200" spc="-5" dirty="0">
                <a:latin typeface="Arial"/>
                <a:cs typeface="Arial"/>
              </a:rPr>
              <a:t> </a:t>
            </a:r>
            <a:r>
              <a:rPr sz="2200" dirty="0">
                <a:latin typeface="Arial"/>
                <a:cs typeface="Arial"/>
              </a:rPr>
              <a:t>Infrastructure</a:t>
            </a:r>
            <a:endParaRPr sz="2200">
              <a:latin typeface="Arial"/>
              <a:cs typeface="Arial"/>
            </a:endParaRPr>
          </a:p>
          <a:p>
            <a:pPr marL="469900" indent="-457200">
              <a:lnSpc>
                <a:spcPct val="100000"/>
              </a:lnSpc>
              <a:spcBef>
                <a:spcPts val="520"/>
              </a:spcBef>
              <a:buAutoNum type="arabicParenR"/>
              <a:tabLst>
                <a:tab pos="469265" algn="l"/>
                <a:tab pos="469900" algn="l"/>
              </a:tabLst>
            </a:pPr>
            <a:r>
              <a:rPr sz="2200" spc="-5" dirty="0">
                <a:latin typeface="Arial"/>
                <a:cs typeface="Arial"/>
              </a:rPr>
              <a:t>Limitless</a:t>
            </a:r>
            <a:r>
              <a:rPr sz="2200" spc="30" dirty="0">
                <a:latin typeface="Arial"/>
                <a:cs typeface="Arial"/>
              </a:rPr>
              <a:t> </a:t>
            </a:r>
            <a:r>
              <a:rPr sz="2200" spc="-5" dirty="0">
                <a:latin typeface="Arial"/>
                <a:cs typeface="Arial"/>
              </a:rPr>
              <a:t>Administration</a:t>
            </a:r>
            <a:r>
              <a:rPr sz="2200" spc="30" dirty="0">
                <a:latin typeface="Arial"/>
                <a:cs typeface="Arial"/>
              </a:rPr>
              <a:t> </a:t>
            </a:r>
            <a:r>
              <a:rPr sz="2200" spc="-5" dirty="0">
                <a:latin typeface="Arial"/>
                <a:cs typeface="Arial"/>
              </a:rPr>
              <a:t>Access</a:t>
            </a:r>
            <a:r>
              <a:rPr sz="2200" spc="10" dirty="0">
                <a:latin typeface="Arial"/>
                <a:cs typeface="Arial"/>
              </a:rPr>
              <a:t> </a:t>
            </a:r>
            <a:r>
              <a:rPr sz="2200" dirty="0">
                <a:latin typeface="Arial"/>
                <a:cs typeface="Arial"/>
              </a:rPr>
              <a:t>=</a:t>
            </a:r>
            <a:r>
              <a:rPr sz="2200" spc="5" dirty="0">
                <a:latin typeface="Arial"/>
                <a:cs typeface="Arial"/>
              </a:rPr>
              <a:t> </a:t>
            </a:r>
            <a:r>
              <a:rPr sz="2200" spc="-5" dirty="0">
                <a:latin typeface="Arial"/>
                <a:cs typeface="Arial"/>
              </a:rPr>
              <a:t>Poor</a:t>
            </a:r>
            <a:r>
              <a:rPr sz="2200" spc="10" dirty="0">
                <a:latin typeface="Arial"/>
                <a:cs typeface="Arial"/>
              </a:rPr>
              <a:t> </a:t>
            </a:r>
            <a:r>
              <a:rPr sz="2200" spc="-5" dirty="0">
                <a:latin typeface="Arial"/>
                <a:cs typeface="Arial"/>
              </a:rPr>
              <a:t>Data</a:t>
            </a:r>
            <a:r>
              <a:rPr sz="2200" spc="15" dirty="0">
                <a:latin typeface="Arial"/>
                <a:cs typeface="Arial"/>
              </a:rPr>
              <a:t> </a:t>
            </a:r>
            <a:r>
              <a:rPr sz="2200" spc="-5" dirty="0">
                <a:latin typeface="Arial"/>
                <a:cs typeface="Arial"/>
              </a:rPr>
              <a:t>Protection</a:t>
            </a:r>
            <a:endParaRPr sz="2200">
              <a:latin typeface="Arial"/>
              <a:cs typeface="Arial"/>
            </a:endParaRPr>
          </a:p>
          <a:p>
            <a:pPr marL="469900" indent="-457200">
              <a:lnSpc>
                <a:spcPct val="100000"/>
              </a:lnSpc>
              <a:spcBef>
                <a:spcPts val="520"/>
              </a:spcBef>
              <a:buAutoNum type="arabicParenR"/>
              <a:tabLst>
                <a:tab pos="469265" algn="l"/>
                <a:tab pos="469900" algn="l"/>
              </a:tabLst>
            </a:pPr>
            <a:r>
              <a:rPr sz="2200" spc="-5" dirty="0">
                <a:latin typeface="Arial"/>
                <a:cs typeface="Arial"/>
              </a:rPr>
              <a:t>Inadequate</a:t>
            </a:r>
            <a:r>
              <a:rPr sz="2200" spc="15" dirty="0">
                <a:latin typeface="Arial"/>
                <a:cs typeface="Arial"/>
              </a:rPr>
              <a:t> </a:t>
            </a:r>
            <a:r>
              <a:rPr sz="2200" spc="-5" dirty="0">
                <a:latin typeface="Arial"/>
                <a:cs typeface="Arial"/>
              </a:rPr>
              <a:t>Key</a:t>
            </a:r>
            <a:r>
              <a:rPr sz="2200" spc="-10" dirty="0">
                <a:latin typeface="Arial"/>
                <a:cs typeface="Arial"/>
              </a:rPr>
              <a:t> </a:t>
            </a:r>
            <a:r>
              <a:rPr sz="2200" spc="-5" dirty="0">
                <a:latin typeface="Arial"/>
                <a:cs typeface="Arial"/>
              </a:rPr>
              <a:t>Management</a:t>
            </a:r>
            <a:endParaRPr sz="2200">
              <a:latin typeface="Arial"/>
              <a:cs typeface="Arial"/>
            </a:endParaRPr>
          </a:p>
          <a:p>
            <a:pPr marL="469900" indent="-457200">
              <a:lnSpc>
                <a:spcPct val="100000"/>
              </a:lnSpc>
              <a:spcBef>
                <a:spcPts val="540"/>
              </a:spcBef>
              <a:buAutoNum type="arabicParenR"/>
              <a:tabLst>
                <a:tab pos="469265" algn="l"/>
                <a:tab pos="469900" algn="l"/>
              </a:tabLst>
            </a:pPr>
            <a:r>
              <a:rPr sz="2200" spc="-5" dirty="0">
                <a:latin typeface="Arial"/>
                <a:cs typeface="Arial"/>
              </a:rPr>
              <a:t>Irregularities</a:t>
            </a:r>
            <a:r>
              <a:rPr sz="2200" spc="25" dirty="0">
                <a:latin typeface="Arial"/>
                <a:cs typeface="Arial"/>
              </a:rPr>
              <a:t> </a:t>
            </a:r>
            <a:r>
              <a:rPr sz="2200" spc="-10" dirty="0">
                <a:latin typeface="Arial"/>
                <a:cs typeface="Arial"/>
              </a:rPr>
              <a:t>in</a:t>
            </a:r>
            <a:r>
              <a:rPr sz="2200" spc="-5" dirty="0">
                <a:latin typeface="Arial"/>
                <a:cs typeface="Arial"/>
              </a:rPr>
              <a:t> Databases</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31</a:t>
            </a:fld>
            <a:endParaRPr spc="-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701040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Types</a:t>
            </a:r>
            <a:r>
              <a:rPr sz="3600" spc="-50" dirty="0">
                <a:solidFill>
                  <a:srgbClr val="000000"/>
                </a:solidFill>
                <a:latin typeface="Verdana"/>
                <a:cs typeface="Verdana"/>
              </a:rPr>
              <a:t> </a:t>
            </a:r>
            <a:r>
              <a:rPr sz="3600" dirty="0">
                <a:solidFill>
                  <a:srgbClr val="000000"/>
                </a:solidFill>
                <a:latin typeface="Verdana"/>
                <a:cs typeface="Verdana"/>
              </a:rPr>
              <a:t>of</a:t>
            </a:r>
            <a:r>
              <a:rPr sz="3600" spc="-15" dirty="0">
                <a:solidFill>
                  <a:srgbClr val="000000"/>
                </a:solidFill>
                <a:latin typeface="Verdana"/>
                <a:cs typeface="Verdana"/>
              </a:rPr>
              <a:t> </a:t>
            </a:r>
            <a:r>
              <a:rPr sz="3600" spc="-5" dirty="0">
                <a:solidFill>
                  <a:srgbClr val="000000"/>
                </a:solidFill>
                <a:latin typeface="Verdana"/>
                <a:cs typeface="Verdana"/>
              </a:rPr>
              <a:t>Database</a:t>
            </a:r>
            <a:r>
              <a:rPr sz="3600" spc="-50" dirty="0">
                <a:solidFill>
                  <a:srgbClr val="000000"/>
                </a:solidFill>
                <a:latin typeface="Verdana"/>
                <a:cs typeface="Verdana"/>
              </a:rPr>
              <a:t> </a:t>
            </a:r>
            <a:r>
              <a:rPr sz="3600" spc="-5" dirty="0">
                <a:solidFill>
                  <a:srgbClr val="000000"/>
                </a:solidFill>
                <a:latin typeface="Verdana"/>
                <a:cs typeface="Verdana"/>
              </a:rPr>
              <a:t>Security</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6735" cy="5186045"/>
          </a:xfrm>
          <a:prstGeom prst="rect">
            <a:avLst/>
          </a:prstGeom>
        </p:spPr>
        <p:txBody>
          <a:bodyPr vert="horz" wrap="square" lIns="0" tIns="12700" rIns="0" bIns="0" rtlCol="0">
            <a:spAutoFit/>
          </a:bodyPr>
          <a:lstStyle/>
          <a:p>
            <a:pPr marL="12700">
              <a:lnSpc>
                <a:spcPct val="100000"/>
              </a:lnSpc>
              <a:spcBef>
                <a:spcPts val="100"/>
              </a:spcBef>
            </a:pPr>
            <a:r>
              <a:rPr sz="2200" spc="5" dirty="0">
                <a:latin typeface="Arial"/>
                <a:cs typeface="Arial"/>
              </a:rPr>
              <a:t>The</a:t>
            </a:r>
            <a:r>
              <a:rPr sz="2200" spc="-10" dirty="0">
                <a:latin typeface="Arial"/>
                <a:cs typeface="Arial"/>
              </a:rPr>
              <a:t> </a:t>
            </a:r>
            <a:r>
              <a:rPr sz="2200" spc="-5" dirty="0">
                <a:latin typeface="Arial"/>
                <a:cs typeface="Arial"/>
              </a:rPr>
              <a:t>database</a:t>
            </a:r>
            <a:r>
              <a:rPr sz="2200" spc="10" dirty="0">
                <a:latin typeface="Arial"/>
                <a:cs typeface="Arial"/>
              </a:rPr>
              <a:t> </a:t>
            </a:r>
            <a:r>
              <a:rPr sz="2200" spc="-5" dirty="0">
                <a:latin typeface="Arial"/>
                <a:cs typeface="Arial"/>
              </a:rPr>
              <a:t>security</a:t>
            </a:r>
            <a:r>
              <a:rPr sz="2200" spc="10" dirty="0">
                <a:latin typeface="Arial"/>
                <a:cs typeface="Arial"/>
              </a:rPr>
              <a:t> </a:t>
            </a:r>
            <a:r>
              <a:rPr sz="2200" spc="-5" dirty="0">
                <a:latin typeface="Arial"/>
                <a:cs typeface="Arial"/>
              </a:rPr>
              <a:t>can</a:t>
            </a:r>
            <a:r>
              <a:rPr sz="2200" spc="35" dirty="0">
                <a:latin typeface="Arial"/>
                <a:cs typeface="Arial"/>
              </a:rPr>
              <a:t> </a:t>
            </a:r>
            <a:r>
              <a:rPr sz="2200" spc="-5" dirty="0">
                <a:latin typeface="Arial"/>
                <a:cs typeface="Arial"/>
              </a:rPr>
              <a:t>be</a:t>
            </a:r>
            <a:r>
              <a:rPr sz="2200" spc="10" dirty="0">
                <a:latin typeface="Arial"/>
                <a:cs typeface="Arial"/>
              </a:rPr>
              <a:t> </a:t>
            </a:r>
            <a:r>
              <a:rPr sz="2200" spc="-5" dirty="0">
                <a:latin typeface="Arial"/>
                <a:cs typeface="Arial"/>
              </a:rPr>
              <a:t>broadly</a:t>
            </a:r>
            <a:r>
              <a:rPr sz="2200" spc="40" dirty="0">
                <a:latin typeface="Arial"/>
                <a:cs typeface="Arial"/>
              </a:rPr>
              <a:t> </a:t>
            </a:r>
            <a:r>
              <a:rPr sz="2200" spc="-5" dirty="0">
                <a:latin typeface="Arial"/>
                <a:cs typeface="Arial"/>
              </a:rPr>
              <a:t>classified</a:t>
            </a:r>
            <a:r>
              <a:rPr sz="2200" spc="30" dirty="0">
                <a:latin typeface="Arial"/>
                <a:cs typeface="Arial"/>
              </a:rPr>
              <a:t> </a:t>
            </a:r>
            <a:r>
              <a:rPr sz="2200" spc="-5" dirty="0">
                <a:latin typeface="Arial"/>
                <a:cs typeface="Arial"/>
              </a:rPr>
              <a:t>into</a:t>
            </a:r>
            <a:r>
              <a:rPr sz="2200" spc="15" dirty="0">
                <a:latin typeface="Arial"/>
                <a:cs typeface="Arial"/>
              </a:rPr>
              <a:t> </a:t>
            </a:r>
            <a:r>
              <a:rPr sz="2200" spc="-10" dirty="0">
                <a:latin typeface="Arial"/>
                <a:cs typeface="Arial"/>
              </a:rPr>
              <a:t>physical</a:t>
            </a:r>
            <a:r>
              <a:rPr sz="2200" spc="65" dirty="0">
                <a:latin typeface="Arial"/>
                <a:cs typeface="Arial"/>
              </a:rPr>
              <a:t> </a:t>
            </a:r>
            <a:r>
              <a:rPr sz="2200" spc="-5" dirty="0">
                <a:latin typeface="Arial"/>
                <a:cs typeface="Arial"/>
              </a:rPr>
              <a:t>and</a:t>
            </a:r>
            <a:r>
              <a:rPr sz="2200" spc="10" dirty="0">
                <a:latin typeface="Arial"/>
                <a:cs typeface="Arial"/>
              </a:rPr>
              <a:t> </a:t>
            </a:r>
            <a:r>
              <a:rPr sz="2200" spc="-10" dirty="0">
                <a:latin typeface="Arial"/>
                <a:cs typeface="Arial"/>
              </a:rPr>
              <a:t>logic</a:t>
            </a:r>
            <a:r>
              <a:rPr sz="2200" spc="35" dirty="0">
                <a:latin typeface="Arial"/>
                <a:cs typeface="Arial"/>
              </a:rPr>
              <a:t> </a:t>
            </a:r>
            <a:r>
              <a:rPr sz="2200" spc="-5" dirty="0">
                <a:latin typeface="Arial"/>
                <a:cs typeface="Arial"/>
              </a:rPr>
              <a:t>security.</a:t>
            </a:r>
            <a:endParaRPr sz="2200">
              <a:latin typeface="Arial"/>
              <a:cs typeface="Arial"/>
            </a:endParaRPr>
          </a:p>
          <a:p>
            <a:pPr>
              <a:lnSpc>
                <a:spcPct val="100000"/>
              </a:lnSpc>
              <a:spcBef>
                <a:spcPts val="20"/>
              </a:spcBef>
            </a:pPr>
            <a:endParaRPr sz="3200">
              <a:latin typeface="Arial"/>
              <a:cs typeface="Arial"/>
            </a:endParaRPr>
          </a:p>
          <a:p>
            <a:pPr marL="469265" marR="5080" indent="-457200">
              <a:lnSpc>
                <a:spcPct val="100000"/>
              </a:lnSpc>
              <a:buFont typeface="Wingdings"/>
              <a:buChar char=""/>
              <a:tabLst>
                <a:tab pos="469265" algn="l"/>
                <a:tab pos="469900" algn="l"/>
                <a:tab pos="1747520" algn="l"/>
                <a:tab pos="2964180" algn="l"/>
                <a:tab pos="3205480" algn="l"/>
                <a:tab pos="4313555" algn="l"/>
                <a:tab pos="4692015" algn="l"/>
                <a:tab pos="6005830" algn="l"/>
                <a:tab pos="7489190" algn="l"/>
                <a:tab pos="8126730" algn="l"/>
                <a:tab pos="8662670" algn="l"/>
                <a:tab pos="9692005" algn="l"/>
                <a:tab pos="10304145" algn="l"/>
              </a:tabLst>
            </a:pPr>
            <a:r>
              <a:rPr sz="2200" b="1" spc="-10" dirty="0">
                <a:latin typeface="Arial"/>
                <a:cs typeface="Arial"/>
              </a:rPr>
              <a:t>P</a:t>
            </a:r>
            <a:r>
              <a:rPr sz="2200" b="1" spc="10" dirty="0">
                <a:latin typeface="Arial"/>
                <a:cs typeface="Arial"/>
              </a:rPr>
              <a:t>h</a:t>
            </a:r>
            <a:r>
              <a:rPr sz="2200" b="1" spc="-30" dirty="0">
                <a:latin typeface="Arial"/>
                <a:cs typeface="Arial"/>
              </a:rPr>
              <a:t>y</a:t>
            </a:r>
            <a:r>
              <a:rPr sz="2200" b="1" dirty="0">
                <a:latin typeface="Arial"/>
                <a:cs typeface="Arial"/>
              </a:rPr>
              <a:t>sical	</a:t>
            </a:r>
            <a:r>
              <a:rPr sz="2200" b="1" spc="-5" dirty="0">
                <a:latin typeface="Arial"/>
                <a:cs typeface="Arial"/>
              </a:rPr>
              <a:t>s</a:t>
            </a:r>
            <a:r>
              <a:rPr sz="2200" b="1" spc="5" dirty="0">
                <a:latin typeface="Arial"/>
                <a:cs typeface="Arial"/>
              </a:rPr>
              <a:t>e</a:t>
            </a:r>
            <a:r>
              <a:rPr sz="2200" b="1" dirty="0">
                <a:latin typeface="Arial"/>
                <a:cs typeface="Arial"/>
              </a:rPr>
              <a:t>c</a:t>
            </a:r>
            <a:r>
              <a:rPr sz="2200" b="1" spc="-10" dirty="0">
                <a:latin typeface="Arial"/>
                <a:cs typeface="Arial"/>
              </a:rPr>
              <a:t>u</a:t>
            </a:r>
            <a:r>
              <a:rPr sz="2200" b="1" dirty="0">
                <a:latin typeface="Arial"/>
                <a:cs typeface="Arial"/>
              </a:rPr>
              <a:t>r</a:t>
            </a:r>
            <a:r>
              <a:rPr sz="2200" b="1" spc="10" dirty="0">
                <a:latin typeface="Arial"/>
                <a:cs typeface="Arial"/>
              </a:rPr>
              <a:t>i</a:t>
            </a:r>
            <a:r>
              <a:rPr sz="2200" b="1" spc="20" dirty="0">
                <a:latin typeface="Arial"/>
                <a:cs typeface="Arial"/>
              </a:rPr>
              <a:t>t</a:t>
            </a:r>
            <a:r>
              <a:rPr sz="2200" b="1" spc="-5" dirty="0">
                <a:latin typeface="Arial"/>
                <a:cs typeface="Arial"/>
              </a:rPr>
              <a:t>y</a:t>
            </a:r>
            <a:r>
              <a:rPr sz="2200" b="1" dirty="0">
                <a:latin typeface="Arial"/>
                <a:cs typeface="Arial"/>
              </a:rPr>
              <a:t>	-	</a:t>
            </a:r>
            <a:r>
              <a:rPr sz="2200" spc="-5" dirty="0">
                <a:latin typeface="Arial"/>
                <a:cs typeface="Arial"/>
              </a:rPr>
              <a:t>secur</a:t>
            </a:r>
            <a:r>
              <a:rPr sz="2200" spc="-15" dirty="0">
                <a:latin typeface="Arial"/>
                <a:cs typeface="Arial"/>
              </a:rPr>
              <a:t>i</a:t>
            </a:r>
            <a:r>
              <a:rPr sz="2200" spc="25" dirty="0">
                <a:latin typeface="Arial"/>
                <a:cs typeface="Arial"/>
              </a:rPr>
              <a:t>t</a:t>
            </a:r>
            <a:r>
              <a:rPr sz="2200" dirty="0">
                <a:latin typeface="Arial"/>
                <a:cs typeface="Arial"/>
              </a:rPr>
              <a:t>y	</a:t>
            </a:r>
            <a:r>
              <a:rPr sz="2200" spc="-5" dirty="0">
                <a:latin typeface="Arial"/>
                <a:cs typeface="Arial"/>
              </a:rPr>
              <a:t>o</a:t>
            </a:r>
            <a:r>
              <a:rPr sz="2200" dirty="0">
                <a:latin typeface="Arial"/>
                <a:cs typeface="Arial"/>
              </a:rPr>
              <a:t>f	</a:t>
            </a:r>
            <a:r>
              <a:rPr sz="2200" spc="-5" dirty="0">
                <a:latin typeface="Arial"/>
                <a:cs typeface="Arial"/>
              </a:rPr>
              <a:t>har</a:t>
            </a:r>
            <a:r>
              <a:rPr sz="2200" spc="10" dirty="0">
                <a:latin typeface="Arial"/>
                <a:cs typeface="Arial"/>
              </a:rPr>
              <a:t>d</a:t>
            </a:r>
            <a:r>
              <a:rPr sz="2200" spc="-35" dirty="0">
                <a:latin typeface="Arial"/>
                <a:cs typeface="Arial"/>
              </a:rPr>
              <a:t>w</a:t>
            </a:r>
            <a:r>
              <a:rPr sz="2200" spc="30" dirty="0">
                <a:latin typeface="Arial"/>
                <a:cs typeface="Arial"/>
              </a:rPr>
              <a:t>a</a:t>
            </a:r>
            <a:r>
              <a:rPr sz="2200" dirty="0">
                <a:latin typeface="Arial"/>
                <a:cs typeface="Arial"/>
              </a:rPr>
              <a:t>r</a:t>
            </a:r>
            <a:r>
              <a:rPr sz="2200" spc="-5" dirty="0">
                <a:latin typeface="Arial"/>
                <a:cs typeface="Arial"/>
              </a:rPr>
              <a:t>e</a:t>
            </a:r>
            <a:r>
              <a:rPr sz="2200" dirty="0">
                <a:latin typeface="Arial"/>
                <a:cs typeface="Arial"/>
              </a:rPr>
              <a:t>	</a:t>
            </a:r>
            <a:r>
              <a:rPr sz="2200" spc="-5" dirty="0">
                <a:latin typeface="Arial"/>
                <a:cs typeface="Arial"/>
              </a:rPr>
              <a:t>assoc</a:t>
            </a:r>
            <a:r>
              <a:rPr sz="2200" spc="-25" dirty="0">
                <a:latin typeface="Arial"/>
                <a:cs typeface="Arial"/>
              </a:rPr>
              <a:t>i</a:t>
            </a:r>
            <a:r>
              <a:rPr sz="2200" spc="-5" dirty="0">
                <a:latin typeface="Arial"/>
                <a:cs typeface="Arial"/>
              </a:rPr>
              <a:t>ated</a:t>
            </a:r>
            <a:r>
              <a:rPr sz="2200" dirty="0">
                <a:latin typeface="Arial"/>
                <a:cs typeface="Arial"/>
              </a:rPr>
              <a:t>	</a:t>
            </a:r>
            <a:r>
              <a:rPr sz="2200" spc="-35" dirty="0">
                <a:latin typeface="Arial"/>
                <a:cs typeface="Arial"/>
              </a:rPr>
              <a:t>w</a:t>
            </a:r>
            <a:r>
              <a:rPr sz="2200" spc="-15" dirty="0">
                <a:latin typeface="Arial"/>
                <a:cs typeface="Arial"/>
              </a:rPr>
              <a:t>i</a:t>
            </a:r>
            <a:r>
              <a:rPr sz="2200" spc="5" dirty="0">
                <a:latin typeface="Arial"/>
                <a:cs typeface="Arial"/>
              </a:rPr>
              <a:t>t</a:t>
            </a:r>
            <a:r>
              <a:rPr sz="2200" spc="-5" dirty="0">
                <a:latin typeface="Arial"/>
                <a:cs typeface="Arial"/>
              </a:rPr>
              <a:t>h</a:t>
            </a:r>
            <a:r>
              <a:rPr sz="2200" dirty="0">
                <a:latin typeface="Arial"/>
                <a:cs typeface="Arial"/>
              </a:rPr>
              <a:t>	</a:t>
            </a:r>
            <a:r>
              <a:rPr sz="2200" spc="25" dirty="0">
                <a:latin typeface="Arial"/>
                <a:cs typeface="Arial"/>
              </a:rPr>
              <a:t>t</a:t>
            </a:r>
            <a:r>
              <a:rPr sz="2200" spc="-5" dirty="0">
                <a:latin typeface="Arial"/>
                <a:cs typeface="Arial"/>
              </a:rPr>
              <a:t>he</a:t>
            </a:r>
            <a:r>
              <a:rPr sz="2200" dirty="0">
                <a:latin typeface="Arial"/>
                <a:cs typeface="Arial"/>
              </a:rPr>
              <a:t>	</a:t>
            </a:r>
            <a:r>
              <a:rPr sz="2200" spc="15" dirty="0">
                <a:latin typeface="Arial"/>
                <a:cs typeface="Arial"/>
              </a:rPr>
              <a:t>s</a:t>
            </a:r>
            <a:r>
              <a:rPr sz="2200" spc="-40" dirty="0">
                <a:latin typeface="Arial"/>
                <a:cs typeface="Arial"/>
              </a:rPr>
              <a:t>y</a:t>
            </a:r>
            <a:r>
              <a:rPr sz="2200" dirty="0">
                <a:latin typeface="Arial"/>
                <a:cs typeface="Arial"/>
              </a:rPr>
              <a:t>s</a:t>
            </a:r>
            <a:r>
              <a:rPr sz="2200" spc="10" dirty="0">
                <a:latin typeface="Arial"/>
                <a:cs typeface="Arial"/>
              </a:rPr>
              <a:t>t</a:t>
            </a:r>
            <a:r>
              <a:rPr sz="2200" spc="-5" dirty="0">
                <a:latin typeface="Arial"/>
                <a:cs typeface="Arial"/>
              </a:rPr>
              <a:t>em</a:t>
            </a:r>
            <a:r>
              <a:rPr sz="2200" dirty="0">
                <a:latin typeface="Arial"/>
                <a:cs typeface="Arial"/>
              </a:rPr>
              <a:t>	</a:t>
            </a:r>
            <a:r>
              <a:rPr sz="2200" spc="10" dirty="0">
                <a:latin typeface="Arial"/>
                <a:cs typeface="Arial"/>
              </a:rPr>
              <a:t>a</a:t>
            </a:r>
            <a:r>
              <a:rPr sz="2200" spc="-5" dirty="0">
                <a:latin typeface="Arial"/>
                <a:cs typeface="Arial"/>
              </a:rPr>
              <a:t>nd</a:t>
            </a:r>
            <a:r>
              <a:rPr sz="2200" dirty="0">
                <a:latin typeface="Arial"/>
                <a:cs typeface="Arial"/>
              </a:rPr>
              <a:t>	</a:t>
            </a:r>
            <a:r>
              <a:rPr sz="2200" spc="5" dirty="0">
                <a:latin typeface="Arial"/>
                <a:cs typeface="Arial"/>
              </a:rPr>
              <a:t>t</a:t>
            </a:r>
            <a:r>
              <a:rPr sz="2200" spc="-5" dirty="0">
                <a:latin typeface="Arial"/>
                <a:cs typeface="Arial"/>
              </a:rPr>
              <a:t>he  </a:t>
            </a:r>
            <a:r>
              <a:rPr sz="2200" dirty="0">
                <a:latin typeface="Arial"/>
                <a:cs typeface="Arial"/>
              </a:rPr>
              <a:t>protection </a:t>
            </a:r>
            <a:r>
              <a:rPr sz="2200" spc="-5" dirty="0">
                <a:latin typeface="Arial"/>
                <a:cs typeface="Arial"/>
              </a:rPr>
              <a:t>of</a:t>
            </a:r>
            <a:r>
              <a:rPr sz="2200" spc="15" dirty="0">
                <a:latin typeface="Arial"/>
                <a:cs typeface="Arial"/>
              </a:rPr>
              <a:t> </a:t>
            </a:r>
            <a:r>
              <a:rPr sz="2200" dirty="0">
                <a:latin typeface="Arial"/>
                <a:cs typeface="Arial"/>
              </a:rPr>
              <a:t>the </a:t>
            </a:r>
            <a:r>
              <a:rPr sz="2200" spc="-5" dirty="0">
                <a:latin typeface="Arial"/>
                <a:cs typeface="Arial"/>
              </a:rPr>
              <a:t>site</a:t>
            </a:r>
            <a:r>
              <a:rPr sz="2200" spc="10" dirty="0">
                <a:latin typeface="Arial"/>
                <a:cs typeface="Arial"/>
              </a:rPr>
              <a:t> </a:t>
            </a:r>
            <a:r>
              <a:rPr sz="2200" spc="-15" dirty="0">
                <a:latin typeface="Arial"/>
                <a:cs typeface="Arial"/>
              </a:rPr>
              <a:t>where</a:t>
            </a:r>
            <a:r>
              <a:rPr sz="2200" spc="45" dirty="0">
                <a:latin typeface="Arial"/>
                <a:cs typeface="Arial"/>
              </a:rPr>
              <a:t> </a:t>
            </a:r>
            <a:r>
              <a:rPr sz="2200" dirty="0">
                <a:latin typeface="Arial"/>
                <a:cs typeface="Arial"/>
              </a:rPr>
              <a:t>the</a:t>
            </a:r>
            <a:r>
              <a:rPr sz="2200" spc="5" dirty="0">
                <a:latin typeface="Arial"/>
                <a:cs typeface="Arial"/>
              </a:rPr>
              <a:t> </a:t>
            </a:r>
            <a:r>
              <a:rPr sz="2200" spc="-5" dirty="0">
                <a:latin typeface="Arial"/>
                <a:cs typeface="Arial"/>
              </a:rPr>
              <a:t>computer</a:t>
            </a:r>
            <a:r>
              <a:rPr sz="2200" spc="15" dirty="0">
                <a:latin typeface="Arial"/>
                <a:cs typeface="Arial"/>
              </a:rPr>
              <a:t> </a:t>
            </a:r>
            <a:r>
              <a:rPr sz="2200" spc="-5" dirty="0">
                <a:latin typeface="Arial"/>
                <a:cs typeface="Arial"/>
              </a:rPr>
              <a:t>resides.</a:t>
            </a:r>
            <a:endParaRPr sz="2200">
              <a:latin typeface="Arial"/>
              <a:cs typeface="Arial"/>
            </a:endParaRPr>
          </a:p>
          <a:p>
            <a:pPr>
              <a:lnSpc>
                <a:spcPct val="100000"/>
              </a:lnSpc>
              <a:spcBef>
                <a:spcPts val="25"/>
              </a:spcBef>
              <a:buFont typeface="Wingdings"/>
              <a:buChar char=""/>
            </a:pPr>
            <a:endParaRPr sz="3200">
              <a:latin typeface="Arial"/>
              <a:cs typeface="Arial"/>
            </a:endParaRPr>
          </a:p>
          <a:p>
            <a:pPr marL="469900" indent="-457200">
              <a:lnSpc>
                <a:spcPct val="100000"/>
              </a:lnSpc>
              <a:buFont typeface="Wingdings"/>
              <a:buChar char=""/>
              <a:tabLst>
                <a:tab pos="469265" algn="l"/>
                <a:tab pos="469900" algn="l"/>
                <a:tab pos="1597660" algn="l"/>
                <a:tab pos="2814320" algn="l"/>
                <a:tab pos="3056255" algn="l"/>
                <a:tab pos="4163060" algn="l"/>
                <a:tab pos="5540375" algn="l"/>
                <a:tab pos="6666230" algn="l"/>
                <a:tab pos="7028815" algn="l"/>
                <a:tab pos="7565390" algn="l"/>
                <a:tab pos="8876030" algn="l"/>
                <a:tab pos="9907905" algn="l"/>
                <a:tab pos="10304145" algn="l"/>
              </a:tabLst>
            </a:pPr>
            <a:r>
              <a:rPr sz="2200" b="1" dirty="0">
                <a:latin typeface="Arial"/>
                <a:cs typeface="Arial"/>
              </a:rPr>
              <a:t>L</a:t>
            </a:r>
            <a:r>
              <a:rPr sz="2200" b="1" spc="5" dirty="0">
                <a:latin typeface="Arial"/>
                <a:cs typeface="Arial"/>
              </a:rPr>
              <a:t>o</a:t>
            </a:r>
            <a:r>
              <a:rPr sz="2200" b="1" dirty="0">
                <a:latin typeface="Arial"/>
                <a:cs typeface="Arial"/>
              </a:rPr>
              <a:t>gical	</a:t>
            </a:r>
            <a:r>
              <a:rPr sz="2200" b="1" spc="-5" dirty="0">
                <a:latin typeface="Arial"/>
                <a:cs typeface="Arial"/>
              </a:rPr>
              <a:t>se</a:t>
            </a:r>
            <a:r>
              <a:rPr sz="2200" b="1" spc="-15" dirty="0">
                <a:latin typeface="Arial"/>
                <a:cs typeface="Arial"/>
              </a:rPr>
              <a:t>c</a:t>
            </a:r>
            <a:r>
              <a:rPr sz="2200" b="1" dirty="0">
                <a:latin typeface="Arial"/>
                <a:cs typeface="Arial"/>
              </a:rPr>
              <a:t>ur</a:t>
            </a:r>
            <a:r>
              <a:rPr sz="2200" b="1" spc="5" dirty="0">
                <a:latin typeface="Arial"/>
                <a:cs typeface="Arial"/>
              </a:rPr>
              <a:t>i</a:t>
            </a:r>
            <a:r>
              <a:rPr sz="2200" b="1" spc="20" dirty="0">
                <a:latin typeface="Arial"/>
                <a:cs typeface="Arial"/>
              </a:rPr>
              <a:t>t</a:t>
            </a:r>
            <a:r>
              <a:rPr sz="2200" b="1" spc="-5" dirty="0">
                <a:latin typeface="Arial"/>
                <a:cs typeface="Arial"/>
              </a:rPr>
              <a:t>y</a:t>
            </a:r>
            <a:r>
              <a:rPr sz="2200" b="1" dirty="0">
                <a:latin typeface="Arial"/>
                <a:cs typeface="Arial"/>
              </a:rPr>
              <a:t>	-	</a:t>
            </a:r>
            <a:r>
              <a:rPr sz="2200" spc="-5" dirty="0">
                <a:latin typeface="Arial"/>
                <a:cs typeface="Arial"/>
              </a:rPr>
              <a:t>secur</a:t>
            </a:r>
            <a:r>
              <a:rPr sz="2200" spc="-15" dirty="0">
                <a:latin typeface="Arial"/>
                <a:cs typeface="Arial"/>
              </a:rPr>
              <a:t>i</a:t>
            </a:r>
            <a:r>
              <a:rPr sz="2200" spc="25" dirty="0">
                <a:latin typeface="Arial"/>
                <a:cs typeface="Arial"/>
              </a:rPr>
              <a:t>t</a:t>
            </a:r>
            <a:r>
              <a:rPr sz="2200" dirty="0">
                <a:latin typeface="Arial"/>
                <a:cs typeface="Arial"/>
              </a:rPr>
              <a:t>y	</a:t>
            </a:r>
            <a:r>
              <a:rPr sz="2200" spc="5" dirty="0">
                <a:latin typeface="Arial"/>
                <a:cs typeface="Arial"/>
              </a:rPr>
              <a:t>m</a:t>
            </a:r>
            <a:r>
              <a:rPr sz="2200" spc="-5" dirty="0">
                <a:latin typeface="Arial"/>
                <a:cs typeface="Arial"/>
              </a:rPr>
              <a:t>eas</a:t>
            </a:r>
            <a:r>
              <a:rPr sz="2200" spc="-15" dirty="0">
                <a:latin typeface="Arial"/>
                <a:cs typeface="Arial"/>
              </a:rPr>
              <a:t>u</a:t>
            </a:r>
            <a:r>
              <a:rPr sz="2200" spc="20" dirty="0">
                <a:latin typeface="Arial"/>
                <a:cs typeface="Arial"/>
              </a:rPr>
              <a:t>r</a:t>
            </a:r>
            <a:r>
              <a:rPr sz="2200" spc="-5" dirty="0">
                <a:latin typeface="Arial"/>
                <a:cs typeface="Arial"/>
              </a:rPr>
              <a:t>es</a:t>
            </a:r>
            <a:r>
              <a:rPr sz="2200" dirty="0">
                <a:latin typeface="Arial"/>
                <a:cs typeface="Arial"/>
              </a:rPr>
              <a:t>	r</a:t>
            </a:r>
            <a:r>
              <a:rPr sz="2200" spc="-5" dirty="0">
                <a:latin typeface="Arial"/>
                <a:cs typeface="Arial"/>
              </a:rPr>
              <a:t>es</a:t>
            </a:r>
            <a:r>
              <a:rPr sz="2200" spc="-20" dirty="0">
                <a:latin typeface="Arial"/>
                <a:cs typeface="Arial"/>
              </a:rPr>
              <a:t>i</a:t>
            </a:r>
            <a:r>
              <a:rPr sz="2200" spc="-5" dirty="0">
                <a:latin typeface="Arial"/>
                <a:cs typeface="Arial"/>
              </a:rPr>
              <a:t>d</a:t>
            </a:r>
            <a:r>
              <a:rPr sz="2200" dirty="0">
                <a:latin typeface="Arial"/>
                <a:cs typeface="Arial"/>
              </a:rPr>
              <a:t>i</a:t>
            </a:r>
            <a:r>
              <a:rPr sz="2200" spc="-5" dirty="0">
                <a:latin typeface="Arial"/>
                <a:cs typeface="Arial"/>
              </a:rPr>
              <a:t>ng</a:t>
            </a:r>
            <a:r>
              <a:rPr sz="2200" dirty="0">
                <a:latin typeface="Arial"/>
                <a:cs typeface="Arial"/>
              </a:rPr>
              <a:t>	</a:t>
            </a:r>
            <a:r>
              <a:rPr sz="2200" spc="-15" dirty="0">
                <a:latin typeface="Arial"/>
                <a:cs typeface="Arial"/>
              </a:rPr>
              <a:t>i</a:t>
            </a:r>
            <a:r>
              <a:rPr sz="2200" spc="-5" dirty="0">
                <a:latin typeface="Arial"/>
                <a:cs typeface="Arial"/>
              </a:rPr>
              <a:t>n</a:t>
            </a:r>
            <a:r>
              <a:rPr sz="2200" dirty="0">
                <a:latin typeface="Arial"/>
                <a:cs typeface="Arial"/>
              </a:rPr>
              <a:t>	</a:t>
            </a:r>
            <a:r>
              <a:rPr sz="2200" spc="5" dirty="0">
                <a:latin typeface="Arial"/>
                <a:cs typeface="Arial"/>
              </a:rPr>
              <a:t>t</a:t>
            </a:r>
            <a:r>
              <a:rPr sz="2200" spc="-5" dirty="0">
                <a:latin typeface="Arial"/>
                <a:cs typeface="Arial"/>
              </a:rPr>
              <a:t>he</a:t>
            </a:r>
            <a:r>
              <a:rPr sz="2200" dirty="0">
                <a:latin typeface="Arial"/>
                <a:cs typeface="Arial"/>
              </a:rPr>
              <a:t>	</a:t>
            </a:r>
            <a:r>
              <a:rPr sz="2200" spc="-5" dirty="0">
                <a:latin typeface="Arial"/>
                <a:cs typeface="Arial"/>
              </a:rPr>
              <a:t>op</a:t>
            </a:r>
            <a:r>
              <a:rPr sz="2200" spc="-15" dirty="0">
                <a:latin typeface="Arial"/>
                <a:cs typeface="Arial"/>
              </a:rPr>
              <a:t>e</a:t>
            </a:r>
            <a:r>
              <a:rPr sz="2200" dirty="0">
                <a:latin typeface="Arial"/>
                <a:cs typeface="Arial"/>
              </a:rPr>
              <a:t>r</a:t>
            </a:r>
            <a:r>
              <a:rPr sz="2200" spc="-5" dirty="0">
                <a:latin typeface="Arial"/>
                <a:cs typeface="Arial"/>
              </a:rPr>
              <a:t>ating</a:t>
            </a:r>
            <a:r>
              <a:rPr sz="2200" dirty="0">
                <a:latin typeface="Arial"/>
                <a:cs typeface="Arial"/>
              </a:rPr>
              <a:t>	</a:t>
            </a:r>
            <a:r>
              <a:rPr sz="2200" spc="15" dirty="0">
                <a:latin typeface="Arial"/>
                <a:cs typeface="Arial"/>
              </a:rPr>
              <a:t>s</a:t>
            </a:r>
            <a:r>
              <a:rPr sz="2200" spc="-40" dirty="0">
                <a:latin typeface="Arial"/>
                <a:cs typeface="Arial"/>
              </a:rPr>
              <a:t>y</a:t>
            </a:r>
            <a:r>
              <a:rPr sz="2200" dirty="0">
                <a:latin typeface="Arial"/>
                <a:cs typeface="Arial"/>
              </a:rPr>
              <a:t>s</a:t>
            </a:r>
            <a:r>
              <a:rPr sz="2200" spc="5" dirty="0">
                <a:latin typeface="Arial"/>
                <a:cs typeface="Arial"/>
              </a:rPr>
              <a:t>t</a:t>
            </a:r>
            <a:r>
              <a:rPr sz="2200" spc="-5" dirty="0">
                <a:latin typeface="Arial"/>
                <a:cs typeface="Arial"/>
              </a:rPr>
              <a:t>em</a:t>
            </a:r>
            <a:r>
              <a:rPr sz="2200" dirty="0">
                <a:latin typeface="Arial"/>
                <a:cs typeface="Arial"/>
              </a:rPr>
              <a:t>	</a:t>
            </a:r>
            <a:r>
              <a:rPr sz="2200" spc="-10" dirty="0">
                <a:latin typeface="Arial"/>
                <a:cs typeface="Arial"/>
              </a:rPr>
              <a:t>o</a:t>
            </a:r>
            <a:r>
              <a:rPr sz="2200" spc="-5" dirty="0">
                <a:latin typeface="Arial"/>
                <a:cs typeface="Arial"/>
              </a:rPr>
              <a:t>r</a:t>
            </a:r>
            <a:r>
              <a:rPr sz="2200" dirty="0">
                <a:latin typeface="Arial"/>
                <a:cs typeface="Arial"/>
              </a:rPr>
              <a:t>	</a:t>
            </a:r>
            <a:r>
              <a:rPr sz="2200" spc="5" dirty="0">
                <a:latin typeface="Arial"/>
                <a:cs typeface="Arial"/>
              </a:rPr>
              <a:t>t</a:t>
            </a:r>
            <a:r>
              <a:rPr sz="2200" spc="-5" dirty="0">
                <a:latin typeface="Arial"/>
                <a:cs typeface="Arial"/>
              </a:rPr>
              <a:t>he</a:t>
            </a:r>
            <a:endParaRPr sz="2200">
              <a:latin typeface="Arial"/>
              <a:cs typeface="Arial"/>
            </a:endParaRPr>
          </a:p>
          <a:p>
            <a:pPr marL="469265">
              <a:lnSpc>
                <a:spcPct val="100000"/>
              </a:lnSpc>
            </a:pPr>
            <a:r>
              <a:rPr sz="2200" spc="-10" dirty="0">
                <a:latin typeface="Arial"/>
                <a:cs typeface="Arial"/>
              </a:rPr>
              <a:t>DBMS</a:t>
            </a:r>
            <a:r>
              <a:rPr sz="2200" spc="20" dirty="0">
                <a:latin typeface="Arial"/>
                <a:cs typeface="Arial"/>
              </a:rPr>
              <a:t> </a:t>
            </a:r>
            <a:r>
              <a:rPr sz="2200" spc="-5" dirty="0">
                <a:latin typeface="Arial"/>
                <a:cs typeface="Arial"/>
              </a:rPr>
              <a:t>designed</a:t>
            </a:r>
            <a:r>
              <a:rPr sz="2200" spc="25" dirty="0">
                <a:latin typeface="Arial"/>
                <a:cs typeface="Arial"/>
              </a:rPr>
              <a:t> </a:t>
            </a:r>
            <a:r>
              <a:rPr sz="2200" dirty="0">
                <a:latin typeface="Arial"/>
                <a:cs typeface="Arial"/>
              </a:rPr>
              <a:t>to</a:t>
            </a:r>
            <a:r>
              <a:rPr sz="2200" spc="-20" dirty="0">
                <a:latin typeface="Arial"/>
                <a:cs typeface="Arial"/>
              </a:rPr>
              <a:t> </a:t>
            </a:r>
            <a:r>
              <a:rPr sz="2200" spc="-5" dirty="0">
                <a:latin typeface="Arial"/>
                <a:cs typeface="Arial"/>
              </a:rPr>
              <a:t>handle</a:t>
            </a:r>
            <a:r>
              <a:rPr sz="2200" spc="10" dirty="0">
                <a:latin typeface="Arial"/>
                <a:cs typeface="Arial"/>
              </a:rPr>
              <a:t> </a:t>
            </a:r>
            <a:r>
              <a:rPr sz="2200" spc="-5" dirty="0">
                <a:latin typeface="Arial"/>
                <a:cs typeface="Arial"/>
              </a:rPr>
              <a:t>threats</a:t>
            </a:r>
            <a:r>
              <a:rPr sz="2200" spc="20" dirty="0">
                <a:latin typeface="Arial"/>
                <a:cs typeface="Arial"/>
              </a:rPr>
              <a:t> </a:t>
            </a:r>
            <a:r>
              <a:rPr sz="2200" dirty="0">
                <a:latin typeface="Arial"/>
                <a:cs typeface="Arial"/>
              </a:rPr>
              <a:t>to</a:t>
            </a:r>
            <a:r>
              <a:rPr sz="2200" spc="-20" dirty="0">
                <a:latin typeface="Arial"/>
                <a:cs typeface="Arial"/>
              </a:rPr>
              <a:t> </a:t>
            </a:r>
            <a:r>
              <a:rPr sz="2200" spc="-5" dirty="0">
                <a:latin typeface="Arial"/>
                <a:cs typeface="Arial"/>
              </a:rPr>
              <a:t>data.</a:t>
            </a:r>
            <a:endParaRPr sz="2200">
              <a:latin typeface="Arial"/>
              <a:cs typeface="Arial"/>
            </a:endParaRPr>
          </a:p>
          <a:p>
            <a:pPr>
              <a:lnSpc>
                <a:spcPct val="100000"/>
              </a:lnSpc>
            </a:pPr>
            <a:endParaRPr sz="3200">
              <a:latin typeface="Arial"/>
              <a:cs typeface="Arial"/>
            </a:endParaRPr>
          </a:p>
          <a:p>
            <a:pPr marL="12700">
              <a:lnSpc>
                <a:spcPct val="100000"/>
              </a:lnSpc>
            </a:pPr>
            <a:r>
              <a:rPr sz="2200" spc="-15" dirty="0">
                <a:latin typeface="Arial"/>
                <a:cs typeface="Arial"/>
              </a:rPr>
              <a:t>Following</a:t>
            </a:r>
            <a:r>
              <a:rPr sz="2200" spc="105" dirty="0">
                <a:latin typeface="Arial"/>
                <a:cs typeface="Arial"/>
              </a:rPr>
              <a:t> </a:t>
            </a:r>
            <a:r>
              <a:rPr sz="2200" dirty="0">
                <a:latin typeface="Arial"/>
                <a:cs typeface="Arial"/>
              </a:rPr>
              <a:t>measures</a:t>
            </a:r>
            <a:r>
              <a:rPr sz="2200" spc="-5" dirty="0">
                <a:latin typeface="Arial"/>
                <a:cs typeface="Arial"/>
              </a:rPr>
              <a:t> </a:t>
            </a:r>
            <a:r>
              <a:rPr sz="2200" dirty="0">
                <a:latin typeface="Arial"/>
                <a:cs typeface="Arial"/>
              </a:rPr>
              <a:t>can</a:t>
            </a:r>
            <a:r>
              <a:rPr sz="2200" spc="5" dirty="0">
                <a:latin typeface="Arial"/>
                <a:cs typeface="Arial"/>
              </a:rPr>
              <a:t> </a:t>
            </a:r>
            <a:r>
              <a:rPr sz="2200" spc="-5" dirty="0">
                <a:latin typeface="Arial"/>
                <a:cs typeface="Arial"/>
              </a:rPr>
              <a:t>be</a:t>
            </a:r>
            <a:r>
              <a:rPr sz="2200" spc="5" dirty="0">
                <a:latin typeface="Arial"/>
                <a:cs typeface="Arial"/>
              </a:rPr>
              <a:t> </a:t>
            </a:r>
            <a:r>
              <a:rPr sz="2200" spc="-5" dirty="0">
                <a:latin typeface="Arial"/>
                <a:cs typeface="Arial"/>
              </a:rPr>
              <a:t>used</a:t>
            </a:r>
            <a:r>
              <a:rPr sz="2200" spc="25" dirty="0">
                <a:latin typeface="Arial"/>
                <a:cs typeface="Arial"/>
              </a:rPr>
              <a:t> </a:t>
            </a:r>
            <a:r>
              <a:rPr sz="2200" dirty="0">
                <a:latin typeface="Arial"/>
                <a:cs typeface="Arial"/>
              </a:rPr>
              <a:t>to</a:t>
            </a:r>
            <a:r>
              <a:rPr sz="2200" spc="-10" dirty="0">
                <a:latin typeface="Arial"/>
                <a:cs typeface="Arial"/>
              </a:rPr>
              <a:t> </a:t>
            </a:r>
            <a:r>
              <a:rPr sz="2200" spc="-5" dirty="0">
                <a:latin typeface="Arial"/>
                <a:cs typeface="Arial"/>
              </a:rPr>
              <a:t>secure</a:t>
            </a:r>
            <a:r>
              <a:rPr sz="2200" spc="10" dirty="0">
                <a:latin typeface="Arial"/>
                <a:cs typeface="Arial"/>
              </a:rPr>
              <a:t> </a:t>
            </a:r>
            <a:r>
              <a:rPr sz="2200" spc="-5" dirty="0">
                <a:latin typeface="Arial"/>
                <a:cs typeface="Arial"/>
              </a:rPr>
              <a:t>database:</a:t>
            </a:r>
            <a:endParaRPr sz="2200">
              <a:latin typeface="Arial"/>
              <a:cs typeface="Arial"/>
            </a:endParaRPr>
          </a:p>
          <a:p>
            <a:pPr marL="355600" indent="-342900">
              <a:lnSpc>
                <a:spcPct val="100000"/>
              </a:lnSpc>
              <a:spcBef>
                <a:spcPts val="484"/>
              </a:spcBef>
              <a:buChar char="•"/>
              <a:tabLst>
                <a:tab pos="354965" algn="l"/>
                <a:tab pos="355600" algn="l"/>
              </a:tabLst>
            </a:pPr>
            <a:r>
              <a:rPr sz="1900" dirty="0">
                <a:latin typeface="Arial"/>
                <a:cs typeface="Arial"/>
              </a:rPr>
              <a:t>Access</a:t>
            </a:r>
            <a:r>
              <a:rPr sz="1900" spc="-30" dirty="0">
                <a:latin typeface="Arial"/>
                <a:cs typeface="Arial"/>
              </a:rPr>
              <a:t> </a:t>
            </a:r>
            <a:r>
              <a:rPr sz="1900" spc="-5" dirty="0">
                <a:latin typeface="Arial"/>
                <a:cs typeface="Arial"/>
              </a:rPr>
              <a:t>authorization.</a:t>
            </a:r>
            <a:endParaRPr sz="1900">
              <a:latin typeface="Arial"/>
              <a:cs typeface="Arial"/>
            </a:endParaRPr>
          </a:p>
          <a:p>
            <a:pPr marL="355600" indent="-342900">
              <a:lnSpc>
                <a:spcPct val="100000"/>
              </a:lnSpc>
              <a:spcBef>
                <a:spcPts val="440"/>
              </a:spcBef>
              <a:buChar char="•"/>
              <a:tabLst>
                <a:tab pos="354965" algn="l"/>
                <a:tab pos="355600" algn="l"/>
              </a:tabLst>
            </a:pPr>
            <a:r>
              <a:rPr sz="1900" dirty="0">
                <a:latin typeface="Arial"/>
                <a:cs typeface="Arial"/>
              </a:rPr>
              <a:t>Access</a:t>
            </a:r>
            <a:r>
              <a:rPr sz="1900" spc="-45" dirty="0">
                <a:latin typeface="Arial"/>
                <a:cs typeface="Arial"/>
              </a:rPr>
              <a:t> </a:t>
            </a:r>
            <a:r>
              <a:rPr sz="1900" dirty="0">
                <a:latin typeface="Arial"/>
                <a:cs typeface="Arial"/>
              </a:rPr>
              <a:t>controls.</a:t>
            </a:r>
            <a:endParaRPr sz="1900">
              <a:latin typeface="Arial"/>
              <a:cs typeface="Arial"/>
            </a:endParaRPr>
          </a:p>
          <a:p>
            <a:pPr marL="355600" indent="-342900">
              <a:lnSpc>
                <a:spcPct val="100000"/>
              </a:lnSpc>
              <a:spcBef>
                <a:spcPts val="459"/>
              </a:spcBef>
              <a:buChar char="•"/>
              <a:tabLst>
                <a:tab pos="354965" algn="l"/>
                <a:tab pos="355600" algn="l"/>
              </a:tabLst>
            </a:pPr>
            <a:r>
              <a:rPr sz="1900" dirty="0">
                <a:latin typeface="Arial"/>
                <a:cs typeface="Arial"/>
              </a:rPr>
              <a:t>Backup</a:t>
            </a:r>
            <a:r>
              <a:rPr sz="1900" spc="-15" dirty="0">
                <a:latin typeface="Arial"/>
                <a:cs typeface="Arial"/>
              </a:rPr>
              <a:t> </a:t>
            </a:r>
            <a:r>
              <a:rPr sz="1900" spc="-5" dirty="0">
                <a:latin typeface="Arial"/>
                <a:cs typeface="Arial"/>
              </a:rPr>
              <a:t>and</a:t>
            </a:r>
            <a:r>
              <a:rPr sz="1900" spc="-15" dirty="0">
                <a:latin typeface="Arial"/>
                <a:cs typeface="Arial"/>
              </a:rPr>
              <a:t> </a:t>
            </a:r>
            <a:r>
              <a:rPr sz="1900" dirty="0">
                <a:latin typeface="Arial"/>
                <a:cs typeface="Arial"/>
              </a:rPr>
              <a:t>recovery</a:t>
            </a:r>
            <a:r>
              <a:rPr sz="1900" spc="-5" dirty="0">
                <a:latin typeface="Arial"/>
                <a:cs typeface="Arial"/>
              </a:rPr>
              <a:t> </a:t>
            </a:r>
            <a:r>
              <a:rPr sz="1900" dirty="0">
                <a:latin typeface="Arial"/>
                <a:cs typeface="Arial"/>
              </a:rPr>
              <a:t>of</a:t>
            </a:r>
            <a:r>
              <a:rPr sz="1900" spc="-5" dirty="0">
                <a:latin typeface="Arial"/>
                <a:cs typeface="Arial"/>
              </a:rPr>
              <a:t> data.</a:t>
            </a:r>
            <a:endParaRPr sz="1900">
              <a:latin typeface="Arial"/>
              <a:cs typeface="Arial"/>
            </a:endParaRPr>
          </a:p>
          <a:p>
            <a:pPr marL="355600" indent="-342900">
              <a:lnSpc>
                <a:spcPct val="100000"/>
              </a:lnSpc>
              <a:spcBef>
                <a:spcPts val="459"/>
              </a:spcBef>
              <a:buChar char="•"/>
              <a:tabLst>
                <a:tab pos="354965" algn="l"/>
                <a:tab pos="355600" algn="l"/>
              </a:tabLst>
            </a:pPr>
            <a:r>
              <a:rPr sz="1900" dirty="0">
                <a:latin typeface="Arial"/>
                <a:cs typeface="Arial"/>
              </a:rPr>
              <a:t>Data</a:t>
            </a:r>
            <a:r>
              <a:rPr sz="1900" spc="-20" dirty="0">
                <a:latin typeface="Arial"/>
                <a:cs typeface="Arial"/>
              </a:rPr>
              <a:t> </a:t>
            </a:r>
            <a:r>
              <a:rPr sz="1900" spc="-10" dirty="0">
                <a:latin typeface="Arial"/>
                <a:cs typeface="Arial"/>
              </a:rPr>
              <a:t>integrity.</a:t>
            </a:r>
            <a:endParaRPr sz="1900">
              <a:latin typeface="Arial"/>
              <a:cs typeface="Arial"/>
            </a:endParaRPr>
          </a:p>
          <a:p>
            <a:pPr marL="355600" indent="-342900">
              <a:lnSpc>
                <a:spcPct val="100000"/>
              </a:lnSpc>
              <a:spcBef>
                <a:spcPts val="459"/>
              </a:spcBef>
              <a:buChar char="•"/>
              <a:tabLst>
                <a:tab pos="354965" algn="l"/>
                <a:tab pos="355600" algn="l"/>
              </a:tabLst>
            </a:pPr>
            <a:r>
              <a:rPr sz="1900" spc="-10" dirty="0">
                <a:latin typeface="Arial"/>
                <a:cs typeface="Arial"/>
              </a:rPr>
              <a:t>Encryption</a:t>
            </a:r>
            <a:r>
              <a:rPr sz="1900" spc="40" dirty="0">
                <a:latin typeface="Arial"/>
                <a:cs typeface="Arial"/>
              </a:rPr>
              <a:t> </a:t>
            </a:r>
            <a:r>
              <a:rPr sz="1900" dirty="0">
                <a:latin typeface="Arial"/>
                <a:cs typeface="Arial"/>
              </a:rPr>
              <a:t>of</a:t>
            </a:r>
            <a:r>
              <a:rPr sz="1900" spc="-20" dirty="0">
                <a:latin typeface="Arial"/>
                <a:cs typeface="Arial"/>
              </a:rPr>
              <a:t> </a:t>
            </a:r>
            <a:r>
              <a:rPr sz="1900" dirty="0">
                <a:latin typeface="Arial"/>
                <a:cs typeface="Arial"/>
              </a:rPr>
              <a:t>data.</a:t>
            </a:r>
            <a:endParaRPr sz="19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32</a:t>
            </a:fld>
            <a:endParaRPr spc="-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69964B57-3792-4C51-A577-CA8A7F83E665}" type="slidenum">
              <a:rPr lang="en-US" altLang="en-US" sz="1400"/>
              <a:pPr>
                <a:spcBef>
                  <a:spcPct val="50000"/>
                </a:spcBef>
                <a:buClrTx/>
                <a:buFontTx/>
                <a:buNone/>
              </a:pPr>
              <a:t>33</a:t>
            </a:fld>
            <a:endParaRPr lang="en-US" altLang="en-US" sz="1400"/>
          </a:p>
        </p:txBody>
      </p:sp>
      <p:sp>
        <p:nvSpPr>
          <p:cNvPr id="102404" name="Rectangle 2"/>
          <p:cNvSpPr>
            <a:spLocks noGrp="1" noChangeArrowheads="1"/>
          </p:cNvSpPr>
          <p:nvPr>
            <p:ph type="body" idx="1"/>
          </p:nvPr>
        </p:nvSpPr>
        <p:spPr>
          <a:xfrm>
            <a:off x="469900" y="1066800"/>
            <a:ext cx="11016614" cy="4724400"/>
          </a:xfrm>
        </p:spPr>
        <p:txBody>
          <a:bodyPr/>
          <a:lstStyle/>
          <a:p>
            <a:pPr algn="ctr" eaLnBrk="1" hangingPunct="1">
              <a:lnSpc>
                <a:spcPct val="90000"/>
              </a:lnSpc>
              <a:buFont typeface="Wingdings" panose="05000000000000000000" pitchFamily="2" charset="2"/>
              <a:buNone/>
            </a:pPr>
            <a:r>
              <a:rPr lang="en-US" altLang="en-US" sz="3500" b="1" u="sng" dirty="0"/>
              <a:t>Database Security</a:t>
            </a:r>
            <a:endParaRPr lang="en-US" altLang="en-US" sz="2800" dirty="0"/>
          </a:p>
          <a:p>
            <a:pPr algn="just"/>
            <a:r>
              <a:rPr lang="en-US" altLang="en-US" b="1" dirty="0"/>
              <a:t> </a:t>
            </a:r>
            <a:r>
              <a:rPr lang="en-US" altLang="en-US" sz="2400" dirty="0"/>
              <a:t>It is now customary to refer to two types of database security mechanisms:</a:t>
            </a:r>
          </a:p>
          <a:p>
            <a:pPr algn="just"/>
            <a:r>
              <a:rPr lang="en-US" altLang="en-US" sz="2400" b="1" dirty="0"/>
              <a:t>Discretionary security mechanisms:</a:t>
            </a:r>
            <a:r>
              <a:rPr lang="en-US" altLang="en-US" sz="2400" dirty="0"/>
              <a:t> These are used to grant privileges to users, including the capability to access specific data files, records, or fields in a specified mode (such as read, insert, delete, or update).</a:t>
            </a:r>
          </a:p>
          <a:p>
            <a:pPr algn="just"/>
            <a:endParaRPr lang="en-US" altLang="en-US" sz="2400" i="1" dirty="0"/>
          </a:p>
          <a:p>
            <a:pPr algn="just"/>
            <a:r>
              <a:rPr lang="en-US" altLang="en-US" sz="2400" b="1" dirty="0"/>
              <a:t>Mandatory security mechanisms: </a:t>
            </a:r>
            <a:r>
              <a:rPr lang="en-US" altLang="en-US" sz="2400" dirty="0"/>
              <a:t>These are used to enforce multilevel security by classifying the data and users into various security classes (or levels) and then implementing the appropriate security policy of the organization.</a:t>
            </a:r>
          </a:p>
          <a:p>
            <a:pPr algn="just"/>
            <a:endParaRPr lang="en-US" altLang="en-US" i="1" dirty="0"/>
          </a:p>
          <a:p>
            <a:pPr algn="just"/>
            <a:endParaRPr lang="en-US" altLang="en-US" b="1" dirty="0"/>
          </a:p>
        </p:txBody>
      </p:sp>
    </p:spTree>
    <p:extLst>
      <p:ext uri="{BB962C8B-B14F-4D97-AF65-F5344CB8AC3E}">
        <p14:creationId xmlns:p14="http://schemas.microsoft.com/office/powerpoint/2010/main" val="24540398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091AF276-EDEC-40DB-8724-DE9F564B9B6C}" type="slidenum">
              <a:rPr lang="en-US" altLang="en-US" sz="1400"/>
              <a:pPr>
                <a:spcBef>
                  <a:spcPct val="50000"/>
                </a:spcBef>
                <a:buClrTx/>
                <a:buFontTx/>
                <a:buNone/>
              </a:pPr>
              <a:t>34</a:t>
            </a:fld>
            <a:endParaRPr lang="en-US" altLang="en-US" sz="1400"/>
          </a:p>
        </p:txBody>
      </p:sp>
      <p:sp>
        <p:nvSpPr>
          <p:cNvPr id="5124" name="Rectangle 2"/>
          <p:cNvSpPr>
            <a:spLocks noGrp="1" noChangeArrowheads="1"/>
          </p:cNvSpPr>
          <p:nvPr>
            <p:ph type="body" idx="1"/>
          </p:nvPr>
        </p:nvSpPr>
        <p:spPr>
          <a:xfrm>
            <a:off x="469900" y="1600200"/>
            <a:ext cx="10711814" cy="3162404"/>
          </a:xfrm>
        </p:spPr>
        <p:txBody>
          <a:bodyPr/>
          <a:lstStyle/>
          <a:p>
            <a:pPr algn="ctr" eaLnBrk="1" hangingPunct="1">
              <a:lnSpc>
                <a:spcPct val="90000"/>
              </a:lnSpc>
              <a:buFont typeface="Wingdings" panose="05000000000000000000" pitchFamily="2" charset="2"/>
              <a:buNone/>
              <a:defRPr/>
            </a:pPr>
            <a:r>
              <a:rPr lang="en-US" sz="3500" b="1" u="sng" dirty="0"/>
              <a:t>Control Measures</a:t>
            </a:r>
            <a:endParaRPr lang="en-US" sz="2800" dirty="0"/>
          </a:p>
          <a:p>
            <a:pPr>
              <a:defRPr/>
            </a:pPr>
            <a:endParaRPr lang="en-US" sz="2400" b="1" dirty="0"/>
          </a:p>
          <a:p>
            <a:pPr algn="just">
              <a:defRPr/>
            </a:pPr>
            <a:r>
              <a:rPr lang="en-US" sz="2400" dirty="0"/>
              <a:t>Four main control measures are used to provide security of data in databases:</a:t>
            </a:r>
          </a:p>
          <a:p>
            <a:pPr lvl="1" algn="just">
              <a:defRPr/>
            </a:pPr>
            <a:r>
              <a:rPr lang="en-US" sz="2000" dirty="0"/>
              <a:t>Access control</a:t>
            </a:r>
          </a:p>
          <a:p>
            <a:pPr lvl="1" algn="just">
              <a:defRPr/>
            </a:pPr>
            <a:r>
              <a:rPr lang="en-US" sz="2000" dirty="0"/>
              <a:t>Inference control</a:t>
            </a:r>
          </a:p>
          <a:p>
            <a:pPr lvl="1" algn="just">
              <a:defRPr/>
            </a:pPr>
            <a:r>
              <a:rPr lang="en-US" sz="2000" dirty="0"/>
              <a:t>Flow control</a:t>
            </a:r>
          </a:p>
          <a:p>
            <a:pPr lvl="1" algn="just">
              <a:defRPr/>
            </a:pPr>
            <a:r>
              <a:rPr lang="en-US" sz="2000" dirty="0"/>
              <a:t>Data encryption</a:t>
            </a:r>
          </a:p>
          <a:p>
            <a:pPr algn="just">
              <a:defRPr/>
            </a:pPr>
            <a:endParaRPr lang="en-US" dirty="0"/>
          </a:p>
          <a:p>
            <a:pPr algn="just">
              <a:defRPr/>
            </a:pPr>
            <a:r>
              <a:rPr lang="en-US" sz="2400" dirty="0"/>
              <a:t>Above control measures define the level of access protections</a:t>
            </a:r>
            <a:r>
              <a:rPr lang="en-US" dirty="0"/>
              <a:t>.</a:t>
            </a:r>
          </a:p>
        </p:txBody>
      </p:sp>
    </p:spTree>
    <p:extLst>
      <p:ext uri="{BB962C8B-B14F-4D97-AF65-F5344CB8AC3E}">
        <p14:creationId xmlns:p14="http://schemas.microsoft.com/office/powerpoint/2010/main" val="37141410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41342806-C5B4-4E69-B4BA-1969FB3FBB97}" type="slidenum">
              <a:rPr lang="en-US" altLang="en-US" sz="1400"/>
              <a:pPr>
                <a:spcBef>
                  <a:spcPct val="50000"/>
                </a:spcBef>
                <a:buClrTx/>
                <a:buFontTx/>
                <a:buNone/>
              </a:pPr>
              <a:t>35</a:t>
            </a:fld>
            <a:endParaRPr lang="en-US" altLang="en-US" sz="1400"/>
          </a:p>
        </p:txBody>
      </p:sp>
      <p:sp>
        <p:nvSpPr>
          <p:cNvPr id="106500" name="Rectangle 2"/>
          <p:cNvSpPr>
            <a:spLocks noGrp="1" noChangeArrowheads="1"/>
          </p:cNvSpPr>
          <p:nvPr>
            <p:ph type="body" idx="1"/>
          </p:nvPr>
        </p:nvSpPr>
        <p:spPr>
          <a:xfrm>
            <a:off x="698500" y="838200"/>
            <a:ext cx="10711814" cy="5286062"/>
          </a:xfrm>
        </p:spPr>
        <p:txBody>
          <a:bodyPr/>
          <a:lstStyle/>
          <a:p>
            <a:pPr algn="ctr" eaLnBrk="1" hangingPunct="1">
              <a:lnSpc>
                <a:spcPct val="90000"/>
              </a:lnSpc>
              <a:buFont typeface="Wingdings" panose="05000000000000000000" pitchFamily="2" charset="2"/>
              <a:buNone/>
            </a:pPr>
            <a:r>
              <a:rPr lang="en-US" altLang="en-US" sz="3500" b="1" u="sng" dirty="0"/>
              <a:t>Control Measures</a:t>
            </a:r>
            <a:endParaRPr lang="en-US" altLang="en-US" sz="2800" dirty="0"/>
          </a:p>
          <a:p>
            <a:pPr algn="just"/>
            <a:r>
              <a:rPr lang="en-US" altLang="en-US" sz="2400" b="1" dirty="0"/>
              <a:t>Access Control </a:t>
            </a:r>
            <a:r>
              <a:rPr lang="en-US" altLang="en-US" sz="2400" dirty="0"/>
              <a:t>is a way of preventing unauthorized persons from accessing the system itself, either to obtain information or to make malicious changes in a portion of the database. The security mechanism of a DBMS must include provisions for restricting access to the database system as a whole.</a:t>
            </a:r>
          </a:p>
          <a:p>
            <a:pPr algn="just"/>
            <a:r>
              <a:rPr lang="en-US" altLang="en-US" sz="2400" b="1" dirty="0"/>
              <a:t>Statistical databases </a:t>
            </a:r>
            <a:r>
              <a:rPr lang="en-US" altLang="en-US" sz="2400" dirty="0"/>
              <a:t>are used to provide statistical information or summaries of values based on various criteria. Security for statistical databases must ensure that information about individuals cannot be accessed. It is sometimes possible to deduce or infer certain facts concerning individuals from queries that involve only summary statistics on groups; consequently, this must not be permitted either. The control measure used to prevent is known as </a:t>
            </a:r>
            <a:r>
              <a:rPr lang="en-US" altLang="en-US" sz="2400" b="1" dirty="0"/>
              <a:t>inference control</a:t>
            </a:r>
            <a:r>
              <a:rPr lang="en-US" altLang="en-US" sz="2400" dirty="0"/>
              <a:t>.</a:t>
            </a:r>
          </a:p>
          <a:p>
            <a:pPr algn="just"/>
            <a:r>
              <a:rPr lang="en-US" altLang="en-US" sz="2400" dirty="0"/>
              <a:t>Another security issue is that of </a:t>
            </a:r>
            <a:r>
              <a:rPr lang="en-US" altLang="en-US" sz="2400" b="1" dirty="0"/>
              <a:t>flow control, which prevents information from </a:t>
            </a:r>
            <a:r>
              <a:rPr lang="en-US" altLang="en-US" sz="2400" dirty="0"/>
              <a:t>flowing in such a way that it reaches unauthorized users.</a:t>
            </a:r>
          </a:p>
        </p:txBody>
      </p:sp>
    </p:spTree>
    <p:extLst>
      <p:ext uri="{BB962C8B-B14F-4D97-AF65-F5344CB8AC3E}">
        <p14:creationId xmlns:p14="http://schemas.microsoft.com/office/powerpoint/2010/main" val="37305499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9457E054-3154-4F3B-888A-CE32D052A39C}" type="slidenum">
              <a:rPr lang="en-US" altLang="en-US" sz="1400"/>
              <a:pPr>
                <a:spcBef>
                  <a:spcPct val="50000"/>
                </a:spcBef>
                <a:buClrTx/>
                <a:buFontTx/>
                <a:buNone/>
              </a:pPr>
              <a:t>36</a:t>
            </a:fld>
            <a:endParaRPr lang="en-US" altLang="en-US" sz="1400"/>
          </a:p>
        </p:txBody>
      </p:sp>
      <p:sp>
        <p:nvSpPr>
          <p:cNvPr id="108548" name="Rectangle 2"/>
          <p:cNvSpPr>
            <a:spLocks noGrp="1" noChangeArrowheads="1"/>
          </p:cNvSpPr>
          <p:nvPr>
            <p:ph type="body" idx="1"/>
          </p:nvPr>
        </p:nvSpPr>
        <p:spPr>
          <a:xfrm>
            <a:off x="850900" y="1295400"/>
            <a:ext cx="10711814" cy="3808735"/>
          </a:xfrm>
        </p:spPr>
        <p:txBody>
          <a:bodyPr/>
          <a:lstStyle/>
          <a:p>
            <a:pPr algn="ctr" eaLnBrk="1" hangingPunct="1">
              <a:lnSpc>
                <a:spcPct val="90000"/>
              </a:lnSpc>
              <a:buFont typeface="Wingdings" panose="05000000000000000000" pitchFamily="2" charset="2"/>
              <a:buNone/>
            </a:pPr>
            <a:r>
              <a:rPr lang="en-US" altLang="en-US" sz="3500" b="1" u="sng" dirty="0"/>
              <a:t>Control Measures</a:t>
            </a:r>
            <a:endParaRPr lang="en-US" altLang="en-US" sz="2800" dirty="0"/>
          </a:p>
          <a:p>
            <a:pPr algn="just"/>
            <a:r>
              <a:rPr lang="en-US" altLang="en-US" sz="2400" dirty="0"/>
              <a:t>A final control measure is </a:t>
            </a:r>
            <a:r>
              <a:rPr lang="en-US" altLang="en-US" sz="2400" b="1" dirty="0"/>
              <a:t>data encryption, </a:t>
            </a:r>
            <a:r>
              <a:rPr lang="en-US" altLang="en-US" sz="2400" dirty="0"/>
              <a:t>which is used to protect sensitive data (such as credit card numbers) that is transmitted via some type of communications network. Encryption can be used to provide additional protection for sensitive portions of a database as well. The data is </a:t>
            </a:r>
            <a:r>
              <a:rPr lang="en-US" altLang="en-US" sz="2400" b="1" dirty="0"/>
              <a:t>encoded using some coding algorithm, known as encryption algorithm. </a:t>
            </a:r>
            <a:r>
              <a:rPr lang="en-US" altLang="en-US" sz="2400" dirty="0"/>
              <a:t>An</a:t>
            </a:r>
            <a:r>
              <a:rPr lang="en-US" altLang="en-US" sz="2400" b="1" dirty="0"/>
              <a:t> </a:t>
            </a:r>
            <a:r>
              <a:rPr lang="en-US" altLang="en-US" sz="2400" dirty="0"/>
              <a:t>unauthorized user who accesses encoded data will have difficulty decoding/deciphering it, but authorized users are given decoding or decrypting algorithms to decipher the data.  Both of the encoding and decoding algorithms use some parameters like key for encrypting and decrypting data.</a:t>
            </a:r>
          </a:p>
        </p:txBody>
      </p:sp>
    </p:spTree>
    <p:extLst>
      <p:ext uri="{BB962C8B-B14F-4D97-AF65-F5344CB8AC3E}">
        <p14:creationId xmlns:p14="http://schemas.microsoft.com/office/powerpoint/2010/main" val="49969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6776084"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Access</a:t>
            </a:r>
            <a:r>
              <a:rPr sz="3600" spc="-25" dirty="0">
                <a:solidFill>
                  <a:srgbClr val="000000"/>
                </a:solidFill>
                <a:latin typeface="Verdana"/>
                <a:cs typeface="Verdana"/>
              </a:rPr>
              <a:t> </a:t>
            </a:r>
            <a:r>
              <a:rPr sz="3600" spc="-5" dirty="0">
                <a:solidFill>
                  <a:srgbClr val="000000"/>
                </a:solidFill>
                <a:latin typeface="Verdana"/>
                <a:cs typeface="Verdana"/>
              </a:rPr>
              <a:t>Protection/Control</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9275" cy="4904105"/>
          </a:xfrm>
          <a:prstGeom prst="rect">
            <a:avLst/>
          </a:prstGeom>
        </p:spPr>
        <p:txBody>
          <a:bodyPr vert="horz" wrap="square" lIns="0" tIns="12700" rIns="0" bIns="0" rtlCol="0">
            <a:spAutoFit/>
          </a:bodyPr>
          <a:lstStyle/>
          <a:p>
            <a:pPr marL="354965" marR="5715" indent="-342900" algn="just">
              <a:lnSpc>
                <a:spcPct val="100000"/>
              </a:lnSpc>
              <a:spcBef>
                <a:spcPts val="100"/>
              </a:spcBef>
              <a:buFont typeface="Wingdings"/>
              <a:buChar char=""/>
              <a:tabLst>
                <a:tab pos="355600" algn="l"/>
              </a:tabLst>
            </a:pPr>
            <a:r>
              <a:rPr sz="2000" dirty="0">
                <a:latin typeface="Arial"/>
                <a:cs typeface="Arial"/>
              </a:rPr>
              <a:t>Access </a:t>
            </a:r>
            <a:r>
              <a:rPr sz="2000" spc="-5" dirty="0">
                <a:latin typeface="Arial"/>
                <a:cs typeface="Arial"/>
              </a:rPr>
              <a:t>control is a security </a:t>
            </a:r>
            <a:r>
              <a:rPr sz="2000" dirty="0">
                <a:latin typeface="Arial"/>
                <a:cs typeface="Arial"/>
              </a:rPr>
              <a:t>technique </a:t>
            </a:r>
            <a:r>
              <a:rPr sz="2000" spc="-5" dirty="0">
                <a:latin typeface="Arial"/>
                <a:cs typeface="Arial"/>
              </a:rPr>
              <a:t>that </a:t>
            </a:r>
            <a:r>
              <a:rPr sz="2000" dirty="0">
                <a:latin typeface="Arial"/>
                <a:cs typeface="Arial"/>
              </a:rPr>
              <a:t>regulates </a:t>
            </a:r>
            <a:r>
              <a:rPr sz="2000" spc="-10" dirty="0">
                <a:latin typeface="Arial"/>
                <a:cs typeface="Arial"/>
              </a:rPr>
              <a:t>who </a:t>
            </a:r>
            <a:r>
              <a:rPr sz="2000" dirty="0">
                <a:latin typeface="Arial"/>
                <a:cs typeface="Arial"/>
              </a:rPr>
              <a:t>or </a:t>
            </a:r>
            <a:r>
              <a:rPr sz="2000" spc="-5" dirty="0">
                <a:latin typeface="Arial"/>
                <a:cs typeface="Arial"/>
              </a:rPr>
              <a:t>what </a:t>
            </a:r>
            <a:r>
              <a:rPr sz="2000" spc="-10" dirty="0">
                <a:latin typeface="Arial"/>
                <a:cs typeface="Arial"/>
              </a:rPr>
              <a:t>can </a:t>
            </a:r>
            <a:r>
              <a:rPr sz="2000" spc="-5" dirty="0">
                <a:latin typeface="Arial"/>
                <a:cs typeface="Arial"/>
              </a:rPr>
              <a:t>view </a:t>
            </a:r>
            <a:r>
              <a:rPr sz="2000" dirty="0">
                <a:latin typeface="Arial"/>
                <a:cs typeface="Arial"/>
              </a:rPr>
              <a:t>or use </a:t>
            </a:r>
            <a:r>
              <a:rPr sz="2000" spc="-10" dirty="0">
                <a:latin typeface="Arial"/>
                <a:cs typeface="Arial"/>
              </a:rPr>
              <a:t>resources </a:t>
            </a:r>
            <a:r>
              <a:rPr sz="2000" spc="-545" dirty="0">
                <a:latin typeface="Arial"/>
                <a:cs typeface="Arial"/>
              </a:rPr>
              <a:t> </a:t>
            </a:r>
            <a:r>
              <a:rPr sz="2000" spc="-5" dirty="0">
                <a:latin typeface="Arial"/>
                <a:cs typeface="Arial"/>
              </a:rPr>
              <a:t>in</a:t>
            </a:r>
            <a:r>
              <a:rPr sz="2000" dirty="0">
                <a:latin typeface="Arial"/>
                <a:cs typeface="Arial"/>
              </a:rPr>
              <a:t> </a:t>
            </a:r>
            <a:r>
              <a:rPr sz="2000" spc="-5" dirty="0">
                <a:latin typeface="Arial"/>
                <a:cs typeface="Arial"/>
              </a:rPr>
              <a:t>a</a:t>
            </a:r>
            <a:r>
              <a:rPr sz="2000" dirty="0">
                <a:latin typeface="Arial"/>
                <a:cs typeface="Arial"/>
              </a:rPr>
              <a:t> </a:t>
            </a:r>
            <a:r>
              <a:rPr sz="2000" spc="-5" dirty="0">
                <a:latin typeface="Arial"/>
                <a:cs typeface="Arial"/>
              </a:rPr>
              <a:t>computing environment. </a:t>
            </a:r>
            <a:r>
              <a:rPr sz="2000" dirty="0">
                <a:latin typeface="Arial"/>
                <a:cs typeface="Arial"/>
              </a:rPr>
              <a:t>It </a:t>
            </a:r>
            <a:r>
              <a:rPr sz="2000" spc="-5" dirty="0">
                <a:latin typeface="Arial"/>
                <a:cs typeface="Arial"/>
              </a:rPr>
              <a:t>is a fundamental</a:t>
            </a:r>
            <a:r>
              <a:rPr sz="2000" dirty="0">
                <a:latin typeface="Arial"/>
                <a:cs typeface="Arial"/>
              </a:rPr>
              <a:t> </a:t>
            </a:r>
            <a:r>
              <a:rPr sz="2000" spc="-5" dirty="0">
                <a:latin typeface="Arial"/>
                <a:cs typeface="Arial"/>
              </a:rPr>
              <a:t>concept in</a:t>
            </a:r>
            <a:r>
              <a:rPr sz="2000" dirty="0">
                <a:latin typeface="Arial"/>
                <a:cs typeface="Arial"/>
              </a:rPr>
              <a:t> </a:t>
            </a:r>
            <a:r>
              <a:rPr sz="2000" spc="-10" dirty="0">
                <a:latin typeface="Arial"/>
                <a:cs typeface="Arial"/>
              </a:rPr>
              <a:t>security </a:t>
            </a:r>
            <a:r>
              <a:rPr sz="2000" dirty="0">
                <a:latin typeface="Arial"/>
                <a:cs typeface="Arial"/>
              </a:rPr>
              <a:t>that </a:t>
            </a:r>
            <a:r>
              <a:rPr sz="2000" spc="-5" dirty="0">
                <a:latin typeface="Arial"/>
                <a:cs typeface="Arial"/>
              </a:rPr>
              <a:t>minimizes</a:t>
            </a:r>
            <a:r>
              <a:rPr sz="2000" spc="545" dirty="0">
                <a:latin typeface="Arial"/>
                <a:cs typeface="Arial"/>
              </a:rPr>
              <a:t> </a:t>
            </a:r>
            <a:r>
              <a:rPr sz="2000" spc="-5" dirty="0">
                <a:latin typeface="Arial"/>
                <a:cs typeface="Arial"/>
              </a:rPr>
              <a:t>risk</a:t>
            </a:r>
            <a:r>
              <a:rPr sz="2000" spc="545" dirty="0">
                <a:latin typeface="Arial"/>
                <a:cs typeface="Arial"/>
              </a:rPr>
              <a:t> </a:t>
            </a:r>
            <a:r>
              <a:rPr sz="2000" dirty="0">
                <a:latin typeface="Arial"/>
                <a:cs typeface="Arial"/>
              </a:rPr>
              <a:t>to </a:t>
            </a:r>
            <a:r>
              <a:rPr sz="2000" spc="-545" dirty="0">
                <a:latin typeface="Arial"/>
                <a:cs typeface="Arial"/>
              </a:rPr>
              <a:t> </a:t>
            </a:r>
            <a:r>
              <a:rPr sz="2000" dirty="0">
                <a:latin typeface="Arial"/>
                <a:cs typeface="Arial"/>
              </a:rPr>
              <a:t>the</a:t>
            </a:r>
            <a:r>
              <a:rPr sz="2000" spc="-35" dirty="0">
                <a:latin typeface="Arial"/>
                <a:cs typeface="Arial"/>
              </a:rPr>
              <a:t> </a:t>
            </a:r>
            <a:r>
              <a:rPr sz="2000" dirty="0">
                <a:latin typeface="Arial"/>
                <a:cs typeface="Arial"/>
              </a:rPr>
              <a:t>business</a:t>
            </a:r>
            <a:r>
              <a:rPr sz="2000" spc="-10" dirty="0">
                <a:latin typeface="Arial"/>
                <a:cs typeface="Arial"/>
              </a:rPr>
              <a:t> </a:t>
            </a:r>
            <a:r>
              <a:rPr sz="2000" dirty="0">
                <a:latin typeface="Arial"/>
                <a:cs typeface="Arial"/>
              </a:rPr>
              <a:t>or</a:t>
            </a:r>
            <a:r>
              <a:rPr sz="2000" spc="-25" dirty="0">
                <a:latin typeface="Arial"/>
                <a:cs typeface="Arial"/>
              </a:rPr>
              <a:t> </a:t>
            </a:r>
            <a:r>
              <a:rPr sz="2000" spc="-5" dirty="0">
                <a:latin typeface="Arial"/>
                <a:cs typeface="Arial"/>
              </a:rPr>
              <a:t>organization.</a:t>
            </a:r>
            <a:endParaRPr sz="2000">
              <a:latin typeface="Arial"/>
              <a:cs typeface="Arial"/>
            </a:endParaRPr>
          </a:p>
          <a:p>
            <a:pPr marL="355600" indent="-342900" algn="just">
              <a:lnSpc>
                <a:spcPct val="100000"/>
              </a:lnSpc>
              <a:spcBef>
                <a:spcPts val="480"/>
              </a:spcBef>
              <a:buFont typeface="Wingdings"/>
              <a:buChar char=""/>
              <a:tabLst>
                <a:tab pos="355600" algn="l"/>
              </a:tabLst>
            </a:pPr>
            <a:r>
              <a:rPr sz="2000" dirty="0">
                <a:latin typeface="Arial"/>
                <a:cs typeface="Arial"/>
              </a:rPr>
              <a:t>There</a:t>
            </a:r>
            <a:r>
              <a:rPr sz="2000" spc="-30" dirty="0">
                <a:latin typeface="Arial"/>
                <a:cs typeface="Arial"/>
              </a:rPr>
              <a:t> </a:t>
            </a:r>
            <a:r>
              <a:rPr sz="2000" dirty="0">
                <a:latin typeface="Arial"/>
                <a:cs typeface="Arial"/>
              </a:rPr>
              <a:t>are</a:t>
            </a:r>
            <a:r>
              <a:rPr sz="2000" spc="-5" dirty="0">
                <a:latin typeface="Arial"/>
                <a:cs typeface="Arial"/>
              </a:rPr>
              <a:t> </a:t>
            </a:r>
            <a:r>
              <a:rPr sz="2000" spc="-10" dirty="0">
                <a:latin typeface="Arial"/>
                <a:cs typeface="Arial"/>
              </a:rPr>
              <a:t>two</a:t>
            </a:r>
            <a:r>
              <a:rPr sz="2000" spc="15" dirty="0">
                <a:latin typeface="Arial"/>
                <a:cs typeface="Arial"/>
              </a:rPr>
              <a:t> </a:t>
            </a:r>
            <a:r>
              <a:rPr sz="2000" spc="-5" dirty="0">
                <a:latin typeface="Arial"/>
                <a:cs typeface="Arial"/>
              </a:rPr>
              <a:t>types</a:t>
            </a:r>
            <a:r>
              <a:rPr sz="2000" spc="-10" dirty="0">
                <a:latin typeface="Arial"/>
                <a:cs typeface="Arial"/>
              </a:rPr>
              <a:t> </a:t>
            </a:r>
            <a:r>
              <a:rPr sz="2000" dirty="0">
                <a:latin typeface="Arial"/>
                <a:cs typeface="Arial"/>
              </a:rPr>
              <a:t>of</a:t>
            </a:r>
            <a:r>
              <a:rPr sz="2000" spc="-5" dirty="0">
                <a:latin typeface="Arial"/>
                <a:cs typeface="Arial"/>
              </a:rPr>
              <a:t> </a:t>
            </a:r>
            <a:r>
              <a:rPr sz="2000" dirty="0">
                <a:latin typeface="Arial"/>
                <a:cs typeface="Arial"/>
              </a:rPr>
              <a:t>access</a:t>
            </a:r>
            <a:r>
              <a:rPr sz="2000" spc="-30" dirty="0">
                <a:latin typeface="Arial"/>
                <a:cs typeface="Arial"/>
              </a:rPr>
              <a:t> </a:t>
            </a:r>
            <a:r>
              <a:rPr sz="2000" dirty="0">
                <a:latin typeface="Arial"/>
                <a:cs typeface="Arial"/>
              </a:rPr>
              <a:t>control:</a:t>
            </a:r>
            <a:r>
              <a:rPr sz="2000" spc="-35" dirty="0">
                <a:latin typeface="Arial"/>
                <a:cs typeface="Arial"/>
              </a:rPr>
              <a:t> </a:t>
            </a:r>
            <a:r>
              <a:rPr sz="2000" spc="-5" dirty="0">
                <a:latin typeface="Arial"/>
                <a:cs typeface="Arial"/>
              </a:rPr>
              <a:t>physical</a:t>
            </a:r>
            <a:r>
              <a:rPr sz="2000" spc="30" dirty="0">
                <a:latin typeface="Arial"/>
                <a:cs typeface="Arial"/>
              </a:rPr>
              <a:t> </a:t>
            </a:r>
            <a:r>
              <a:rPr sz="2000" spc="5" dirty="0">
                <a:latin typeface="Arial"/>
                <a:cs typeface="Arial"/>
              </a:rPr>
              <a:t>and</a:t>
            </a:r>
            <a:r>
              <a:rPr sz="2000" spc="-30" dirty="0">
                <a:latin typeface="Arial"/>
                <a:cs typeface="Arial"/>
              </a:rPr>
              <a:t> </a:t>
            </a:r>
            <a:r>
              <a:rPr sz="2000" spc="-5" dirty="0">
                <a:latin typeface="Arial"/>
                <a:cs typeface="Arial"/>
              </a:rPr>
              <a:t>logical.</a:t>
            </a:r>
            <a:endParaRPr sz="2000">
              <a:latin typeface="Arial"/>
              <a:cs typeface="Arial"/>
            </a:endParaRPr>
          </a:p>
          <a:p>
            <a:pPr marL="355600" indent="-342900" algn="just">
              <a:lnSpc>
                <a:spcPct val="100000"/>
              </a:lnSpc>
              <a:spcBef>
                <a:spcPts val="480"/>
              </a:spcBef>
              <a:buFont typeface="Wingdings"/>
              <a:buChar char=""/>
              <a:tabLst>
                <a:tab pos="355600" algn="l"/>
              </a:tabLst>
            </a:pPr>
            <a:r>
              <a:rPr sz="2000" b="1" spc="-5" dirty="0">
                <a:latin typeface="Arial"/>
                <a:cs typeface="Arial"/>
              </a:rPr>
              <a:t>Physical</a:t>
            </a:r>
            <a:r>
              <a:rPr sz="2000" b="1" spc="505" dirty="0">
                <a:latin typeface="Arial"/>
                <a:cs typeface="Arial"/>
              </a:rPr>
              <a:t> </a:t>
            </a:r>
            <a:r>
              <a:rPr sz="2000" b="1" spc="-5" dirty="0">
                <a:latin typeface="Arial"/>
                <a:cs typeface="Arial"/>
              </a:rPr>
              <a:t>access</a:t>
            </a:r>
            <a:r>
              <a:rPr sz="2000" b="1" spc="480" dirty="0">
                <a:latin typeface="Arial"/>
                <a:cs typeface="Arial"/>
              </a:rPr>
              <a:t> </a:t>
            </a:r>
            <a:r>
              <a:rPr sz="2000" b="1" spc="-5" dirty="0">
                <a:latin typeface="Arial"/>
                <a:cs typeface="Arial"/>
              </a:rPr>
              <a:t>control</a:t>
            </a:r>
            <a:r>
              <a:rPr sz="2000" b="1" spc="500" dirty="0">
                <a:latin typeface="Arial"/>
                <a:cs typeface="Arial"/>
              </a:rPr>
              <a:t> </a:t>
            </a:r>
            <a:r>
              <a:rPr sz="2000" dirty="0">
                <a:latin typeface="Arial"/>
                <a:cs typeface="Arial"/>
              </a:rPr>
              <a:t>limits</a:t>
            </a:r>
            <a:r>
              <a:rPr sz="2000" spc="484" dirty="0">
                <a:latin typeface="Arial"/>
                <a:cs typeface="Arial"/>
              </a:rPr>
              <a:t> </a:t>
            </a:r>
            <a:r>
              <a:rPr sz="2000" spc="-5" dirty="0">
                <a:latin typeface="Arial"/>
                <a:cs typeface="Arial"/>
              </a:rPr>
              <a:t>access</a:t>
            </a:r>
            <a:r>
              <a:rPr sz="2000" spc="465" dirty="0">
                <a:latin typeface="Arial"/>
                <a:cs typeface="Arial"/>
              </a:rPr>
              <a:t> </a:t>
            </a:r>
            <a:r>
              <a:rPr sz="2000" dirty="0">
                <a:latin typeface="Arial"/>
                <a:cs typeface="Arial"/>
              </a:rPr>
              <a:t>to</a:t>
            </a:r>
            <a:r>
              <a:rPr sz="2000" spc="475" dirty="0">
                <a:latin typeface="Arial"/>
                <a:cs typeface="Arial"/>
              </a:rPr>
              <a:t> </a:t>
            </a:r>
            <a:r>
              <a:rPr sz="2000" spc="-5" dirty="0">
                <a:latin typeface="Arial"/>
                <a:cs typeface="Arial"/>
              </a:rPr>
              <a:t>campuses,</a:t>
            </a:r>
            <a:r>
              <a:rPr sz="2000" spc="480" dirty="0">
                <a:latin typeface="Arial"/>
                <a:cs typeface="Arial"/>
              </a:rPr>
              <a:t> </a:t>
            </a:r>
            <a:r>
              <a:rPr sz="2000" spc="-5" dirty="0">
                <a:latin typeface="Arial"/>
                <a:cs typeface="Arial"/>
              </a:rPr>
              <a:t>buildings,</a:t>
            </a:r>
            <a:r>
              <a:rPr sz="2000" spc="480" dirty="0">
                <a:latin typeface="Arial"/>
                <a:cs typeface="Arial"/>
              </a:rPr>
              <a:t> </a:t>
            </a:r>
            <a:r>
              <a:rPr sz="2000" dirty="0">
                <a:latin typeface="Arial"/>
                <a:cs typeface="Arial"/>
              </a:rPr>
              <a:t>rooms</a:t>
            </a:r>
            <a:r>
              <a:rPr sz="2000" spc="480" dirty="0">
                <a:latin typeface="Arial"/>
                <a:cs typeface="Arial"/>
              </a:rPr>
              <a:t> </a:t>
            </a:r>
            <a:r>
              <a:rPr sz="2000" spc="-5" dirty="0">
                <a:latin typeface="Arial"/>
                <a:cs typeface="Arial"/>
              </a:rPr>
              <a:t>and</a:t>
            </a:r>
            <a:r>
              <a:rPr sz="2000" spc="475" dirty="0">
                <a:latin typeface="Arial"/>
                <a:cs typeface="Arial"/>
              </a:rPr>
              <a:t> </a:t>
            </a:r>
            <a:r>
              <a:rPr sz="2000" spc="-5" dirty="0">
                <a:latin typeface="Arial"/>
                <a:cs typeface="Arial"/>
              </a:rPr>
              <a:t>physical</a:t>
            </a:r>
            <a:r>
              <a:rPr sz="2000" spc="500" dirty="0">
                <a:latin typeface="Arial"/>
                <a:cs typeface="Arial"/>
              </a:rPr>
              <a:t> </a:t>
            </a:r>
            <a:r>
              <a:rPr sz="2000" spc="-20" dirty="0">
                <a:latin typeface="Arial"/>
                <a:cs typeface="Arial"/>
              </a:rPr>
              <a:t>IT</a:t>
            </a:r>
            <a:endParaRPr sz="2000">
              <a:latin typeface="Arial"/>
              <a:cs typeface="Arial"/>
            </a:endParaRPr>
          </a:p>
          <a:p>
            <a:pPr marL="354965">
              <a:lnSpc>
                <a:spcPct val="100000"/>
              </a:lnSpc>
              <a:spcBef>
                <a:spcPts val="5"/>
              </a:spcBef>
            </a:pPr>
            <a:r>
              <a:rPr sz="2000" dirty="0">
                <a:latin typeface="Arial"/>
                <a:cs typeface="Arial"/>
              </a:rPr>
              <a:t>assets.</a:t>
            </a:r>
            <a:endParaRPr sz="2000">
              <a:latin typeface="Arial"/>
              <a:cs typeface="Arial"/>
            </a:endParaRPr>
          </a:p>
          <a:p>
            <a:pPr marL="355600" indent="-342900" algn="just">
              <a:lnSpc>
                <a:spcPct val="100000"/>
              </a:lnSpc>
              <a:spcBef>
                <a:spcPts val="480"/>
              </a:spcBef>
              <a:buFont typeface="Wingdings"/>
              <a:buChar char=""/>
              <a:tabLst>
                <a:tab pos="355600" algn="l"/>
              </a:tabLst>
            </a:pPr>
            <a:r>
              <a:rPr sz="2000" b="1" dirty="0">
                <a:latin typeface="Arial"/>
                <a:cs typeface="Arial"/>
              </a:rPr>
              <a:t>Logical </a:t>
            </a:r>
            <a:r>
              <a:rPr sz="2000" b="1" spc="5" dirty="0">
                <a:latin typeface="Arial"/>
                <a:cs typeface="Arial"/>
              </a:rPr>
              <a:t>access</a:t>
            </a:r>
            <a:r>
              <a:rPr sz="2000" b="1" spc="-50" dirty="0">
                <a:latin typeface="Arial"/>
                <a:cs typeface="Arial"/>
              </a:rPr>
              <a:t> </a:t>
            </a:r>
            <a:r>
              <a:rPr sz="2000" b="1" spc="-5" dirty="0">
                <a:latin typeface="Arial"/>
                <a:cs typeface="Arial"/>
              </a:rPr>
              <a:t>control</a:t>
            </a:r>
            <a:r>
              <a:rPr sz="2000" b="1" dirty="0">
                <a:latin typeface="Arial"/>
                <a:cs typeface="Arial"/>
              </a:rPr>
              <a:t> </a:t>
            </a:r>
            <a:r>
              <a:rPr sz="2000" spc="-5" dirty="0">
                <a:latin typeface="Arial"/>
                <a:cs typeface="Arial"/>
              </a:rPr>
              <a:t>limits</a:t>
            </a:r>
            <a:r>
              <a:rPr sz="2000" spc="20" dirty="0">
                <a:latin typeface="Arial"/>
                <a:cs typeface="Arial"/>
              </a:rPr>
              <a:t> </a:t>
            </a:r>
            <a:r>
              <a:rPr sz="2000" dirty="0">
                <a:latin typeface="Arial"/>
                <a:cs typeface="Arial"/>
              </a:rPr>
              <a:t>connections</a:t>
            </a:r>
            <a:r>
              <a:rPr sz="2000" spc="-35" dirty="0">
                <a:latin typeface="Arial"/>
                <a:cs typeface="Arial"/>
              </a:rPr>
              <a:t> </a:t>
            </a:r>
            <a:r>
              <a:rPr sz="2000" dirty="0">
                <a:latin typeface="Arial"/>
                <a:cs typeface="Arial"/>
              </a:rPr>
              <a:t>to computer</a:t>
            </a:r>
            <a:r>
              <a:rPr sz="2000" spc="-60" dirty="0">
                <a:latin typeface="Arial"/>
                <a:cs typeface="Arial"/>
              </a:rPr>
              <a:t> </a:t>
            </a:r>
            <a:r>
              <a:rPr sz="2000" spc="-5" dirty="0">
                <a:latin typeface="Arial"/>
                <a:cs typeface="Arial"/>
              </a:rPr>
              <a:t>networks,</a:t>
            </a:r>
            <a:r>
              <a:rPr sz="2000" spc="5" dirty="0">
                <a:latin typeface="Arial"/>
                <a:cs typeface="Arial"/>
              </a:rPr>
              <a:t> </a:t>
            </a:r>
            <a:r>
              <a:rPr sz="2000" spc="-5" dirty="0">
                <a:latin typeface="Arial"/>
                <a:cs typeface="Arial"/>
              </a:rPr>
              <a:t>system</a:t>
            </a:r>
            <a:r>
              <a:rPr sz="2000" spc="10" dirty="0">
                <a:latin typeface="Arial"/>
                <a:cs typeface="Arial"/>
              </a:rPr>
              <a:t> </a:t>
            </a:r>
            <a:r>
              <a:rPr sz="2000" dirty="0">
                <a:latin typeface="Arial"/>
                <a:cs typeface="Arial"/>
              </a:rPr>
              <a:t>files</a:t>
            </a:r>
            <a:r>
              <a:rPr sz="2000" spc="-10" dirty="0">
                <a:latin typeface="Arial"/>
                <a:cs typeface="Arial"/>
              </a:rPr>
              <a:t> </a:t>
            </a:r>
            <a:r>
              <a:rPr sz="2000" dirty="0">
                <a:latin typeface="Arial"/>
                <a:cs typeface="Arial"/>
              </a:rPr>
              <a:t>and</a:t>
            </a:r>
            <a:r>
              <a:rPr sz="2000" spc="-15" dirty="0">
                <a:latin typeface="Arial"/>
                <a:cs typeface="Arial"/>
              </a:rPr>
              <a:t> </a:t>
            </a:r>
            <a:r>
              <a:rPr sz="2000" spc="5" dirty="0">
                <a:latin typeface="Arial"/>
                <a:cs typeface="Arial"/>
              </a:rPr>
              <a:t>data.</a:t>
            </a:r>
            <a:endParaRPr sz="2000">
              <a:latin typeface="Arial"/>
              <a:cs typeface="Arial"/>
            </a:endParaRPr>
          </a:p>
          <a:p>
            <a:pPr marL="354965" marR="5080" indent="-342900" algn="just">
              <a:lnSpc>
                <a:spcPct val="100000"/>
              </a:lnSpc>
              <a:spcBef>
                <a:spcPts val="480"/>
              </a:spcBef>
              <a:buFont typeface="Wingdings"/>
              <a:buChar char=""/>
              <a:tabLst>
                <a:tab pos="355600" algn="l"/>
              </a:tabLst>
            </a:pPr>
            <a:r>
              <a:rPr sz="2000" spc="5" dirty="0">
                <a:latin typeface="Arial"/>
                <a:cs typeface="Arial"/>
              </a:rPr>
              <a:t>To </a:t>
            </a:r>
            <a:r>
              <a:rPr sz="2000" spc="-5" dirty="0">
                <a:latin typeface="Arial"/>
                <a:cs typeface="Arial"/>
              </a:rPr>
              <a:t>secure a facility, organizations </a:t>
            </a:r>
            <a:r>
              <a:rPr sz="2000" dirty="0">
                <a:latin typeface="Arial"/>
                <a:cs typeface="Arial"/>
              </a:rPr>
              <a:t>use </a:t>
            </a:r>
            <a:r>
              <a:rPr sz="2000" spc="-5" dirty="0">
                <a:latin typeface="Arial"/>
                <a:cs typeface="Arial"/>
              </a:rPr>
              <a:t>electronic access control systems that rely </a:t>
            </a:r>
            <a:r>
              <a:rPr sz="2000" dirty="0">
                <a:latin typeface="Arial"/>
                <a:cs typeface="Arial"/>
              </a:rPr>
              <a:t>on </a:t>
            </a:r>
            <a:r>
              <a:rPr sz="2000" spc="-5" dirty="0">
                <a:latin typeface="Arial"/>
                <a:cs typeface="Arial"/>
              </a:rPr>
              <a:t>user </a:t>
            </a:r>
            <a:r>
              <a:rPr sz="2000" dirty="0">
                <a:latin typeface="Arial"/>
                <a:cs typeface="Arial"/>
              </a:rPr>
              <a:t> </a:t>
            </a:r>
            <a:r>
              <a:rPr sz="2000" spc="-5" dirty="0">
                <a:latin typeface="Arial"/>
                <a:cs typeface="Arial"/>
              </a:rPr>
              <a:t>credentials,</a:t>
            </a:r>
            <a:r>
              <a:rPr sz="2000" dirty="0">
                <a:latin typeface="Arial"/>
                <a:cs typeface="Arial"/>
              </a:rPr>
              <a:t> access</a:t>
            </a:r>
            <a:r>
              <a:rPr sz="2000" spc="5" dirty="0">
                <a:latin typeface="Arial"/>
                <a:cs typeface="Arial"/>
              </a:rPr>
              <a:t> </a:t>
            </a:r>
            <a:r>
              <a:rPr sz="2000" spc="-5" dirty="0">
                <a:latin typeface="Arial"/>
                <a:cs typeface="Arial"/>
              </a:rPr>
              <a:t>card</a:t>
            </a:r>
            <a:r>
              <a:rPr sz="2000" dirty="0">
                <a:latin typeface="Arial"/>
                <a:cs typeface="Arial"/>
              </a:rPr>
              <a:t> </a:t>
            </a:r>
            <a:r>
              <a:rPr sz="2000" spc="-5" dirty="0">
                <a:latin typeface="Arial"/>
                <a:cs typeface="Arial"/>
              </a:rPr>
              <a:t>readers,</a:t>
            </a:r>
            <a:r>
              <a:rPr sz="2000" dirty="0">
                <a:latin typeface="Arial"/>
                <a:cs typeface="Arial"/>
              </a:rPr>
              <a:t> </a:t>
            </a:r>
            <a:r>
              <a:rPr sz="2000" spc="-5" dirty="0">
                <a:latin typeface="Arial"/>
                <a:cs typeface="Arial"/>
              </a:rPr>
              <a:t>auditing</a:t>
            </a:r>
            <a:r>
              <a:rPr sz="2000" dirty="0">
                <a:latin typeface="Arial"/>
                <a:cs typeface="Arial"/>
              </a:rPr>
              <a:t> </a:t>
            </a:r>
            <a:r>
              <a:rPr sz="2000" spc="-5" dirty="0">
                <a:latin typeface="Arial"/>
                <a:cs typeface="Arial"/>
              </a:rPr>
              <a:t>and</a:t>
            </a:r>
            <a:r>
              <a:rPr sz="2000" dirty="0">
                <a:latin typeface="Arial"/>
                <a:cs typeface="Arial"/>
              </a:rPr>
              <a:t> </a:t>
            </a:r>
            <a:r>
              <a:rPr sz="2000" spc="-10" dirty="0">
                <a:latin typeface="Arial"/>
                <a:cs typeface="Arial"/>
              </a:rPr>
              <a:t>reports</a:t>
            </a:r>
            <a:r>
              <a:rPr sz="2000" spc="-5" dirty="0">
                <a:latin typeface="Arial"/>
                <a:cs typeface="Arial"/>
              </a:rPr>
              <a:t> </a:t>
            </a:r>
            <a:r>
              <a:rPr sz="2000" dirty="0">
                <a:latin typeface="Arial"/>
                <a:cs typeface="Arial"/>
              </a:rPr>
              <a:t>to</a:t>
            </a:r>
            <a:r>
              <a:rPr sz="2000" spc="5" dirty="0">
                <a:latin typeface="Arial"/>
                <a:cs typeface="Arial"/>
              </a:rPr>
              <a:t> </a:t>
            </a:r>
            <a:r>
              <a:rPr sz="2000" spc="-5" dirty="0">
                <a:latin typeface="Arial"/>
                <a:cs typeface="Arial"/>
              </a:rPr>
              <a:t>track</a:t>
            </a:r>
            <a:r>
              <a:rPr sz="2000" dirty="0">
                <a:latin typeface="Arial"/>
                <a:cs typeface="Arial"/>
              </a:rPr>
              <a:t> </a:t>
            </a:r>
            <a:r>
              <a:rPr sz="2000" spc="-5" dirty="0">
                <a:latin typeface="Arial"/>
                <a:cs typeface="Arial"/>
              </a:rPr>
              <a:t>employee</a:t>
            </a:r>
            <a:r>
              <a:rPr sz="2000" spc="545" dirty="0">
                <a:latin typeface="Arial"/>
                <a:cs typeface="Arial"/>
              </a:rPr>
              <a:t> </a:t>
            </a:r>
            <a:r>
              <a:rPr sz="2000" dirty="0">
                <a:latin typeface="Arial"/>
                <a:cs typeface="Arial"/>
              </a:rPr>
              <a:t>access</a:t>
            </a:r>
            <a:r>
              <a:rPr sz="2000" spc="555" dirty="0">
                <a:latin typeface="Arial"/>
                <a:cs typeface="Arial"/>
              </a:rPr>
              <a:t> </a:t>
            </a:r>
            <a:r>
              <a:rPr sz="2000" spc="-20" dirty="0">
                <a:latin typeface="Arial"/>
                <a:cs typeface="Arial"/>
              </a:rPr>
              <a:t>to </a:t>
            </a:r>
            <a:r>
              <a:rPr sz="2000" spc="-15" dirty="0">
                <a:latin typeface="Arial"/>
                <a:cs typeface="Arial"/>
              </a:rPr>
              <a:t> </a:t>
            </a:r>
            <a:r>
              <a:rPr sz="2000" spc="-5" dirty="0">
                <a:latin typeface="Arial"/>
                <a:cs typeface="Arial"/>
              </a:rPr>
              <a:t>restricted</a:t>
            </a:r>
            <a:r>
              <a:rPr sz="2000" spc="-25" dirty="0">
                <a:latin typeface="Arial"/>
                <a:cs typeface="Arial"/>
              </a:rPr>
              <a:t> </a:t>
            </a:r>
            <a:r>
              <a:rPr sz="2000" dirty="0">
                <a:latin typeface="Arial"/>
                <a:cs typeface="Arial"/>
              </a:rPr>
              <a:t>business</a:t>
            </a:r>
            <a:r>
              <a:rPr sz="2000" spc="-10" dirty="0">
                <a:latin typeface="Arial"/>
                <a:cs typeface="Arial"/>
              </a:rPr>
              <a:t> </a:t>
            </a:r>
            <a:r>
              <a:rPr sz="2000" dirty="0">
                <a:latin typeface="Arial"/>
                <a:cs typeface="Arial"/>
              </a:rPr>
              <a:t>locations</a:t>
            </a:r>
            <a:r>
              <a:rPr sz="2000" spc="-35" dirty="0">
                <a:latin typeface="Arial"/>
                <a:cs typeface="Arial"/>
              </a:rPr>
              <a:t> </a:t>
            </a:r>
            <a:r>
              <a:rPr sz="2000" dirty="0">
                <a:latin typeface="Arial"/>
                <a:cs typeface="Arial"/>
              </a:rPr>
              <a:t>and</a:t>
            </a:r>
            <a:r>
              <a:rPr sz="2000" spc="-5" dirty="0">
                <a:latin typeface="Arial"/>
                <a:cs typeface="Arial"/>
              </a:rPr>
              <a:t> proprietary</a:t>
            </a:r>
            <a:r>
              <a:rPr sz="2000" spc="-30" dirty="0">
                <a:latin typeface="Arial"/>
                <a:cs typeface="Arial"/>
              </a:rPr>
              <a:t> </a:t>
            </a:r>
            <a:r>
              <a:rPr sz="2000" spc="-5" dirty="0">
                <a:latin typeface="Arial"/>
                <a:cs typeface="Arial"/>
              </a:rPr>
              <a:t>areas,</a:t>
            </a:r>
            <a:r>
              <a:rPr sz="2000" spc="-20" dirty="0">
                <a:latin typeface="Arial"/>
                <a:cs typeface="Arial"/>
              </a:rPr>
              <a:t> </a:t>
            </a:r>
            <a:r>
              <a:rPr sz="2000" dirty="0">
                <a:latin typeface="Arial"/>
                <a:cs typeface="Arial"/>
              </a:rPr>
              <a:t>such</a:t>
            </a:r>
            <a:r>
              <a:rPr sz="2000" spc="-25" dirty="0">
                <a:latin typeface="Arial"/>
                <a:cs typeface="Arial"/>
              </a:rPr>
              <a:t> </a:t>
            </a:r>
            <a:r>
              <a:rPr sz="2000" dirty="0">
                <a:latin typeface="Arial"/>
                <a:cs typeface="Arial"/>
              </a:rPr>
              <a:t>as</a:t>
            </a:r>
            <a:r>
              <a:rPr sz="2000" spc="-15" dirty="0">
                <a:latin typeface="Arial"/>
                <a:cs typeface="Arial"/>
              </a:rPr>
              <a:t> </a:t>
            </a:r>
            <a:r>
              <a:rPr sz="2000" dirty="0">
                <a:latin typeface="Arial"/>
                <a:cs typeface="Arial"/>
              </a:rPr>
              <a:t>data</a:t>
            </a:r>
            <a:r>
              <a:rPr sz="2000" spc="-30" dirty="0">
                <a:latin typeface="Arial"/>
                <a:cs typeface="Arial"/>
              </a:rPr>
              <a:t> </a:t>
            </a:r>
            <a:r>
              <a:rPr sz="2000" dirty="0">
                <a:latin typeface="Arial"/>
                <a:cs typeface="Arial"/>
              </a:rPr>
              <a:t>centres.</a:t>
            </a:r>
            <a:endParaRPr sz="2000">
              <a:latin typeface="Arial"/>
              <a:cs typeface="Arial"/>
            </a:endParaRPr>
          </a:p>
          <a:p>
            <a:pPr marL="354965" marR="5715" indent="-342900" algn="just">
              <a:lnSpc>
                <a:spcPct val="100000"/>
              </a:lnSpc>
              <a:spcBef>
                <a:spcPts val="484"/>
              </a:spcBef>
              <a:buFont typeface="Wingdings"/>
              <a:buChar char=""/>
              <a:tabLst>
                <a:tab pos="355600" algn="l"/>
              </a:tabLst>
            </a:pPr>
            <a:r>
              <a:rPr sz="2000" dirty="0">
                <a:latin typeface="Arial"/>
                <a:cs typeface="Arial"/>
              </a:rPr>
              <a:t>Access </a:t>
            </a:r>
            <a:r>
              <a:rPr sz="2000" spc="-5" dirty="0">
                <a:latin typeface="Arial"/>
                <a:cs typeface="Arial"/>
              </a:rPr>
              <a:t>control systems </a:t>
            </a:r>
            <a:r>
              <a:rPr sz="2000" spc="-10" dirty="0">
                <a:latin typeface="Arial"/>
                <a:cs typeface="Arial"/>
              </a:rPr>
              <a:t>perform </a:t>
            </a:r>
            <a:r>
              <a:rPr sz="2000" spc="-5" dirty="0">
                <a:latin typeface="Arial"/>
                <a:cs typeface="Arial"/>
              </a:rPr>
              <a:t>identification authentication and authorization </a:t>
            </a:r>
            <a:r>
              <a:rPr sz="2000" spc="-10" dirty="0">
                <a:latin typeface="Arial"/>
                <a:cs typeface="Arial"/>
              </a:rPr>
              <a:t>of </a:t>
            </a:r>
            <a:r>
              <a:rPr sz="2000" dirty="0">
                <a:latin typeface="Arial"/>
                <a:cs typeface="Arial"/>
              </a:rPr>
              <a:t>users </a:t>
            </a:r>
            <a:r>
              <a:rPr sz="2000" spc="-20" dirty="0">
                <a:latin typeface="Arial"/>
                <a:cs typeface="Arial"/>
              </a:rPr>
              <a:t>and </a:t>
            </a:r>
            <a:r>
              <a:rPr sz="2000" spc="-15" dirty="0">
                <a:latin typeface="Arial"/>
                <a:cs typeface="Arial"/>
              </a:rPr>
              <a:t> </a:t>
            </a:r>
            <a:r>
              <a:rPr sz="2000" dirty="0">
                <a:latin typeface="Arial"/>
                <a:cs typeface="Arial"/>
              </a:rPr>
              <a:t>entities</a:t>
            </a:r>
            <a:r>
              <a:rPr sz="2000" spc="5" dirty="0">
                <a:latin typeface="Arial"/>
                <a:cs typeface="Arial"/>
              </a:rPr>
              <a:t> </a:t>
            </a:r>
            <a:r>
              <a:rPr sz="2000" dirty="0">
                <a:latin typeface="Arial"/>
                <a:cs typeface="Arial"/>
              </a:rPr>
              <a:t>by</a:t>
            </a:r>
            <a:r>
              <a:rPr sz="2000" spc="5" dirty="0">
                <a:latin typeface="Arial"/>
                <a:cs typeface="Arial"/>
              </a:rPr>
              <a:t> </a:t>
            </a:r>
            <a:r>
              <a:rPr sz="2000" dirty="0">
                <a:latin typeface="Arial"/>
                <a:cs typeface="Arial"/>
              </a:rPr>
              <a:t>evaluating</a:t>
            </a:r>
            <a:r>
              <a:rPr sz="2000" spc="5" dirty="0">
                <a:latin typeface="Arial"/>
                <a:cs typeface="Arial"/>
              </a:rPr>
              <a:t> </a:t>
            </a:r>
            <a:r>
              <a:rPr sz="2000" spc="-5" dirty="0">
                <a:latin typeface="Arial"/>
                <a:cs typeface="Arial"/>
              </a:rPr>
              <a:t>required</a:t>
            </a:r>
            <a:r>
              <a:rPr sz="2000" dirty="0">
                <a:latin typeface="Arial"/>
                <a:cs typeface="Arial"/>
              </a:rPr>
              <a:t> </a:t>
            </a:r>
            <a:r>
              <a:rPr sz="2000" spc="-5" dirty="0">
                <a:latin typeface="Arial"/>
                <a:cs typeface="Arial"/>
              </a:rPr>
              <a:t>login</a:t>
            </a:r>
            <a:r>
              <a:rPr sz="2000" dirty="0">
                <a:latin typeface="Arial"/>
                <a:cs typeface="Arial"/>
              </a:rPr>
              <a:t> </a:t>
            </a:r>
            <a:r>
              <a:rPr sz="2000" spc="-5" dirty="0">
                <a:latin typeface="Arial"/>
                <a:cs typeface="Arial"/>
              </a:rPr>
              <a:t>credentials</a:t>
            </a:r>
            <a:r>
              <a:rPr sz="2000" dirty="0">
                <a:latin typeface="Arial"/>
                <a:cs typeface="Arial"/>
              </a:rPr>
              <a:t> </a:t>
            </a:r>
            <a:r>
              <a:rPr sz="2000" spc="-10" dirty="0">
                <a:latin typeface="Arial"/>
                <a:cs typeface="Arial"/>
              </a:rPr>
              <a:t>that</a:t>
            </a:r>
            <a:r>
              <a:rPr sz="2000" spc="-5" dirty="0">
                <a:latin typeface="Arial"/>
                <a:cs typeface="Arial"/>
              </a:rPr>
              <a:t> </a:t>
            </a:r>
            <a:r>
              <a:rPr sz="2000" spc="-10" dirty="0">
                <a:latin typeface="Arial"/>
                <a:cs typeface="Arial"/>
              </a:rPr>
              <a:t>can</a:t>
            </a:r>
            <a:r>
              <a:rPr sz="2000" spc="-5" dirty="0">
                <a:latin typeface="Arial"/>
                <a:cs typeface="Arial"/>
              </a:rPr>
              <a:t> include</a:t>
            </a:r>
            <a:r>
              <a:rPr sz="2000" dirty="0">
                <a:latin typeface="Arial"/>
                <a:cs typeface="Arial"/>
              </a:rPr>
              <a:t> </a:t>
            </a:r>
            <a:r>
              <a:rPr sz="2000" spc="-5" dirty="0">
                <a:latin typeface="Arial"/>
                <a:cs typeface="Arial"/>
              </a:rPr>
              <a:t>passwords,</a:t>
            </a:r>
            <a:r>
              <a:rPr sz="2000" dirty="0">
                <a:latin typeface="Arial"/>
                <a:cs typeface="Arial"/>
              </a:rPr>
              <a:t> </a:t>
            </a:r>
            <a:r>
              <a:rPr sz="2000" spc="-5" dirty="0">
                <a:latin typeface="Arial"/>
                <a:cs typeface="Arial"/>
              </a:rPr>
              <a:t>personal </a:t>
            </a:r>
            <a:r>
              <a:rPr sz="2000" dirty="0">
                <a:latin typeface="Arial"/>
                <a:cs typeface="Arial"/>
              </a:rPr>
              <a:t> </a:t>
            </a:r>
            <a:r>
              <a:rPr sz="2000" spc="-5" dirty="0">
                <a:latin typeface="Arial"/>
                <a:cs typeface="Arial"/>
              </a:rPr>
              <a:t>identification</a:t>
            </a:r>
            <a:r>
              <a:rPr sz="2000" dirty="0">
                <a:latin typeface="Arial"/>
                <a:cs typeface="Arial"/>
              </a:rPr>
              <a:t> </a:t>
            </a:r>
            <a:r>
              <a:rPr sz="2000" spc="-5" dirty="0">
                <a:latin typeface="Arial"/>
                <a:cs typeface="Arial"/>
              </a:rPr>
              <a:t>numbers</a:t>
            </a:r>
            <a:r>
              <a:rPr sz="2000" dirty="0">
                <a:latin typeface="Arial"/>
                <a:cs typeface="Arial"/>
              </a:rPr>
              <a:t> </a:t>
            </a:r>
            <a:r>
              <a:rPr sz="2000" spc="-5" dirty="0">
                <a:latin typeface="Arial"/>
                <a:cs typeface="Arial"/>
              </a:rPr>
              <a:t>(PINs),</a:t>
            </a:r>
            <a:r>
              <a:rPr sz="2000" dirty="0">
                <a:latin typeface="Arial"/>
                <a:cs typeface="Arial"/>
              </a:rPr>
              <a:t> </a:t>
            </a:r>
            <a:r>
              <a:rPr sz="2000" spc="-5" dirty="0">
                <a:latin typeface="Arial"/>
                <a:cs typeface="Arial"/>
              </a:rPr>
              <a:t>biometric</a:t>
            </a:r>
            <a:r>
              <a:rPr sz="2000" dirty="0">
                <a:latin typeface="Arial"/>
                <a:cs typeface="Arial"/>
              </a:rPr>
              <a:t> </a:t>
            </a:r>
            <a:r>
              <a:rPr sz="2000" spc="-5" dirty="0">
                <a:latin typeface="Arial"/>
                <a:cs typeface="Arial"/>
              </a:rPr>
              <a:t>scans,</a:t>
            </a:r>
            <a:r>
              <a:rPr sz="2000" dirty="0">
                <a:latin typeface="Arial"/>
                <a:cs typeface="Arial"/>
              </a:rPr>
              <a:t> </a:t>
            </a:r>
            <a:r>
              <a:rPr sz="2000" spc="-5" dirty="0">
                <a:latin typeface="Arial"/>
                <a:cs typeface="Arial"/>
              </a:rPr>
              <a:t>security</a:t>
            </a:r>
            <a:r>
              <a:rPr sz="2000" dirty="0">
                <a:latin typeface="Arial"/>
                <a:cs typeface="Arial"/>
              </a:rPr>
              <a:t> tokens</a:t>
            </a:r>
            <a:r>
              <a:rPr sz="2000" spc="5" dirty="0">
                <a:latin typeface="Arial"/>
                <a:cs typeface="Arial"/>
              </a:rPr>
              <a:t> </a:t>
            </a:r>
            <a:r>
              <a:rPr sz="2000" dirty="0">
                <a:latin typeface="Arial"/>
                <a:cs typeface="Arial"/>
              </a:rPr>
              <a:t>or</a:t>
            </a:r>
            <a:r>
              <a:rPr sz="2000" spc="5" dirty="0">
                <a:latin typeface="Arial"/>
                <a:cs typeface="Arial"/>
              </a:rPr>
              <a:t> </a:t>
            </a:r>
            <a:r>
              <a:rPr sz="2000" spc="-5" dirty="0">
                <a:latin typeface="Arial"/>
                <a:cs typeface="Arial"/>
              </a:rPr>
              <a:t>other</a:t>
            </a:r>
            <a:r>
              <a:rPr sz="2000" dirty="0">
                <a:latin typeface="Arial"/>
                <a:cs typeface="Arial"/>
              </a:rPr>
              <a:t> </a:t>
            </a:r>
            <a:r>
              <a:rPr sz="2000" spc="-5" dirty="0">
                <a:latin typeface="Arial"/>
                <a:cs typeface="Arial"/>
              </a:rPr>
              <a:t>authentication </a:t>
            </a:r>
            <a:r>
              <a:rPr sz="2000" dirty="0">
                <a:latin typeface="Arial"/>
                <a:cs typeface="Arial"/>
              </a:rPr>
              <a:t> </a:t>
            </a:r>
            <a:r>
              <a:rPr sz="2000" spc="-5" dirty="0">
                <a:latin typeface="Arial"/>
                <a:cs typeface="Arial"/>
              </a:rPr>
              <a:t>factors. Multifactor authentication,</a:t>
            </a:r>
            <a:r>
              <a:rPr sz="2000" dirty="0">
                <a:latin typeface="Arial"/>
                <a:cs typeface="Arial"/>
              </a:rPr>
              <a:t> </a:t>
            </a:r>
            <a:r>
              <a:rPr sz="2000" spc="-5" dirty="0">
                <a:latin typeface="Arial"/>
                <a:cs typeface="Arial"/>
              </a:rPr>
              <a:t>which</a:t>
            </a:r>
            <a:r>
              <a:rPr sz="2000" dirty="0">
                <a:latin typeface="Arial"/>
                <a:cs typeface="Arial"/>
              </a:rPr>
              <a:t> </a:t>
            </a:r>
            <a:r>
              <a:rPr sz="2000" spc="-5" dirty="0">
                <a:latin typeface="Arial"/>
                <a:cs typeface="Arial"/>
              </a:rPr>
              <a:t>requires</a:t>
            </a:r>
            <a:r>
              <a:rPr sz="2000" spc="545" dirty="0">
                <a:latin typeface="Arial"/>
                <a:cs typeface="Arial"/>
              </a:rPr>
              <a:t> </a:t>
            </a:r>
            <a:r>
              <a:rPr sz="2000" spc="-10" dirty="0">
                <a:latin typeface="Arial"/>
                <a:cs typeface="Arial"/>
              </a:rPr>
              <a:t>two</a:t>
            </a:r>
            <a:r>
              <a:rPr sz="2000" spc="535" dirty="0">
                <a:latin typeface="Arial"/>
                <a:cs typeface="Arial"/>
              </a:rPr>
              <a:t> </a:t>
            </a:r>
            <a:r>
              <a:rPr sz="2000" dirty="0">
                <a:latin typeface="Arial"/>
                <a:cs typeface="Arial"/>
              </a:rPr>
              <a:t>or more </a:t>
            </a:r>
            <a:r>
              <a:rPr sz="2000" spc="-5" dirty="0">
                <a:latin typeface="Arial"/>
                <a:cs typeface="Arial"/>
              </a:rPr>
              <a:t>authentication factors, </a:t>
            </a:r>
            <a:r>
              <a:rPr sz="2000" spc="-30" dirty="0">
                <a:latin typeface="Arial"/>
                <a:cs typeface="Arial"/>
              </a:rPr>
              <a:t>is </a:t>
            </a:r>
            <a:r>
              <a:rPr sz="2000" spc="-25" dirty="0">
                <a:latin typeface="Arial"/>
                <a:cs typeface="Arial"/>
              </a:rPr>
              <a:t> </a:t>
            </a:r>
            <a:r>
              <a:rPr sz="2000" spc="5" dirty="0">
                <a:latin typeface="Arial"/>
                <a:cs typeface="Arial"/>
              </a:rPr>
              <a:t>often</a:t>
            </a:r>
            <a:r>
              <a:rPr sz="2000" spc="-65" dirty="0">
                <a:latin typeface="Arial"/>
                <a:cs typeface="Arial"/>
              </a:rPr>
              <a:t> </a:t>
            </a:r>
            <a:r>
              <a:rPr sz="2000" dirty="0">
                <a:latin typeface="Arial"/>
                <a:cs typeface="Arial"/>
              </a:rPr>
              <a:t>an</a:t>
            </a:r>
            <a:r>
              <a:rPr sz="2000" spc="-10" dirty="0">
                <a:latin typeface="Arial"/>
                <a:cs typeface="Arial"/>
              </a:rPr>
              <a:t> </a:t>
            </a:r>
            <a:r>
              <a:rPr sz="2000" dirty="0">
                <a:latin typeface="Arial"/>
                <a:cs typeface="Arial"/>
              </a:rPr>
              <a:t>important</a:t>
            </a:r>
            <a:r>
              <a:rPr sz="2000" spc="-50" dirty="0">
                <a:latin typeface="Arial"/>
                <a:cs typeface="Arial"/>
              </a:rPr>
              <a:t> </a:t>
            </a:r>
            <a:r>
              <a:rPr sz="2000" dirty="0">
                <a:latin typeface="Arial"/>
                <a:cs typeface="Arial"/>
              </a:rPr>
              <a:t>part</a:t>
            </a:r>
            <a:r>
              <a:rPr sz="2000" spc="-35" dirty="0">
                <a:latin typeface="Arial"/>
                <a:cs typeface="Arial"/>
              </a:rPr>
              <a:t> </a:t>
            </a:r>
            <a:r>
              <a:rPr sz="2000" dirty="0">
                <a:latin typeface="Arial"/>
                <a:cs typeface="Arial"/>
              </a:rPr>
              <a:t>of</a:t>
            </a:r>
            <a:r>
              <a:rPr sz="2000" spc="-15" dirty="0">
                <a:latin typeface="Arial"/>
                <a:cs typeface="Arial"/>
              </a:rPr>
              <a:t> </a:t>
            </a:r>
            <a:r>
              <a:rPr sz="2000" spc="-5" dirty="0">
                <a:latin typeface="Arial"/>
                <a:cs typeface="Arial"/>
              </a:rPr>
              <a:t>layered</a:t>
            </a:r>
            <a:r>
              <a:rPr sz="2000" spc="15" dirty="0">
                <a:latin typeface="Arial"/>
                <a:cs typeface="Arial"/>
              </a:rPr>
              <a:t> </a:t>
            </a:r>
            <a:r>
              <a:rPr sz="2000" spc="5" dirty="0">
                <a:latin typeface="Arial"/>
                <a:cs typeface="Arial"/>
              </a:rPr>
              <a:t>defence</a:t>
            </a:r>
            <a:r>
              <a:rPr sz="2000" spc="-60" dirty="0">
                <a:latin typeface="Arial"/>
                <a:cs typeface="Arial"/>
              </a:rPr>
              <a:t> </a:t>
            </a:r>
            <a:r>
              <a:rPr sz="2000" dirty="0">
                <a:latin typeface="Arial"/>
                <a:cs typeface="Arial"/>
              </a:rPr>
              <a:t>to</a:t>
            </a:r>
            <a:r>
              <a:rPr sz="2000" spc="-30" dirty="0">
                <a:latin typeface="Arial"/>
                <a:cs typeface="Arial"/>
              </a:rPr>
              <a:t> </a:t>
            </a:r>
            <a:r>
              <a:rPr sz="2000" dirty="0">
                <a:latin typeface="Arial"/>
                <a:cs typeface="Arial"/>
              </a:rPr>
              <a:t>protect</a:t>
            </a:r>
            <a:r>
              <a:rPr sz="2000" spc="-25" dirty="0">
                <a:latin typeface="Arial"/>
                <a:cs typeface="Arial"/>
              </a:rPr>
              <a:t> </a:t>
            </a:r>
            <a:r>
              <a:rPr sz="2000" dirty="0">
                <a:latin typeface="Arial"/>
                <a:cs typeface="Arial"/>
              </a:rPr>
              <a:t>access</a:t>
            </a:r>
            <a:r>
              <a:rPr sz="2000" spc="-10" dirty="0">
                <a:latin typeface="Arial"/>
                <a:cs typeface="Arial"/>
              </a:rPr>
              <a:t> </a:t>
            </a:r>
            <a:r>
              <a:rPr sz="2000" dirty="0">
                <a:latin typeface="Arial"/>
                <a:cs typeface="Arial"/>
              </a:rPr>
              <a:t>control</a:t>
            </a:r>
            <a:r>
              <a:rPr sz="2000" spc="-40" dirty="0">
                <a:latin typeface="Arial"/>
                <a:cs typeface="Arial"/>
              </a:rPr>
              <a:t> </a:t>
            </a:r>
            <a:r>
              <a:rPr sz="2000" dirty="0">
                <a:latin typeface="Arial"/>
                <a:cs typeface="Arial"/>
              </a:rPr>
              <a:t>systems.</a:t>
            </a:r>
            <a:endParaRPr sz="2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37</a:t>
            </a:fld>
            <a:endParaRPr spc="-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8866505" cy="574675"/>
          </a:xfrm>
          <a:prstGeom prst="rect">
            <a:avLst/>
          </a:prstGeom>
        </p:spPr>
        <p:txBody>
          <a:bodyPr vert="horz" wrap="square" lIns="0" tIns="12700" rIns="0" bIns="0" rtlCol="0">
            <a:spAutoFit/>
          </a:bodyPr>
          <a:lstStyle/>
          <a:p>
            <a:pPr marL="12700">
              <a:lnSpc>
                <a:spcPct val="100000"/>
              </a:lnSpc>
              <a:spcBef>
                <a:spcPts val="100"/>
              </a:spcBef>
              <a:tabLst>
                <a:tab pos="4669155" algn="l"/>
              </a:tabLst>
            </a:pPr>
            <a:r>
              <a:rPr sz="3600" spc="-5" dirty="0">
                <a:solidFill>
                  <a:srgbClr val="000000"/>
                </a:solidFill>
                <a:latin typeface="Verdana"/>
                <a:cs typeface="Verdana"/>
              </a:rPr>
              <a:t>User Account</a:t>
            </a:r>
            <a:r>
              <a:rPr sz="3600" spc="-15" dirty="0">
                <a:solidFill>
                  <a:srgbClr val="000000"/>
                </a:solidFill>
                <a:latin typeface="Verdana"/>
                <a:cs typeface="Verdana"/>
              </a:rPr>
              <a:t> </a:t>
            </a:r>
            <a:r>
              <a:rPr sz="3600" spc="-5" dirty="0">
                <a:solidFill>
                  <a:srgbClr val="000000"/>
                </a:solidFill>
                <a:latin typeface="Verdana"/>
                <a:cs typeface="Verdana"/>
              </a:rPr>
              <a:t>and	</a:t>
            </a:r>
            <a:r>
              <a:rPr sz="3600" spc="-10" dirty="0">
                <a:solidFill>
                  <a:srgbClr val="000000"/>
                </a:solidFill>
                <a:latin typeface="Verdana"/>
                <a:cs typeface="Verdana"/>
              </a:rPr>
              <a:t>Database</a:t>
            </a:r>
            <a:r>
              <a:rPr sz="3600" spc="-75" dirty="0">
                <a:solidFill>
                  <a:srgbClr val="000000"/>
                </a:solidFill>
                <a:latin typeface="Verdana"/>
                <a:cs typeface="Verdana"/>
              </a:rPr>
              <a:t> </a:t>
            </a:r>
            <a:r>
              <a:rPr sz="3600" spc="-5" dirty="0">
                <a:solidFill>
                  <a:srgbClr val="000000"/>
                </a:solidFill>
                <a:latin typeface="Verdana"/>
                <a:cs typeface="Verdana"/>
              </a:rPr>
              <a:t>Audits</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8005" cy="3983990"/>
          </a:xfrm>
          <a:prstGeom prst="rect">
            <a:avLst/>
          </a:prstGeom>
        </p:spPr>
        <p:txBody>
          <a:bodyPr vert="horz" wrap="square" lIns="0" tIns="12700" rIns="0" bIns="0" rtlCol="0">
            <a:spAutoFit/>
          </a:bodyPr>
          <a:lstStyle/>
          <a:p>
            <a:pPr marL="354965" marR="6985" indent="-342900" algn="just">
              <a:lnSpc>
                <a:spcPct val="100000"/>
              </a:lnSpc>
              <a:spcBef>
                <a:spcPts val="100"/>
              </a:spcBef>
              <a:buFont typeface="Wingdings"/>
              <a:buChar char=""/>
              <a:tabLst>
                <a:tab pos="355600" algn="l"/>
              </a:tabLst>
            </a:pPr>
            <a:r>
              <a:rPr sz="2200" spc="-5" dirty="0">
                <a:latin typeface="Arial"/>
                <a:cs typeface="Arial"/>
              </a:rPr>
              <a:t>Database</a:t>
            </a:r>
            <a:r>
              <a:rPr sz="2200" spc="145" dirty="0">
                <a:latin typeface="Arial"/>
                <a:cs typeface="Arial"/>
              </a:rPr>
              <a:t> </a:t>
            </a:r>
            <a:r>
              <a:rPr sz="2200" spc="-5" dirty="0">
                <a:latin typeface="Arial"/>
                <a:cs typeface="Arial"/>
              </a:rPr>
              <a:t>auditing</a:t>
            </a:r>
            <a:r>
              <a:rPr sz="2200" spc="130" dirty="0">
                <a:latin typeface="Arial"/>
                <a:cs typeface="Arial"/>
              </a:rPr>
              <a:t> </a:t>
            </a:r>
            <a:r>
              <a:rPr sz="2200" dirty="0">
                <a:latin typeface="Arial"/>
                <a:cs typeface="Arial"/>
              </a:rPr>
              <a:t>involves</a:t>
            </a:r>
            <a:r>
              <a:rPr sz="2200" spc="135" dirty="0">
                <a:latin typeface="Arial"/>
                <a:cs typeface="Arial"/>
              </a:rPr>
              <a:t> </a:t>
            </a:r>
            <a:r>
              <a:rPr sz="2200" spc="-5" dirty="0">
                <a:latin typeface="Arial"/>
                <a:cs typeface="Arial"/>
              </a:rPr>
              <a:t>observing</a:t>
            </a:r>
            <a:r>
              <a:rPr sz="2200" spc="155" dirty="0">
                <a:latin typeface="Arial"/>
                <a:cs typeface="Arial"/>
              </a:rPr>
              <a:t> </a:t>
            </a:r>
            <a:r>
              <a:rPr sz="2200" spc="-5" dirty="0">
                <a:latin typeface="Arial"/>
                <a:cs typeface="Arial"/>
              </a:rPr>
              <a:t>a</a:t>
            </a:r>
            <a:r>
              <a:rPr sz="2200" spc="130" dirty="0">
                <a:latin typeface="Arial"/>
                <a:cs typeface="Arial"/>
              </a:rPr>
              <a:t> </a:t>
            </a:r>
            <a:r>
              <a:rPr sz="2200" dirty="0">
                <a:latin typeface="Arial"/>
                <a:cs typeface="Arial"/>
              </a:rPr>
              <a:t>database</a:t>
            </a:r>
            <a:r>
              <a:rPr sz="2200" spc="150" dirty="0">
                <a:latin typeface="Arial"/>
                <a:cs typeface="Arial"/>
              </a:rPr>
              <a:t> </a:t>
            </a:r>
            <a:r>
              <a:rPr sz="2200" spc="-5" dirty="0">
                <a:latin typeface="Arial"/>
                <a:cs typeface="Arial"/>
              </a:rPr>
              <a:t>so</a:t>
            </a:r>
            <a:r>
              <a:rPr sz="2200" spc="145" dirty="0">
                <a:latin typeface="Arial"/>
                <a:cs typeface="Arial"/>
              </a:rPr>
              <a:t> </a:t>
            </a:r>
            <a:r>
              <a:rPr sz="2200" spc="-5" dirty="0">
                <a:latin typeface="Arial"/>
                <a:cs typeface="Arial"/>
              </a:rPr>
              <a:t>as</a:t>
            </a:r>
            <a:r>
              <a:rPr sz="2200" spc="135" dirty="0">
                <a:latin typeface="Arial"/>
                <a:cs typeface="Arial"/>
              </a:rPr>
              <a:t> </a:t>
            </a:r>
            <a:r>
              <a:rPr sz="2200" dirty="0">
                <a:latin typeface="Arial"/>
                <a:cs typeface="Arial"/>
              </a:rPr>
              <a:t>to</a:t>
            </a:r>
            <a:r>
              <a:rPr sz="2200" spc="150" dirty="0">
                <a:latin typeface="Arial"/>
                <a:cs typeface="Arial"/>
              </a:rPr>
              <a:t> </a:t>
            </a:r>
            <a:r>
              <a:rPr sz="2200" spc="-5" dirty="0">
                <a:latin typeface="Arial"/>
                <a:cs typeface="Arial"/>
              </a:rPr>
              <a:t>be</a:t>
            </a:r>
            <a:r>
              <a:rPr sz="2200" spc="130" dirty="0">
                <a:latin typeface="Arial"/>
                <a:cs typeface="Arial"/>
              </a:rPr>
              <a:t> </a:t>
            </a:r>
            <a:r>
              <a:rPr sz="2200" spc="-10" dirty="0">
                <a:latin typeface="Arial"/>
                <a:cs typeface="Arial"/>
              </a:rPr>
              <a:t>aware</a:t>
            </a:r>
            <a:r>
              <a:rPr sz="2200" spc="155" dirty="0">
                <a:latin typeface="Arial"/>
                <a:cs typeface="Arial"/>
              </a:rPr>
              <a:t> </a:t>
            </a:r>
            <a:r>
              <a:rPr sz="2200" spc="-5" dirty="0">
                <a:latin typeface="Arial"/>
                <a:cs typeface="Arial"/>
              </a:rPr>
              <a:t>of</a:t>
            </a:r>
            <a:r>
              <a:rPr sz="2200" spc="165" dirty="0">
                <a:latin typeface="Arial"/>
                <a:cs typeface="Arial"/>
              </a:rPr>
              <a:t> </a:t>
            </a:r>
            <a:r>
              <a:rPr sz="2200" dirty="0">
                <a:latin typeface="Arial"/>
                <a:cs typeface="Arial"/>
              </a:rPr>
              <a:t>the</a:t>
            </a:r>
            <a:r>
              <a:rPr sz="2200" spc="145" dirty="0">
                <a:latin typeface="Arial"/>
                <a:cs typeface="Arial"/>
              </a:rPr>
              <a:t> </a:t>
            </a:r>
            <a:r>
              <a:rPr sz="2200" spc="-5" dirty="0">
                <a:latin typeface="Arial"/>
                <a:cs typeface="Arial"/>
              </a:rPr>
              <a:t>actions </a:t>
            </a:r>
            <a:r>
              <a:rPr sz="2200" spc="-600" dirty="0">
                <a:latin typeface="Arial"/>
                <a:cs typeface="Arial"/>
              </a:rPr>
              <a:t> </a:t>
            </a:r>
            <a:r>
              <a:rPr sz="2200" spc="-5" dirty="0">
                <a:latin typeface="Arial"/>
                <a:cs typeface="Arial"/>
              </a:rPr>
              <a:t>of</a:t>
            </a:r>
            <a:r>
              <a:rPr sz="2200" spc="10" dirty="0">
                <a:latin typeface="Arial"/>
                <a:cs typeface="Arial"/>
              </a:rPr>
              <a:t> </a:t>
            </a:r>
            <a:r>
              <a:rPr sz="2200" spc="-5" dirty="0">
                <a:latin typeface="Arial"/>
                <a:cs typeface="Arial"/>
              </a:rPr>
              <a:t>database</a:t>
            </a:r>
            <a:r>
              <a:rPr sz="2200" spc="5" dirty="0">
                <a:latin typeface="Arial"/>
                <a:cs typeface="Arial"/>
              </a:rPr>
              <a:t> </a:t>
            </a:r>
            <a:r>
              <a:rPr sz="2200" spc="-5" dirty="0">
                <a:latin typeface="Arial"/>
                <a:cs typeface="Arial"/>
              </a:rPr>
              <a:t>users.</a:t>
            </a:r>
            <a:endParaRPr sz="2200">
              <a:latin typeface="Arial"/>
              <a:cs typeface="Arial"/>
            </a:endParaRPr>
          </a:p>
          <a:p>
            <a:pPr marL="354965" marR="5080" indent="-342900" algn="just">
              <a:lnSpc>
                <a:spcPct val="100000"/>
              </a:lnSpc>
              <a:spcBef>
                <a:spcPts val="520"/>
              </a:spcBef>
              <a:buFont typeface="Wingdings"/>
              <a:buChar char=""/>
              <a:tabLst>
                <a:tab pos="355600" algn="l"/>
              </a:tabLst>
            </a:pPr>
            <a:r>
              <a:rPr sz="2200" spc="-5" dirty="0">
                <a:latin typeface="Arial"/>
                <a:cs typeface="Arial"/>
              </a:rPr>
              <a:t>Database</a:t>
            </a:r>
            <a:r>
              <a:rPr sz="2200" dirty="0">
                <a:latin typeface="Arial"/>
                <a:cs typeface="Arial"/>
              </a:rPr>
              <a:t> administrators</a:t>
            </a:r>
            <a:r>
              <a:rPr sz="2200" spc="5" dirty="0">
                <a:latin typeface="Arial"/>
                <a:cs typeface="Arial"/>
              </a:rPr>
              <a:t> </a:t>
            </a:r>
            <a:r>
              <a:rPr sz="2200" spc="-5" dirty="0">
                <a:latin typeface="Arial"/>
                <a:cs typeface="Arial"/>
              </a:rPr>
              <a:t>and</a:t>
            </a:r>
            <a:r>
              <a:rPr sz="2200" dirty="0">
                <a:latin typeface="Arial"/>
                <a:cs typeface="Arial"/>
              </a:rPr>
              <a:t> </a:t>
            </a:r>
            <a:r>
              <a:rPr sz="2200" spc="-5" dirty="0">
                <a:latin typeface="Arial"/>
                <a:cs typeface="Arial"/>
              </a:rPr>
              <a:t>consultants</a:t>
            </a:r>
            <a:r>
              <a:rPr sz="2200" dirty="0">
                <a:latin typeface="Arial"/>
                <a:cs typeface="Arial"/>
              </a:rPr>
              <a:t> often</a:t>
            </a:r>
            <a:r>
              <a:rPr sz="2200" spc="5" dirty="0">
                <a:latin typeface="Arial"/>
                <a:cs typeface="Arial"/>
              </a:rPr>
              <a:t> </a:t>
            </a:r>
            <a:r>
              <a:rPr sz="2200" dirty="0">
                <a:latin typeface="Arial"/>
                <a:cs typeface="Arial"/>
              </a:rPr>
              <a:t>set</a:t>
            </a:r>
            <a:r>
              <a:rPr sz="2200" spc="5" dirty="0">
                <a:latin typeface="Arial"/>
                <a:cs typeface="Arial"/>
              </a:rPr>
              <a:t> </a:t>
            </a:r>
            <a:r>
              <a:rPr sz="2200" spc="-5" dirty="0">
                <a:latin typeface="Arial"/>
                <a:cs typeface="Arial"/>
              </a:rPr>
              <a:t>up</a:t>
            </a:r>
            <a:r>
              <a:rPr sz="2200" dirty="0">
                <a:latin typeface="Arial"/>
                <a:cs typeface="Arial"/>
              </a:rPr>
              <a:t> </a:t>
            </a:r>
            <a:r>
              <a:rPr sz="2200" spc="-5" dirty="0">
                <a:latin typeface="Arial"/>
                <a:cs typeface="Arial"/>
              </a:rPr>
              <a:t>auditing</a:t>
            </a:r>
            <a:r>
              <a:rPr sz="2200" dirty="0">
                <a:latin typeface="Arial"/>
                <a:cs typeface="Arial"/>
              </a:rPr>
              <a:t> for</a:t>
            </a:r>
            <a:r>
              <a:rPr sz="2200" spc="610" dirty="0">
                <a:latin typeface="Arial"/>
                <a:cs typeface="Arial"/>
              </a:rPr>
              <a:t> </a:t>
            </a:r>
            <a:r>
              <a:rPr sz="2200" spc="-5" dirty="0">
                <a:latin typeface="Arial"/>
                <a:cs typeface="Arial"/>
              </a:rPr>
              <a:t>security </a:t>
            </a:r>
            <a:r>
              <a:rPr sz="2200" dirty="0">
                <a:latin typeface="Arial"/>
                <a:cs typeface="Arial"/>
              </a:rPr>
              <a:t> </a:t>
            </a:r>
            <a:r>
              <a:rPr sz="2200" spc="-5" dirty="0">
                <a:latin typeface="Arial"/>
                <a:cs typeface="Arial"/>
              </a:rPr>
              <a:t>purposes,</a:t>
            </a:r>
            <a:r>
              <a:rPr sz="2200" dirty="0">
                <a:latin typeface="Arial"/>
                <a:cs typeface="Arial"/>
              </a:rPr>
              <a:t> for</a:t>
            </a:r>
            <a:r>
              <a:rPr sz="2200" spc="5" dirty="0">
                <a:latin typeface="Arial"/>
                <a:cs typeface="Arial"/>
              </a:rPr>
              <a:t> </a:t>
            </a:r>
            <a:r>
              <a:rPr sz="2200" spc="-5" dirty="0">
                <a:latin typeface="Arial"/>
                <a:cs typeface="Arial"/>
              </a:rPr>
              <a:t>example,</a:t>
            </a:r>
            <a:r>
              <a:rPr sz="2200" dirty="0">
                <a:latin typeface="Arial"/>
                <a:cs typeface="Arial"/>
              </a:rPr>
              <a:t> to</a:t>
            </a:r>
            <a:r>
              <a:rPr sz="2200" spc="5" dirty="0">
                <a:latin typeface="Arial"/>
                <a:cs typeface="Arial"/>
              </a:rPr>
              <a:t> </a:t>
            </a:r>
            <a:r>
              <a:rPr sz="2200" spc="-5" dirty="0">
                <a:latin typeface="Arial"/>
                <a:cs typeface="Arial"/>
              </a:rPr>
              <a:t>ensure</a:t>
            </a:r>
            <a:r>
              <a:rPr sz="2200" dirty="0">
                <a:latin typeface="Arial"/>
                <a:cs typeface="Arial"/>
              </a:rPr>
              <a:t> that</a:t>
            </a:r>
            <a:r>
              <a:rPr sz="2200" spc="5" dirty="0">
                <a:latin typeface="Arial"/>
                <a:cs typeface="Arial"/>
              </a:rPr>
              <a:t> </a:t>
            </a:r>
            <a:r>
              <a:rPr sz="2200" dirty="0">
                <a:latin typeface="Arial"/>
                <a:cs typeface="Arial"/>
              </a:rPr>
              <a:t>those</a:t>
            </a:r>
            <a:r>
              <a:rPr sz="2200" spc="5" dirty="0">
                <a:latin typeface="Arial"/>
                <a:cs typeface="Arial"/>
              </a:rPr>
              <a:t> </a:t>
            </a:r>
            <a:r>
              <a:rPr sz="2200" spc="-10" dirty="0">
                <a:latin typeface="Arial"/>
                <a:cs typeface="Arial"/>
              </a:rPr>
              <a:t>without</a:t>
            </a:r>
            <a:r>
              <a:rPr sz="2200" spc="-5" dirty="0">
                <a:latin typeface="Arial"/>
                <a:cs typeface="Arial"/>
              </a:rPr>
              <a:t> </a:t>
            </a:r>
            <a:r>
              <a:rPr sz="2200" dirty="0">
                <a:latin typeface="Arial"/>
                <a:cs typeface="Arial"/>
              </a:rPr>
              <a:t>the</a:t>
            </a:r>
            <a:r>
              <a:rPr sz="2200" spc="5" dirty="0">
                <a:latin typeface="Arial"/>
                <a:cs typeface="Arial"/>
              </a:rPr>
              <a:t> </a:t>
            </a:r>
            <a:r>
              <a:rPr sz="2200" spc="-5" dirty="0">
                <a:latin typeface="Arial"/>
                <a:cs typeface="Arial"/>
              </a:rPr>
              <a:t>permission</a:t>
            </a:r>
            <a:r>
              <a:rPr sz="2200" dirty="0">
                <a:latin typeface="Arial"/>
                <a:cs typeface="Arial"/>
              </a:rPr>
              <a:t> to</a:t>
            </a:r>
            <a:r>
              <a:rPr sz="2200" spc="5" dirty="0">
                <a:latin typeface="Arial"/>
                <a:cs typeface="Arial"/>
              </a:rPr>
              <a:t> </a:t>
            </a:r>
            <a:r>
              <a:rPr sz="2200" dirty="0">
                <a:latin typeface="Arial"/>
                <a:cs typeface="Arial"/>
              </a:rPr>
              <a:t>access </a:t>
            </a:r>
            <a:r>
              <a:rPr sz="2200" spc="-600" dirty="0">
                <a:latin typeface="Arial"/>
                <a:cs typeface="Arial"/>
              </a:rPr>
              <a:t> </a:t>
            </a:r>
            <a:r>
              <a:rPr sz="2200" spc="-5" dirty="0">
                <a:latin typeface="Arial"/>
                <a:cs typeface="Arial"/>
              </a:rPr>
              <a:t>information</a:t>
            </a:r>
            <a:r>
              <a:rPr sz="2200" spc="25" dirty="0">
                <a:latin typeface="Arial"/>
                <a:cs typeface="Arial"/>
              </a:rPr>
              <a:t> </a:t>
            </a:r>
            <a:r>
              <a:rPr sz="2200" spc="-5" dirty="0">
                <a:latin typeface="Arial"/>
                <a:cs typeface="Arial"/>
              </a:rPr>
              <a:t>do</a:t>
            </a:r>
            <a:r>
              <a:rPr sz="2200" dirty="0">
                <a:latin typeface="Arial"/>
                <a:cs typeface="Arial"/>
              </a:rPr>
              <a:t> </a:t>
            </a:r>
            <a:r>
              <a:rPr sz="2200" spc="-5" dirty="0">
                <a:latin typeface="Arial"/>
                <a:cs typeface="Arial"/>
              </a:rPr>
              <a:t>not</a:t>
            </a:r>
            <a:r>
              <a:rPr sz="2200" spc="15" dirty="0">
                <a:latin typeface="Arial"/>
                <a:cs typeface="Arial"/>
              </a:rPr>
              <a:t> </a:t>
            </a:r>
            <a:r>
              <a:rPr sz="2200" spc="-5" dirty="0">
                <a:latin typeface="Arial"/>
                <a:cs typeface="Arial"/>
              </a:rPr>
              <a:t>access</a:t>
            </a:r>
            <a:r>
              <a:rPr sz="2200" dirty="0">
                <a:latin typeface="Arial"/>
                <a:cs typeface="Arial"/>
              </a:rPr>
              <a:t> </a:t>
            </a:r>
            <a:r>
              <a:rPr sz="2200" spc="-5" dirty="0">
                <a:latin typeface="Arial"/>
                <a:cs typeface="Arial"/>
              </a:rPr>
              <a:t>it.</a:t>
            </a:r>
            <a:endParaRPr sz="2200">
              <a:latin typeface="Arial"/>
              <a:cs typeface="Arial"/>
            </a:endParaRPr>
          </a:p>
          <a:p>
            <a:pPr>
              <a:lnSpc>
                <a:spcPct val="100000"/>
              </a:lnSpc>
              <a:spcBef>
                <a:spcPts val="25"/>
              </a:spcBef>
              <a:buFont typeface="Wingdings"/>
              <a:buChar char=""/>
            </a:pPr>
            <a:endParaRPr sz="3200">
              <a:latin typeface="Arial"/>
              <a:cs typeface="Arial"/>
            </a:endParaRPr>
          </a:p>
          <a:p>
            <a:pPr marL="354965" marR="5080" indent="-342900" algn="just">
              <a:lnSpc>
                <a:spcPct val="100000"/>
              </a:lnSpc>
              <a:buFont typeface="Wingdings"/>
              <a:buChar char=""/>
              <a:tabLst>
                <a:tab pos="355600" algn="l"/>
              </a:tabLst>
            </a:pPr>
            <a:r>
              <a:rPr sz="2200" spc="-5" dirty="0">
                <a:latin typeface="Arial"/>
                <a:cs typeface="Arial"/>
              </a:rPr>
              <a:t>Audit is an analysis of an organization's Computer and </a:t>
            </a:r>
            <a:r>
              <a:rPr sz="2200" dirty="0">
                <a:latin typeface="Arial"/>
                <a:cs typeface="Arial"/>
              </a:rPr>
              <a:t>information </a:t>
            </a:r>
            <a:r>
              <a:rPr sz="2200" spc="-5" dirty="0">
                <a:latin typeface="Arial"/>
                <a:cs typeface="Arial"/>
              </a:rPr>
              <a:t>systems </a:t>
            </a:r>
            <a:r>
              <a:rPr sz="2200" spc="5" dirty="0">
                <a:latin typeface="Arial"/>
                <a:cs typeface="Arial"/>
              </a:rPr>
              <a:t>in order </a:t>
            </a:r>
            <a:r>
              <a:rPr sz="2200" spc="-600" dirty="0">
                <a:latin typeface="Arial"/>
                <a:cs typeface="Arial"/>
              </a:rPr>
              <a:t> </a:t>
            </a:r>
            <a:r>
              <a:rPr sz="2200" dirty="0">
                <a:latin typeface="Arial"/>
                <a:cs typeface="Arial"/>
              </a:rPr>
              <a:t>to </a:t>
            </a:r>
            <a:r>
              <a:rPr sz="2200" spc="-5" dirty="0">
                <a:latin typeface="Arial"/>
                <a:cs typeface="Arial"/>
              </a:rPr>
              <a:t>evaluate </a:t>
            </a:r>
            <a:r>
              <a:rPr sz="2200" dirty="0">
                <a:latin typeface="Arial"/>
                <a:cs typeface="Arial"/>
              </a:rPr>
              <a:t>the </a:t>
            </a:r>
            <a:r>
              <a:rPr sz="2200" spc="-5" dirty="0">
                <a:latin typeface="Arial"/>
                <a:cs typeface="Arial"/>
              </a:rPr>
              <a:t>efficiency, </a:t>
            </a:r>
            <a:r>
              <a:rPr sz="2200" dirty="0">
                <a:latin typeface="Arial"/>
                <a:cs typeface="Arial"/>
              </a:rPr>
              <a:t>correctness &amp; integrity </a:t>
            </a:r>
            <a:r>
              <a:rPr sz="2200" spc="-5" dirty="0">
                <a:latin typeface="Arial"/>
                <a:cs typeface="Arial"/>
              </a:rPr>
              <a:t>of its </a:t>
            </a:r>
            <a:r>
              <a:rPr sz="2200" dirty="0">
                <a:latin typeface="Arial"/>
                <a:cs typeface="Arial"/>
              </a:rPr>
              <a:t>database </a:t>
            </a:r>
            <a:r>
              <a:rPr sz="2200" spc="-5" dirty="0">
                <a:latin typeface="Arial"/>
                <a:cs typeface="Arial"/>
              </a:rPr>
              <a:t>systems as </a:t>
            </a:r>
            <a:r>
              <a:rPr sz="2200" spc="-15" dirty="0">
                <a:latin typeface="Arial"/>
                <a:cs typeface="Arial"/>
              </a:rPr>
              <a:t>well </a:t>
            </a:r>
            <a:r>
              <a:rPr sz="2200" spc="10" dirty="0">
                <a:latin typeface="Arial"/>
                <a:cs typeface="Arial"/>
              </a:rPr>
              <a:t>as </a:t>
            </a:r>
            <a:r>
              <a:rPr sz="2200" spc="-600" dirty="0">
                <a:latin typeface="Arial"/>
                <a:cs typeface="Arial"/>
              </a:rPr>
              <a:t> </a:t>
            </a:r>
            <a:r>
              <a:rPr sz="2200" dirty="0">
                <a:latin typeface="Arial"/>
                <a:cs typeface="Arial"/>
              </a:rPr>
              <a:t>to </a:t>
            </a:r>
            <a:r>
              <a:rPr sz="2200" spc="-5" dirty="0">
                <a:latin typeface="Arial"/>
                <a:cs typeface="Arial"/>
              </a:rPr>
              <a:t>uncover</a:t>
            </a:r>
            <a:r>
              <a:rPr sz="2200" spc="15" dirty="0">
                <a:latin typeface="Arial"/>
                <a:cs typeface="Arial"/>
              </a:rPr>
              <a:t> </a:t>
            </a:r>
            <a:r>
              <a:rPr sz="2200" spc="-5" dirty="0">
                <a:latin typeface="Arial"/>
                <a:cs typeface="Arial"/>
              </a:rPr>
              <a:t>potential</a:t>
            </a:r>
            <a:r>
              <a:rPr sz="2200" spc="15" dirty="0">
                <a:latin typeface="Arial"/>
                <a:cs typeface="Arial"/>
              </a:rPr>
              <a:t> </a:t>
            </a:r>
            <a:r>
              <a:rPr sz="2200" dirty="0">
                <a:latin typeface="Arial"/>
                <a:cs typeface="Arial"/>
              </a:rPr>
              <a:t>Security</a:t>
            </a:r>
            <a:r>
              <a:rPr sz="2200" spc="-5" dirty="0">
                <a:latin typeface="Arial"/>
                <a:cs typeface="Arial"/>
              </a:rPr>
              <a:t> Cracks.</a:t>
            </a:r>
            <a:endParaRPr sz="2200">
              <a:latin typeface="Arial"/>
              <a:cs typeface="Arial"/>
            </a:endParaRPr>
          </a:p>
          <a:p>
            <a:pPr marL="354965" marR="6350" indent="-342900" algn="just">
              <a:lnSpc>
                <a:spcPct val="100000"/>
              </a:lnSpc>
              <a:spcBef>
                <a:spcPts val="545"/>
              </a:spcBef>
              <a:buFont typeface="Wingdings"/>
              <a:buChar char=""/>
              <a:tabLst>
                <a:tab pos="434340" algn="l"/>
              </a:tabLst>
            </a:pPr>
            <a:r>
              <a:rPr dirty="0"/>
              <a:t>	</a:t>
            </a:r>
            <a:r>
              <a:rPr sz="2200" spc="-5" dirty="0">
                <a:latin typeface="Arial"/>
                <a:cs typeface="Arial"/>
              </a:rPr>
              <a:t>Auditing </a:t>
            </a:r>
            <a:r>
              <a:rPr sz="2200" spc="-10" dirty="0">
                <a:latin typeface="Arial"/>
                <a:cs typeface="Arial"/>
              </a:rPr>
              <a:t>is </a:t>
            </a:r>
            <a:r>
              <a:rPr sz="2200" spc="-5" dirty="0">
                <a:latin typeface="Arial"/>
                <a:cs typeface="Arial"/>
              </a:rPr>
              <a:t>done </a:t>
            </a:r>
            <a:r>
              <a:rPr sz="2200" dirty="0">
                <a:latin typeface="Arial"/>
                <a:cs typeface="Arial"/>
              </a:rPr>
              <a:t>to verify that </a:t>
            </a:r>
            <a:r>
              <a:rPr sz="2200" spc="-10" dirty="0">
                <a:latin typeface="Arial"/>
                <a:cs typeface="Arial"/>
              </a:rPr>
              <a:t>DBMS </a:t>
            </a:r>
            <a:r>
              <a:rPr sz="2200" spc="-5" dirty="0">
                <a:latin typeface="Arial"/>
                <a:cs typeface="Arial"/>
              </a:rPr>
              <a:t>operations are </a:t>
            </a:r>
            <a:r>
              <a:rPr sz="2200" dirty="0">
                <a:latin typeface="Arial"/>
                <a:cs typeface="Arial"/>
              </a:rPr>
              <a:t>properly </a:t>
            </a:r>
            <a:r>
              <a:rPr sz="2200" spc="-5" dirty="0">
                <a:latin typeface="Arial"/>
                <a:cs typeface="Arial"/>
              </a:rPr>
              <a:t>implemented </a:t>
            </a:r>
            <a:r>
              <a:rPr sz="2200" dirty="0">
                <a:latin typeface="Arial"/>
                <a:cs typeface="Arial"/>
              </a:rPr>
              <a:t>and </a:t>
            </a:r>
            <a:r>
              <a:rPr sz="2200" spc="5" dirty="0">
                <a:latin typeface="Arial"/>
                <a:cs typeface="Arial"/>
              </a:rPr>
              <a:t> </a:t>
            </a:r>
            <a:r>
              <a:rPr sz="2200" spc="-5" dirty="0">
                <a:latin typeface="Arial"/>
                <a:cs typeface="Arial"/>
              </a:rPr>
              <a:t>executed.</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38</a:t>
            </a:fld>
            <a:endParaRPr spc="-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64ADAD2F-DCE2-41ED-B7FA-09F3A91384F5}" type="slidenum">
              <a:rPr lang="en-US" altLang="en-US" sz="1400"/>
              <a:pPr>
                <a:spcBef>
                  <a:spcPct val="50000"/>
                </a:spcBef>
                <a:buClrTx/>
                <a:buFontTx/>
                <a:buNone/>
              </a:pPr>
              <a:t>39</a:t>
            </a:fld>
            <a:endParaRPr lang="en-US" altLang="en-US" sz="1400"/>
          </a:p>
        </p:txBody>
      </p:sp>
      <p:sp>
        <p:nvSpPr>
          <p:cNvPr id="110596" name="Rectangle 2"/>
          <p:cNvSpPr>
            <a:spLocks noGrp="1" noChangeArrowheads="1"/>
          </p:cNvSpPr>
          <p:nvPr>
            <p:ph type="body" idx="1"/>
          </p:nvPr>
        </p:nvSpPr>
        <p:spPr>
          <a:xfrm>
            <a:off x="622300" y="685800"/>
            <a:ext cx="10711814" cy="5286062"/>
          </a:xfrm>
        </p:spPr>
        <p:txBody>
          <a:bodyPr/>
          <a:lstStyle/>
          <a:p>
            <a:pPr algn="ctr" eaLnBrk="1" hangingPunct="1">
              <a:lnSpc>
                <a:spcPct val="90000"/>
              </a:lnSpc>
              <a:buFont typeface="Wingdings" panose="05000000000000000000" pitchFamily="2" charset="2"/>
              <a:buNone/>
            </a:pPr>
            <a:r>
              <a:rPr lang="en-US" altLang="en-US" sz="3500" b="1" u="sng" dirty="0"/>
              <a:t>User Accounts and Database Audits</a:t>
            </a:r>
            <a:endParaRPr lang="en-US" altLang="en-US" sz="2800" dirty="0"/>
          </a:p>
          <a:p>
            <a:pPr algn="just"/>
            <a:r>
              <a:rPr lang="en-US" altLang="en-US" sz="2400" dirty="0"/>
              <a:t>Whenever a person or a group of persons needs to access a database system, the individual or group must first apply for a user account. The DBA will then create a new </a:t>
            </a:r>
            <a:r>
              <a:rPr lang="en-US" altLang="en-US" sz="2400" b="1" dirty="0"/>
              <a:t>account number and password for the user if there is a legitimate need to access the database</a:t>
            </a:r>
            <a:r>
              <a:rPr lang="en-US" altLang="en-US" sz="2400" dirty="0"/>
              <a:t>. The user must </a:t>
            </a:r>
            <a:r>
              <a:rPr lang="en-US" altLang="en-US" sz="2400" b="1" dirty="0"/>
              <a:t>log in to the DBMS by entering the account number and password</a:t>
            </a:r>
            <a:r>
              <a:rPr lang="en-US" altLang="en-US" sz="2400" dirty="0"/>
              <a:t> whenever database access is needed. The DBMS checks that the account number and password are valid; if they are, the user is permitted to use the DBMS and to access the database.</a:t>
            </a:r>
          </a:p>
          <a:p>
            <a:pPr algn="just"/>
            <a:r>
              <a:rPr lang="en-US" altLang="en-US" sz="2400" dirty="0"/>
              <a:t>It is straightforward to keep track of database users and their accounts and passwords by creating an encrypted table or file with two fields: Account Number and Password. This table can easily be maintained by the DBMS. Whenever a new account is created, a new record is inserted into the table. When an account is canceled, the corresponding record must be deleted from the table.</a:t>
            </a:r>
          </a:p>
        </p:txBody>
      </p:sp>
    </p:spTree>
    <p:extLst>
      <p:ext uri="{BB962C8B-B14F-4D97-AF65-F5344CB8AC3E}">
        <p14:creationId xmlns:p14="http://schemas.microsoft.com/office/powerpoint/2010/main" val="29010862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D602E853-8C35-42E9-B73D-6BF53BC8D5F5}" type="slidenum">
              <a:rPr lang="en-US" altLang="en-US" sz="1400"/>
              <a:pPr>
                <a:spcBef>
                  <a:spcPct val="50000"/>
                </a:spcBef>
                <a:buClrTx/>
                <a:buFontTx/>
                <a:buNone/>
              </a:pPr>
              <a:t>40</a:t>
            </a:fld>
            <a:endParaRPr lang="en-US" altLang="en-US" sz="1400"/>
          </a:p>
        </p:txBody>
      </p:sp>
      <p:sp>
        <p:nvSpPr>
          <p:cNvPr id="112644" name="Rectangle 2"/>
          <p:cNvSpPr>
            <a:spLocks noGrp="1" noChangeArrowheads="1"/>
          </p:cNvSpPr>
          <p:nvPr>
            <p:ph type="body" idx="1"/>
          </p:nvPr>
        </p:nvSpPr>
        <p:spPr>
          <a:xfrm>
            <a:off x="546100" y="990600"/>
            <a:ext cx="11016614" cy="5105400"/>
          </a:xfrm>
        </p:spPr>
        <p:txBody>
          <a:bodyPr/>
          <a:lstStyle/>
          <a:p>
            <a:pPr algn="ctr" eaLnBrk="1" hangingPunct="1">
              <a:lnSpc>
                <a:spcPct val="90000"/>
              </a:lnSpc>
              <a:buFont typeface="Wingdings" panose="05000000000000000000" pitchFamily="2" charset="2"/>
              <a:buNone/>
            </a:pPr>
            <a:r>
              <a:rPr lang="en-US" altLang="en-US" sz="3500" b="1" u="sng" dirty="0"/>
              <a:t>User Accounts and Database Audits</a:t>
            </a:r>
            <a:endParaRPr lang="en-US" altLang="en-US" sz="2800" dirty="0"/>
          </a:p>
          <a:p>
            <a:pPr algn="just"/>
            <a:r>
              <a:rPr lang="en-US" altLang="en-US" sz="2400" dirty="0"/>
              <a:t>The database system must also keep track of all operations on the database that are applied by a certain user throughout each </a:t>
            </a:r>
            <a:r>
              <a:rPr lang="en-US" altLang="en-US" sz="2400" b="1" dirty="0"/>
              <a:t>login session, </a:t>
            </a:r>
            <a:r>
              <a:rPr lang="en-US" altLang="en-US" sz="2400" i="1" dirty="0"/>
              <a:t>which consists of the sequence of database interactions that a user performs from the time of logging in to the time of logging off.</a:t>
            </a:r>
          </a:p>
          <a:p>
            <a:pPr algn="just"/>
            <a:r>
              <a:rPr lang="en-US" altLang="en-US" sz="2400" dirty="0"/>
              <a:t>To keep a record of all updates applied to the database and of particular users who applied each update, the </a:t>
            </a:r>
            <a:r>
              <a:rPr lang="en-US" altLang="en-US" sz="2400" b="1" i="1" dirty="0"/>
              <a:t>system log is maintained. </a:t>
            </a:r>
            <a:r>
              <a:rPr lang="en-US" altLang="en-US" sz="2400" dirty="0"/>
              <a:t>The </a:t>
            </a:r>
            <a:r>
              <a:rPr lang="en-US" altLang="en-US" sz="2400" b="1" dirty="0"/>
              <a:t>system log includes an entry for each operation applied to the database </a:t>
            </a:r>
            <a:r>
              <a:rPr lang="en-US" altLang="en-US" sz="2400" dirty="0"/>
              <a:t>that may be required for recovery from a transaction failure or system crash.</a:t>
            </a:r>
          </a:p>
          <a:p>
            <a:pPr algn="just"/>
            <a:r>
              <a:rPr lang="en-US" altLang="en-US" sz="2400" dirty="0"/>
              <a:t>If any tampering with the database is suspected, a </a:t>
            </a:r>
            <a:r>
              <a:rPr lang="en-US" altLang="en-US" sz="2400" b="1" dirty="0"/>
              <a:t>database audit is performed, </a:t>
            </a:r>
            <a:r>
              <a:rPr lang="en-US" altLang="en-US" sz="2400" dirty="0"/>
              <a:t>which consists of reviewing the log to examine all accesses and operations applied to the database during a certain time period.</a:t>
            </a:r>
            <a:endParaRPr lang="en-US" altLang="en-US" sz="2400" b="1" dirty="0"/>
          </a:p>
        </p:txBody>
      </p:sp>
    </p:spTree>
    <p:extLst>
      <p:ext uri="{BB962C8B-B14F-4D97-AF65-F5344CB8AC3E}">
        <p14:creationId xmlns:p14="http://schemas.microsoft.com/office/powerpoint/2010/main" val="3611965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27E7FB02-D843-4521-847B-A96002BC4F0D}" type="slidenum">
              <a:rPr lang="en-US" altLang="en-US" sz="1400"/>
              <a:pPr>
                <a:spcBef>
                  <a:spcPct val="50000"/>
                </a:spcBef>
                <a:buClrTx/>
                <a:buFontTx/>
                <a:buNone/>
              </a:pPr>
              <a:t>41</a:t>
            </a:fld>
            <a:endParaRPr lang="en-US" altLang="en-US" sz="1400"/>
          </a:p>
        </p:txBody>
      </p:sp>
      <p:sp>
        <p:nvSpPr>
          <p:cNvPr id="114692" name="Rectangle 2"/>
          <p:cNvSpPr>
            <a:spLocks noGrp="1" noChangeArrowheads="1"/>
          </p:cNvSpPr>
          <p:nvPr>
            <p:ph type="body" idx="1"/>
          </p:nvPr>
        </p:nvSpPr>
        <p:spPr>
          <a:xfrm>
            <a:off x="546100" y="1295400"/>
            <a:ext cx="10788014" cy="3733800"/>
          </a:xfrm>
        </p:spPr>
        <p:txBody>
          <a:bodyPr/>
          <a:lstStyle/>
          <a:p>
            <a:pPr algn="ctr" eaLnBrk="1" hangingPunct="1">
              <a:lnSpc>
                <a:spcPct val="90000"/>
              </a:lnSpc>
              <a:buFont typeface="Wingdings" panose="05000000000000000000" pitchFamily="2" charset="2"/>
              <a:buNone/>
            </a:pPr>
            <a:r>
              <a:rPr lang="en-US" altLang="en-US" sz="3500" b="1" u="sng" dirty="0"/>
              <a:t>User Accounts and Database Audits</a:t>
            </a:r>
            <a:endParaRPr lang="en-US" altLang="en-US" sz="2800" dirty="0"/>
          </a:p>
          <a:p>
            <a:endParaRPr lang="en-US" altLang="en-US" sz="2400" dirty="0"/>
          </a:p>
          <a:p>
            <a:pPr algn="just"/>
            <a:r>
              <a:rPr lang="en-US" altLang="en-US" sz="2400" dirty="0"/>
              <a:t>When an illegal or unauthorized operation is found, the DBA can determine the account number used to perform the operation. Database audits are particularly important for sensitive databases that are updated by many transactions and users, such as a banking database that can be updated by thousands of bank tellers. A database log that is used mainly for security purposes serves as an </a:t>
            </a:r>
            <a:r>
              <a:rPr lang="en-US" altLang="en-US" sz="2400" b="1" dirty="0"/>
              <a:t>audit trail.</a:t>
            </a:r>
          </a:p>
        </p:txBody>
      </p:sp>
    </p:spTree>
    <p:extLst>
      <p:ext uri="{BB962C8B-B14F-4D97-AF65-F5344CB8AC3E}">
        <p14:creationId xmlns:p14="http://schemas.microsoft.com/office/powerpoint/2010/main" val="417619215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8990330"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Discretionary</a:t>
            </a:r>
            <a:r>
              <a:rPr sz="3600" spc="-85" dirty="0">
                <a:solidFill>
                  <a:srgbClr val="000000"/>
                </a:solidFill>
                <a:latin typeface="Verdana"/>
                <a:cs typeface="Verdana"/>
              </a:rPr>
              <a:t> </a:t>
            </a:r>
            <a:r>
              <a:rPr sz="3600" dirty="0">
                <a:solidFill>
                  <a:srgbClr val="000000"/>
                </a:solidFill>
                <a:latin typeface="Verdana"/>
                <a:cs typeface="Verdana"/>
              </a:rPr>
              <a:t>access</a:t>
            </a:r>
            <a:r>
              <a:rPr sz="3600" spc="-40" dirty="0">
                <a:solidFill>
                  <a:srgbClr val="000000"/>
                </a:solidFill>
                <a:latin typeface="Verdana"/>
                <a:cs typeface="Verdana"/>
              </a:rPr>
              <a:t> </a:t>
            </a:r>
            <a:r>
              <a:rPr sz="3600" spc="-5" dirty="0">
                <a:solidFill>
                  <a:srgbClr val="000000"/>
                </a:solidFill>
                <a:latin typeface="Verdana"/>
                <a:cs typeface="Verdana"/>
              </a:rPr>
              <a:t>control</a:t>
            </a:r>
            <a:r>
              <a:rPr sz="3600" spc="-35" dirty="0">
                <a:solidFill>
                  <a:srgbClr val="000000"/>
                </a:solidFill>
                <a:latin typeface="Verdana"/>
                <a:cs typeface="Verdana"/>
              </a:rPr>
              <a:t> </a:t>
            </a:r>
            <a:r>
              <a:rPr sz="3600" spc="-5" dirty="0">
                <a:solidFill>
                  <a:srgbClr val="000000"/>
                </a:solidFill>
                <a:latin typeface="Verdana"/>
                <a:cs typeface="Verdana"/>
              </a:rPr>
              <a:t>(DAC)</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82307" y="1078484"/>
            <a:ext cx="10708005" cy="4451985"/>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a:buChar char=""/>
              <a:tabLst>
                <a:tab pos="355600" algn="l"/>
              </a:tabLst>
            </a:pPr>
            <a:r>
              <a:rPr sz="2200" dirty="0">
                <a:latin typeface="Arial"/>
                <a:cs typeface="Arial"/>
              </a:rPr>
              <a:t>Discretionary access control </a:t>
            </a:r>
            <a:r>
              <a:rPr sz="2200" spc="-10" dirty="0">
                <a:latin typeface="Arial"/>
                <a:cs typeface="Arial"/>
              </a:rPr>
              <a:t>(DAC)</a:t>
            </a:r>
            <a:r>
              <a:rPr sz="2200" spc="-5" dirty="0">
                <a:latin typeface="Arial"/>
                <a:cs typeface="Arial"/>
              </a:rPr>
              <a:t> </a:t>
            </a:r>
            <a:r>
              <a:rPr sz="2200" spc="-10" dirty="0">
                <a:latin typeface="Arial"/>
                <a:cs typeface="Arial"/>
              </a:rPr>
              <a:t>is </a:t>
            </a:r>
            <a:r>
              <a:rPr sz="2200" spc="-5" dirty="0">
                <a:latin typeface="Arial"/>
                <a:cs typeface="Arial"/>
              </a:rPr>
              <a:t>a</a:t>
            </a:r>
            <a:r>
              <a:rPr sz="2200" dirty="0">
                <a:latin typeface="Arial"/>
                <a:cs typeface="Arial"/>
              </a:rPr>
              <a:t> </a:t>
            </a:r>
            <a:r>
              <a:rPr sz="2200" spc="-5" dirty="0">
                <a:latin typeface="Arial"/>
                <a:cs typeface="Arial"/>
              </a:rPr>
              <a:t>type of</a:t>
            </a:r>
            <a:r>
              <a:rPr sz="2200" spc="600" dirty="0">
                <a:latin typeface="Arial"/>
                <a:cs typeface="Arial"/>
              </a:rPr>
              <a:t> </a:t>
            </a:r>
            <a:r>
              <a:rPr sz="2200" dirty="0">
                <a:latin typeface="Arial"/>
                <a:cs typeface="Arial"/>
              </a:rPr>
              <a:t>security access control that </a:t>
            </a:r>
            <a:r>
              <a:rPr sz="2200" spc="-5" dirty="0">
                <a:latin typeface="Arial"/>
                <a:cs typeface="Arial"/>
              </a:rPr>
              <a:t>grants </a:t>
            </a:r>
            <a:r>
              <a:rPr sz="2200" spc="-600" dirty="0">
                <a:latin typeface="Arial"/>
                <a:cs typeface="Arial"/>
              </a:rPr>
              <a:t> </a:t>
            </a:r>
            <a:r>
              <a:rPr sz="2200" spc="-5" dirty="0">
                <a:latin typeface="Arial"/>
                <a:cs typeface="Arial"/>
              </a:rPr>
              <a:t>or </a:t>
            </a:r>
            <a:r>
              <a:rPr sz="2200" dirty="0">
                <a:latin typeface="Arial"/>
                <a:cs typeface="Arial"/>
              </a:rPr>
              <a:t>restricts </a:t>
            </a:r>
            <a:r>
              <a:rPr sz="2200" spc="-5" dirty="0">
                <a:latin typeface="Arial"/>
                <a:cs typeface="Arial"/>
              </a:rPr>
              <a:t>object access via an </a:t>
            </a:r>
            <a:r>
              <a:rPr sz="2200" spc="-10" dirty="0">
                <a:latin typeface="Arial"/>
                <a:cs typeface="Arial"/>
              </a:rPr>
              <a:t>access </a:t>
            </a:r>
            <a:r>
              <a:rPr sz="2200" spc="-5" dirty="0">
                <a:latin typeface="Arial"/>
                <a:cs typeface="Arial"/>
              </a:rPr>
              <a:t>policy </a:t>
            </a:r>
            <a:r>
              <a:rPr sz="2200" dirty="0">
                <a:latin typeface="Arial"/>
                <a:cs typeface="Arial"/>
              </a:rPr>
              <a:t>determined </a:t>
            </a:r>
            <a:r>
              <a:rPr sz="2200" spc="-5" dirty="0">
                <a:latin typeface="Arial"/>
                <a:cs typeface="Arial"/>
              </a:rPr>
              <a:t>by an </a:t>
            </a:r>
            <a:r>
              <a:rPr sz="2200" dirty="0">
                <a:latin typeface="Arial"/>
                <a:cs typeface="Arial"/>
              </a:rPr>
              <a:t>object's </a:t>
            </a:r>
            <a:r>
              <a:rPr sz="2200" spc="-5" dirty="0">
                <a:latin typeface="Arial"/>
                <a:cs typeface="Arial"/>
              </a:rPr>
              <a:t>owner </a:t>
            </a:r>
            <a:r>
              <a:rPr sz="2200" dirty="0">
                <a:latin typeface="Arial"/>
                <a:cs typeface="Arial"/>
              </a:rPr>
              <a:t> </a:t>
            </a:r>
            <a:r>
              <a:rPr sz="2200" spc="-5" dirty="0">
                <a:latin typeface="Arial"/>
                <a:cs typeface="Arial"/>
              </a:rPr>
              <a:t>group</a:t>
            </a:r>
            <a:r>
              <a:rPr sz="2200" spc="15" dirty="0">
                <a:latin typeface="Arial"/>
                <a:cs typeface="Arial"/>
              </a:rPr>
              <a:t> </a:t>
            </a:r>
            <a:r>
              <a:rPr sz="2200" spc="-5" dirty="0">
                <a:latin typeface="Arial"/>
                <a:cs typeface="Arial"/>
              </a:rPr>
              <a:t>and/or</a:t>
            </a:r>
            <a:r>
              <a:rPr sz="2200" spc="15" dirty="0">
                <a:latin typeface="Arial"/>
                <a:cs typeface="Arial"/>
              </a:rPr>
              <a:t> </a:t>
            </a:r>
            <a:r>
              <a:rPr sz="2200" spc="-5" dirty="0">
                <a:latin typeface="Arial"/>
                <a:cs typeface="Arial"/>
              </a:rPr>
              <a:t>subjects.</a:t>
            </a:r>
            <a:endParaRPr sz="2200">
              <a:latin typeface="Arial"/>
              <a:cs typeface="Arial"/>
            </a:endParaRPr>
          </a:p>
          <a:p>
            <a:pPr marL="355600" indent="-342900" algn="just">
              <a:lnSpc>
                <a:spcPct val="100000"/>
              </a:lnSpc>
              <a:spcBef>
                <a:spcPts val="520"/>
              </a:spcBef>
              <a:buFont typeface="Wingdings"/>
              <a:buChar char=""/>
              <a:tabLst>
                <a:tab pos="355600" algn="l"/>
              </a:tabLst>
            </a:pPr>
            <a:r>
              <a:rPr sz="2200" spc="-10" dirty="0">
                <a:latin typeface="Arial"/>
                <a:cs typeface="Arial"/>
              </a:rPr>
              <a:t>DAC</a:t>
            </a:r>
            <a:r>
              <a:rPr sz="2200" spc="1230" dirty="0">
                <a:latin typeface="Arial"/>
                <a:cs typeface="Arial"/>
              </a:rPr>
              <a:t> </a:t>
            </a:r>
            <a:r>
              <a:rPr sz="2200" spc="-5" dirty="0">
                <a:latin typeface="Arial"/>
                <a:cs typeface="Arial"/>
              </a:rPr>
              <a:t>mechanism</a:t>
            </a:r>
            <a:r>
              <a:rPr sz="2200" spc="1250" dirty="0">
                <a:latin typeface="Arial"/>
                <a:cs typeface="Arial"/>
              </a:rPr>
              <a:t> </a:t>
            </a:r>
            <a:r>
              <a:rPr sz="2200" spc="-5" dirty="0">
                <a:latin typeface="Arial"/>
                <a:cs typeface="Arial"/>
              </a:rPr>
              <a:t>controls</a:t>
            </a:r>
            <a:r>
              <a:rPr sz="2200" spc="1230" dirty="0">
                <a:latin typeface="Arial"/>
                <a:cs typeface="Arial"/>
              </a:rPr>
              <a:t> </a:t>
            </a:r>
            <a:r>
              <a:rPr sz="2200" spc="-5" dirty="0">
                <a:latin typeface="Arial"/>
                <a:cs typeface="Arial"/>
              </a:rPr>
              <a:t>are</a:t>
            </a:r>
            <a:r>
              <a:rPr sz="2200" spc="1245" dirty="0">
                <a:latin typeface="Arial"/>
                <a:cs typeface="Arial"/>
              </a:rPr>
              <a:t> </a:t>
            </a:r>
            <a:r>
              <a:rPr sz="2200" spc="-5" dirty="0">
                <a:latin typeface="Arial"/>
                <a:cs typeface="Arial"/>
              </a:rPr>
              <a:t>defined</a:t>
            </a:r>
            <a:r>
              <a:rPr sz="2200" spc="1215" dirty="0">
                <a:latin typeface="Arial"/>
                <a:cs typeface="Arial"/>
              </a:rPr>
              <a:t> </a:t>
            </a:r>
            <a:r>
              <a:rPr sz="2200" spc="5" dirty="0">
                <a:latin typeface="Arial"/>
                <a:cs typeface="Arial"/>
              </a:rPr>
              <a:t>by </a:t>
            </a:r>
            <a:r>
              <a:rPr sz="2200" spc="585" dirty="0">
                <a:latin typeface="Arial"/>
                <a:cs typeface="Arial"/>
              </a:rPr>
              <a:t> </a:t>
            </a:r>
            <a:r>
              <a:rPr sz="2200" spc="-5" dirty="0">
                <a:latin typeface="Arial"/>
                <a:cs typeface="Arial"/>
              </a:rPr>
              <a:t>user</a:t>
            </a:r>
            <a:r>
              <a:rPr sz="2200" spc="1245" dirty="0">
                <a:latin typeface="Arial"/>
                <a:cs typeface="Arial"/>
              </a:rPr>
              <a:t> </a:t>
            </a:r>
            <a:r>
              <a:rPr sz="2200" spc="-5" dirty="0">
                <a:latin typeface="Arial"/>
                <a:cs typeface="Arial"/>
              </a:rPr>
              <a:t>identification</a:t>
            </a:r>
            <a:r>
              <a:rPr sz="2200" spc="1255" dirty="0">
                <a:latin typeface="Arial"/>
                <a:cs typeface="Arial"/>
              </a:rPr>
              <a:t> </a:t>
            </a:r>
            <a:r>
              <a:rPr sz="2200" spc="-10" dirty="0">
                <a:latin typeface="Arial"/>
                <a:cs typeface="Arial"/>
              </a:rPr>
              <a:t>with</a:t>
            </a:r>
            <a:r>
              <a:rPr sz="2200" spc="1215" dirty="0">
                <a:latin typeface="Arial"/>
                <a:cs typeface="Arial"/>
              </a:rPr>
              <a:t> </a:t>
            </a:r>
            <a:r>
              <a:rPr sz="2200" spc="-5" dirty="0">
                <a:latin typeface="Arial"/>
                <a:cs typeface="Arial"/>
              </a:rPr>
              <a:t>supplied</a:t>
            </a:r>
            <a:endParaRPr sz="2200">
              <a:latin typeface="Arial"/>
              <a:cs typeface="Arial"/>
            </a:endParaRPr>
          </a:p>
          <a:p>
            <a:pPr marL="354965" algn="just">
              <a:lnSpc>
                <a:spcPct val="100000"/>
              </a:lnSpc>
            </a:pPr>
            <a:r>
              <a:rPr sz="2200" spc="-5" dirty="0">
                <a:latin typeface="Arial"/>
                <a:cs typeface="Arial"/>
              </a:rPr>
              <a:t>credentials</a:t>
            </a:r>
            <a:r>
              <a:rPr sz="2200" spc="40" dirty="0">
                <a:latin typeface="Arial"/>
                <a:cs typeface="Arial"/>
              </a:rPr>
              <a:t> </a:t>
            </a:r>
            <a:r>
              <a:rPr sz="2200" spc="-5" dirty="0">
                <a:latin typeface="Arial"/>
                <a:cs typeface="Arial"/>
              </a:rPr>
              <a:t>during</a:t>
            </a:r>
            <a:r>
              <a:rPr sz="2200" spc="30" dirty="0">
                <a:latin typeface="Arial"/>
                <a:cs typeface="Arial"/>
              </a:rPr>
              <a:t> </a:t>
            </a:r>
            <a:r>
              <a:rPr sz="2200" spc="-5" dirty="0">
                <a:latin typeface="Arial"/>
                <a:cs typeface="Arial"/>
              </a:rPr>
              <a:t>authentication,</a:t>
            </a:r>
            <a:r>
              <a:rPr sz="2200" spc="45" dirty="0">
                <a:latin typeface="Arial"/>
                <a:cs typeface="Arial"/>
              </a:rPr>
              <a:t> </a:t>
            </a:r>
            <a:r>
              <a:rPr sz="2200" spc="-5" dirty="0">
                <a:latin typeface="Arial"/>
                <a:cs typeface="Arial"/>
              </a:rPr>
              <a:t>such</a:t>
            </a:r>
            <a:r>
              <a:rPr sz="2200" spc="10" dirty="0">
                <a:latin typeface="Arial"/>
                <a:cs typeface="Arial"/>
              </a:rPr>
              <a:t> </a:t>
            </a:r>
            <a:r>
              <a:rPr sz="2200" spc="-5" dirty="0">
                <a:latin typeface="Arial"/>
                <a:cs typeface="Arial"/>
              </a:rPr>
              <a:t>as</a:t>
            </a:r>
            <a:r>
              <a:rPr sz="2200" spc="15" dirty="0">
                <a:latin typeface="Arial"/>
                <a:cs typeface="Arial"/>
              </a:rPr>
              <a:t> </a:t>
            </a:r>
            <a:r>
              <a:rPr sz="2200" spc="-5" dirty="0">
                <a:latin typeface="Arial"/>
                <a:cs typeface="Arial"/>
              </a:rPr>
              <a:t>username</a:t>
            </a:r>
            <a:r>
              <a:rPr sz="2200" spc="35" dirty="0">
                <a:latin typeface="Arial"/>
                <a:cs typeface="Arial"/>
              </a:rPr>
              <a:t> </a:t>
            </a:r>
            <a:r>
              <a:rPr sz="2200" spc="-5" dirty="0">
                <a:latin typeface="Arial"/>
                <a:cs typeface="Arial"/>
              </a:rPr>
              <a:t>and</a:t>
            </a:r>
            <a:r>
              <a:rPr sz="2200" spc="15" dirty="0">
                <a:latin typeface="Arial"/>
                <a:cs typeface="Arial"/>
              </a:rPr>
              <a:t> </a:t>
            </a:r>
            <a:r>
              <a:rPr sz="2200" spc="-10" dirty="0">
                <a:latin typeface="Arial"/>
                <a:cs typeface="Arial"/>
              </a:rPr>
              <a:t>password.</a:t>
            </a:r>
            <a:endParaRPr sz="2200">
              <a:latin typeface="Arial"/>
              <a:cs typeface="Arial"/>
            </a:endParaRPr>
          </a:p>
          <a:p>
            <a:pPr marL="354965" marR="6985" indent="-342900" algn="just">
              <a:lnSpc>
                <a:spcPct val="100000"/>
              </a:lnSpc>
              <a:spcBef>
                <a:spcPts val="545"/>
              </a:spcBef>
              <a:buFont typeface="Wingdings"/>
              <a:buChar char=""/>
              <a:tabLst>
                <a:tab pos="355600" algn="l"/>
              </a:tabLst>
            </a:pPr>
            <a:r>
              <a:rPr sz="2200" spc="-10" dirty="0">
                <a:latin typeface="Arial"/>
                <a:cs typeface="Arial"/>
              </a:rPr>
              <a:t>DACs </a:t>
            </a:r>
            <a:r>
              <a:rPr sz="2200" spc="-5" dirty="0">
                <a:latin typeface="Arial"/>
                <a:cs typeface="Arial"/>
              </a:rPr>
              <a:t>are </a:t>
            </a:r>
            <a:r>
              <a:rPr sz="2200" dirty="0">
                <a:latin typeface="Arial"/>
                <a:cs typeface="Arial"/>
              </a:rPr>
              <a:t>discretionary because the </a:t>
            </a:r>
            <a:r>
              <a:rPr sz="2200" spc="-5" dirty="0">
                <a:latin typeface="Arial"/>
                <a:cs typeface="Arial"/>
              </a:rPr>
              <a:t>subject (owner) can </a:t>
            </a:r>
            <a:r>
              <a:rPr sz="2200" dirty="0">
                <a:latin typeface="Arial"/>
                <a:cs typeface="Arial"/>
              </a:rPr>
              <a:t>transfer </a:t>
            </a:r>
            <a:r>
              <a:rPr sz="2200" spc="-5" dirty="0">
                <a:latin typeface="Arial"/>
                <a:cs typeface="Arial"/>
              </a:rPr>
              <a:t>authenticated </a:t>
            </a:r>
            <a:r>
              <a:rPr sz="2200" dirty="0">
                <a:latin typeface="Arial"/>
                <a:cs typeface="Arial"/>
              </a:rPr>
              <a:t> </a:t>
            </a:r>
            <a:r>
              <a:rPr sz="2200" spc="-5" dirty="0">
                <a:latin typeface="Arial"/>
                <a:cs typeface="Arial"/>
              </a:rPr>
              <a:t>objects or </a:t>
            </a:r>
            <a:r>
              <a:rPr sz="2200" dirty="0">
                <a:latin typeface="Arial"/>
                <a:cs typeface="Arial"/>
              </a:rPr>
              <a:t>information </a:t>
            </a:r>
            <a:r>
              <a:rPr sz="2200" spc="-5" dirty="0">
                <a:latin typeface="Arial"/>
                <a:cs typeface="Arial"/>
              </a:rPr>
              <a:t>access </a:t>
            </a:r>
            <a:r>
              <a:rPr sz="2200" dirty="0">
                <a:latin typeface="Arial"/>
                <a:cs typeface="Arial"/>
              </a:rPr>
              <a:t>to other </a:t>
            </a:r>
            <a:r>
              <a:rPr sz="2200" spc="-5" dirty="0">
                <a:latin typeface="Arial"/>
                <a:cs typeface="Arial"/>
              </a:rPr>
              <a:t>users. </a:t>
            </a:r>
            <a:r>
              <a:rPr sz="2200" dirty="0">
                <a:latin typeface="Arial"/>
                <a:cs typeface="Arial"/>
              </a:rPr>
              <a:t>In other </a:t>
            </a:r>
            <a:r>
              <a:rPr sz="2200" spc="-10" dirty="0">
                <a:latin typeface="Arial"/>
                <a:cs typeface="Arial"/>
              </a:rPr>
              <a:t>words, </a:t>
            </a:r>
            <a:r>
              <a:rPr sz="2200" dirty="0">
                <a:latin typeface="Arial"/>
                <a:cs typeface="Arial"/>
              </a:rPr>
              <a:t>the </a:t>
            </a:r>
            <a:r>
              <a:rPr sz="2200" spc="-10" dirty="0">
                <a:latin typeface="Arial"/>
                <a:cs typeface="Arial"/>
              </a:rPr>
              <a:t>owner </a:t>
            </a:r>
            <a:r>
              <a:rPr sz="2200" spc="-5" dirty="0">
                <a:latin typeface="Arial"/>
                <a:cs typeface="Arial"/>
              </a:rPr>
              <a:t>determines </a:t>
            </a:r>
            <a:r>
              <a:rPr sz="2200" dirty="0">
                <a:latin typeface="Arial"/>
                <a:cs typeface="Arial"/>
              </a:rPr>
              <a:t> </a:t>
            </a:r>
            <a:r>
              <a:rPr sz="2200" spc="-5" dirty="0">
                <a:latin typeface="Arial"/>
                <a:cs typeface="Arial"/>
              </a:rPr>
              <a:t>object</a:t>
            </a:r>
            <a:r>
              <a:rPr sz="2200" spc="5" dirty="0">
                <a:latin typeface="Arial"/>
                <a:cs typeface="Arial"/>
              </a:rPr>
              <a:t> </a:t>
            </a:r>
            <a:r>
              <a:rPr sz="2200" spc="-5" dirty="0">
                <a:latin typeface="Arial"/>
                <a:cs typeface="Arial"/>
              </a:rPr>
              <a:t>access</a:t>
            </a:r>
            <a:r>
              <a:rPr sz="2200" spc="25" dirty="0">
                <a:latin typeface="Arial"/>
                <a:cs typeface="Arial"/>
              </a:rPr>
              <a:t> </a:t>
            </a:r>
            <a:r>
              <a:rPr sz="2200" spc="-5" dirty="0">
                <a:latin typeface="Arial"/>
                <a:cs typeface="Arial"/>
              </a:rPr>
              <a:t>privileges.</a:t>
            </a:r>
            <a:endParaRPr sz="2200">
              <a:latin typeface="Arial"/>
              <a:cs typeface="Arial"/>
            </a:endParaRPr>
          </a:p>
          <a:p>
            <a:pPr>
              <a:lnSpc>
                <a:spcPct val="100000"/>
              </a:lnSpc>
              <a:spcBef>
                <a:spcPts val="25"/>
              </a:spcBef>
            </a:pPr>
            <a:endParaRPr sz="3200">
              <a:latin typeface="Arial"/>
              <a:cs typeface="Arial"/>
            </a:endParaRPr>
          </a:p>
          <a:p>
            <a:pPr marL="12700">
              <a:lnSpc>
                <a:spcPct val="100000"/>
              </a:lnSpc>
            </a:pPr>
            <a:r>
              <a:rPr sz="2200" b="1" u="heavy" spc="-10" dirty="0">
                <a:uFill>
                  <a:solidFill>
                    <a:srgbClr val="000000"/>
                  </a:solidFill>
                </a:uFill>
                <a:latin typeface="Arial"/>
                <a:cs typeface="Arial"/>
              </a:rPr>
              <a:t>Advantages</a:t>
            </a:r>
            <a:endParaRPr sz="2200">
              <a:latin typeface="Arial"/>
              <a:cs typeface="Arial"/>
            </a:endParaRPr>
          </a:p>
          <a:p>
            <a:pPr marL="355600" indent="-342900">
              <a:lnSpc>
                <a:spcPct val="100000"/>
              </a:lnSpc>
              <a:spcBef>
                <a:spcPts val="520"/>
              </a:spcBef>
              <a:buChar char="•"/>
              <a:tabLst>
                <a:tab pos="354965" algn="l"/>
                <a:tab pos="355600" algn="l"/>
              </a:tabLst>
            </a:pPr>
            <a:r>
              <a:rPr sz="2200" spc="-10" dirty="0">
                <a:latin typeface="Arial"/>
                <a:cs typeface="Arial"/>
              </a:rPr>
              <a:t>ACL </a:t>
            </a:r>
            <a:r>
              <a:rPr sz="2200" spc="-5" dirty="0">
                <a:latin typeface="Arial"/>
                <a:cs typeface="Arial"/>
              </a:rPr>
              <a:t>maintenance</a:t>
            </a:r>
            <a:r>
              <a:rPr sz="2200" spc="35" dirty="0">
                <a:latin typeface="Arial"/>
                <a:cs typeface="Arial"/>
              </a:rPr>
              <a:t> </a:t>
            </a:r>
            <a:r>
              <a:rPr sz="2200" spc="-5" dirty="0">
                <a:latin typeface="Arial"/>
                <a:cs typeface="Arial"/>
              </a:rPr>
              <a:t>or</a:t>
            </a:r>
            <a:r>
              <a:rPr sz="2200" spc="-20" dirty="0">
                <a:latin typeface="Arial"/>
                <a:cs typeface="Arial"/>
              </a:rPr>
              <a:t> </a:t>
            </a:r>
            <a:r>
              <a:rPr sz="2200" spc="-5" dirty="0">
                <a:latin typeface="Arial"/>
                <a:cs typeface="Arial"/>
              </a:rPr>
              <a:t>capability</a:t>
            </a:r>
            <a:endParaRPr sz="2200">
              <a:latin typeface="Arial"/>
              <a:cs typeface="Arial"/>
            </a:endParaRPr>
          </a:p>
          <a:p>
            <a:pPr marL="355600" indent="-342900">
              <a:lnSpc>
                <a:spcPct val="100000"/>
              </a:lnSpc>
              <a:spcBef>
                <a:spcPts val="520"/>
              </a:spcBef>
              <a:buChar char="•"/>
              <a:tabLst>
                <a:tab pos="354965" algn="l"/>
                <a:tab pos="355600" algn="l"/>
              </a:tabLst>
            </a:pPr>
            <a:r>
              <a:rPr sz="2200" dirty="0">
                <a:latin typeface="Arial"/>
                <a:cs typeface="Arial"/>
              </a:rPr>
              <a:t>Grant</a:t>
            </a:r>
            <a:r>
              <a:rPr sz="2200" spc="-5" dirty="0">
                <a:latin typeface="Arial"/>
                <a:cs typeface="Arial"/>
              </a:rPr>
              <a:t> and</a:t>
            </a:r>
            <a:r>
              <a:rPr sz="2200" spc="25" dirty="0">
                <a:latin typeface="Arial"/>
                <a:cs typeface="Arial"/>
              </a:rPr>
              <a:t> </a:t>
            </a:r>
            <a:r>
              <a:rPr sz="2200" spc="-5" dirty="0">
                <a:latin typeface="Arial"/>
                <a:cs typeface="Arial"/>
              </a:rPr>
              <a:t>revoke</a:t>
            </a:r>
            <a:r>
              <a:rPr sz="2200" spc="5" dirty="0">
                <a:latin typeface="Arial"/>
                <a:cs typeface="Arial"/>
              </a:rPr>
              <a:t> </a:t>
            </a:r>
            <a:r>
              <a:rPr sz="2200" spc="-5" dirty="0">
                <a:latin typeface="Arial"/>
                <a:cs typeface="Arial"/>
              </a:rPr>
              <a:t>permissions</a:t>
            </a:r>
            <a:r>
              <a:rPr sz="2200" spc="25" dirty="0">
                <a:latin typeface="Arial"/>
                <a:cs typeface="Arial"/>
              </a:rPr>
              <a:t> </a:t>
            </a:r>
            <a:r>
              <a:rPr sz="2200" spc="-5" dirty="0">
                <a:latin typeface="Arial"/>
                <a:cs typeface="Arial"/>
              </a:rPr>
              <a:t>maintenance</a:t>
            </a:r>
            <a:endParaRPr sz="22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42</a:t>
            </a:fld>
            <a:endParaRPr spc="-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020710D5-3FF4-496B-A205-F2459E3BA09D}" type="slidenum">
              <a:rPr lang="en-US" altLang="en-US" sz="1400"/>
              <a:pPr>
                <a:spcBef>
                  <a:spcPct val="50000"/>
                </a:spcBef>
                <a:buClrTx/>
                <a:buFontTx/>
                <a:buNone/>
              </a:pPr>
              <a:t>43</a:t>
            </a:fld>
            <a:endParaRPr lang="en-US" altLang="en-US" sz="1400"/>
          </a:p>
        </p:txBody>
      </p:sp>
      <p:sp>
        <p:nvSpPr>
          <p:cNvPr id="116740" name="Rectangle 2"/>
          <p:cNvSpPr>
            <a:spLocks noGrp="1" noChangeArrowheads="1"/>
          </p:cNvSpPr>
          <p:nvPr>
            <p:ph type="body" idx="1"/>
          </p:nvPr>
        </p:nvSpPr>
        <p:spPr>
          <a:xfrm>
            <a:off x="774700" y="1066800"/>
            <a:ext cx="10711814" cy="4916731"/>
          </a:xfrm>
        </p:spPr>
        <p:txBody>
          <a:bodyPr/>
          <a:lstStyle/>
          <a:p>
            <a:pPr algn="ctr" eaLnBrk="1" hangingPunct="1">
              <a:lnSpc>
                <a:spcPct val="90000"/>
              </a:lnSpc>
              <a:buFont typeface="Wingdings" panose="05000000000000000000" pitchFamily="2" charset="2"/>
              <a:buNone/>
            </a:pPr>
            <a:r>
              <a:rPr lang="en-US" altLang="en-US" sz="3500" b="1" u="sng" dirty="0"/>
              <a:t>Discretionary Access Control</a:t>
            </a:r>
            <a:endParaRPr lang="en-US" altLang="en-US" sz="2800" dirty="0"/>
          </a:p>
          <a:p>
            <a:endParaRPr lang="en-US" altLang="en-US" sz="2400" dirty="0"/>
          </a:p>
          <a:p>
            <a:pPr algn="just"/>
            <a:r>
              <a:rPr lang="en-US" altLang="en-US" sz="2400" dirty="0"/>
              <a:t>Discretionary access control is based on the concept of access rights (also called privileges) and mechanism for giving users such privileges. It grants the privileges (access rights) to users on different objects, including the capability to access specific data files, records or fields in a specified mode, such as, read, insert, delete or update or combination of these. A user who creates a database object such as a table or a view automatically gets all applicable privilege on that object. The DBMS keeps track of how these privileges are granted to other users.</a:t>
            </a:r>
          </a:p>
          <a:p>
            <a:pPr algn="just"/>
            <a:r>
              <a:rPr lang="en-US" altLang="en-US" sz="2400" dirty="0"/>
              <a:t>The typical method of enforcing</a:t>
            </a:r>
            <a:r>
              <a:rPr lang="en-US" altLang="en-US" sz="2400" b="1" dirty="0"/>
              <a:t> discretionary access control </a:t>
            </a:r>
            <a:r>
              <a:rPr lang="en-US" altLang="en-US" sz="2400" dirty="0"/>
              <a:t>in a database system is based on the </a:t>
            </a:r>
            <a:r>
              <a:rPr lang="en-US" altLang="en-US" sz="2400" b="1" dirty="0"/>
              <a:t>granting</a:t>
            </a:r>
            <a:r>
              <a:rPr lang="en-US" altLang="en-US" sz="2400" dirty="0"/>
              <a:t> and </a:t>
            </a:r>
            <a:r>
              <a:rPr lang="en-US" altLang="en-US" sz="2400" b="1" dirty="0"/>
              <a:t>revoking</a:t>
            </a:r>
            <a:r>
              <a:rPr lang="en-US" altLang="en-US" sz="2400" dirty="0"/>
              <a:t> </a:t>
            </a:r>
            <a:r>
              <a:rPr lang="en-US" altLang="en-US" sz="2400" b="1" dirty="0"/>
              <a:t>privileges</a:t>
            </a:r>
            <a:r>
              <a:rPr lang="en-US" altLang="en-US" sz="2400" dirty="0"/>
              <a:t>.</a:t>
            </a:r>
          </a:p>
          <a:p>
            <a:pPr algn="just"/>
            <a:endParaRPr lang="en-US" altLang="en-US" sz="2400" dirty="0"/>
          </a:p>
        </p:txBody>
      </p:sp>
    </p:spTree>
    <p:extLst>
      <p:ext uri="{BB962C8B-B14F-4D97-AF65-F5344CB8AC3E}">
        <p14:creationId xmlns:p14="http://schemas.microsoft.com/office/powerpoint/2010/main" val="13414592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26D29B01-390D-4FD5-91AE-08DFA4DDB42A}" type="slidenum">
              <a:rPr lang="en-US" altLang="en-US" sz="1400"/>
              <a:pPr>
                <a:spcBef>
                  <a:spcPct val="50000"/>
                </a:spcBef>
                <a:buClrTx/>
                <a:buFontTx/>
                <a:buNone/>
              </a:pPr>
              <a:t>44</a:t>
            </a:fld>
            <a:endParaRPr lang="en-US" altLang="en-US" sz="1400"/>
          </a:p>
        </p:txBody>
      </p:sp>
      <p:sp>
        <p:nvSpPr>
          <p:cNvPr id="118788" name="Rectangle 2"/>
          <p:cNvSpPr>
            <a:spLocks noGrp="1" noChangeArrowheads="1"/>
          </p:cNvSpPr>
          <p:nvPr>
            <p:ph type="body" idx="1"/>
          </p:nvPr>
        </p:nvSpPr>
        <p:spPr>
          <a:xfrm>
            <a:off x="927100" y="1219200"/>
            <a:ext cx="10711814" cy="4178067"/>
          </a:xfrm>
        </p:spPr>
        <p:txBody>
          <a:bodyPr/>
          <a:lstStyle/>
          <a:p>
            <a:pPr algn="ctr" eaLnBrk="1" hangingPunct="1">
              <a:lnSpc>
                <a:spcPct val="90000"/>
              </a:lnSpc>
              <a:buFont typeface="Wingdings" panose="05000000000000000000" pitchFamily="2" charset="2"/>
              <a:buNone/>
            </a:pPr>
            <a:r>
              <a:rPr lang="en-US" altLang="en-US" sz="3500" b="1" u="sng" dirty="0"/>
              <a:t>Discretionary Access Control</a:t>
            </a:r>
            <a:endParaRPr lang="en-US" altLang="en-US" sz="2800" dirty="0"/>
          </a:p>
          <a:p>
            <a:endParaRPr lang="en-US" altLang="en-US" sz="2400" dirty="0"/>
          </a:p>
          <a:p>
            <a:pPr algn="just"/>
            <a:r>
              <a:rPr lang="en-US" altLang="en-US" sz="2400" dirty="0"/>
              <a:t>Discretionary Access Control (DAC) enforces security by means of user identifiers(</a:t>
            </a:r>
            <a:r>
              <a:rPr lang="en-US" altLang="en-US" sz="2400" dirty="0" err="1"/>
              <a:t>uid</a:t>
            </a:r>
            <a:r>
              <a:rPr lang="en-US" altLang="en-US" sz="2400" dirty="0"/>
              <a:t>) and group identifiers (</a:t>
            </a:r>
            <a:r>
              <a:rPr lang="en-US" altLang="en-US" sz="2400" dirty="0" err="1"/>
              <a:t>gid</a:t>
            </a:r>
            <a:r>
              <a:rPr lang="en-US" altLang="en-US" sz="2400" dirty="0"/>
              <a:t>); only the owner of the data (i.e., the Content Provider) holds the r/w permissions on the file. </a:t>
            </a:r>
          </a:p>
          <a:p>
            <a:pPr algn="just"/>
            <a:r>
              <a:rPr lang="en-US" altLang="en-US" sz="2400" dirty="0"/>
              <a:t>Each data  object on a DAC based system has an </a:t>
            </a:r>
            <a:r>
              <a:rPr lang="en-US" altLang="en-US" sz="2400" i="1" dirty="0"/>
              <a:t>Access Control List</a:t>
            </a:r>
            <a:r>
              <a:rPr lang="en-US" altLang="en-US" sz="2400" dirty="0"/>
              <a:t> (ACL) associated with it. An ACL contains a list of users and groups to which the user has permitted access together with the level of access for each user or group. For example, </a:t>
            </a:r>
            <a:r>
              <a:rPr lang="en-US" altLang="en-US" sz="2400" i="1" dirty="0"/>
              <a:t>User A</a:t>
            </a:r>
            <a:r>
              <a:rPr lang="en-US" altLang="en-US" sz="2400" dirty="0"/>
              <a:t> may provide read-only access on one of her files to </a:t>
            </a:r>
            <a:r>
              <a:rPr lang="en-US" altLang="en-US" sz="2400" i="1" dirty="0"/>
              <a:t>User B</a:t>
            </a:r>
            <a:r>
              <a:rPr lang="en-US" altLang="en-US" sz="2400" dirty="0"/>
              <a:t>, read and write access on the same file to </a:t>
            </a:r>
            <a:r>
              <a:rPr lang="en-US" altLang="en-US" sz="2400" i="1" dirty="0"/>
              <a:t>User C</a:t>
            </a:r>
            <a:r>
              <a:rPr lang="en-US" altLang="en-US" sz="2400" dirty="0"/>
              <a:t> and full control to any user belonging to </a:t>
            </a:r>
            <a:r>
              <a:rPr lang="en-US" altLang="en-US" sz="2400" i="1" dirty="0"/>
              <a:t>Group 1</a:t>
            </a:r>
            <a:r>
              <a:rPr lang="en-US" altLang="en-US" sz="2400" dirty="0"/>
              <a:t>.</a:t>
            </a:r>
            <a:endParaRPr lang="en-US" altLang="en-US" sz="2400" b="1" dirty="0"/>
          </a:p>
        </p:txBody>
      </p:sp>
    </p:spTree>
    <p:extLst>
      <p:ext uri="{BB962C8B-B14F-4D97-AF65-F5344CB8AC3E}">
        <p14:creationId xmlns:p14="http://schemas.microsoft.com/office/powerpoint/2010/main" val="26932814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7D7BA39F-D109-4F8C-B2DD-A60AA40A718E}" type="slidenum">
              <a:rPr lang="en-US" altLang="en-US" sz="1400"/>
              <a:pPr>
                <a:spcBef>
                  <a:spcPct val="50000"/>
                </a:spcBef>
                <a:buClrTx/>
                <a:buFontTx/>
                <a:buNone/>
              </a:pPr>
              <a:t>45</a:t>
            </a:fld>
            <a:endParaRPr lang="en-US" altLang="en-US" sz="1400"/>
          </a:p>
        </p:txBody>
      </p:sp>
      <p:sp>
        <p:nvSpPr>
          <p:cNvPr id="120836" name="Rectangle 2"/>
          <p:cNvSpPr>
            <a:spLocks noGrp="1" noChangeArrowheads="1"/>
          </p:cNvSpPr>
          <p:nvPr>
            <p:ph type="body" idx="1"/>
          </p:nvPr>
        </p:nvSpPr>
        <p:spPr>
          <a:xfrm>
            <a:off x="622300" y="1371600"/>
            <a:ext cx="10711814" cy="3808735"/>
          </a:xfrm>
        </p:spPr>
        <p:txBody>
          <a:bodyPr/>
          <a:lstStyle/>
          <a:p>
            <a:pPr algn="ctr" eaLnBrk="1" hangingPunct="1">
              <a:lnSpc>
                <a:spcPct val="90000"/>
              </a:lnSpc>
              <a:buFont typeface="Wingdings" panose="05000000000000000000" pitchFamily="2" charset="2"/>
              <a:buNone/>
            </a:pPr>
            <a:r>
              <a:rPr lang="en-US" altLang="en-US" sz="3500" b="1" u="sng" dirty="0"/>
              <a:t>Discretionary Access Control</a:t>
            </a:r>
            <a:endParaRPr lang="en-US" altLang="en-US" sz="2800" dirty="0"/>
          </a:p>
          <a:p>
            <a:endParaRPr lang="en-US" altLang="en-US" sz="2400" dirty="0"/>
          </a:p>
          <a:p>
            <a:pPr>
              <a:spcAft>
                <a:spcPts val="1200"/>
              </a:spcAft>
            </a:pPr>
            <a:r>
              <a:rPr lang="en-US" altLang="en-US" sz="2700" dirty="0"/>
              <a:t>The </a:t>
            </a:r>
            <a:r>
              <a:rPr lang="en-US" altLang="en-US" sz="2700" b="1" dirty="0"/>
              <a:t>account level</a:t>
            </a:r>
            <a:r>
              <a:rPr lang="en-US" altLang="en-US" sz="2700" dirty="0"/>
              <a:t>:</a:t>
            </a:r>
          </a:p>
          <a:p>
            <a:pPr lvl="1">
              <a:spcAft>
                <a:spcPts val="1200"/>
              </a:spcAft>
            </a:pPr>
            <a:r>
              <a:rPr lang="en-US" altLang="en-US" sz="2700" dirty="0"/>
              <a:t>At this level, the DBA specifies the particular privileges that each account holds independently of the relations in the database.</a:t>
            </a:r>
          </a:p>
          <a:p>
            <a:pPr>
              <a:spcAft>
                <a:spcPts val="1200"/>
              </a:spcAft>
            </a:pPr>
            <a:r>
              <a:rPr lang="en-US" altLang="en-US" sz="2700" dirty="0"/>
              <a:t>The </a:t>
            </a:r>
            <a:r>
              <a:rPr lang="en-US" altLang="en-US" sz="2700" b="1" dirty="0"/>
              <a:t>relation level</a:t>
            </a:r>
            <a:r>
              <a:rPr lang="en-US" altLang="en-US" sz="2700" dirty="0"/>
              <a:t> (or </a:t>
            </a:r>
            <a:r>
              <a:rPr lang="en-US" altLang="en-US" sz="2700" b="1" dirty="0"/>
              <a:t>table level</a:t>
            </a:r>
            <a:r>
              <a:rPr lang="en-US" altLang="en-US" sz="2700" dirty="0"/>
              <a:t>):</a:t>
            </a:r>
          </a:p>
          <a:p>
            <a:pPr lvl="1">
              <a:spcAft>
                <a:spcPts val="1200"/>
              </a:spcAft>
            </a:pPr>
            <a:r>
              <a:rPr lang="en-US" altLang="en-US" sz="2700" dirty="0"/>
              <a:t>At this level, the DBA can control the privilege to access each individual relation or view in the database.</a:t>
            </a:r>
          </a:p>
        </p:txBody>
      </p:sp>
    </p:spTree>
    <p:extLst>
      <p:ext uri="{BB962C8B-B14F-4D97-AF65-F5344CB8AC3E}">
        <p14:creationId xmlns:p14="http://schemas.microsoft.com/office/powerpoint/2010/main" val="11699012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B418DE06-6B3B-414C-BD7D-51550B1BAD10}" type="slidenum">
              <a:rPr lang="en-US" altLang="en-US" sz="1400"/>
              <a:pPr>
                <a:spcBef>
                  <a:spcPct val="50000"/>
                </a:spcBef>
                <a:buClrTx/>
                <a:buFontTx/>
                <a:buNone/>
              </a:pPr>
              <a:t>46</a:t>
            </a:fld>
            <a:endParaRPr lang="en-US" altLang="en-US" sz="1400"/>
          </a:p>
        </p:txBody>
      </p:sp>
      <p:sp>
        <p:nvSpPr>
          <p:cNvPr id="122884" name="Rectangle 2"/>
          <p:cNvSpPr>
            <a:spLocks noGrp="1" noChangeArrowheads="1"/>
          </p:cNvSpPr>
          <p:nvPr>
            <p:ph type="body" idx="1"/>
          </p:nvPr>
        </p:nvSpPr>
        <p:spPr/>
        <p:txBody>
          <a:bodyPr/>
          <a:lstStyle/>
          <a:p>
            <a:pPr algn="ctr" eaLnBrk="1" hangingPunct="1">
              <a:lnSpc>
                <a:spcPct val="90000"/>
              </a:lnSpc>
              <a:buFont typeface="Wingdings" panose="05000000000000000000" pitchFamily="2" charset="2"/>
              <a:buNone/>
            </a:pPr>
            <a:r>
              <a:rPr lang="en-US" altLang="en-US" sz="3500" b="1" u="sng" dirty="0"/>
              <a:t>Discretionary Access Control</a:t>
            </a:r>
            <a:endParaRPr lang="en-US" altLang="en-US" sz="2800" dirty="0"/>
          </a:p>
          <a:p>
            <a:pPr>
              <a:spcAft>
                <a:spcPts val="600"/>
              </a:spcAft>
            </a:pPr>
            <a:r>
              <a:rPr lang="en-US" altLang="en-US" sz="2700" dirty="0"/>
              <a:t>The privileges at the </a:t>
            </a:r>
            <a:r>
              <a:rPr lang="en-US" altLang="en-US" sz="2700" b="1" dirty="0"/>
              <a:t>account level</a:t>
            </a:r>
            <a:r>
              <a:rPr lang="en-US" altLang="en-US" sz="2700" dirty="0"/>
              <a:t> apply to the capabilities provided to the account itself and can include</a:t>
            </a:r>
          </a:p>
          <a:p>
            <a:pPr lvl="1">
              <a:spcAft>
                <a:spcPts val="600"/>
              </a:spcAft>
            </a:pPr>
            <a:r>
              <a:rPr lang="en-US" altLang="en-US" sz="2000" dirty="0"/>
              <a:t>the </a:t>
            </a:r>
            <a:r>
              <a:rPr lang="en-US" altLang="en-US" sz="2000" b="1" dirty="0"/>
              <a:t>CREATE SCHEMA</a:t>
            </a:r>
            <a:r>
              <a:rPr lang="en-US" altLang="en-US" sz="2000" dirty="0"/>
              <a:t> or </a:t>
            </a:r>
            <a:r>
              <a:rPr lang="en-US" altLang="en-US" sz="2000" b="1" dirty="0"/>
              <a:t>CREATE TABLE</a:t>
            </a:r>
            <a:r>
              <a:rPr lang="en-US" altLang="en-US" sz="2000" dirty="0"/>
              <a:t> privilege, to create a schema or base relation;</a:t>
            </a:r>
          </a:p>
          <a:p>
            <a:pPr lvl="1">
              <a:spcAft>
                <a:spcPts val="600"/>
              </a:spcAft>
            </a:pPr>
            <a:r>
              <a:rPr lang="en-US" altLang="en-US" sz="2000" dirty="0"/>
              <a:t>the </a:t>
            </a:r>
            <a:r>
              <a:rPr lang="en-US" altLang="en-US" sz="2000" b="1" dirty="0"/>
              <a:t>CREATE VIEW</a:t>
            </a:r>
            <a:r>
              <a:rPr lang="en-US" altLang="en-US" sz="2000" dirty="0"/>
              <a:t> privilege;</a:t>
            </a:r>
          </a:p>
          <a:p>
            <a:pPr lvl="1">
              <a:spcAft>
                <a:spcPts val="600"/>
              </a:spcAft>
            </a:pPr>
            <a:r>
              <a:rPr lang="en-US" altLang="en-US" sz="2000" dirty="0"/>
              <a:t>the </a:t>
            </a:r>
            <a:r>
              <a:rPr lang="en-US" altLang="en-US" sz="2000" b="1" dirty="0"/>
              <a:t>ALTER</a:t>
            </a:r>
            <a:r>
              <a:rPr lang="en-US" altLang="en-US" sz="2000" dirty="0"/>
              <a:t> privilege, to apply schema changes such adding or removing attributes from relations;</a:t>
            </a:r>
          </a:p>
          <a:p>
            <a:pPr lvl="1">
              <a:spcAft>
                <a:spcPts val="600"/>
              </a:spcAft>
            </a:pPr>
            <a:r>
              <a:rPr lang="en-US" altLang="en-US" sz="2000" dirty="0"/>
              <a:t>the </a:t>
            </a:r>
            <a:r>
              <a:rPr lang="en-US" altLang="en-US" sz="2000" b="1" dirty="0"/>
              <a:t>DROP</a:t>
            </a:r>
            <a:r>
              <a:rPr lang="en-US" altLang="en-US" sz="2000" dirty="0"/>
              <a:t> privilege, to delete relations or views;</a:t>
            </a:r>
          </a:p>
          <a:p>
            <a:pPr lvl="1">
              <a:spcAft>
                <a:spcPts val="600"/>
              </a:spcAft>
            </a:pPr>
            <a:r>
              <a:rPr lang="en-US" altLang="en-US" sz="2000" dirty="0"/>
              <a:t>the </a:t>
            </a:r>
            <a:r>
              <a:rPr lang="en-US" altLang="en-US" sz="2000" b="1" dirty="0"/>
              <a:t>MODIFY</a:t>
            </a:r>
            <a:r>
              <a:rPr lang="en-US" altLang="en-US" sz="2000" dirty="0"/>
              <a:t> privilege, to insert, delete, or update tuples;</a:t>
            </a:r>
          </a:p>
          <a:p>
            <a:pPr lvl="1">
              <a:spcAft>
                <a:spcPts val="600"/>
              </a:spcAft>
            </a:pPr>
            <a:r>
              <a:rPr lang="en-US" altLang="en-US" sz="2000" dirty="0"/>
              <a:t>and the </a:t>
            </a:r>
            <a:r>
              <a:rPr lang="en-US" altLang="en-US" sz="2000" b="1" dirty="0"/>
              <a:t>SELECT</a:t>
            </a:r>
            <a:r>
              <a:rPr lang="en-US" altLang="en-US" sz="2000" dirty="0"/>
              <a:t> privilege, to retrieve information from the database by using a </a:t>
            </a:r>
            <a:r>
              <a:rPr lang="en-US" altLang="en-US" sz="2000" b="1" dirty="0"/>
              <a:t>SELECT</a:t>
            </a:r>
            <a:r>
              <a:rPr lang="en-US" altLang="en-US" sz="2000" dirty="0"/>
              <a:t> query.</a:t>
            </a:r>
          </a:p>
          <a:p>
            <a:pPr>
              <a:spcAft>
                <a:spcPts val="1200"/>
              </a:spcAft>
            </a:pPr>
            <a:endParaRPr lang="en-US" altLang="en-US" sz="2000" dirty="0"/>
          </a:p>
        </p:txBody>
      </p:sp>
    </p:spTree>
    <p:extLst>
      <p:ext uri="{BB962C8B-B14F-4D97-AF65-F5344CB8AC3E}">
        <p14:creationId xmlns:p14="http://schemas.microsoft.com/office/powerpoint/2010/main" val="397540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272289BF-2772-4EEA-89A3-3E49C98EDEBA}" type="slidenum">
              <a:rPr lang="en-US" altLang="en-US" sz="1400"/>
              <a:pPr>
                <a:spcBef>
                  <a:spcPct val="50000"/>
                </a:spcBef>
                <a:buClrTx/>
                <a:buFontTx/>
                <a:buNone/>
              </a:pPr>
              <a:t>47</a:t>
            </a:fld>
            <a:endParaRPr lang="en-US" altLang="en-US" sz="1400"/>
          </a:p>
        </p:txBody>
      </p:sp>
      <p:sp>
        <p:nvSpPr>
          <p:cNvPr id="124932" name="Rectangle 2"/>
          <p:cNvSpPr>
            <a:spLocks noGrp="1" noChangeArrowheads="1"/>
          </p:cNvSpPr>
          <p:nvPr>
            <p:ph type="body" idx="1"/>
          </p:nvPr>
        </p:nvSpPr>
        <p:spPr>
          <a:xfrm>
            <a:off x="927100" y="1447800"/>
            <a:ext cx="10711814" cy="3624069"/>
          </a:xfrm>
        </p:spPr>
        <p:txBody>
          <a:bodyPr/>
          <a:lstStyle/>
          <a:p>
            <a:pPr algn="ctr" eaLnBrk="1" hangingPunct="1">
              <a:lnSpc>
                <a:spcPct val="90000"/>
              </a:lnSpc>
              <a:buFont typeface="Wingdings" panose="05000000000000000000" pitchFamily="2" charset="2"/>
              <a:buNone/>
            </a:pPr>
            <a:r>
              <a:rPr lang="en-US" altLang="en-US" sz="3500" b="1" u="sng" dirty="0"/>
              <a:t>Discretionary Access Control</a:t>
            </a:r>
            <a:endParaRPr lang="en-US" altLang="en-US" sz="2800" dirty="0"/>
          </a:p>
          <a:p>
            <a:pPr>
              <a:spcAft>
                <a:spcPts val="600"/>
              </a:spcAft>
            </a:pPr>
            <a:endParaRPr lang="en-US" altLang="en-US" sz="2700" dirty="0"/>
          </a:p>
          <a:p>
            <a:pPr>
              <a:spcAft>
                <a:spcPts val="600"/>
              </a:spcAft>
            </a:pPr>
            <a:r>
              <a:rPr lang="en-US" altLang="en-US" sz="2700" dirty="0"/>
              <a:t>The privileges at the </a:t>
            </a:r>
            <a:r>
              <a:rPr lang="en-US" altLang="en-US" sz="2700" b="1" dirty="0"/>
              <a:t>relation level</a:t>
            </a:r>
            <a:r>
              <a:rPr lang="en-US" altLang="en-US" sz="2700" dirty="0"/>
              <a:t> apply base relations and views.</a:t>
            </a:r>
          </a:p>
          <a:p>
            <a:pPr lvl="1">
              <a:spcAft>
                <a:spcPts val="1200"/>
              </a:spcAft>
            </a:pPr>
            <a:r>
              <a:rPr lang="en-US" altLang="en-US" sz="2400" dirty="0"/>
              <a:t>Each relation R in a database is assigned and </a:t>
            </a:r>
            <a:r>
              <a:rPr lang="en-US" altLang="en-US" sz="2400" b="1" dirty="0"/>
              <a:t>owner account</a:t>
            </a:r>
            <a:r>
              <a:rPr lang="en-US" altLang="en-US" sz="2400" dirty="0"/>
              <a:t>, This is typically the account that was used when the relation was created in the first place.</a:t>
            </a:r>
          </a:p>
          <a:p>
            <a:pPr lvl="1" algn="just">
              <a:spcAft>
                <a:spcPts val="1200"/>
              </a:spcAft>
            </a:pPr>
            <a:r>
              <a:rPr lang="en-US" altLang="en-US" sz="2400" dirty="0"/>
              <a:t>The owner of a relation is given </a:t>
            </a:r>
            <a:r>
              <a:rPr lang="en-US" altLang="en-US" sz="2400" u="sng" dirty="0"/>
              <a:t>all</a:t>
            </a:r>
            <a:r>
              <a:rPr lang="en-US" altLang="en-US" sz="2400" dirty="0"/>
              <a:t> privileges on that relation.</a:t>
            </a:r>
          </a:p>
          <a:p>
            <a:pPr lvl="1">
              <a:spcAft>
                <a:spcPts val="1200"/>
              </a:spcAft>
            </a:pPr>
            <a:r>
              <a:rPr lang="en-US" altLang="en-US" sz="2400" dirty="0"/>
              <a:t>The owner account holder can </a:t>
            </a:r>
            <a:r>
              <a:rPr lang="en-US" altLang="en-US" sz="2400" b="1" dirty="0"/>
              <a:t>pass privileges</a:t>
            </a:r>
            <a:r>
              <a:rPr lang="en-US" altLang="en-US" sz="2400" dirty="0"/>
              <a:t> on any of the owned relation to other users by </a:t>
            </a:r>
            <a:r>
              <a:rPr lang="en-US" altLang="en-US" sz="2400" b="1" dirty="0"/>
              <a:t>granting</a:t>
            </a:r>
            <a:r>
              <a:rPr lang="en-US" altLang="en-US" sz="2400" dirty="0"/>
              <a:t> privileges to their accounts.</a:t>
            </a:r>
          </a:p>
        </p:txBody>
      </p:sp>
    </p:spTree>
    <p:extLst>
      <p:ext uri="{BB962C8B-B14F-4D97-AF65-F5344CB8AC3E}">
        <p14:creationId xmlns:p14="http://schemas.microsoft.com/office/powerpoint/2010/main" val="14868867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AB70C55C-5626-4718-AF24-1EBE018BB519}" type="slidenum">
              <a:rPr lang="en-US" altLang="en-US" sz="1400"/>
              <a:pPr>
                <a:spcBef>
                  <a:spcPct val="50000"/>
                </a:spcBef>
                <a:buClrTx/>
                <a:buFontTx/>
                <a:buNone/>
              </a:pPr>
              <a:t>48</a:t>
            </a:fld>
            <a:endParaRPr lang="en-US" altLang="en-US" sz="1400"/>
          </a:p>
        </p:txBody>
      </p:sp>
      <p:sp>
        <p:nvSpPr>
          <p:cNvPr id="58372" name="Rectangle 2"/>
          <p:cNvSpPr>
            <a:spLocks noGrp="1" noChangeArrowheads="1"/>
          </p:cNvSpPr>
          <p:nvPr>
            <p:ph type="body" idx="1"/>
          </p:nvPr>
        </p:nvSpPr>
        <p:spPr>
          <a:xfrm>
            <a:off x="679767" y="1078484"/>
            <a:ext cx="10711814" cy="4916731"/>
          </a:xfrm>
        </p:spPr>
        <p:txBody>
          <a:bodyPr/>
          <a:lstStyle/>
          <a:p>
            <a:pPr algn="ctr" eaLnBrk="1" hangingPunct="1">
              <a:lnSpc>
                <a:spcPct val="90000"/>
              </a:lnSpc>
              <a:buFont typeface="Wingdings" panose="05000000000000000000" pitchFamily="2" charset="2"/>
              <a:buNone/>
              <a:defRPr/>
            </a:pPr>
            <a:r>
              <a:rPr lang="en-US" sz="3500" b="1" u="sng" dirty="0"/>
              <a:t>Discretionary Access Control</a:t>
            </a:r>
            <a:endParaRPr lang="en-US" sz="2800" dirty="0"/>
          </a:p>
          <a:p>
            <a:pPr>
              <a:spcAft>
                <a:spcPts val="600"/>
              </a:spcAft>
              <a:defRPr/>
            </a:pPr>
            <a:endParaRPr lang="en-US" altLang="en-US" sz="2700" dirty="0"/>
          </a:p>
          <a:p>
            <a:pPr>
              <a:defRPr/>
            </a:pPr>
            <a:r>
              <a:rPr lang="en-US" sz="3200" dirty="0"/>
              <a:t>In </a:t>
            </a:r>
            <a:r>
              <a:rPr lang="en-US" sz="3200" b="1" dirty="0"/>
              <a:t>Relation Level,</a:t>
            </a:r>
            <a:r>
              <a:rPr lang="en-US" sz="3200" dirty="0"/>
              <a:t> following types of privileges can be granted on each individual relation </a:t>
            </a:r>
            <a:r>
              <a:rPr lang="en-US" sz="3200" i="1" dirty="0"/>
              <a:t>R:</a:t>
            </a:r>
          </a:p>
          <a:p>
            <a:pPr lvl="1" algn="just">
              <a:defRPr/>
            </a:pPr>
            <a:r>
              <a:rPr lang="en-US" altLang="en-US" sz="2400" dirty="0"/>
              <a:t> </a:t>
            </a:r>
            <a:r>
              <a:rPr lang="en-US" sz="2400" b="1" dirty="0"/>
              <a:t>SELECT (retrieval or read) privilege on </a:t>
            </a:r>
            <a:r>
              <a:rPr lang="en-US" sz="2400" b="1" i="1" dirty="0"/>
              <a:t>R: </a:t>
            </a:r>
            <a:r>
              <a:rPr lang="en-US" sz="2400" i="1" dirty="0"/>
              <a:t>Gives the account retrieval privilege.</a:t>
            </a:r>
            <a:r>
              <a:rPr lang="en-US" sz="2400" b="1" i="1" dirty="0"/>
              <a:t> </a:t>
            </a:r>
            <a:r>
              <a:rPr lang="en-US" sz="2400" dirty="0"/>
              <a:t>In SQL, this gives the account the privilege to use the SELECT statement to retrieve </a:t>
            </a:r>
            <a:r>
              <a:rPr lang="en-US" sz="2400" dirty="0" err="1"/>
              <a:t>tuples</a:t>
            </a:r>
            <a:r>
              <a:rPr lang="en-US" sz="2400" dirty="0"/>
              <a:t> from </a:t>
            </a:r>
            <a:r>
              <a:rPr lang="en-US" sz="2400" i="1" dirty="0"/>
              <a:t>R.</a:t>
            </a:r>
          </a:p>
          <a:p>
            <a:pPr lvl="1" algn="just">
              <a:defRPr/>
            </a:pPr>
            <a:r>
              <a:rPr lang="en-US" sz="2400" b="1" dirty="0"/>
              <a:t>Modification privileges on </a:t>
            </a:r>
            <a:r>
              <a:rPr lang="en-US" sz="2400" b="1" i="1" dirty="0"/>
              <a:t>R: </a:t>
            </a:r>
            <a:r>
              <a:rPr lang="en-US" sz="2400" i="1" dirty="0"/>
              <a:t>This gives the account the capability to modify </a:t>
            </a:r>
            <a:r>
              <a:rPr lang="en-US" sz="2400" dirty="0"/>
              <a:t>the </a:t>
            </a:r>
            <a:r>
              <a:rPr lang="en-US" sz="2400" dirty="0" err="1"/>
              <a:t>tuples</a:t>
            </a:r>
            <a:r>
              <a:rPr lang="en-US" sz="2400" dirty="0"/>
              <a:t> of </a:t>
            </a:r>
            <a:r>
              <a:rPr lang="en-US" sz="2400" i="1" dirty="0"/>
              <a:t>R. In SQL, this includes three privileges: UPDATE, DELETE, </a:t>
            </a:r>
            <a:r>
              <a:rPr lang="en-US" sz="2400" dirty="0"/>
              <a:t>and INSERT.</a:t>
            </a:r>
          </a:p>
          <a:p>
            <a:pPr lvl="1" algn="just">
              <a:defRPr/>
            </a:pPr>
            <a:r>
              <a:rPr lang="en-US" sz="2400" b="1" dirty="0"/>
              <a:t>References privilege on </a:t>
            </a:r>
            <a:r>
              <a:rPr lang="en-US" sz="2400" b="1" i="1" dirty="0"/>
              <a:t>R: </a:t>
            </a:r>
            <a:r>
              <a:rPr lang="en-US" sz="2400" i="1" dirty="0"/>
              <a:t>This gives the account the capability to reference </a:t>
            </a:r>
            <a:r>
              <a:rPr lang="en-US" sz="2400" dirty="0"/>
              <a:t>(or refer to) a relation </a:t>
            </a:r>
            <a:r>
              <a:rPr lang="en-US" sz="2400" i="1" dirty="0"/>
              <a:t>R when specifying integrity constraints. This privilege </a:t>
            </a:r>
            <a:r>
              <a:rPr lang="en-US" sz="2400" dirty="0"/>
              <a:t>can also be restricted to specific attributes of </a:t>
            </a:r>
            <a:r>
              <a:rPr lang="en-US" sz="2400" i="1" dirty="0"/>
              <a:t>R.</a:t>
            </a:r>
            <a:endParaRPr lang="en-US" altLang="en-US" sz="2400" dirty="0"/>
          </a:p>
        </p:txBody>
      </p:sp>
    </p:spTree>
    <p:extLst>
      <p:ext uri="{BB962C8B-B14F-4D97-AF65-F5344CB8AC3E}">
        <p14:creationId xmlns:p14="http://schemas.microsoft.com/office/powerpoint/2010/main" val="280982653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9E186894-3B41-41A1-8CFB-437F42A75502}" type="slidenum">
              <a:rPr lang="en-US" altLang="en-US" sz="1400"/>
              <a:pPr>
                <a:spcBef>
                  <a:spcPct val="50000"/>
                </a:spcBef>
                <a:buClrTx/>
                <a:buFontTx/>
                <a:buNone/>
              </a:pPr>
              <a:t>49</a:t>
            </a:fld>
            <a:endParaRPr lang="en-US" altLang="en-US" sz="1400"/>
          </a:p>
        </p:txBody>
      </p:sp>
      <p:sp>
        <p:nvSpPr>
          <p:cNvPr id="129028" name="Rectangle 2"/>
          <p:cNvSpPr>
            <a:spLocks noGrp="1" noChangeArrowheads="1"/>
          </p:cNvSpPr>
          <p:nvPr>
            <p:ph type="body" idx="1"/>
          </p:nvPr>
        </p:nvSpPr>
        <p:spPr>
          <a:xfrm>
            <a:off x="698500" y="1600200"/>
            <a:ext cx="10711814" cy="2885405"/>
          </a:xfrm>
        </p:spPr>
        <p:txBody>
          <a:bodyPr/>
          <a:lstStyle/>
          <a:p>
            <a:pPr algn="ctr" eaLnBrk="1" hangingPunct="1">
              <a:lnSpc>
                <a:spcPct val="90000"/>
              </a:lnSpc>
              <a:buFont typeface="Wingdings" panose="05000000000000000000" pitchFamily="2" charset="2"/>
              <a:buNone/>
            </a:pPr>
            <a:r>
              <a:rPr lang="en-US" altLang="en-US" sz="3500" b="1" u="sng" dirty="0"/>
              <a:t>Discretionary Access Control</a:t>
            </a:r>
            <a:endParaRPr lang="en-US" altLang="en-US" sz="2800" dirty="0"/>
          </a:p>
          <a:p>
            <a:pPr>
              <a:spcAft>
                <a:spcPts val="600"/>
              </a:spcAft>
            </a:pPr>
            <a:endParaRPr lang="en-US" altLang="en-US" sz="2700" dirty="0"/>
          </a:p>
          <a:p>
            <a:r>
              <a:rPr lang="en-US" altLang="en-US" sz="2800" b="1" dirty="0"/>
              <a:t>Granting of Privileges:</a:t>
            </a:r>
          </a:p>
          <a:p>
            <a:pPr algn="just"/>
            <a:r>
              <a:rPr lang="en-US" altLang="en-US" sz="2400" dirty="0"/>
              <a:t>Whenever the owner A of a relation R grants a privilege on R to another account B, the privilege can be given to B with or without the </a:t>
            </a:r>
            <a:r>
              <a:rPr lang="en-US" altLang="en-US" sz="2400" b="1" dirty="0"/>
              <a:t>GRANT OPTION. If the GRANT </a:t>
            </a:r>
            <a:r>
              <a:rPr lang="en-US" altLang="en-US" sz="2400" dirty="0"/>
              <a:t>OPTION is given, this means that B can also grant that privilege on R to other accounts otherwise not.</a:t>
            </a:r>
          </a:p>
        </p:txBody>
      </p:sp>
    </p:spTree>
    <p:extLst>
      <p:ext uri="{BB962C8B-B14F-4D97-AF65-F5344CB8AC3E}">
        <p14:creationId xmlns:p14="http://schemas.microsoft.com/office/powerpoint/2010/main" val="19969834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C3C5A376-3597-433A-8DF7-1C3192859D06}" type="slidenum">
              <a:rPr lang="en-US" altLang="en-US" sz="1400"/>
              <a:pPr>
                <a:spcBef>
                  <a:spcPct val="50000"/>
                </a:spcBef>
                <a:buClrTx/>
                <a:buFontTx/>
                <a:buNone/>
              </a:pPr>
              <a:t>50</a:t>
            </a:fld>
            <a:endParaRPr lang="en-US" altLang="en-US" sz="1400"/>
          </a:p>
        </p:txBody>
      </p:sp>
      <p:sp>
        <p:nvSpPr>
          <p:cNvPr id="131076" name="Rectangle 2"/>
          <p:cNvSpPr>
            <a:spLocks noGrp="1" noChangeArrowheads="1"/>
          </p:cNvSpPr>
          <p:nvPr>
            <p:ph type="body" idx="1"/>
          </p:nvPr>
        </p:nvSpPr>
        <p:spPr>
          <a:xfrm>
            <a:off x="622300" y="1447800"/>
            <a:ext cx="10711814" cy="3254737"/>
          </a:xfrm>
        </p:spPr>
        <p:txBody>
          <a:bodyPr/>
          <a:lstStyle/>
          <a:p>
            <a:pPr algn="ctr" eaLnBrk="1" hangingPunct="1">
              <a:lnSpc>
                <a:spcPct val="90000"/>
              </a:lnSpc>
              <a:buFont typeface="Wingdings" panose="05000000000000000000" pitchFamily="2" charset="2"/>
              <a:buNone/>
            </a:pPr>
            <a:r>
              <a:rPr lang="en-US" altLang="en-US" sz="3500" b="1" u="sng" dirty="0"/>
              <a:t>Discretionary Access Control</a:t>
            </a:r>
            <a:endParaRPr lang="en-US" altLang="en-US" sz="2800" dirty="0"/>
          </a:p>
          <a:p>
            <a:pPr>
              <a:spcAft>
                <a:spcPts val="600"/>
              </a:spcAft>
            </a:pPr>
            <a:endParaRPr lang="en-US" altLang="en-US" sz="2700" dirty="0"/>
          </a:p>
          <a:p>
            <a:r>
              <a:rPr lang="en-US" altLang="en-US" sz="2800" b="1" dirty="0"/>
              <a:t>Revoking of Privileges:</a:t>
            </a:r>
          </a:p>
          <a:p>
            <a:pPr algn="just"/>
            <a:r>
              <a:rPr lang="en-US" altLang="en-US" sz="2400" dirty="0"/>
              <a:t>In some cases, it is desirable to grant a privilege to a user temporarily. For example, the owner of a relation may want to grant the SELECT privilege to a user for a specific task and then revoke that privilege once the task is completed. Hence, a mechanism for </a:t>
            </a:r>
            <a:r>
              <a:rPr lang="en-US" altLang="en-US" sz="2400" b="1" dirty="0"/>
              <a:t>revoking privileges is needed. In SQL, a REVOKE command is included </a:t>
            </a:r>
            <a:r>
              <a:rPr lang="en-US" altLang="en-US" sz="2400" dirty="0"/>
              <a:t>for the purpose of canceling privileges.</a:t>
            </a:r>
          </a:p>
        </p:txBody>
      </p:sp>
    </p:spTree>
    <p:extLst>
      <p:ext uri="{BB962C8B-B14F-4D97-AF65-F5344CB8AC3E}">
        <p14:creationId xmlns:p14="http://schemas.microsoft.com/office/powerpoint/2010/main" val="30749670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D8D90E32-6A83-43DE-99AC-314D8C5941CA}" type="slidenum">
              <a:rPr lang="en-US" altLang="en-US" sz="1400"/>
              <a:pPr>
                <a:spcBef>
                  <a:spcPct val="50000"/>
                </a:spcBef>
                <a:buClrTx/>
                <a:buFontTx/>
                <a:buNone/>
              </a:pPr>
              <a:t>51</a:t>
            </a:fld>
            <a:endParaRPr lang="en-US" altLang="en-US" sz="1400"/>
          </a:p>
        </p:txBody>
      </p:sp>
      <p:sp>
        <p:nvSpPr>
          <p:cNvPr id="58372" name="Rectangle 2"/>
          <p:cNvSpPr>
            <a:spLocks noGrp="1" noChangeArrowheads="1"/>
          </p:cNvSpPr>
          <p:nvPr>
            <p:ph type="body" idx="1"/>
          </p:nvPr>
        </p:nvSpPr>
        <p:spPr>
          <a:xfrm>
            <a:off x="546100" y="1066800"/>
            <a:ext cx="10711814" cy="4378122"/>
          </a:xfrm>
        </p:spPr>
        <p:txBody>
          <a:bodyPr/>
          <a:lstStyle/>
          <a:p>
            <a:pPr algn="ctr" eaLnBrk="1" hangingPunct="1">
              <a:lnSpc>
                <a:spcPct val="90000"/>
              </a:lnSpc>
              <a:buFont typeface="Wingdings" panose="05000000000000000000" pitchFamily="2" charset="2"/>
              <a:buNone/>
              <a:defRPr/>
            </a:pPr>
            <a:r>
              <a:rPr lang="en-US" sz="3500" b="1" u="sng" dirty="0"/>
              <a:t>Discretionary Access Control</a:t>
            </a:r>
            <a:endParaRPr lang="en-US" sz="2800" dirty="0"/>
          </a:p>
          <a:p>
            <a:pPr>
              <a:spcAft>
                <a:spcPts val="600"/>
              </a:spcAft>
              <a:defRPr/>
            </a:pPr>
            <a:endParaRPr lang="en-US" altLang="en-US" sz="2800" dirty="0"/>
          </a:p>
          <a:p>
            <a:pPr>
              <a:defRPr/>
            </a:pPr>
            <a:r>
              <a:rPr lang="en-US" sz="3600" b="1" dirty="0"/>
              <a:t>Examples of Granting and Revoking</a:t>
            </a:r>
          </a:p>
          <a:p>
            <a:pPr>
              <a:defRPr/>
            </a:pPr>
            <a:endParaRPr lang="en-US" sz="2800" dirty="0"/>
          </a:p>
          <a:p>
            <a:pPr lvl="1">
              <a:defRPr/>
            </a:pPr>
            <a:r>
              <a:rPr lang="en-US" sz="2800" dirty="0"/>
              <a:t>GRANT INSERT, DELETE ON EMPLOYEE, DEPARTMENT TO A2;</a:t>
            </a:r>
          </a:p>
          <a:p>
            <a:pPr lvl="1">
              <a:defRPr/>
            </a:pPr>
            <a:r>
              <a:rPr lang="en-US" sz="2800" dirty="0"/>
              <a:t>GRANT SELECT ON EMPLOYEE, DEPARTMENT TO A3 WITH GRANT OPTION; (A3 can propagate grants to others)</a:t>
            </a:r>
          </a:p>
          <a:p>
            <a:pPr lvl="1">
              <a:defRPr/>
            </a:pPr>
            <a:r>
              <a:rPr lang="en-US" sz="2800" dirty="0"/>
              <a:t>GRANT SELECT ON EMPLOYEE TO A4; (A4 can’t </a:t>
            </a:r>
            <a:r>
              <a:rPr lang="en-US" sz="2400" dirty="0"/>
              <a:t>propagate grant to others)</a:t>
            </a:r>
          </a:p>
          <a:p>
            <a:pPr lvl="1">
              <a:defRPr/>
            </a:pPr>
            <a:r>
              <a:rPr lang="en-US" sz="2400" dirty="0"/>
              <a:t>REVOKE SELECT ON EMPLOYEE FROM A3;</a:t>
            </a:r>
          </a:p>
          <a:p>
            <a:pPr lvl="1">
              <a:defRPr/>
            </a:pPr>
            <a:endParaRPr lang="en-US" sz="2000" dirty="0"/>
          </a:p>
        </p:txBody>
      </p:sp>
    </p:spTree>
    <p:extLst>
      <p:ext uri="{BB962C8B-B14F-4D97-AF65-F5344CB8AC3E}">
        <p14:creationId xmlns:p14="http://schemas.microsoft.com/office/powerpoint/2010/main" val="129339062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8344534"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Mandatory</a:t>
            </a:r>
            <a:r>
              <a:rPr sz="3600" spc="-50" dirty="0">
                <a:solidFill>
                  <a:srgbClr val="000000"/>
                </a:solidFill>
                <a:latin typeface="Verdana"/>
                <a:cs typeface="Verdana"/>
              </a:rPr>
              <a:t> </a:t>
            </a:r>
            <a:r>
              <a:rPr sz="3600" dirty="0">
                <a:solidFill>
                  <a:srgbClr val="000000"/>
                </a:solidFill>
                <a:latin typeface="Verdana"/>
                <a:cs typeface="Verdana"/>
              </a:rPr>
              <a:t>access</a:t>
            </a:r>
            <a:r>
              <a:rPr sz="3600" spc="-70" dirty="0">
                <a:solidFill>
                  <a:srgbClr val="000000"/>
                </a:solidFill>
                <a:latin typeface="Verdana"/>
                <a:cs typeface="Verdana"/>
              </a:rPr>
              <a:t> </a:t>
            </a:r>
            <a:r>
              <a:rPr sz="3600" spc="-5" dirty="0">
                <a:solidFill>
                  <a:srgbClr val="000000"/>
                </a:solidFill>
                <a:latin typeface="Verdana"/>
                <a:cs typeface="Verdana"/>
              </a:rPr>
              <a:t>control</a:t>
            </a:r>
            <a:r>
              <a:rPr sz="3600" spc="-40" dirty="0">
                <a:solidFill>
                  <a:srgbClr val="000000"/>
                </a:solidFill>
                <a:latin typeface="Verdana"/>
                <a:cs typeface="Verdana"/>
              </a:rPr>
              <a:t> </a:t>
            </a:r>
            <a:r>
              <a:rPr sz="3600" dirty="0">
                <a:solidFill>
                  <a:srgbClr val="000000"/>
                </a:solidFill>
                <a:latin typeface="Verdana"/>
                <a:cs typeface="Verdana"/>
              </a:rPr>
              <a:t>(MAC)</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356870" marR="7620" indent="-342900">
              <a:lnSpc>
                <a:spcPct val="100000"/>
              </a:lnSpc>
              <a:spcBef>
                <a:spcPts val="100"/>
              </a:spcBef>
              <a:buFont typeface="Wingdings"/>
              <a:buChar char=""/>
              <a:tabLst>
                <a:tab pos="358140" algn="l"/>
              </a:tabLst>
            </a:pPr>
            <a:r>
              <a:rPr dirty="0"/>
              <a:t>Mandatory</a:t>
            </a:r>
            <a:r>
              <a:rPr spc="-5" dirty="0"/>
              <a:t> </a:t>
            </a:r>
            <a:r>
              <a:rPr dirty="0"/>
              <a:t>Access</a:t>
            </a:r>
            <a:r>
              <a:rPr spc="25" dirty="0"/>
              <a:t> </a:t>
            </a:r>
            <a:r>
              <a:rPr dirty="0"/>
              <a:t>Control</a:t>
            </a:r>
            <a:r>
              <a:rPr spc="20" dirty="0"/>
              <a:t> </a:t>
            </a:r>
            <a:r>
              <a:rPr spc="-5" dirty="0"/>
              <a:t>(MAC)</a:t>
            </a:r>
            <a:r>
              <a:rPr spc="45" dirty="0"/>
              <a:t> </a:t>
            </a:r>
            <a:r>
              <a:rPr spc="-10" dirty="0"/>
              <a:t>is</a:t>
            </a:r>
            <a:r>
              <a:rPr spc="25" dirty="0"/>
              <a:t> </a:t>
            </a:r>
            <a:r>
              <a:rPr spc="-5" dirty="0"/>
              <a:t>a</a:t>
            </a:r>
            <a:r>
              <a:rPr spc="25" dirty="0"/>
              <a:t> </a:t>
            </a:r>
            <a:r>
              <a:rPr dirty="0"/>
              <a:t>set</a:t>
            </a:r>
            <a:r>
              <a:rPr spc="30" dirty="0"/>
              <a:t> </a:t>
            </a:r>
            <a:r>
              <a:rPr spc="-5" dirty="0"/>
              <a:t>of</a:t>
            </a:r>
            <a:r>
              <a:rPr spc="40" dirty="0"/>
              <a:t> </a:t>
            </a:r>
            <a:r>
              <a:rPr dirty="0"/>
              <a:t>security</a:t>
            </a:r>
            <a:r>
              <a:rPr spc="-10" dirty="0"/>
              <a:t> </a:t>
            </a:r>
            <a:r>
              <a:rPr spc="-5" dirty="0"/>
              <a:t>policies</a:t>
            </a:r>
            <a:r>
              <a:rPr spc="25" dirty="0"/>
              <a:t> </a:t>
            </a:r>
            <a:r>
              <a:rPr dirty="0"/>
              <a:t>constrained</a:t>
            </a:r>
            <a:r>
              <a:rPr spc="25" dirty="0"/>
              <a:t> </a:t>
            </a:r>
            <a:r>
              <a:rPr dirty="0"/>
              <a:t>according </a:t>
            </a:r>
            <a:r>
              <a:rPr spc="-595" dirty="0"/>
              <a:t> </a:t>
            </a:r>
            <a:r>
              <a:rPr dirty="0"/>
              <a:t>to</a:t>
            </a:r>
            <a:r>
              <a:rPr spc="5" dirty="0"/>
              <a:t> </a:t>
            </a:r>
            <a:r>
              <a:rPr spc="-10" dirty="0"/>
              <a:t>system</a:t>
            </a:r>
            <a:r>
              <a:rPr spc="35" dirty="0"/>
              <a:t> </a:t>
            </a:r>
            <a:r>
              <a:rPr spc="-5" dirty="0"/>
              <a:t>classification,</a:t>
            </a:r>
            <a:r>
              <a:rPr spc="40" dirty="0"/>
              <a:t> </a:t>
            </a:r>
            <a:r>
              <a:rPr spc="-5" dirty="0"/>
              <a:t>configuration</a:t>
            </a:r>
            <a:r>
              <a:rPr spc="30" dirty="0"/>
              <a:t> </a:t>
            </a:r>
            <a:r>
              <a:rPr spc="-5" dirty="0"/>
              <a:t>and</a:t>
            </a:r>
            <a:r>
              <a:rPr spc="25" dirty="0"/>
              <a:t> </a:t>
            </a:r>
            <a:r>
              <a:rPr spc="-5" dirty="0"/>
              <a:t>authentication.</a:t>
            </a:r>
          </a:p>
          <a:p>
            <a:pPr marL="356870" marR="7620" indent="-342900">
              <a:lnSpc>
                <a:spcPct val="100000"/>
              </a:lnSpc>
              <a:spcBef>
                <a:spcPts val="520"/>
              </a:spcBef>
              <a:buFont typeface="Wingdings"/>
              <a:buChar char=""/>
              <a:tabLst>
                <a:tab pos="358140" algn="l"/>
              </a:tabLst>
            </a:pPr>
            <a:r>
              <a:rPr spc="-10" dirty="0"/>
              <a:t>MAC</a:t>
            </a:r>
            <a:r>
              <a:rPr spc="225" dirty="0"/>
              <a:t> </a:t>
            </a:r>
            <a:r>
              <a:rPr dirty="0"/>
              <a:t>policy</a:t>
            </a:r>
            <a:r>
              <a:rPr spc="195" dirty="0"/>
              <a:t> </a:t>
            </a:r>
            <a:r>
              <a:rPr dirty="0"/>
              <a:t>management</a:t>
            </a:r>
            <a:r>
              <a:rPr spc="225" dirty="0"/>
              <a:t> </a:t>
            </a:r>
            <a:r>
              <a:rPr spc="-5" dirty="0"/>
              <a:t>and</a:t>
            </a:r>
            <a:r>
              <a:rPr spc="210" dirty="0"/>
              <a:t> </a:t>
            </a:r>
            <a:r>
              <a:rPr spc="-5" dirty="0"/>
              <a:t>settings</a:t>
            </a:r>
            <a:r>
              <a:rPr spc="225" dirty="0"/>
              <a:t> </a:t>
            </a:r>
            <a:r>
              <a:rPr dirty="0"/>
              <a:t>are</a:t>
            </a:r>
            <a:r>
              <a:rPr spc="215" dirty="0"/>
              <a:t> </a:t>
            </a:r>
            <a:r>
              <a:rPr dirty="0"/>
              <a:t>established</a:t>
            </a:r>
            <a:r>
              <a:rPr spc="210" dirty="0"/>
              <a:t> </a:t>
            </a:r>
            <a:r>
              <a:rPr spc="-10" dirty="0"/>
              <a:t>in</a:t>
            </a:r>
            <a:r>
              <a:rPr spc="210" dirty="0"/>
              <a:t> </a:t>
            </a:r>
            <a:r>
              <a:rPr dirty="0"/>
              <a:t>one</a:t>
            </a:r>
            <a:r>
              <a:rPr spc="215" dirty="0"/>
              <a:t> </a:t>
            </a:r>
            <a:r>
              <a:rPr spc="-5" dirty="0"/>
              <a:t>secure</a:t>
            </a:r>
            <a:r>
              <a:rPr spc="210" dirty="0"/>
              <a:t> </a:t>
            </a:r>
            <a:r>
              <a:rPr dirty="0"/>
              <a:t>network</a:t>
            </a:r>
            <a:r>
              <a:rPr spc="225" dirty="0"/>
              <a:t> </a:t>
            </a:r>
            <a:r>
              <a:rPr dirty="0"/>
              <a:t>and </a:t>
            </a:r>
            <a:r>
              <a:rPr spc="-595" dirty="0"/>
              <a:t> </a:t>
            </a:r>
            <a:r>
              <a:rPr spc="-5" dirty="0"/>
              <a:t>limited</a:t>
            </a:r>
            <a:r>
              <a:rPr spc="25" dirty="0"/>
              <a:t> </a:t>
            </a:r>
            <a:r>
              <a:rPr dirty="0"/>
              <a:t>to</a:t>
            </a:r>
            <a:r>
              <a:rPr spc="-15" dirty="0"/>
              <a:t> </a:t>
            </a:r>
            <a:r>
              <a:rPr spc="-10" dirty="0"/>
              <a:t>system</a:t>
            </a:r>
            <a:r>
              <a:rPr spc="50" dirty="0"/>
              <a:t> </a:t>
            </a:r>
            <a:r>
              <a:rPr spc="-5" dirty="0"/>
              <a:t>administrators.</a:t>
            </a:r>
          </a:p>
          <a:p>
            <a:pPr marL="357505" indent="-342900">
              <a:lnSpc>
                <a:spcPct val="100000"/>
              </a:lnSpc>
              <a:spcBef>
                <a:spcPts val="540"/>
              </a:spcBef>
              <a:buFont typeface="Wingdings"/>
              <a:buChar char=""/>
              <a:tabLst>
                <a:tab pos="358140" algn="l"/>
              </a:tabLst>
            </a:pPr>
            <a:r>
              <a:rPr spc="-10" dirty="0"/>
              <a:t>MAC</a:t>
            </a:r>
            <a:r>
              <a:rPr spc="165" dirty="0"/>
              <a:t> </a:t>
            </a:r>
            <a:r>
              <a:rPr spc="-5" dirty="0"/>
              <a:t>defines</a:t>
            </a:r>
            <a:r>
              <a:rPr spc="160" dirty="0"/>
              <a:t> </a:t>
            </a:r>
            <a:r>
              <a:rPr dirty="0"/>
              <a:t>and</a:t>
            </a:r>
            <a:r>
              <a:rPr spc="150" dirty="0"/>
              <a:t> </a:t>
            </a:r>
            <a:r>
              <a:rPr dirty="0"/>
              <a:t>ensures</a:t>
            </a:r>
            <a:r>
              <a:rPr spc="160" dirty="0"/>
              <a:t> </a:t>
            </a:r>
            <a:r>
              <a:rPr dirty="0"/>
              <a:t>a</a:t>
            </a:r>
            <a:r>
              <a:rPr spc="150" dirty="0"/>
              <a:t> </a:t>
            </a:r>
            <a:r>
              <a:rPr spc="-5" dirty="0"/>
              <a:t>centralized</a:t>
            </a:r>
            <a:r>
              <a:rPr spc="175" dirty="0"/>
              <a:t> </a:t>
            </a:r>
            <a:r>
              <a:rPr spc="-5" dirty="0"/>
              <a:t>enforcement</a:t>
            </a:r>
            <a:r>
              <a:rPr spc="170" dirty="0"/>
              <a:t> </a:t>
            </a:r>
            <a:r>
              <a:rPr spc="-5" dirty="0"/>
              <a:t>of</a:t>
            </a:r>
            <a:r>
              <a:rPr spc="170" dirty="0"/>
              <a:t> </a:t>
            </a:r>
            <a:r>
              <a:rPr spc="-5" dirty="0"/>
              <a:t>confidential</a:t>
            </a:r>
            <a:r>
              <a:rPr spc="155" dirty="0"/>
              <a:t> </a:t>
            </a:r>
            <a:r>
              <a:rPr dirty="0"/>
              <a:t>security</a:t>
            </a:r>
            <a:r>
              <a:rPr spc="140" dirty="0"/>
              <a:t> </a:t>
            </a:r>
            <a:r>
              <a:rPr dirty="0"/>
              <a:t>policy</a:t>
            </a:r>
          </a:p>
          <a:p>
            <a:pPr marL="356870">
              <a:lnSpc>
                <a:spcPct val="100000"/>
              </a:lnSpc>
              <a:spcBef>
                <a:spcPts val="5"/>
              </a:spcBef>
            </a:pPr>
            <a:r>
              <a:rPr dirty="0"/>
              <a:t>parameters.</a:t>
            </a:r>
          </a:p>
          <a:p>
            <a:pPr marL="1905">
              <a:lnSpc>
                <a:spcPct val="100000"/>
              </a:lnSpc>
              <a:spcBef>
                <a:spcPts val="20"/>
              </a:spcBef>
            </a:pPr>
            <a:endParaRPr sz="3200"/>
          </a:p>
          <a:p>
            <a:pPr marL="14604">
              <a:lnSpc>
                <a:spcPct val="100000"/>
              </a:lnSpc>
            </a:pPr>
            <a:r>
              <a:rPr b="1" u="heavy" spc="-10" dirty="0">
                <a:uFill>
                  <a:solidFill>
                    <a:srgbClr val="000000"/>
                  </a:solidFill>
                </a:uFill>
                <a:latin typeface="Arial"/>
                <a:cs typeface="Arial"/>
              </a:rPr>
              <a:t>Advantages</a:t>
            </a:r>
          </a:p>
          <a:p>
            <a:pPr marL="357505" indent="-342900">
              <a:lnSpc>
                <a:spcPct val="100000"/>
              </a:lnSpc>
              <a:spcBef>
                <a:spcPts val="520"/>
              </a:spcBef>
              <a:buChar char="•"/>
              <a:tabLst>
                <a:tab pos="357505" algn="l"/>
                <a:tab pos="358140" algn="l"/>
              </a:tabLst>
            </a:pPr>
            <a:r>
              <a:rPr spc="-10" dirty="0"/>
              <a:t>MAC</a:t>
            </a:r>
            <a:r>
              <a:rPr spc="140" dirty="0"/>
              <a:t> </a:t>
            </a:r>
            <a:r>
              <a:rPr spc="-5" dirty="0"/>
              <a:t>provides</a:t>
            </a:r>
            <a:r>
              <a:rPr spc="160" dirty="0"/>
              <a:t> </a:t>
            </a:r>
            <a:r>
              <a:rPr spc="-5" dirty="0"/>
              <a:t>tighter</a:t>
            </a:r>
            <a:r>
              <a:rPr spc="165" dirty="0"/>
              <a:t> </a:t>
            </a:r>
            <a:r>
              <a:rPr spc="-5" dirty="0"/>
              <a:t>security</a:t>
            </a:r>
            <a:r>
              <a:rPr spc="114" dirty="0"/>
              <a:t> </a:t>
            </a:r>
            <a:r>
              <a:rPr dirty="0"/>
              <a:t>because</a:t>
            </a:r>
            <a:r>
              <a:rPr spc="150" dirty="0"/>
              <a:t> </a:t>
            </a:r>
            <a:r>
              <a:rPr spc="-5" dirty="0"/>
              <a:t>only</a:t>
            </a:r>
            <a:r>
              <a:rPr spc="114" dirty="0"/>
              <a:t> </a:t>
            </a:r>
            <a:r>
              <a:rPr dirty="0"/>
              <a:t>a</a:t>
            </a:r>
            <a:r>
              <a:rPr spc="150" dirty="0"/>
              <a:t> </a:t>
            </a:r>
            <a:r>
              <a:rPr spc="-5" dirty="0"/>
              <a:t>system</a:t>
            </a:r>
            <a:r>
              <a:rPr spc="165" dirty="0"/>
              <a:t> </a:t>
            </a:r>
            <a:r>
              <a:rPr dirty="0"/>
              <a:t>administrator</a:t>
            </a:r>
            <a:r>
              <a:rPr spc="155" dirty="0"/>
              <a:t> </a:t>
            </a:r>
            <a:r>
              <a:rPr dirty="0"/>
              <a:t>may</a:t>
            </a:r>
            <a:r>
              <a:rPr spc="114" dirty="0"/>
              <a:t> </a:t>
            </a:r>
            <a:r>
              <a:rPr spc="-5" dirty="0"/>
              <a:t>access</a:t>
            </a:r>
            <a:r>
              <a:rPr spc="150" dirty="0"/>
              <a:t> </a:t>
            </a:r>
            <a:r>
              <a:rPr spc="-5" dirty="0"/>
              <a:t>or</a:t>
            </a:r>
          </a:p>
          <a:p>
            <a:pPr marL="356870">
              <a:lnSpc>
                <a:spcPct val="100000"/>
              </a:lnSpc>
              <a:spcBef>
                <a:spcPts val="5"/>
              </a:spcBef>
            </a:pPr>
            <a:r>
              <a:rPr spc="-5" dirty="0"/>
              <a:t>alter</a:t>
            </a:r>
            <a:r>
              <a:rPr spc="-15" dirty="0"/>
              <a:t> </a:t>
            </a:r>
            <a:r>
              <a:rPr spc="-5" dirty="0"/>
              <a:t>controls.</a:t>
            </a:r>
          </a:p>
          <a:p>
            <a:pPr marL="357505" indent="-342900">
              <a:lnSpc>
                <a:spcPct val="100000"/>
              </a:lnSpc>
              <a:spcBef>
                <a:spcPts val="520"/>
              </a:spcBef>
              <a:buChar char="•"/>
              <a:tabLst>
                <a:tab pos="357505" algn="l"/>
                <a:tab pos="358140" algn="l"/>
              </a:tabLst>
            </a:pPr>
            <a:r>
              <a:rPr spc="-10" dirty="0"/>
              <a:t>MAC</a:t>
            </a:r>
            <a:r>
              <a:rPr spc="5" dirty="0"/>
              <a:t> </a:t>
            </a:r>
            <a:r>
              <a:rPr spc="-5" dirty="0"/>
              <a:t>policies</a:t>
            </a:r>
            <a:r>
              <a:rPr spc="40" dirty="0"/>
              <a:t> </a:t>
            </a:r>
            <a:r>
              <a:rPr spc="-5" dirty="0"/>
              <a:t>reduce</a:t>
            </a:r>
            <a:r>
              <a:rPr dirty="0"/>
              <a:t> </a:t>
            </a:r>
            <a:r>
              <a:rPr spc="-5" dirty="0"/>
              <a:t>security</a:t>
            </a:r>
            <a:r>
              <a:rPr spc="5" dirty="0"/>
              <a:t> </a:t>
            </a:r>
            <a:r>
              <a:rPr dirty="0"/>
              <a:t>errors.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52</a:t>
            </a:fld>
            <a:endParaRPr spc="-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580FBEE3-6E0D-4454-B6F8-BE7FAB498F13}" type="slidenum">
              <a:rPr lang="en-US" altLang="en-US" sz="1400"/>
              <a:pPr>
                <a:spcBef>
                  <a:spcPct val="50000"/>
                </a:spcBef>
                <a:buClrTx/>
                <a:buFontTx/>
                <a:buNone/>
              </a:pPr>
              <a:t>53</a:t>
            </a:fld>
            <a:endParaRPr lang="en-US" altLang="en-US" sz="1400"/>
          </a:p>
        </p:txBody>
      </p:sp>
      <p:sp>
        <p:nvSpPr>
          <p:cNvPr id="135172" name="Rectangle 2"/>
          <p:cNvSpPr>
            <a:spLocks noGrp="1" noChangeArrowheads="1"/>
          </p:cNvSpPr>
          <p:nvPr>
            <p:ph type="body" idx="1"/>
          </p:nvPr>
        </p:nvSpPr>
        <p:spPr>
          <a:xfrm>
            <a:off x="546100" y="838200"/>
            <a:ext cx="10711814" cy="5286062"/>
          </a:xfrm>
        </p:spPr>
        <p:txBody>
          <a:bodyPr/>
          <a:lstStyle/>
          <a:p>
            <a:pPr algn="ctr" eaLnBrk="1" hangingPunct="1">
              <a:lnSpc>
                <a:spcPct val="90000"/>
              </a:lnSpc>
              <a:buFont typeface="Wingdings" panose="05000000000000000000" pitchFamily="2" charset="2"/>
              <a:buNone/>
            </a:pPr>
            <a:r>
              <a:rPr lang="en-US" altLang="en-US" sz="3500" b="1" u="sng" dirty="0"/>
              <a:t>Mandatory Access Control</a:t>
            </a:r>
            <a:endParaRPr lang="en-US" altLang="en-US" sz="2800" dirty="0"/>
          </a:p>
          <a:p>
            <a:pPr algn="just"/>
            <a:r>
              <a:rPr lang="en-US" altLang="en-US" sz="2400" dirty="0"/>
              <a:t>Mandatory Access Control (MAC)  is based on clearance, i.e., security labels (secret, top secret, confidential, etc.). Data objects are given a security classification, and the user will be denied access if his clearance is lower than the classification of the object.</a:t>
            </a:r>
          </a:p>
          <a:p>
            <a:pPr algn="just"/>
            <a:r>
              <a:rPr lang="en-US" altLang="en-US" sz="2400" dirty="0"/>
              <a:t>Similarly, each user account on the system also has classification and category properties from the same set of properties applied to the data objects. When a user attempts to access a data under Mandatory Access Control the system checks the user's classification and categories and compares them to the properties of the object's security label. If the user's credentials match the MAC security label properties of the data object access is allowed. It is important to note that </a:t>
            </a:r>
            <a:r>
              <a:rPr lang="en-US" altLang="en-US" sz="2400" i="1" dirty="0"/>
              <a:t>both</a:t>
            </a:r>
            <a:r>
              <a:rPr lang="en-US" altLang="en-US" sz="2400" dirty="0"/>
              <a:t> the classification and categories must match. A user with top secret classification, for example, cannot access a resource if they are not also a member of one of the required categories for that object.</a:t>
            </a:r>
            <a:endParaRPr lang="en-US" altLang="en-US" sz="2400" b="1" dirty="0"/>
          </a:p>
        </p:txBody>
      </p:sp>
    </p:spTree>
    <p:extLst>
      <p:ext uri="{BB962C8B-B14F-4D97-AF65-F5344CB8AC3E}">
        <p14:creationId xmlns:p14="http://schemas.microsoft.com/office/powerpoint/2010/main" val="10509857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435137EF-9305-4946-A428-8CB34DF1B142}" type="slidenum">
              <a:rPr lang="en-US" altLang="en-US" sz="1400"/>
              <a:pPr>
                <a:spcBef>
                  <a:spcPct val="50000"/>
                </a:spcBef>
                <a:buClrTx/>
                <a:buFontTx/>
                <a:buNone/>
              </a:pPr>
              <a:t>54</a:t>
            </a:fld>
            <a:endParaRPr lang="en-US" altLang="en-US" sz="1400"/>
          </a:p>
        </p:txBody>
      </p:sp>
      <p:sp>
        <p:nvSpPr>
          <p:cNvPr id="137220" name="Rectangle 2"/>
          <p:cNvSpPr>
            <a:spLocks noGrp="1" noChangeArrowheads="1"/>
          </p:cNvSpPr>
          <p:nvPr>
            <p:ph type="body" idx="1"/>
          </p:nvPr>
        </p:nvSpPr>
        <p:spPr>
          <a:xfrm>
            <a:off x="679767" y="1078484"/>
            <a:ext cx="10711814" cy="4762842"/>
          </a:xfrm>
        </p:spPr>
        <p:txBody>
          <a:bodyPr/>
          <a:lstStyle/>
          <a:p>
            <a:pPr algn="ctr" eaLnBrk="1" hangingPunct="1">
              <a:lnSpc>
                <a:spcPct val="90000"/>
              </a:lnSpc>
              <a:buFont typeface="Wingdings" panose="05000000000000000000" pitchFamily="2" charset="2"/>
              <a:buNone/>
            </a:pPr>
            <a:r>
              <a:rPr lang="en-US" altLang="en-US" sz="3500" b="1" u="sng" dirty="0"/>
              <a:t>Mandatory Access Control</a:t>
            </a:r>
            <a:endParaRPr lang="en-US" altLang="en-US" sz="2800" dirty="0"/>
          </a:p>
          <a:p>
            <a:pPr>
              <a:spcAft>
                <a:spcPts val="1200"/>
              </a:spcAft>
            </a:pPr>
            <a:r>
              <a:rPr lang="en-US" altLang="en-US" sz="3200" dirty="0"/>
              <a:t> </a:t>
            </a:r>
            <a:r>
              <a:rPr lang="en-US" altLang="en-US" sz="2800" dirty="0" smtClean="0"/>
              <a:t>Typical </a:t>
            </a:r>
            <a:r>
              <a:rPr lang="en-US" altLang="en-US" sz="2800" b="1" dirty="0" smtClean="0"/>
              <a:t>security classes</a:t>
            </a:r>
          </a:p>
          <a:p>
            <a:pPr lvl="1">
              <a:spcAft>
                <a:spcPts val="1200"/>
              </a:spcAft>
            </a:pPr>
            <a:r>
              <a:rPr lang="en-US" altLang="en-US" sz="2400" b="1" dirty="0" smtClean="0"/>
              <a:t>Top secret (TS), </a:t>
            </a:r>
          </a:p>
          <a:p>
            <a:pPr lvl="1">
              <a:spcAft>
                <a:spcPts val="1200"/>
              </a:spcAft>
            </a:pPr>
            <a:r>
              <a:rPr lang="en-US" altLang="en-US" sz="2400" b="1" dirty="0" smtClean="0"/>
              <a:t>Secret (S), </a:t>
            </a:r>
          </a:p>
          <a:p>
            <a:pPr lvl="1">
              <a:spcAft>
                <a:spcPts val="1200"/>
              </a:spcAft>
            </a:pPr>
            <a:r>
              <a:rPr lang="en-US" altLang="en-US" sz="2400" b="1" dirty="0" smtClean="0"/>
              <a:t>Confidential (C), </a:t>
            </a:r>
          </a:p>
          <a:p>
            <a:pPr lvl="1">
              <a:spcAft>
                <a:spcPts val="1200"/>
              </a:spcAft>
            </a:pPr>
            <a:r>
              <a:rPr lang="en-US" altLang="en-US" sz="2400" b="1" dirty="0" smtClean="0"/>
              <a:t>Unclassified (U), </a:t>
            </a:r>
          </a:p>
          <a:p>
            <a:pPr>
              <a:spcAft>
                <a:spcPts val="1200"/>
              </a:spcAft>
            </a:pPr>
            <a:r>
              <a:rPr lang="en-US" altLang="en-US" sz="2800" dirty="0" smtClean="0"/>
              <a:t>Here TS is the highest level and U the lowest: </a:t>
            </a:r>
          </a:p>
          <a:p>
            <a:pPr>
              <a:spcAft>
                <a:spcPts val="1200"/>
              </a:spcAft>
            </a:pPr>
            <a:r>
              <a:rPr lang="en-US" altLang="en-US" sz="2800" b="1" dirty="0" smtClean="0"/>
              <a:t>TS &gt; S &gt; C &gt; U</a:t>
            </a:r>
          </a:p>
          <a:p>
            <a:pPr algn="just"/>
            <a:endParaRPr lang="en-US" altLang="en-US" sz="2400" b="1" dirty="0"/>
          </a:p>
        </p:txBody>
      </p:sp>
    </p:spTree>
    <p:extLst>
      <p:ext uri="{BB962C8B-B14F-4D97-AF65-F5344CB8AC3E}">
        <p14:creationId xmlns:p14="http://schemas.microsoft.com/office/powerpoint/2010/main" val="243694771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D2F5544F-C0F8-4F37-BFBF-A71FE0C44C95}" type="slidenum">
              <a:rPr lang="en-US" altLang="en-US" sz="1400"/>
              <a:pPr>
                <a:spcBef>
                  <a:spcPct val="50000"/>
                </a:spcBef>
                <a:buClrTx/>
                <a:buFontTx/>
                <a:buNone/>
              </a:pPr>
              <a:t>55</a:t>
            </a:fld>
            <a:endParaRPr lang="en-US" altLang="en-US" sz="1400"/>
          </a:p>
        </p:txBody>
      </p:sp>
      <p:sp>
        <p:nvSpPr>
          <p:cNvPr id="139268" name="Rectangle 2"/>
          <p:cNvSpPr>
            <a:spLocks noGrp="1" noChangeArrowheads="1"/>
          </p:cNvSpPr>
          <p:nvPr>
            <p:ph type="body" idx="1"/>
          </p:nvPr>
        </p:nvSpPr>
        <p:spPr>
          <a:xfrm>
            <a:off x="1759267" y="1078485"/>
            <a:ext cx="10711814" cy="3654847"/>
          </a:xfrm>
        </p:spPr>
        <p:txBody>
          <a:bodyPr/>
          <a:lstStyle/>
          <a:p>
            <a:pPr algn="ctr" eaLnBrk="1" hangingPunct="1">
              <a:lnSpc>
                <a:spcPct val="90000"/>
              </a:lnSpc>
              <a:buFont typeface="Wingdings" panose="05000000000000000000" pitchFamily="2" charset="2"/>
              <a:buNone/>
            </a:pPr>
            <a:r>
              <a:rPr lang="en-US" altLang="en-US" sz="3500" b="1" u="sng"/>
              <a:t>Mandatory Access Control</a:t>
            </a:r>
            <a:endParaRPr lang="en-US" altLang="en-US" sz="2800"/>
          </a:p>
          <a:p>
            <a:pPr>
              <a:spcAft>
                <a:spcPts val="1200"/>
              </a:spcAft>
            </a:pPr>
            <a:r>
              <a:rPr lang="en-US" altLang="en-US" sz="2400"/>
              <a:t> </a:t>
            </a:r>
            <a:r>
              <a:rPr lang="en-US" altLang="en-US" b="1" smtClean="0"/>
              <a:t>Subjects </a:t>
            </a:r>
            <a:r>
              <a:rPr lang="en-US" altLang="en-US" smtClean="0"/>
              <a:t> </a:t>
            </a:r>
          </a:p>
          <a:p>
            <a:pPr>
              <a:spcAft>
                <a:spcPts val="1200"/>
              </a:spcAft>
            </a:pPr>
            <a:r>
              <a:rPr lang="en-US" altLang="en-US" smtClean="0"/>
              <a:t>	E.g., user, account, program  </a:t>
            </a:r>
          </a:p>
          <a:p>
            <a:pPr>
              <a:spcAft>
                <a:spcPts val="1200"/>
              </a:spcAft>
            </a:pPr>
            <a:r>
              <a:rPr lang="en-US" altLang="en-US" b="1" smtClean="0"/>
              <a:t>Objects</a:t>
            </a:r>
            <a:r>
              <a:rPr lang="en-US" altLang="en-US" smtClean="0"/>
              <a:t> </a:t>
            </a:r>
          </a:p>
          <a:p>
            <a:pPr>
              <a:spcAft>
                <a:spcPts val="1200"/>
              </a:spcAft>
            </a:pPr>
            <a:r>
              <a:rPr lang="en-US" altLang="en-US" smtClean="0"/>
              <a:t>	E.g., Relation, tuple, column, view, operation. </a:t>
            </a:r>
          </a:p>
          <a:p>
            <a:pPr>
              <a:spcAft>
                <a:spcPts val="1200"/>
              </a:spcAft>
            </a:pPr>
            <a:r>
              <a:rPr lang="en-US" altLang="en-US" smtClean="0"/>
              <a:t>Subjects and Objects classified into, T, S, C, or U:</a:t>
            </a:r>
          </a:p>
          <a:p>
            <a:pPr>
              <a:spcAft>
                <a:spcPts val="1200"/>
              </a:spcAft>
            </a:pPr>
            <a:r>
              <a:rPr lang="en-US" altLang="en-US" b="1" smtClean="0"/>
              <a:t>Clearance</a:t>
            </a:r>
            <a:r>
              <a:rPr lang="en-US" altLang="en-US" smtClean="0"/>
              <a:t> (classification) of a subject S denoted as </a:t>
            </a:r>
            <a:r>
              <a:rPr lang="en-US" altLang="en-US" b="1" smtClean="0"/>
              <a:t>class(S</a:t>
            </a:r>
            <a:r>
              <a:rPr lang="en-US" altLang="en-US" smtClean="0"/>
              <a:t>)  and to the </a:t>
            </a:r>
            <a:r>
              <a:rPr lang="en-US" altLang="en-US" b="1" smtClean="0"/>
              <a:t>classification</a:t>
            </a:r>
            <a:r>
              <a:rPr lang="en-US" altLang="en-US" smtClean="0"/>
              <a:t> of an object O as </a:t>
            </a:r>
            <a:r>
              <a:rPr lang="en-US" altLang="en-US" b="1" smtClean="0"/>
              <a:t>class(O)</a:t>
            </a:r>
            <a:r>
              <a:rPr lang="en-US" altLang="en-US" smtClean="0"/>
              <a:t>.</a:t>
            </a:r>
          </a:p>
        </p:txBody>
      </p:sp>
    </p:spTree>
    <p:extLst>
      <p:ext uri="{BB962C8B-B14F-4D97-AF65-F5344CB8AC3E}">
        <p14:creationId xmlns:p14="http://schemas.microsoft.com/office/powerpoint/2010/main" val="202775006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47B5321F-221E-442A-BC3E-FF3EC9A0677F}" type="slidenum">
              <a:rPr lang="en-US" altLang="en-US" sz="1400"/>
              <a:pPr>
                <a:spcBef>
                  <a:spcPct val="50000"/>
                </a:spcBef>
                <a:buClrTx/>
                <a:buFontTx/>
                <a:buNone/>
              </a:pPr>
              <a:t>56</a:t>
            </a:fld>
            <a:endParaRPr lang="en-US" altLang="en-US" sz="1400"/>
          </a:p>
        </p:txBody>
      </p:sp>
      <p:sp>
        <p:nvSpPr>
          <p:cNvPr id="58372" name="Rectangle 2"/>
          <p:cNvSpPr>
            <a:spLocks noGrp="1" noChangeArrowheads="1"/>
          </p:cNvSpPr>
          <p:nvPr>
            <p:ph type="body" idx="1"/>
          </p:nvPr>
        </p:nvSpPr>
        <p:spPr>
          <a:xfrm>
            <a:off x="927100" y="1066800"/>
            <a:ext cx="10711814" cy="4701287"/>
          </a:xfrm>
        </p:spPr>
        <p:txBody>
          <a:bodyPr/>
          <a:lstStyle/>
          <a:p>
            <a:pPr algn="ctr" eaLnBrk="1" hangingPunct="1">
              <a:lnSpc>
                <a:spcPct val="90000"/>
              </a:lnSpc>
              <a:buFont typeface="Wingdings" panose="05000000000000000000" pitchFamily="2" charset="2"/>
              <a:buNone/>
              <a:defRPr/>
            </a:pPr>
            <a:r>
              <a:rPr lang="en-US" sz="3500" b="1" u="sng" dirty="0"/>
              <a:t>Mandatory Access Control</a:t>
            </a:r>
            <a:endParaRPr lang="en-US" sz="2800" dirty="0"/>
          </a:p>
          <a:p>
            <a:pPr>
              <a:defRPr/>
            </a:pPr>
            <a:endParaRPr lang="en-US" altLang="en-US" sz="2800" b="1" dirty="0" smtClean="0"/>
          </a:p>
          <a:p>
            <a:pPr>
              <a:defRPr/>
            </a:pPr>
            <a:r>
              <a:rPr lang="en-US" altLang="en-US" sz="2800" b="1" dirty="0" smtClean="0"/>
              <a:t> </a:t>
            </a:r>
            <a:r>
              <a:rPr lang="en-US" altLang="en-US" sz="2800" dirty="0" smtClean="0"/>
              <a:t>Two restrictions are enforced on data access based on the subject/object classifications:</a:t>
            </a:r>
          </a:p>
          <a:p>
            <a:pPr>
              <a:defRPr/>
            </a:pPr>
            <a:endParaRPr lang="en-US" altLang="en-US" sz="2800" dirty="0" smtClean="0"/>
          </a:p>
          <a:p>
            <a:pPr algn="just">
              <a:defRPr/>
            </a:pPr>
            <a:r>
              <a:rPr lang="en-US" altLang="en-US" sz="2800" b="1" dirty="0" smtClean="0"/>
              <a:t>Simple security property:</a:t>
            </a:r>
            <a:r>
              <a:rPr lang="en-US" altLang="en-US" sz="2800" dirty="0" smtClean="0"/>
              <a:t> A subject S is not allowed read access to an object O unless class(S) ≥ class(O).</a:t>
            </a:r>
          </a:p>
          <a:p>
            <a:pPr>
              <a:defRPr/>
            </a:pPr>
            <a:endParaRPr lang="en-US" altLang="en-US" sz="2800" dirty="0" smtClean="0"/>
          </a:p>
          <a:p>
            <a:pPr algn="just">
              <a:defRPr/>
            </a:pPr>
            <a:r>
              <a:rPr lang="en-US" altLang="en-US" sz="2800" b="1" dirty="0" smtClean="0"/>
              <a:t>Star property:</a:t>
            </a:r>
            <a:r>
              <a:rPr lang="en-US" altLang="en-US" sz="2800" dirty="0" smtClean="0"/>
              <a:t> A subject S is not allowed to write an object O unless class(S) ≤ class(O). </a:t>
            </a:r>
          </a:p>
          <a:p>
            <a:pPr>
              <a:spcAft>
                <a:spcPts val="1200"/>
              </a:spcAft>
              <a:defRPr/>
            </a:pPr>
            <a:endParaRPr lang="en-US" altLang="en-US" dirty="0"/>
          </a:p>
        </p:txBody>
      </p:sp>
    </p:spTree>
    <p:extLst>
      <p:ext uri="{BB962C8B-B14F-4D97-AF65-F5344CB8AC3E}">
        <p14:creationId xmlns:p14="http://schemas.microsoft.com/office/powerpoint/2010/main" val="355307788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8195309" cy="574675"/>
          </a:xfrm>
          <a:prstGeom prst="rect">
            <a:avLst/>
          </a:prstGeom>
        </p:spPr>
        <p:txBody>
          <a:bodyPr vert="horz" wrap="square" lIns="0" tIns="12700" rIns="0" bIns="0" rtlCol="0">
            <a:spAutoFit/>
          </a:bodyPr>
          <a:lstStyle/>
          <a:p>
            <a:pPr marL="12700">
              <a:lnSpc>
                <a:spcPct val="100000"/>
              </a:lnSpc>
              <a:spcBef>
                <a:spcPts val="100"/>
              </a:spcBef>
              <a:tabLst>
                <a:tab pos="5382260" algn="l"/>
              </a:tabLst>
            </a:pPr>
            <a:r>
              <a:rPr sz="3600" spc="-5" dirty="0">
                <a:solidFill>
                  <a:srgbClr val="000000"/>
                </a:solidFill>
                <a:latin typeface="Verdana"/>
                <a:cs typeface="Verdana"/>
              </a:rPr>
              <a:t>Data</a:t>
            </a:r>
            <a:r>
              <a:rPr sz="3600" spc="10" dirty="0">
                <a:solidFill>
                  <a:srgbClr val="000000"/>
                </a:solidFill>
                <a:latin typeface="Verdana"/>
                <a:cs typeface="Verdana"/>
              </a:rPr>
              <a:t> </a:t>
            </a:r>
            <a:r>
              <a:rPr sz="3600" spc="-5" dirty="0">
                <a:solidFill>
                  <a:srgbClr val="000000"/>
                </a:solidFill>
                <a:latin typeface="Verdana"/>
                <a:cs typeface="Verdana"/>
              </a:rPr>
              <a:t>Encryption</a:t>
            </a:r>
            <a:r>
              <a:rPr sz="3600" spc="-15" dirty="0">
                <a:solidFill>
                  <a:srgbClr val="000000"/>
                </a:solidFill>
                <a:latin typeface="Verdana"/>
                <a:cs typeface="Verdana"/>
              </a:rPr>
              <a:t> </a:t>
            </a:r>
            <a:r>
              <a:rPr sz="3600" spc="-5" dirty="0">
                <a:solidFill>
                  <a:srgbClr val="000000"/>
                </a:solidFill>
                <a:latin typeface="Verdana"/>
                <a:cs typeface="Verdana"/>
              </a:rPr>
              <a:t>and	</a:t>
            </a:r>
            <a:r>
              <a:rPr sz="3600" spc="-10" dirty="0">
                <a:solidFill>
                  <a:srgbClr val="000000"/>
                </a:solidFill>
                <a:latin typeface="Verdana"/>
                <a:cs typeface="Verdana"/>
              </a:rPr>
              <a:t>Decryption</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72782" y="980059"/>
            <a:ext cx="10707370" cy="1433195"/>
          </a:xfrm>
          <a:prstGeom prst="rect">
            <a:avLst/>
          </a:prstGeom>
        </p:spPr>
        <p:txBody>
          <a:bodyPr vert="horz" wrap="square" lIns="0" tIns="12700" rIns="0" bIns="0" rtlCol="0">
            <a:spAutoFit/>
          </a:bodyPr>
          <a:lstStyle/>
          <a:p>
            <a:pPr marL="354965" marR="6350" indent="-342900">
              <a:lnSpc>
                <a:spcPct val="100000"/>
              </a:lnSpc>
              <a:spcBef>
                <a:spcPts val="100"/>
              </a:spcBef>
              <a:buFont typeface="Wingdings"/>
              <a:buChar char=""/>
              <a:tabLst>
                <a:tab pos="355600" algn="l"/>
              </a:tabLst>
            </a:pPr>
            <a:r>
              <a:rPr sz="2200" b="1" dirty="0">
                <a:latin typeface="Arial"/>
                <a:cs typeface="Arial"/>
              </a:rPr>
              <a:t>Database</a:t>
            </a:r>
            <a:r>
              <a:rPr sz="2200" b="1" spc="65" dirty="0">
                <a:latin typeface="Arial"/>
                <a:cs typeface="Arial"/>
              </a:rPr>
              <a:t> </a:t>
            </a:r>
            <a:r>
              <a:rPr sz="2200" b="1" dirty="0">
                <a:latin typeface="Arial"/>
                <a:cs typeface="Arial"/>
              </a:rPr>
              <a:t>encryption</a:t>
            </a:r>
            <a:r>
              <a:rPr sz="2200" b="1" spc="80" dirty="0">
                <a:latin typeface="Arial"/>
                <a:cs typeface="Arial"/>
              </a:rPr>
              <a:t> </a:t>
            </a:r>
            <a:r>
              <a:rPr sz="2200" spc="-10" dirty="0">
                <a:latin typeface="Arial"/>
                <a:cs typeface="Arial"/>
              </a:rPr>
              <a:t>is</a:t>
            </a:r>
            <a:r>
              <a:rPr sz="2200" spc="70" dirty="0">
                <a:latin typeface="Arial"/>
                <a:cs typeface="Arial"/>
              </a:rPr>
              <a:t> </a:t>
            </a:r>
            <a:r>
              <a:rPr sz="2200" dirty="0">
                <a:latin typeface="Arial"/>
                <a:cs typeface="Arial"/>
              </a:rPr>
              <a:t>the</a:t>
            </a:r>
            <a:r>
              <a:rPr sz="2200" spc="70" dirty="0">
                <a:latin typeface="Arial"/>
                <a:cs typeface="Arial"/>
              </a:rPr>
              <a:t> </a:t>
            </a:r>
            <a:r>
              <a:rPr sz="2200" dirty="0">
                <a:latin typeface="Arial"/>
                <a:cs typeface="Arial"/>
              </a:rPr>
              <a:t>process</a:t>
            </a:r>
            <a:r>
              <a:rPr sz="2200" spc="70" dirty="0">
                <a:latin typeface="Arial"/>
                <a:cs typeface="Arial"/>
              </a:rPr>
              <a:t> </a:t>
            </a:r>
            <a:r>
              <a:rPr sz="2200" spc="-5" dirty="0">
                <a:latin typeface="Arial"/>
                <a:cs typeface="Arial"/>
              </a:rPr>
              <a:t>of</a:t>
            </a:r>
            <a:r>
              <a:rPr sz="2200" spc="80" dirty="0">
                <a:latin typeface="Arial"/>
                <a:cs typeface="Arial"/>
              </a:rPr>
              <a:t> </a:t>
            </a:r>
            <a:r>
              <a:rPr sz="2200" spc="-5" dirty="0">
                <a:latin typeface="Arial"/>
                <a:cs typeface="Arial"/>
              </a:rPr>
              <a:t>converting</a:t>
            </a:r>
            <a:r>
              <a:rPr sz="2200" spc="75" dirty="0">
                <a:latin typeface="Arial"/>
                <a:cs typeface="Arial"/>
              </a:rPr>
              <a:t> </a:t>
            </a:r>
            <a:r>
              <a:rPr sz="2200" dirty="0">
                <a:latin typeface="Arial"/>
                <a:cs typeface="Arial"/>
              </a:rPr>
              <a:t>data,</a:t>
            </a:r>
            <a:r>
              <a:rPr sz="2200" spc="110" dirty="0">
                <a:latin typeface="Arial"/>
                <a:cs typeface="Arial"/>
              </a:rPr>
              <a:t> </a:t>
            </a:r>
            <a:r>
              <a:rPr sz="2200" spc="-10" dirty="0">
                <a:latin typeface="Arial"/>
                <a:cs typeface="Arial"/>
              </a:rPr>
              <a:t>within</a:t>
            </a:r>
            <a:r>
              <a:rPr sz="2200" spc="75" dirty="0">
                <a:latin typeface="Arial"/>
                <a:cs typeface="Arial"/>
              </a:rPr>
              <a:t> </a:t>
            </a:r>
            <a:r>
              <a:rPr sz="2200" spc="-5" dirty="0">
                <a:latin typeface="Arial"/>
                <a:cs typeface="Arial"/>
              </a:rPr>
              <a:t>a</a:t>
            </a:r>
            <a:r>
              <a:rPr sz="2200" spc="65" dirty="0">
                <a:latin typeface="Arial"/>
                <a:cs typeface="Arial"/>
              </a:rPr>
              <a:t> </a:t>
            </a:r>
            <a:r>
              <a:rPr sz="2200" dirty="0">
                <a:latin typeface="Arial"/>
                <a:cs typeface="Arial"/>
              </a:rPr>
              <a:t>database,</a:t>
            </a:r>
            <a:r>
              <a:rPr sz="2200" spc="80" dirty="0">
                <a:latin typeface="Arial"/>
                <a:cs typeface="Arial"/>
              </a:rPr>
              <a:t> </a:t>
            </a:r>
            <a:r>
              <a:rPr sz="2200" spc="-10" dirty="0">
                <a:latin typeface="Arial"/>
                <a:cs typeface="Arial"/>
              </a:rPr>
              <a:t>in</a:t>
            </a:r>
            <a:r>
              <a:rPr sz="2200" spc="70" dirty="0">
                <a:latin typeface="Arial"/>
                <a:cs typeface="Arial"/>
              </a:rPr>
              <a:t> </a:t>
            </a:r>
            <a:r>
              <a:rPr sz="2200" dirty="0">
                <a:latin typeface="Arial"/>
                <a:cs typeface="Arial"/>
              </a:rPr>
              <a:t>plain </a:t>
            </a:r>
            <a:r>
              <a:rPr sz="2200" spc="-595" dirty="0">
                <a:latin typeface="Arial"/>
                <a:cs typeface="Arial"/>
              </a:rPr>
              <a:t> </a:t>
            </a:r>
            <a:r>
              <a:rPr sz="2200" spc="-5" dirty="0">
                <a:latin typeface="Arial"/>
                <a:cs typeface="Arial"/>
              </a:rPr>
              <a:t>text</a:t>
            </a:r>
            <a:r>
              <a:rPr sz="2200" spc="20" dirty="0">
                <a:latin typeface="Arial"/>
                <a:cs typeface="Arial"/>
              </a:rPr>
              <a:t> </a:t>
            </a:r>
            <a:r>
              <a:rPr sz="2200" dirty="0">
                <a:latin typeface="Arial"/>
                <a:cs typeface="Arial"/>
              </a:rPr>
              <a:t>format</a:t>
            </a:r>
            <a:r>
              <a:rPr sz="2200" spc="-5" dirty="0">
                <a:latin typeface="Arial"/>
                <a:cs typeface="Arial"/>
              </a:rPr>
              <a:t> into</a:t>
            </a:r>
            <a:r>
              <a:rPr sz="2200" spc="10" dirty="0">
                <a:latin typeface="Arial"/>
                <a:cs typeface="Arial"/>
              </a:rPr>
              <a:t> </a:t>
            </a:r>
            <a:r>
              <a:rPr sz="2200" spc="-5" dirty="0">
                <a:latin typeface="Arial"/>
                <a:cs typeface="Arial"/>
              </a:rPr>
              <a:t>a</a:t>
            </a:r>
            <a:r>
              <a:rPr sz="2200" spc="5" dirty="0">
                <a:latin typeface="Arial"/>
                <a:cs typeface="Arial"/>
              </a:rPr>
              <a:t> </a:t>
            </a:r>
            <a:r>
              <a:rPr sz="2200" spc="-5" dirty="0">
                <a:latin typeface="Arial"/>
                <a:cs typeface="Arial"/>
              </a:rPr>
              <a:t>meaningless</a:t>
            </a:r>
            <a:r>
              <a:rPr sz="2200" spc="50" dirty="0">
                <a:latin typeface="Arial"/>
                <a:cs typeface="Arial"/>
              </a:rPr>
              <a:t> </a:t>
            </a:r>
            <a:r>
              <a:rPr sz="2200" spc="-5" dirty="0">
                <a:latin typeface="Arial"/>
                <a:cs typeface="Arial"/>
              </a:rPr>
              <a:t>cipher</a:t>
            </a:r>
            <a:r>
              <a:rPr sz="2200" spc="35" dirty="0">
                <a:latin typeface="Arial"/>
                <a:cs typeface="Arial"/>
              </a:rPr>
              <a:t> </a:t>
            </a:r>
            <a:r>
              <a:rPr sz="2200" spc="-5" dirty="0">
                <a:latin typeface="Arial"/>
                <a:cs typeface="Arial"/>
              </a:rPr>
              <a:t>text</a:t>
            </a:r>
            <a:r>
              <a:rPr sz="2200" spc="20" dirty="0">
                <a:latin typeface="Arial"/>
                <a:cs typeface="Arial"/>
              </a:rPr>
              <a:t> </a:t>
            </a:r>
            <a:r>
              <a:rPr sz="2200" spc="-5" dirty="0">
                <a:latin typeface="Arial"/>
                <a:cs typeface="Arial"/>
              </a:rPr>
              <a:t>by</a:t>
            </a:r>
            <a:r>
              <a:rPr sz="2200" spc="10" dirty="0">
                <a:latin typeface="Arial"/>
                <a:cs typeface="Arial"/>
              </a:rPr>
              <a:t> </a:t>
            </a:r>
            <a:r>
              <a:rPr sz="2200" spc="-5" dirty="0">
                <a:latin typeface="Arial"/>
                <a:cs typeface="Arial"/>
              </a:rPr>
              <a:t>means</a:t>
            </a:r>
            <a:r>
              <a:rPr sz="2200" spc="10" dirty="0">
                <a:latin typeface="Arial"/>
                <a:cs typeface="Arial"/>
              </a:rPr>
              <a:t> </a:t>
            </a:r>
            <a:r>
              <a:rPr sz="2200" spc="-5" dirty="0">
                <a:latin typeface="Arial"/>
                <a:cs typeface="Arial"/>
              </a:rPr>
              <a:t>of a</a:t>
            </a:r>
            <a:r>
              <a:rPr sz="2200" spc="5" dirty="0">
                <a:latin typeface="Arial"/>
                <a:cs typeface="Arial"/>
              </a:rPr>
              <a:t> </a:t>
            </a:r>
            <a:r>
              <a:rPr sz="2200" spc="-5" dirty="0">
                <a:latin typeface="Arial"/>
                <a:cs typeface="Arial"/>
              </a:rPr>
              <a:t>suitable</a:t>
            </a:r>
            <a:r>
              <a:rPr sz="2200" spc="25" dirty="0">
                <a:latin typeface="Arial"/>
                <a:cs typeface="Arial"/>
              </a:rPr>
              <a:t> </a:t>
            </a:r>
            <a:r>
              <a:rPr sz="2200" spc="-5" dirty="0">
                <a:latin typeface="Arial"/>
                <a:cs typeface="Arial"/>
              </a:rPr>
              <a:t>algorithm.</a:t>
            </a:r>
            <a:endParaRPr sz="2200">
              <a:latin typeface="Arial"/>
              <a:cs typeface="Arial"/>
            </a:endParaRPr>
          </a:p>
          <a:p>
            <a:pPr marL="355600" indent="-342900">
              <a:lnSpc>
                <a:spcPct val="100000"/>
              </a:lnSpc>
              <a:spcBef>
                <a:spcPts val="520"/>
              </a:spcBef>
              <a:buFont typeface="Wingdings"/>
              <a:buChar char=""/>
              <a:tabLst>
                <a:tab pos="355600" algn="l"/>
                <a:tab pos="1724660" algn="l"/>
                <a:tab pos="3282315" algn="l"/>
                <a:tab pos="5543550" algn="l"/>
                <a:tab pos="8127365" algn="l"/>
                <a:tab pos="8703945" algn="l"/>
              </a:tabLst>
            </a:pPr>
            <a:r>
              <a:rPr sz="2200" b="1" spc="-5" dirty="0">
                <a:latin typeface="Arial"/>
                <a:cs typeface="Arial"/>
              </a:rPr>
              <a:t>Database	</a:t>
            </a:r>
            <a:r>
              <a:rPr sz="2200" b="1" dirty="0">
                <a:latin typeface="Arial"/>
                <a:cs typeface="Arial"/>
              </a:rPr>
              <a:t>decryption	</a:t>
            </a:r>
            <a:r>
              <a:rPr sz="2200" spc="-5" dirty="0">
                <a:latin typeface="Arial"/>
                <a:cs typeface="Arial"/>
              </a:rPr>
              <a:t>is</a:t>
            </a:r>
            <a:r>
              <a:rPr sz="2200" spc="385" dirty="0">
                <a:latin typeface="Arial"/>
                <a:cs typeface="Arial"/>
              </a:rPr>
              <a:t> </a:t>
            </a:r>
            <a:r>
              <a:rPr sz="2200" dirty="0">
                <a:latin typeface="Arial"/>
                <a:cs typeface="Arial"/>
              </a:rPr>
              <a:t>converting</a:t>
            </a:r>
            <a:r>
              <a:rPr sz="2200" spc="370" dirty="0">
                <a:latin typeface="Arial"/>
                <a:cs typeface="Arial"/>
              </a:rPr>
              <a:t> </a:t>
            </a:r>
            <a:r>
              <a:rPr sz="2200" spc="5" dirty="0">
                <a:latin typeface="Arial"/>
                <a:cs typeface="Arial"/>
              </a:rPr>
              <a:t>the	</a:t>
            </a:r>
            <a:r>
              <a:rPr sz="2200" spc="-5" dirty="0">
                <a:latin typeface="Arial"/>
                <a:cs typeface="Arial"/>
              </a:rPr>
              <a:t>meaningless</a:t>
            </a:r>
            <a:r>
              <a:rPr sz="2200" spc="415" dirty="0">
                <a:latin typeface="Arial"/>
                <a:cs typeface="Arial"/>
              </a:rPr>
              <a:t> </a:t>
            </a:r>
            <a:r>
              <a:rPr sz="2200" spc="-5" dirty="0">
                <a:latin typeface="Arial"/>
                <a:cs typeface="Arial"/>
              </a:rPr>
              <a:t>cipher	</a:t>
            </a:r>
            <a:r>
              <a:rPr sz="2200" spc="-10" dirty="0">
                <a:latin typeface="Arial"/>
                <a:cs typeface="Arial"/>
              </a:rPr>
              <a:t>text	</a:t>
            </a:r>
            <a:r>
              <a:rPr sz="2200" spc="-5" dirty="0">
                <a:latin typeface="Arial"/>
                <a:cs typeface="Arial"/>
              </a:rPr>
              <a:t>into</a:t>
            </a:r>
            <a:r>
              <a:rPr sz="2200" spc="350" dirty="0">
                <a:latin typeface="Arial"/>
                <a:cs typeface="Arial"/>
              </a:rPr>
              <a:t> </a:t>
            </a:r>
            <a:r>
              <a:rPr sz="2200" dirty="0">
                <a:latin typeface="Arial"/>
                <a:cs typeface="Arial"/>
              </a:rPr>
              <a:t>the</a:t>
            </a:r>
            <a:r>
              <a:rPr sz="2200" spc="350" dirty="0">
                <a:latin typeface="Arial"/>
                <a:cs typeface="Arial"/>
              </a:rPr>
              <a:t> </a:t>
            </a:r>
            <a:r>
              <a:rPr sz="2200" spc="-5" dirty="0">
                <a:latin typeface="Arial"/>
                <a:cs typeface="Arial"/>
              </a:rPr>
              <a:t>original</a:t>
            </a:r>
            <a:endParaRPr sz="2200">
              <a:latin typeface="Arial"/>
              <a:cs typeface="Arial"/>
            </a:endParaRPr>
          </a:p>
          <a:p>
            <a:pPr marL="354965">
              <a:lnSpc>
                <a:spcPct val="100000"/>
              </a:lnSpc>
            </a:pPr>
            <a:r>
              <a:rPr sz="2200" spc="-5" dirty="0">
                <a:latin typeface="Arial"/>
                <a:cs typeface="Arial"/>
              </a:rPr>
              <a:t>information</a:t>
            </a:r>
            <a:r>
              <a:rPr sz="2200" spc="30" dirty="0">
                <a:latin typeface="Arial"/>
                <a:cs typeface="Arial"/>
              </a:rPr>
              <a:t> </a:t>
            </a:r>
            <a:r>
              <a:rPr sz="2200" spc="-5" dirty="0">
                <a:latin typeface="Arial"/>
                <a:cs typeface="Arial"/>
              </a:rPr>
              <a:t>using</a:t>
            </a:r>
            <a:r>
              <a:rPr sz="2200" spc="5" dirty="0">
                <a:latin typeface="Arial"/>
                <a:cs typeface="Arial"/>
              </a:rPr>
              <a:t> </a:t>
            </a:r>
            <a:r>
              <a:rPr sz="2200" spc="-15" dirty="0">
                <a:latin typeface="Arial"/>
                <a:cs typeface="Arial"/>
              </a:rPr>
              <a:t>keys</a:t>
            </a:r>
            <a:r>
              <a:rPr sz="2200" spc="55" dirty="0">
                <a:latin typeface="Arial"/>
                <a:cs typeface="Arial"/>
              </a:rPr>
              <a:t> </a:t>
            </a:r>
            <a:r>
              <a:rPr sz="2200" spc="-5" dirty="0">
                <a:latin typeface="Arial"/>
                <a:cs typeface="Arial"/>
              </a:rPr>
              <a:t>generated</a:t>
            </a:r>
            <a:r>
              <a:rPr sz="2200" spc="35" dirty="0">
                <a:latin typeface="Arial"/>
                <a:cs typeface="Arial"/>
              </a:rPr>
              <a:t> </a:t>
            </a:r>
            <a:r>
              <a:rPr sz="2200" spc="-5" dirty="0">
                <a:latin typeface="Arial"/>
                <a:cs typeface="Arial"/>
              </a:rPr>
              <a:t>by</a:t>
            </a:r>
            <a:r>
              <a:rPr sz="2200" spc="10" dirty="0">
                <a:latin typeface="Arial"/>
                <a:cs typeface="Arial"/>
              </a:rPr>
              <a:t> </a:t>
            </a:r>
            <a:r>
              <a:rPr sz="2200" dirty="0">
                <a:latin typeface="Arial"/>
                <a:cs typeface="Arial"/>
              </a:rPr>
              <a:t>the</a:t>
            </a:r>
            <a:r>
              <a:rPr sz="2200" spc="10" dirty="0">
                <a:latin typeface="Arial"/>
                <a:cs typeface="Arial"/>
              </a:rPr>
              <a:t> </a:t>
            </a:r>
            <a:r>
              <a:rPr sz="2200" spc="-5" dirty="0">
                <a:latin typeface="Arial"/>
                <a:cs typeface="Arial"/>
              </a:rPr>
              <a:t>encryption</a:t>
            </a:r>
            <a:r>
              <a:rPr sz="2200" spc="70" dirty="0">
                <a:latin typeface="Arial"/>
                <a:cs typeface="Arial"/>
              </a:rPr>
              <a:t> </a:t>
            </a:r>
            <a:r>
              <a:rPr sz="2200" spc="-5" dirty="0">
                <a:latin typeface="Arial"/>
                <a:cs typeface="Arial"/>
              </a:rPr>
              <a:t>algorithms.</a:t>
            </a:r>
            <a:endParaRPr sz="2200">
              <a:latin typeface="Arial"/>
              <a:cs typeface="Arial"/>
            </a:endParaRPr>
          </a:p>
        </p:txBody>
      </p:sp>
      <p:sp>
        <p:nvSpPr>
          <p:cNvPr id="5" name="object 5"/>
          <p:cNvSpPr txBox="1"/>
          <p:nvPr/>
        </p:nvSpPr>
        <p:spPr>
          <a:xfrm>
            <a:off x="672782" y="4468748"/>
            <a:ext cx="10706100" cy="1433195"/>
          </a:xfrm>
          <a:prstGeom prst="rect">
            <a:avLst/>
          </a:prstGeom>
        </p:spPr>
        <p:txBody>
          <a:bodyPr vert="horz" wrap="square" lIns="0" tIns="12700" rIns="0" bIns="0" rtlCol="0">
            <a:spAutoFit/>
          </a:bodyPr>
          <a:lstStyle/>
          <a:p>
            <a:pPr marL="354965" marR="5080" indent="-342900">
              <a:lnSpc>
                <a:spcPct val="100000"/>
              </a:lnSpc>
              <a:spcBef>
                <a:spcPts val="100"/>
              </a:spcBef>
              <a:buFont typeface="Wingdings"/>
              <a:buChar char=""/>
              <a:tabLst>
                <a:tab pos="355600" algn="l"/>
                <a:tab pos="1788160" algn="l"/>
                <a:tab pos="3225800" algn="l"/>
                <a:tab pos="3775075" algn="l"/>
                <a:tab pos="4524375" algn="l"/>
                <a:tab pos="4996815" algn="l"/>
                <a:tab pos="6510655" algn="l"/>
                <a:tab pos="7435850" algn="l"/>
                <a:tab pos="8868410" algn="l"/>
                <a:tab pos="10116185" algn="l"/>
              </a:tabLst>
            </a:pPr>
            <a:r>
              <a:rPr sz="2200" spc="-15" dirty="0">
                <a:latin typeface="Arial"/>
                <a:cs typeface="Arial"/>
              </a:rPr>
              <a:t>N</a:t>
            </a:r>
            <a:r>
              <a:rPr sz="2200" spc="-5" dirty="0">
                <a:latin typeface="Arial"/>
                <a:cs typeface="Arial"/>
              </a:rPr>
              <a:t>ume</a:t>
            </a:r>
            <a:r>
              <a:rPr sz="2200" dirty="0">
                <a:latin typeface="Arial"/>
                <a:cs typeface="Arial"/>
              </a:rPr>
              <a:t>r</a:t>
            </a:r>
            <a:r>
              <a:rPr sz="2200" spc="-5" dirty="0">
                <a:latin typeface="Arial"/>
                <a:cs typeface="Arial"/>
              </a:rPr>
              <a:t>ous</a:t>
            </a:r>
            <a:r>
              <a:rPr sz="2200" dirty="0">
                <a:latin typeface="Arial"/>
                <a:cs typeface="Arial"/>
              </a:rPr>
              <a:t>	</a:t>
            </a:r>
            <a:r>
              <a:rPr sz="2200" spc="10" dirty="0">
                <a:latin typeface="Arial"/>
                <a:cs typeface="Arial"/>
              </a:rPr>
              <a:t>a</a:t>
            </a:r>
            <a:r>
              <a:rPr sz="2200" spc="-15" dirty="0">
                <a:latin typeface="Arial"/>
                <a:cs typeface="Arial"/>
              </a:rPr>
              <a:t>l</a:t>
            </a:r>
            <a:r>
              <a:rPr sz="2200" spc="-5" dirty="0">
                <a:latin typeface="Arial"/>
                <a:cs typeface="Arial"/>
              </a:rPr>
              <a:t>gor</a:t>
            </a:r>
            <a:r>
              <a:rPr sz="2200" spc="-15" dirty="0">
                <a:latin typeface="Arial"/>
                <a:cs typeface="Arial"/>
              </a:rPr>
              <a:t>i</a:t>
            </a:r>
            <a:r>
              <a:rPr sz="2200" spc="5" dirty="0">
                <a:latin typeface="Arial"/>
                <a:cs typeface="Arial"/>
              </a:rPr>
              <a:t>t</a:t>
            </a:r>
            <a:r>
              <a:rPr sz="2200" spc="-5" dirty="0">
                <a:latin typeface="Arial"/>
                <a:cs typeface="Arial"/>
              </a:rPr>
              <a:t>h</a:t>
            </a:r>
            <a:r>
              <a:rPr sz="2200" spc="15" dirty="0">
                <a:latin typeface="Arial"/>
                <a:cs typeface="Arial"/>
              </a:rPr>
              <a:t>m</a:t>
            </a:r>
            <a:r>
              <a:rPr sz="2200" dirty="0">
                <a:latin typeface="Arial"/>
                <a:cs typeface="Arial"/>
              </a:rPr>
              <a:t>s	</a:t>
            </a:r>
            <a:r>
              <a:rPr sz="2200" spc="-5" dirty="0">
                <a:latin typeface="Arial"/>
                <a:cs typeface="Arial"/>
              </a:rPr>
              <a:t>are</a:t>
            </a:r>
            <a:r>
              <a:rPr sz="2200" dirty="0">
                <a:latin typeface="Arial"/>
                <a:cs typeface="Arial"/>
              </a:rPr>
              <a:t>	</a:t>
            </a:r>
            <a:r>
              <a:rPr sz="2200" spc="-5" dirty="0">
                <a:latin typeface="Arial"/>
                <a:cs typeface="Arial"/>
              </a:rPr>
              <a:t>used</a:t>
            </a:r>
            <a:r>
              <a:rPr sz="2200" dirty="0">
                <a:latin typeface="Arial"/>
                <a:cs typeface="Arial"/>
              </a:rPr>
              <a:t>	</a:t>
            </a:r>
            <a:r>
              <a:rPr sz="2200" spc="5" dirty="0">
                <a:latin typeface="Arial"/>
                <a:cs typeface="Arial"/>
              </a:rPr>
              <a:t>f</a:t>
            </a:r>
            <a:r>
              <a:rPr sz="2200" spc="-5" dirty="0">
                <a:latin typeface="Arial"/>
                <a:cs typeface="Arial"/>
              </a:rPr>
              <a:t>or</a:t>
            </a:r>
            <a:r>
              <a:rPr sz="2200" dirty="0">
                <a:latin typeface="Arial"/>
                <a:cs typeface="Arial"/>
              </a:rPr>
              <a:t>	</a:t>
            </a:r>
            <a:r>
              <a:rPr sz="2200" spc="-5" dirty="0">
                <a:latin typeface="Arial"/>
                <a:cs typeface="Arial"/>
              </a:rPr>
              <a:t>en</a:t>
            </a:r>
            <a:r>
              <a:rPr sz="2200" spc="5" dirty="0">
                <a:latin typeface="Arial"/>
                <a:cs typeface="Arial"/>
              </a:rPr>
              <a:t>c</a:t>
            </a:r>
            <a:r>
              <a:rPr sz="2200" spc="20" dirty="0">
                <a:latin typeface="Arial"/>
                <a:cs typeface="Arial"/>
              </a:rPr>
              <a:t>r</a:t>
            </a:r>
            <a:r>
              <a:rPr sz="2200" spc="-40" dirty="0">
                <a:latin typeface="Arial"/>
                <a:cs typeface="Arial"/>
              </a:rPr>
              <a:t>y</a:t>
            </a:r>
            <a:r>
              <a:rPr sz="2200" spc="-5" dirty="0">
                <a:latin typeface="Arial"/>
                <a:cs typeface="Arial"/>
              </a:rPr>
              <a:t>pti</a:t>
            </a:r>
            <a:r>
              <a:rPr sz="2200" spc="5" dirty="0">
                <a:latin typeface="Arial"/>
                <a:cs typeface="Arial"/>
              </a:rPr>
              <a:t>o</a:t>
            </a:r>
            <a:r>
              <a:rPr sz="2200" dirty="0">
                <a:latin typeface="Arial"/>
                <a:cs typeface="Arial"/>
              </a:rPr>
              <a:t>n.	</a:t>
            </a:r>
            <a:r>
              <a:rPr sz="2200" spc="35" dirty="0">
                <a:latin typeface="Arial"/>
                <a:cs typeface="Arial"/>
              </a:rPr>
              <a:t>T</a:t>
            </a:r>
            <a:r>
              <a:rPr sz="2200" spc="-5" dirty="0">
                <a:latin typeface="Arial"/>
                <a:cs typeface="Arial"/>
              </a:rPr>
              <a:t>hese</a:t>
            </a:r>
            <a:r>
              <a:rPr sz="2200" dirty="0">
                <a:latin typeface="Arial"/>
                <a:cs typeface="Arial"/>
              </a:rPr>
              <a:t>	</a:t>
            </a:r>
            <a:r>
              <a:rPr sz="2200" spc="-5" dirty="0">
                <a:latin typeface="Arial"/>
                <a:cs typeface="Arial"/>
              </a:rPr>
              <a:t>a</a:t>
            </a:r>
            <a:r>
              <a:rPr sz="2200" spc="-20" dirty="0">
                <a:latin typeface="Arial"/>
                <a:cs typeface="Arial"/>
              </a:rPr>
              <a:t>l</a:t>
            </a:r>
            <a:r>
              <a:rPr sz="2200" spc="-5" dirty="0">
                <a:latin typeface="Arial"/>
                <a:cs typeface="Arial"/>
              </a:rPr>
              <a:t>gor</a:t>
            </a:r>
            <a:r>
              <a:rPr sz="2200" spc="-15" dirty="0">
                <a:latin typeface="Arial"/>
                <a:cs typeface="Arial"/>
              </a:rPr>
              <a:t>i</a:t>
            </a:r>
            <a:r>
              <a:rPr sz="2200" spc="5" dirty="0">
                <a:latin typeface="Arial"/>
                <a:cs typeface="Arial"/>
              </a:rPr>
              <a:t>t</a:t>
            </a:r>
            <a:r>
              <a:rPr sz="2200" spc="-5" dirty="0">
                <a:latin typeface="Arial"/>
                <a:cs typeface="Arial"/>
              </a:rPr>
              <a:t>hms	ge</a:t>
            </a:r>
            <a:r>
              <a:rPr sz="2200" spc="-15" dirty="0">
                <a:latin typeface="Arial"/>
                <a:cs typeface="Arial"/>
              </a:rPr>
              <a:t>n</a:t>
            </a:r>
            <a:r>
              <a:rPr sz="2200" spc="-5" dirty="0">
                <a:latin typeface="Arial"/>
                <a:cs typeface="Arial"/>
              </a:rPr>
              <a:t>era</a:t>
            </a:r>
            <a:r>
              <a:rPr sz="2200" spc="5" dirty="0">
                <a:latin typeface="Arial"/>
                <a:cs typeface="Arial"/>
              </a:rPr>
              <a:t>t</a:t>
            </a:r>
            <a:r>
              <a:rPr sz="2200" spc="-5" dirty="0">
                <a:latin typeface="Arial"/>
                <a:cs typeface="Arial"/>
              </a:rPr>
              <a:t>e</a:t>
            </a:r>
            <a:r>
              <a:rPr sz="2200" dirty="0">
                <a:latin typeface="Arial"/>
                <a:cs typeface="Arial"/>
              </a:rPr>
              <a:t>	</a:t>
            </a:r>
            <a:r>
              <a:rPr sz="2200" spc="-5" dirty="0">
                <a:latin typeface="Arial"/>
                <a:cs typeface="Arial"/>
              </a:rPr>
              <a:t>k</a:t>
            </a:r>
            <a:r>
              <a:rPr sz="2200" spc="10" dirty="0">
                <a:latin typeface="Arial"/>
                <a:cs typeface="Arial"/>
              </a:rPr>
              <a:t>e</a:t>
            </a:r>
            <a:r>
              <a:rPr sz="2200" dirty="0">
                <a:latin typeface="Arial"/>
                <a:cs typeface="Arial"/>
              </a:rPr>
              <a:t>ys  </a:t>
            </a:r>
            <a:r>
              <a:rPr sz="2200" spc="-5" dirty="0">
                <a:latin typeface="Arial"/>
                <a:cs typeface="Arial"/>
              </a:rPr>
              <a:t>related</a:t>
            </a:r>
            <a:r>
              <a:rPr sz="2200" spc="25" dirty="0">
                <a:latin typeface="Arial"/>
                <a:cs typeface="Arial"/>
              </a:rPr>
              <a:t> </a:t>
            </a:r>
            <a:r>
              <a:rPr sz="2200" dirty="0">
                <a:latin typeface="Arial"/>
                <a:cs typeface="Arial"/>
              </a:rPr>
              <a:t>to</a:t>
            </a:r>
            <a:r>
              <a:rPr sz="2200" spc="-15" dirty="0">
                <a:latin typeface="Arial"/>
                <a:cs typeface="Arial"/>
              </a:rPr>
              <a:t> </a:t>
            </a:r>
            <a:r>
              <a:rPr sz="2200" dirty="0">
                <a:latin typeface="Arial"/>
                <a:cs typeface="Arial"/>
              </a:rPr>
              <a:t>the </a:t>
            </a:r>
            <a:r>
              <a:rPr sz="2200" spc="-5" dirty="0">
                <a:latin typeface="Arial"/>
                <a:cs typeface="Arial"/>
              </a:rPr>
              <a:t>encrypted</a:t>
            </a:r>
            <a:r>
              <a:rPr sz="2200" spc="50" dirty="0">
                <a:latin typeface="Arial"/>
                <a:cs typeface="Arial"/>
              </a:rPr>
              <a:t> </a:t>
            </a:r>
            <a:r>
              <a:rPr sz="2200" spc="-5" dirty="0">
                <a:latin typeface="Arial"/>
                <a:cs typeface="Arial"/>
              </a:rPr>
              <a:t>data.</a:t>
            </a:r>
            <a:endParaRPr sz="2200">
              <a:latin typeface="Arial"/>
              <a:cs typeface="Arial"/>
            </a:endParaRPr>
          </a:p>
          <a:p>
            <a:pPr marL="354965" marR="5080" indent="-342900">
              <a:lnSpc>
                <a:spcPct val="100000"/>
              </a:lnSpc>
              <a:spcBef>
                <a:spcPts val="520"/>
              </a:spcBef>
              <a:buFont typeface="Wingdings"/>
              <a:buChar char=""/>
              <a:tabLst>
                <a:tab pos="355600" algn="l"/>
                <a:tab pos="1280160" algn="l"/>
                <a:tab pos="1993900" algn="l"/>
                <a:tab pos="2512695" algn="l"/>
                <a:tab pos="2811780" algn="l"/>
                <a:tab pos="3375660" algn="l"/>
                <a:tab pos="4575175" algn="l"/>
                <a:tab pos="5108575" algn="l"/>
                <a:tab pos="6544309" algn="l"/>
                <a:tab pos="7153909" algn="l"/>
                <a:tab pos="8589645" algn="l"/>
                <a:tab pos="10210165" algn="l"/>
              </a:tabLst>
            </a:pPr>
            <a:r>
              <a:rPr sz="2200" spc="30" dirty="0">
                <a:latin typeface="Arial"/>
                <a:cs typeface="Arial"/>
              </a:rPr>
              <a:t>T</a:t>
            </a:r>
            <a:r>
              <a:rPr sz="2200" spc="-5" dirty="0">
                <a:latin typeface="Arial"/>
                <a:cs typeface="Arial"/>
              </a:rPr>
              <a:t>hese</a:t>
            </a:r>
            <a:r>
              <a:rPr sz="2200" dirty="0">
                <a:latin typeface="Arial"/>
                <a:cs typeface="Arial"/>
              </a:rPr>
              <a:t>	ke</a:t>
            </a:r>
            <a:r>
              <a:rPr sz="2200" spc="-45" dirty="0">
                <a:latin typeface="Arial"/>
                <a:cs typeface="Arial"/>
              </a:rPr>
              <a:t>y</a:t>
            </a:r>
            <a:r>
              <a:rPr sz="2200" dirty="0">
                <a:latin typeface="Arial"/>
                <a:cs typeface="Arial"/>
              </a:rPr>
              <a:t>s	set	</a:t>
            </a:r>
            <a:r>
              <a:rPr sz="2200" spc="-5" dirty="0">
                <a:latin typeface="Arial"/>
                <a:cs typeface="Arial"/>
              </a:rPr>
              <a:t>a</a:t>
            </a:r>
            <a:r>
              <a:rPr sz="2200" dirty="0">
                <a:latin typeface="Arial"/>
                <a:cs typeface="Arial"/>
              </a:rPr>
              <a:t>	</a:t>
            </a:r>
            <a:r>
              <a:rPr sz="2200" spc="-15" dirty="0">
                <a:latin typeface="Arial"/>
                <a:cs typeface="Arial"/>
              </a:rPr>
              <a:t>l</a:t>
            </a:r>
            <a:r>
              <a:rPr sz="2200" dirty="0">
                <a:latin typeface="Arial"/>
                <a:cs typeface="Arial"/>
              </a:rPr>
              <a:t>i</a:t>
            </a:r>
            <a:r>
              <a:rPr sz="2200" spc="-5" dirty="0">
                <a:latin typeface="Arial"/>
                <a:cs typeface="Arial"/>
              </a:rPr>
              <a:t>nk</a:t>
            </a:r>
            <a:r>
              <a:rPr sz="2200" dirty="0">
                <a:latin typeface="Arial"/>
                <a:cs typeface="Arial"/>
              </a:rPr>
              <a:t>	be</a:t>
            </a:r>
            <a:r>
              <a:rPr sz="2200" spc="15" dirty="0">
                <a:latin typeface="Arial"/>
                <a:cs typeface="Arial"/>
              </a:rPr>
              <a:t>t</a:t>
            </a:r>
            <a:r>
              <a:rPr sz="2200" spc="-35" dirty="0">
                <a:latin typeface="Arial"/>
                <a:cs typeface="Arial"/>
              </a:rPr>
              <a:t>w</a:t>
            </a:r>
            <a:r>
              <a:rPr sz="2200" spc="-5" dirty="0">
                <a:latin typeface="Arial"/>
                <a:cs typeface="Arial"/>
              </a:rPr>
              <a:t>een</a:t>
            </a:r>
            <a:r>
              <a:rPr sz="2200" dirty="0">
                <a:latin typeface="Arial"/>
                <a:cs typeface="Arial"/>
              </a:rPr>
              <a:t>	</a:t>
            </a:r>
            <a:r>
              <a:rPr sz="2200" spc="5" dirty="0">
                <a:latin typeface="Arial"/>
                <a:cs typeface="Arial"/>
              </a:rPr>
              <a:t>t</a:t>
            </a:r>
            <a:r>
              <a:rPr sz="2200" spc="-5" dirty="0">
                <a:latin typeface="Arial"/>
                <a:cs typeface="Arial"/>
              </a:rPr>
              <a:t>he</a:t>
            </a:r>
            <a:r>
              <a:rPr sz="2200" dirty="0">
                <a:latin typeface="Arial"/>
                <a:cs typeface="Arial"/>
              </a:rPr>
              <a:t>	</a:t>
            </a:r>
            <a:r>
              <a:rPr sz="2200" spc="-5" dirty="0">
                <a:latin typeface="Arial"/>
                <a:cs typeface="Arial"/>
              </a:rPr>
              <a:t>e</a:t>
            </a:r>
            <a:r>
              <a:rPr sz="2200" spc="10" dirty="0">
                <a:latin typeface="Arial"/>
                <a:cs typeface="Arial"/>
              </a:rPr>
              <a:t>n</a:t>
            </a:r>
            <a:r>
              <a:rPr sz="2200" dirty="0">
                <a:latin typeface="Arial"/>
                <a:cs typeface="Arial"/>
              </a:rPr>
              <a:t>c</a:t>
            </a:r>
            <a:r>
              <a:rPr sz="2200" spc="30" dirty="0">
                <a:latin typeface="Arial"/>
                <a:cs typeface="Arial"/>
              </a:rPr>
              <a:t>r</a:t>
            </a:r>
            <a:r>
              <a:rPr sz="2200" spc="-40" dirty="0">
                <a:latin typeface="Arial"/>
                <a:cs typeface="Arial"/>
              </a:rPr>
              <a:t>y</a:t>
            </a:r>
            <a:r>
              <a:rPr sz="2200" dirty="0">
                <a:latin typeface="Arial"/>
                <a:cs typeface="Arial"/>
              </a:rPr>
              <a:t>p</a:t>
            </a:r>
            <a:r>
              <a:rPr sz="2200" spc="5" dirty="0">
                <a:latin typeface="Arial"/>
                <a:cs typeface="Arial"/>
              </a:rPr>
              <a:t>t</a:t>
            </a:r>
            <a:r>
              <a:rPr sz="2200" spc="-5" dirty="0">
                <a:latin typeface="Arial"/>
                <a:cs typeface="Arial"/>
              </a:rPr>
              <a:t>i</a:t>
            </a:r>
            <a:r>
              <a:rPr sz="2200" spc="5" dirty="0">
                <a:latin typeface="Arial"/>
                <a:cs typeface="Arial"/>
              </a:rPr>
              <a:t>o</a:t>
            </a:r>
            <a:r>
              <a:rPr sz="2200" spc="-5" dirty="0">
                <a:latin typeface="Arial"/>
                <a:cs typeface="Arial"/>
              </a:rPr>
              <a:t>n</a:t>
            </a:r>
            <a:r>
              <a:rPr sz="2200" dirty="0">
                <a:latin typeface="Arial"/>
                <a:cs typeface="Arial"/>
              </a:rPr>
              <a:t>	</a:t>
            </a:r>
            <a:r>
              <a:rPr sz="2200" spc="-10" dirty="0">
                <a:latin typeface="Arial"/>
                <a:cs typeface="Arial"/>
              </a:rPr>
              <a:t>an</a:t>
            </a:r>
            <a:r>
              <a:rPr sz="2200" spc="-5" dirty="0">
                <a:latin typeface="Arial"/>
                <a:cs typeface="Arial"/>
              </a:rPr>
              <a:t>d</a:t>
            </a:r>
            <a:r>
              <a:rPr sz="2200" dirty="0">
                <a:latin typeface="Arial"/>
                <a:cs typeface="Arial"/>
              </a:rPr>
              <a:t>	</a:t>
            </a:r>
            <a:r>
              <a:rPr sz="2200" spc="-5" dirty="0">
                <a:latin typeface="Arial"/>
                <a:cs typeface="Arial"/>
              </a:rPr>
              <a:t>dec</a:t>
            </a:r>
            <a:r>
              <a:rPr sz="2200" spc="10" dirty="0">
                <a:latin typeface="Arial"/>
                <a:cs typeface="Arial"/>
              </a:rPr>
              <a:t>r</a:t>
            </a:r>
            <a:r>
              <a:rPr sz="2200" spc="-20" dirty="0">
                <a:latin typeface="Arial"/>
                <a:cs typeface="Arial"/>
              </a:rPr>
              <a:t>y</a:t>
            </a:r>
            <a:r>
              <a:rPr sz="2200" spc="10" dirty="0">
                <a:latin typeface="Arial"/>
                <a:cs typeface="Arial"/>
              </a:rPr>
              <a:t>p</a:t>
            </a:r>
            <a:r>
              <a:rPr sz="2200" spc="5" dirty="0">
                <a:latin typeface="Arial"/>
                <a:cs typeface="Arial"/>
              </a:rPr>
              <a:t>t</a:t>
            </a:r>
            <a:r>
              <a:rPr sz="2200" spc="-15" dirty="0">
                <a:latin typeface="Arial"/>
                <a:cs typeface="Arial"/>
              </a:rPr>
              <a:t>i</a:t>
            </a:r>
            <a:r>
              <a:rPr sz="2200" spc="-5" dirty="0">
                <a:latin typeface="Arial"/>
                <a:cs typeface="Arial"/>
              </a:rPr>
              <a:t>on</a:t>
            </a:r>
            <a:r>
              <a:rPr sz="2200" dirty="0">
                <a:latin typeface="Arial"/>
                <a:cs typeface="Arial"/>
              </a:rPr>
              <a:t>	</a:t>
            </a:r>
            <a:r>
              <a:rPr sz="2200" spc="-5" dirty="0">
                <a:latin typeface="Arial"/>
                <a:cs typeface="Arial"/>
              </a:rPr>
              <a:t>proced</a:t>
            </a:r>
            <a:r>
              <a:rPr sz="2200" spc="-15" dirty="0">
                <a:latin typeface="Arial"/>
                <a:cs typeface="Arial"/>
              </a:rPr>
              <a:t>u</a:t>
            </a:r>
            <a:r>
              <a:rPr sz="2200" dirty="0">
                <a:latin typeface="Arial"/>
                <a:cs typeface="Arial"/>
              </a:rPr>
              <a:t>r</a:t>
            </a:r>
            <a:r>
              <a:rPr sz="2200" spc="-5" dirty="0">
                <a:latin typeface="Arial"/>
                <a:cs typeface="Arial"/>
              </a:rPr>
              <a:t>es</a:t>
            </a:r>
            <a:r>
              <a:rPr sz="2200" dirty="0">
                <a:latin typeface="Arial"/>
                <a:cs typeface="Arial"/>
              </a:rPr>
              <a:t>.	</a:t>
            </a:r>
            <a:r>
              <a:rPr sz="2200" spc="30" dirty="0">
                <a:latin typeface="Arial"/>
                <a:cs typeface="Arial"/>
              </a:rPr>
              <a:t>T</a:t>
            </a:r>
            <a:r>
              <a:rPr sz="2200" spc="-30" dirty="0">
                <a:latin typeface="Arial"/>
                <a:cs typeface="Arial"/>
              </a:rPr>
              <a:t>h</a:t>
            </a:r>
            <a:r>
              <a:rPr sz="2200" spc="-5" dirty="0">
                <a:latin typeface="Arial"/>
                <a:cs typeface="Arial"/>
              </a:rPr>
              <a:t>e  encrypted</a:t>
            </a:r>
            <a:r>
              <a:rPr sz="2200" spc="45" dirty="0">
                <a:latin typeface="Arial"/>
                <a:cs typeface="Arial"/>
              </a:rPr>
              <a:t> </a:t>
            </a:r>
            <a:r>
              <a:rPr sz="2200" spc="-5" dirty="0">
                <a:latin typeface="Arial"/>
                <a:cs typeface="Arial"/>
              </a:rPr>
              <a:t>data</a:t>
            </a:r>
            <a:r>
              <a:rPr sz="2200" spc="5" dirty="0">
                <a:latin typeface="Arial"/>
                <a:cs typeface="Arial"/>
              </a:rPr>
              <a:t> </a:t>
            </a:r>
            <a:r>
              <a:rPr sz="2200" spc="-5" dirty="0">
                <a:latin typeface="Arial"/>
                <a:cs typeface="Arial"/>
              </a:rPr>
              <a:t>can</a:t>
            </a:r>
            <a:r>
              <a:rPr sz="2200" spc="25" dirty="0">
                <a:latin typeface="Arial"/>
                <a:cs typeface="Arial"/>
              </a:rPr>
              <a:t> </a:t>
            </a:r>
            <a:r>
              <a:rPr sz="2200" spc="-5" dirty="0">
                <a:latin typeface="Arial"/>
                <a:cs typeface="Arial"/>
              </a:rPr>
              <a:t>be</a:t>
            </a:r>
            <a:r>
              <a:rPr sz="2200" dirty="0">
                <a:latin typeface="Arial"/>
                <a:cs typeface="Arial"/>
              </a:rPr>
              <a:t> </a:t>
            </a:r>
            <a:r>
              <a:rPr sz="2200" spc="-5" dirty="0">
                <a:latin typeface="Arial"/>
                <a:cs typeface="Arial"/>
              </a:rPr>
              <a:t>decrypted</a:t>
            </a:r>
            <a:r>
              <a:rPr sz="2200" spc="50" dirty="0">
                <a:latin typeface="Arial"/>
                <a:cs typeface="Arial"/>
              </a:rPr>
              <a:t> </a:t>
            </a:r>
            <a:r>
              <a:rPr sz="2200" spc="-10" dirty="0">
                <a:latin typeface="Arial"/>
                <a:cs typeface="Arial"/>
              </a:rPr>
              <a:t>only</a:t>
            </a:r>
            <a:r>
              <a:rPr sz="2200" spc="25" dirty="0">
                <a:latin typeface="Arial"/>
                <a:cs typeface="Arial"/>
              </a:rPr>
              <a:t> </a:t>
            </a:r>
            <a:r>
              <a:rPr sz="2200" spc="-5" dirty="0">
                <a:latin typeface="Arial"/>
                <a:cs typeface="Arial"/>
              </a:rPr>
              <a:t>by</a:t>
            </a:r>
            <a:r>
              <a:rPr sz="2200" spc="-15" dirty="0">
                <a:latin typeface="Arial"/>
                <a:cs typeface="Arial"/>
              </a:rPr>
              <a:t> </a:t>
            </a:r>
            <a:r>
              <a:rPr sz="2200" spc="-5" dirty="0">
                <a:latin typeface="Arial"/>
                <a:cs typeface="Arial"/>
              </a:rPr>
              <a:t>using</a:t>
            </a:r>
            <a:r>
              <a:rPr sz="2200" spc="20" dirty="0">
                <a:latin typeface="Arial"/>
                <a:cs typeface="Arial"/>
              </a:rPr>
              <a:t> </a:t>
            </a:r>
            <a:r>
              <a:rPr sz="2200" dirty="0">
                <a:latin typeface="Arial"/>
                <a:cs typeface="Arial"/>
              </a:rPr>
              <a:t>these </a:t>
            </a:r>
            <a:r>
              <a:rPr sz="2200" spc="-10" dirty="0">
                <a:latin typeface="Arial"/>
                <a:cs typeface="Arial"/>
              </a:rPr>
              <a:t>keys.</a:t>
            </a:r>
            <a:endParaRPr sz="2200">
              <a:latin typeface="Arial"/>
              <a:cs typeface="Arial"/>
            </a:endParaRPr>
          </a:p>
        </p:txBody>
      </p:sp>
      <p:pic>
        <p:nvPicPr>
          <p:cNvPr id="6" name="object 6"/>
          <p:cNvPicPr/>
          <p:nvPr/>
        </p:nvPicPr>
        <p:blipFill>
          <a:blip r:embed="rId2" cstate="print"/>
          <a:stretch>
            <a:fillRect/>
          </a:stretch>
        </p:blipFill>
        <p:spPr>
          <a:xfrm>
            <a:off x="2722879" y="2527300"/>
            <a:ext cx="4030979" cy="192532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57</a:t>
            </a:fld>
            <a:endParaRPr spc="-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633857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Verdana"/>
                <a:cs typeface="Verdana"/>
              </a:rPr>
              <a:t>Public</a:t>
            </a:r>
            <a:r>
              <a:rPr sz="3600" spc="-80" dirty="0">
                <a:solidFill>
                  <a:srgbClr val="000000"/>
                </a:solidFill>
                <a:latin typeface="Verdana"/>
                <a:cs typeface="Verdana"/>
              </a:rPr>
              <a:t> </a:t>
            </a:r>
            <a:r>
              <a:rPr sz="3600" dirty="0">
                <a:solidFill>
                  <a:srgbClr val="000000"/>
                </a:solidFill>
                <a:latin typeface="Verdana"/>
                <a:cs typeface="Verdana"/>
              </a:rPr>
              <a:t>Key</a:t>
            </a:r>
            <a:r>
              <a:rPr sz="3600" spc="-50" dirty="0">
                <a:solidFill>
                  <a:srgbClr val="000000"/>
                </a:solidFill>
                <a:latin typeface="Verdana"/>
                <a:cs typeface="Verdana"/>
              </a:rPr>
              <a:t> </a:t>
            </a:r>
            <a:r>
              <a:rPr sz="3600" spc="-5" dirty="0">
                <a:solidFill>
                  <a:srgbClr val="000000"/>
                </a:solidFill>
                <a:latin typeface="Verdana"/>
                <a:cs typeface="Verdana"/>
              </a:rPr>
              <a:t>Cryptography</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72782" y="980059"/>
            <a:ext cx="10703560" cy="2306955"/>
          </a:xfrm>
          <a:prstGeom prst="rect">
            <a:avLst/>
          </a:prstGeom>
        </p:spPr>
        <p:txBody>
          <a:bodyPr vert="horz" wrap="square" lIns="0" tIns="12700" rIns="0" bIns="0" rtlCol="0">
            <a:spAutoFit/>
          </a:bodyPr>
          <a:lstStyle/>
          <a:p>
            <a:pPr marL="354965" marR="5080" indent="-342900">
              <a:lnSpc>
                <a:spcPct val="100000"/>
              </a:lnSpc>
              <a:spcBef>
                <a:spcPts val="100"/>
              </a:spcBef>
              <a:buFont typeface="Wingdings"/>
              <a:buChar char=""/>
              <a:tabLst>
                <a:tab pos="355600" algn="l"/>
              </a:tabLst>
            </a:pPr>
            <a:r>
              <a:rPr sz="2200" spc="-10" dirty="0">
                <a:latin typeface="Arial"/>
                <a:cs typeface="Arial"/>
              </a:rPr>
              <a:t>Public</a:t>
            </a:r>
            <a:r>
              <a:rPr sz="2200" spc="80" dirty="0">
                <a:latin typeface="Arial"/>
                <a:cs typeface="Arial"/>
              </a:rPr>
              <a:t> </a:t>
            </a:r>
            <a:r>
              <a:rPr sz="2200" dirty="0">
                <a:latin typeface="Arial"/>
                <a:cs typeface="Arial"/>
              </a:rPr>
              <a:t>key</a:t>
            </a:r>
            <a:r>
              <a:rPr sz="2200" spc="60" dirty="0">
                <a:latin typeface="Arial"/>
                <a:cs typeface="Arial"/>
              </a:rPr>
              <a:t> </a:t>
            </a:r>
            <a:r>
              <a:rPr sz="2200" dirty="0">
                <a:latin typeface="Arial"/>
                <a:cs typeface="Arial"/>
              </a:rPr>
              <a:t>cryptography</a:t>
            </a:r>
            <a:r>
              <a:rPr sz="2200" spc="50" dirty="0">
                <a:latin typeface="Arial"/>
                <a:cs typeface="Arial"/>
              </a:rPr>
              <a:t> </a:t>
            </a:r>
            <a:r>
              <a:rPr sz="2200" spc="-5" dirty="0">
                <a:latin typeface="Arial"/>
                <a:cs typeface="Arial"/>
              </a:rPr>
              <a:t>(PKC)</a:t>
            </a:r>
            <a:r>
              <a:rPr sz="2200" spc="90" dirty="0">
                <a:latin typeface="Arial"/>
                <a:cs typeface="Arial"/>
              </a:rPr>
              <a:t> </a:t>
            </a:r>
            <a:r>
              <a:rPr sz="2200" spc="-10" dirty="0">
                <a:latin typeface="Arial"/>
                <a:cs typeface="Arial"/>
              </a:rPr>
              <a:t>is</a:t>
            </a:r>
            <a:r>
              <a:rPr sz="2200" spc="75" dirty="0">
                <a:latin typeface="Arial"/>
                <a:cs typeface="Arial"/>
              </a:rPr>
              <a:t> </a:t>
            </a:r>
            <a:r>
              <a:rPr sz="2200" spc="-5" dirty="0">
                <a:latin typeface="Arial"/>
                <a:cs typeface="Arial"/>
              </a:rPr>
              <a:t>an</a:t>
            </a:r>
            <a:r>
              <a:rPr sz="2200" spc="75" dirty="0">
                <a:latin typeface="Arial"/>
                <a:cs typeface="Arial"/>
              </a:rPr>
              <a:t> </a:t>
            </a:r>
            <a:r>
              <a:rPr sz="2200" spc="-5" dirty="0">
                <a:latin typeface="Arial"/>
                <a:cs typeface="Arial"/>
              </a:rPr>
              <a:t>encryption</a:t>
            </a:r>
            <a:r>
              <a:rPr sz="2200" spc="85" dirty="0">
                <a:latin typeface="Arial"/>
                <a:cs typeface="Arial"/>
              </a:rPr>
              <a:t> </a:t>
            </a:r>
            <a:r>
              <a:rPr sz="2200" spc="-5" dirty="0">
                <a:latin typeface="Arial"/>
                <a:cs typeface="Arial"/>
              </a:rPr>
              <a:t>technique</a:t>
            </a:r>
            <a:r>
              <a:rPr sz="2200" spc="75" dirty="0">
                <a:latin typeface="Arial"/>
                <a:cs typeface="Arial"/>
              </a:rPr>
              <a:t> </a:t>
            </a:r>
            <a:r>
              <a:rPr sz="2200" dirty="0">
                <a:latin typeface="Arial"/>
                <a:cs typeface="Arial"/>
              </a:rPr>
              <a:t>that</a:t>
            </a:r>
            <a:r>
              <a:rPr sz="2200" spc="80" dirty="0">
                <a:latin typeface="Arial"/>
                <a:cs typeface="Arial"/>
              </a:rPr>
              <a:t> </a:t>
            </a:r>
            <a:r>
              <a:rPr sz="2200" spc="-5" dirty="0">
                <a:latin typeface="Arial"/>
                <a:cs typeface="Arial"/>
              </a:rPr>
              <a:t>uses</a:t>
            </a:r>
            <a:r>
              <a:rPr sz="2200" spc="70" dirty="0">
                <a:latin typeface="Arial"/>
                <a:cs typeface="Arial"/>
              </a:rPr>
              <a:t> </a:t>
            </a:r>
            <a:r>
              <a:rPr sz="2200" spc="-5" dirty="0">
                <a:latin typeface="Arial"/>
                <a:cs typeface="Arial"/>
              </a:rPr>
              <a:t>a</a:t>
            </a:r>
            <a:r>
              <a:rPr sz="2200" spc="80" dirty="0">
                <a:latin typeface="Arial"/>
                <a:cs typeface="Arial"/>
              </a:rPr>
              <a:t> </a:t>
            </a:r>
            <a:r>
              <a:rPr sz="2200" spc="-5" dirty="0">
                <a:latin typeface="Arial"/>
                <a:cs typeface="Arial"/>
              </a:rPr>
              <a:t>paired</a:t>
            </a:r>
            <a:r>
              <a:rPr sz="2200" spc="75" dirty="0">
                <a:latin typeface="Arial"/>
                <a:cs typeface="Arial"/>
              </a:rPr>
              <a:t> </a:t>
            </a:r>
            <a:r>
              <a:rPr sz="2200" spc="-5" dirty="0">
                <a:latin typeface="Arial"/>
                <a:cs typeface="Arial"/>
              </a:rPr>
              <a:t>public </a:t>
            </a:r>
            <a:r>
              <a:rPr sz="2200" spc="-600" dirty="0">
                <a:latin typeface="Arial"/>
                <a:cs typeface="Arial"/>
              </a:rPr>
              <a:t> </a:t>
            </a:r>
            <a:r>
              <a:rPr sz="2200" spc="-5" dirty="0">
                <a:latin typeface="Arial"/>
                <a:cs typeface="Arial"/>
              </a:rPr>
              <a:t>and</a:t>
            </a:r>
            <a:r>
              <a:rPr sz="2200" spc="5" dirty="0">
                <a:latin typeface="Arial"/>
                <a:cs typeface="Arial"/>
              </a:rPr>
              <a:t> </a:t>
            </a:r>
            <a:r>
              <a:rPr sz="2200" spc="-5" dirty="0">
                <a:latin typeface="Arial"/>
                <a:cs typeface="Arial"/>
              </a:rPr>
              <a:t>private</a:t>
            </a:r>
            <a:r>
              <a:rPr sz="2200" spc="30" dirty="0">
                <a:latin typeface="Arial"/>
                <a:cs typeface="Arial"/>
              </a:rPr>
              <a:t> </a:t>
            </a:r>
            <a:r>
              <a:rPr sz="2200" dirty="0">
                <a:latin typeface="Arial"/>
                <a:cs typeface="Arial"/>
              </a:rPr>
              <a:t>key</a:t>
            </a:r>
            <a:r>
              <a:rPr sz="2200" spc="5" dirty="0">
                <a:latin typeface="Arial"/>
                <a:cs typeface="Arial"/>
              </a:rPr>
              <a:t> </a:t>
            </a:r>
            <a:r>
              <a:rPr sz="2200" spc="-5" dirty="0">
                <a:latin typeface="Arial"/>
                <a:cs typeface="Arial"/>
              </a:rPr>
              <a:t>(or</a:t>
            </a:r>
            <a:r>
              <a:rPr sz="2200" dirty="0">
                <a:latin typeface="Arial"/>
                <a:cs typeface="Arial"/>
              </a:rPr>
              <a:t> </a:t>
            </a:r>
            <a:r>
              <a:rPr sz="2200" spc="-5" dirty="0">
                <a:latin typeface="Arial"/>
                <a:cs typeface="Arial"/>
              </a:rPr>
              <a:t>asymmetric</a:t>
            </a:r>
            <a:r>
              <a:rPr sz="2200" spc="60" dirty="0">
                <a:latin typeface="Arial"/>
                <a:cs typeface="Arial"/>
              </a:rPr>
              <a:t> </a:t>
            </a:r>
            <a:r>
              <a:rPr sz="2200" spc="-15" dirty="0">
                <a:latin typeface="Arial"/>
                <a:cs typeface="Arial"/>
              </a:rPr>
              <a:t>key)</a:t>
            </a:r>
            <a:r>
              <a:rPr sz="2200" spc="60" dirty="0">
                <a:latin typeface="Arial"/>
                <a:cs typeface="Arial"/>
              </a:rPr>
              <a:t> </a:t>
            </a:r>
            <a:r>
              <a:rPr sz="2200" spc="-5" dirty="0">
                <a:latin typeface="Arial"/>
                <a:cs typeface="Arial"/>
              </a:rPr>
              <a:t>algorithm</a:t>
            </a:r>
            <a:r>
              <a:rPr sz="2200" spc="15" dirty="0">
                <a:latin typeface="Arial"/>
                <a:cs typeface="Arial"/>
              </a:rPr>
              <a:t> </a:t>
            </a:r>
            <a:r>
              <a:rPr sz="2200" dirty="0">
                <a:latin typeface="Arial"/>
                <a:cs typeface="Arial"/>
              </a:rPr>
              <a:t>for</a:t>
            </a:r>
            <a:r>
              <a:rPr sz="2200" spc="15" dirty="0">
                <a:latin typeface="Arial"/>
                <a:cs typeface="Arial"/>
              </a:rPr>
              <a:t> </a:t>
            </a:r>
            <a:r>
              <a:rPr sz="2200" dirty="0">
                <a:latin typeface="Arial"/>
                <a:cs typeface="Arial"/>
              </a:rPr>
              <a:t>secure</a:t>
            </a:r>
            <a:r>
              <a:rPr sz="2200" spc="-5" dirty="0">
                <a:latin typeface="Arial"/>
                <a:cs typeface="Arial"/>
              </a:rPr>
              <a:t> data</a:t>
            </a:r>
            <a:r>
              <a:rPr sz="2200" spc="10" dirty="0">
                <a:latin typeface="Arial"/>
                <a:cs typeface="Arial"/>
              </a:rPr>
              <a:t> </a:t>
            </a:r>
            <a:r>
              <a:rPr sz="2200" spc="-5" dirty="0">
                <a:latin typeface="Arial"/>
                <a:cs typeface="Arial"/>
              </a:rPr>
              <a:t>communication.</a:t>
            </a:r>
            <a:endParaRPr sz="2200">
              <a:latin typeface="Arial"/>
              <a:cs typeface="Arial"/>
            </a:endParaRPr>
          </a:p>
          <a:p>
            <a:pPr>
              <a:lnSpc>
                <a:spcPct val="100000"/>
              </a:lnSpc>
              <a:spcBef>
                <a:spcPts val="20"/>
              </a:spcBef>
              <a:buFont typeface="Wingdings"/>
              <a:buChar char=""/>
            </a:pPr>
            <a:endParaRPr sz="3200">
              <a:latin typeface="Arial"/>
              <a:cs typeface="Arial"/>
            </a:endParaRPr>
          </a:p>
          <a:p>
            <a:pPr marL="355600" indent="-342900">
              <a:lnSpc>
                <a:spcPct val="100000"/>
              </a:lnSpc>
              <a:buFont typeface="Wingdings"/>
              <a:buChar char=""/>
              <a:tabLst>
                <a:tab pos="355600" algn="l"/>
              </a:tabLst>
            </a:pPr>
            <a:r>
              <a:rPr sz="2200" dirty="0">
                <a:latin typeface="Arial"/>
                <a:cs typeface="Arial"/>
              </a:rPr>
              <a:t>A</a:t>
            </a:r>
            <a:r>
              <a:rPr sz="2200" spc="5" dirty="0">
                <a:latin typeface="Arial"/>
                <a:cs typeface="Arial"/>
              </a:rPr>
              <a:t> </a:t>
            </a:r>
            <a:r>
              <a:rPr sz="2200" spc="-5" dirty="0">
                <a:latin typeface="Arial"/>
                <a:cs typeface="Arial"/>
              </a:rPr>
              <a:t>message</a:t>
            </a:r>
            <a:r>
              <a:rPr sz="2200" spc="15" dirty="0">
                <a:latin typeface="Arial"/>
                <a:cs typeface="Arial"/>
              </a:rPr>
              <a:t> </a:t>
            </a:r>
            <a:r>
              <a:rPr sz="2200" spc="-5" dirty="0">
                <a:latin typeface="Arial"/>
                <a:cs typeface="Arial"/>
              </a:rPr>
              <a:t>sender</a:t>
            </a:r>
            <a:r>
              <a:rPr sz="2200" spc="45" dirty="0">
                <a:latin typeface="Arial"/>
                <a:cs typeface="Arial"/>
              </a:rPr>
              <a:t> </a:t>
            </a:r>
            <a:r>
              <a:rPr sz="2200" spc="-5" dirty="0">
                <a:latin typeface="Arial"/>
                <a:cs typeface="Arial"/>
              </a:rPr>
              <a:t>uses</a:t>
            </a:r>
            <a:r>
              <a:rPr sz="2200" spc="10" dirty="0">
                <a:latin typeface="Arial"/>
                <a:cs typeface="Arial"/>
              </a:rPr>
              <a:t> </a:t>
            </a:r>
            <a:r>
              <a:rPr sz="2200" spc="-5" dirty="0">
                <a:latin typeface="Arial"/>
                <a:cs typeface="Arial"/>
              </a:rPr>
              <a:t>a</a:t>
            </a:r>
            <a:r>
              <a:rPr sz="2200" spc="15" dirty="0">
                <a:latin typeface="Arial"/>
                <a:cs typeface="Arial"/>
              </a:rPr>
              <a:t> </a:t>
            </a:r>
            <a:r>
              <a:rPr sz="2200" spc="-5" dirty="0">
                <a:latin typeface="Arial"/>
                <a:cs typeface="Arial"/>
              </a:rPr>
              <a:t>recipient's</a:t>
            </a:r>
            <a:r>
              <a:rPr sz="2200" spc="20" dirty="0">
                <a:latin typeface="Arial"/>
                <a:cs typeface="Arial"/>
              </a:rPr>
              <a:t> </a:t>
            </a:r>
            <a:r>
              <a:rPr sz="2200" spc="-10" dirty="0">
                <a:latin typeface="Arial"/>
                <a:cs typeface="Arial"/>
              </a:rPr>
              <a:t>public</a:t>
            </a:r>
            <a:r>
              <a:rPr sz="2200" spc="40" dirty="0">
                <a:latin typeface="Arial"/>
                <a:cs typeface="Arial"/>
              </a:rPr>
              <a:t> </a:t>
            </a:r>
            <a:r>
              <a:rPr sz="2200" dirty="0">
                <a:latin typeface="Arial"/>
                <a:cs typeface="Arial"/>
              </a:rPr>
              <a:t>key</a:t>
            </a:r>
            <a:r>
              <a:rPr sz="2200" spc="15" dirty="0">
                <a:latin typeface="Arial"/>
                <a:cs typeface="Arial"/>
              </a:rPr>
              <a:t> </a:t>
            </a:r>
            <a:r>
              <a:rPr sz="2200" dirty="0">
                <a:latin typeface="Arial"/>
                <a:cs typeface="Arial"/>
              </a:rPr>
              <a:t>to</a:t>
            </a:r>
            <a:r>
              <a:rPr sz="2200" spc="-5" dirty="0">
                <a:latin typeface="Arial"/>
                <a:cs typeface="Arial"/>
              </a:rPr>
              <a:t> </a:t>
            </a:r>
            <a:r>
              <a:rPr sz="2200" spc="-10" dirty="0">
                <a:latin typeface="Arial"/>
                <a:cs typeface="Arial"/>
              </a:rPr>
              <a:t>encrypt</a:t>
            </a:r>
            <a:r>
              <a:rPr sz="2200" spc="55" dirty="0">
                <a:latin typeface="Arial"/>
                <a:cs typeface="Arial"/>
              </a:rPr>
              <a:t> </a:t>
            </a:r>
            <a:r>
              <a:rPr sz="2200" spc="-5" dirty="0">
                <a:latin typeface="Arial"/>
                <a:cs typeface="Arial"/>
              </a:rPr>
              <a:t>a</a:t>
            </a:r>
            <a:r>
              <a:rPr sz="2200" spc="15" dirty="0">
                <a:latin typeface="Arial"/>
                <a:cs typeface="Arial"/>
              </a:rPr>
              <a:t> </a:t>
            </a:r>
            <a:r>
              <a:rPr sz="2200" spc="-5" dirty="0">
                <a:latin typeface="Arial"/>
                <a:cs typeface="Arial"/>
              </a:rPr>
              <a:t>message.</a:t>
            </a:r>
            <a:endParaRPr sz="2200">
              <a:latin typeface="Arial"/>
              <a:cs typeface="Arial"/>
            </a:endParaRPr>
          </a:p>
          <a:p>
            <a:pPr>
              <a:lnSpc>
                <a:spcPct val="100000"/>
              </a:lnSpc>
              <a:spcBef>
                <a:spcPts val="25"/>
              </a:spcBef>
              <a:buFont typeface="Wingdings"/>
              <a:buChar char=""/>
            </a:pPr>
            <a:endParaRPr sz="3200">
              <a:latin typeface="Arial"/>
              <a:cs typeface="Arial"/>
            </a:endParaRPr>
          </a:p>
          <a:p>
            <a:pPr marL="355600" indent="-342900">
              <a:lnSpc>
                <a:spcPct val="100000"/>
              </a:lnSpc>
              <a:buFont typeface="Wingdings"/>
              <a:buChar char=""/>
              <a:tabLst>
                <a:tab pos="355600" algn="l"/>
              </a:tabLst>
            </a:pPr>
            <a:r>
              <a:rPr sz="2200" spc="15" dirty="0">
                <a:latin typeface="Arial"/>
                <a:cs typeface="Arial"/>
              </a:rPr>
              <a:t>To</a:t>
            </a:r>
            <a:r>
              <a:rPr sz="2200" spc="-30" dirty="0">
                <a:latin typeface="Arial"/>
                <a:cs typeface="Arial"/>
              </a:rPr>
              <a:t> </a:t>
            </a:r>
            <a:r>
              <a:rPr sz="2200" spc="-10" dirty="0">
                <a:latin typeface="Arial"/>
                <a:cs typeface="Arial"/>
              </a:rPr>
              <a:t>decrypt</a:t>
            </a:r>
            <a:r>
              <a:rPr sz="2200" spc="50" dirty="0">
                <a:latin typeface="Arial"/>
                <a:cs typeface="Arial"/>
              </a:rPr>
              <a:t> </a:t>
            </a:r>
            <a:r>
              <a:rPr sz="2200" dirty="0">
                <a:latin typeface="Arial"/>
                <a:cs typeface="Arial"/>
              </a:rPr>
              <a:t>the</a:t>
            </a:r>
            <a:r>
              <a:rPr sz="2200" spc="5" dirty="0">
                <a:latin typeface="Arial"/>
                <a:cs typeface="Arial"/>
              </a:rPr>
              <a:t> </a:t>
            </a:r>
            <a:r>
              <a:rPr sz="2200" dirty="0">
                <a:latin typeface="Arial"/>
                <a:cs typeface="Arial"/>
              </a:rPr>
              <a:t>sender's</a:t>
            </a:r>
            <a:r>
              <a:rPr sz="2200" spc="25" dirty="0">
                <a:latin typeface="Arial"/>
                <a:cs typeface="Arial"/>
              </a:rPr>
              <a:t> </a:t>
            </a:r>
            <a:r>
              <a:rPr sz="2200" spc="-5" dirty="0">
                <a:latin typeface="Arial"/>
                <a:cs typeface="Arial"/>
              </a:rPr>
              <a:t>message,</a:t>
            </a:r>
            <a:r>
              <a:rPr sz="2200" spc="20" dirty="0">
                <a:latin typeface="Arial"/>
                <a:cs typeface="Arial"/>
              </a:rPr>
              <a:t> </a:t>
            </a:r>
            <a:r>
              <a:rPr sz="2200" spc="-10" dirty="0">
                <a:latin typeface="Arial"/>
                <a:cs typeface="Arial"/>
              </a:rPr>
              <a:t>only</a:t>
            </a:r>
            <a:r>
              <a:rPr sz="2200" spc="15" dirty="0">
                <a:latin typeface="Arial"/>
                <a:cs typeface="Arial"/>
              </a:rPr>
              <a:t> </a:t>
            </a:r>
            <a:r>
              <a:rPr sz="2200" dirty="0">
                <a:latin typeface="Arial"/>
                <a:cs typeface="Arial"/>
              </a:rPr>
              <a:t>the</a:t>
            </a:r>
            <a:r>
              <a:rPr sz="2200" spc="10" dirty="0">
                <a:latin typeface="Arial"/>
                <a:cs typeface="Arial"/>
              </a:rPr>
              <a:t> </a:t>
            </a:r>
            <a:r>
              <a:rPr sz="2200" spc="-5" dirty="0">
                <a:latin typeface="Arial"/>
                <a:cs typeface="Arial"/>
              </a:rPr>
              <a:t>recipient's</a:t>
            </a:r>
            <a:r>
              <a:rPr sz="2200" spc="40" dirty="0">
                <a:latin typeface="Arial"/>
                <a:cs typeface="Arial"/>
              </a:rPr>
              <a:t> </a:t>
            </a:r>
            <a:r>
              <a:rPr sz="2200" spc="-5" dirty="0">
                <a:latin typeface="Arial"/>
                <a:cs typeface="Arial"/>
              </a:rPr>
              <a:t>private</a:t>
            </a:r>
            <a:r>
              <a:rPr sz="2200" spc="30" dirty="0">
                <a:latin typeface="Arial"/>
                <a:cs typeface="Arial"/>
              </a:rPr>
              <a:t> </a:t>
            </a:r>
            <a:r>
              <a:rPr sz="2200" dirty="0">
                <a:latin typeface="Arial"/>
                <a:cs typeface="Arial"/>
              </a:rPr>
              <a:t>key</a:t>
            </a:r>
            <a:r>
              <a:rPr sz="2200" spc="-5" dirty="0">
                <a:latin typeface="Arial"/>
                <a:cs typeface="Arial"/>
              </a:rPr>
              <a:t> may</a:t>
            </a:r>
            <a:r>
              <a:rPr sz="2200" spc="10" dirty="0">
                <a:latin typeface="Arial"/>
                <a:cs typeface="Arial"/>
              </a:rPr>
              <a:t> </a:t>
            </a:r>
            <a:r>
              <a:rPr sz="2200" spc="-5" dirty="0">
                <a:latin typeface="Arial"/>
                <a:cs typeface="Arial"/>
              </a:rPr>
              <a:t>be</a:t>
            </a:r>
            <a:r>
              <a:rPr sz="2200" spc="10" dirty="0">
                <a:latin typeface="Arial"/>
                <a:cs typeface="Arial"/>
              </a:rPr>
              <a:t> </a:t>
            </a:r>
            <a:r>
              <a:rPr sz="2200" spc="-5" dirty="0">
                <a:latin typeface="Arial"/>
                <a:cs typeface="Arial"/>
              </a:rPr>
              <a:t>used.</a:t>
            </a:r>
            <a:endParaRPr sz="2200">
              <a:latin typeface="Arial"/>
              <a:cs typeface="Arial"/>
            </a:endParaRPr>
          </a:p>
        </p:txBody>
      </p:sp>
      <p:pic>
        <p:nvPicPr>
          <p:cNvPr id="5" name="object 5"/>
          <p:cNvPicPr/>
          <p:nvPr/>
        </p:nvPicPr>
        <p:blipFill>
          <a:blip r:embed="rId2" cstate="print"/>
          <a:stretch>
            <a:fillRect/>
          </a:stretch>
        </p:blipFill>
        <p:spPr>
          <a:xfrm>
            <a:off x="2722879" y="3347720"/>
            <a:ext cx="6725920" cy="2679699"/>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58</a:t>
            </a:fld>
            <a:endParaRPr spc="-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307" y="222186"/>
            <a:ext cx="6414770"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0000"/>
                </a:solidFill>
                <a:latin typeface="Verdana"/>
                <a:cs typeface="Verdana"/>
              </a:rPr>
              <a:t>Secret</a:t>
            </a:r>
            <a:r>
              <a:rPr sz="3600" spc="-55" dirty="0">
                <a:solidFill>
                  <a:srgbClr val="000000"/>
                </a:solidFill>
                <a:latin typeface="Verdana"/>
                <a:cs typeface="Verdana"/>
              </a:rPr>
              <a:t> </a:t>
            </a:r>
            <a:r>
              <a:rPr sz="3600" dirty="0">
                <a:solidFill>
                  <a:srgbClr val="000000"/>
                </a:solidFill>
                <a:latin typeface="Verdana"/>
                <a:cs typeface="Verdana"/>
              </a:rPr>
              <a:t>Key</a:t>
            </a:r>
            <a:r>
              <a:rPr sz="3600" spc="-45" dirty="0">
                <a:solidFill>
                  <a:srgbClr val="000000"/>
                </a:solidFill>
                <a:latin typeface="Verdana"/>
                <a:cs typeface="Verdana"/>
              </a:rPr>
              <a:t> </a:t>
            </a:r>
            <a:r>
              <a:rPr sz="3600" spc="-5" dirty="0">
                <a:solidFill>
                  <a:srgbClr val="000000"/>
                </a:solidFill>
                <a:latin typeface="Verdana"/>
                <a:cs typeface="Verdana"/>
              </a:rPr>
              <a:t>Cryptography</a:t>
            </a:r>
            <a:endParaRPr sz="3600">
              <a:latin typeface="Verdana"/>
              <a:cs typeface="Verdana"/>
            </a:endParaRPr>
          </a:p>
        </p:txBody>
      </p:sp>
      <p:sp>
        <p:nvSpPr>
          <p:cNvPr id="3" name="object 3"/>
          <p:cNvSpPr/>
          <p:nvPr/>
        </p:nvSpPr>
        <p:spPr>
          <a:xfrm>
            <a:off x="0" y="6309359"/>
            <a:ext cx="12070080" cy="548640"/>
          </a:xfrm>
          <a:custGeom>
            <a:avLst/>
            <a:gdLst/>
            <a:ahLst/>
            <a:cxnLst/>
            <a:rect l="l" t="t" r="r" b="b"/>
            <a:pathLst>
              <a:path w="12070080" h="548640">
                <a:moveTo>
                  <a:pt x="12070080" y="0"/>
                </a:moveTo>
                <a:lnTo>
                  <a:pt x="0" y="0"/>
                </a:lnTo>
                <a:lnTo>
                  <a:pt x="0" y="548639"/>
                </a:lnTo>
                <a:lnTo>
                  <a:pt x="12070080" y="548639"/>
                </a:lnTo>
                <a:lnTo>
                  <a:pt x="12070080" y="0"/>
                </a:lnTo>
                <a:close/>
              </a:path>
            </a:pathLst>
          </a:custGeom>
          <a:solidFill>
            <a:srgbClr val="9ED2D6"/>
          </a:solidFill>
        </p:spPr>
        <p:txBody>
          <a:bodyPr wrap="square" lIns="0" tIns="0" rIns="0" bIns="0" rtlCol="0"/>
          <a:lstStyle/>
          <a:p>
            <a:endParaRPr/>
          </a:p>
        </p:txBody>
      </p:sp>
      <p:sp>
        <p:nvSpPr>
          <p:cNvPr id="4" name="object 4"/>
          <p:cNvSpPr txBox="1"/>
          <p:nvPr/>
        </p:nvSpPr>
        <p:spPr>
          <a:xfrm>
            <a:off x="672782" y="980059"/>
            <a:ext cx="10704830" cy="696595"/>
          </a:xfrm>
          <a:prstGeom prst="rect">
            <a:avLst/>
          </a:prstGeom>
        </p:spPr>
        <p:txBody>
          <a:bodyPr vert="horz" wrap="square" lIns="0" tIns="12700" rIns="0" bIns="0" rtlCol="0">
            <a:spAutoFit/>
          </a:bodyPr>
          <a:lstStyle/>
          <a:p>
            <a:pPr marL="354965" marR="5080" indent="-342900">
              <a:lnSpc>
                <a:spcPct val="100000"/>
              </a:lnSpc>
              <a:spcBef>
                <a:spcPts val="100"/>
              </a:spcBef>
              <a:buFont typeface="Wingdings"/>
              <a:buChar char=""/>
              <a:tabLst>
                <a:tab pos="355600" algn="l"/>
                <a:tab pos="1132840" algn="l"/>
                <a:tab pos="1813560" algn="l"/>
                <a:tab pos="2454275" algn="l"/>
                <a:tab pos="3060700" algn="l"/>
                <a:tab pos="3434079" algn="l"/>
                <a:tab pos="4209415" algn="l"/>
                <a:tab pos="4709795" algn="l"/>
                <a:tab pos="5421630" algn="l"/>
                <a:tab pos="6882130" algn="l"/>
                <a:tab pos="7519670" algn="l"/>
                <a:tab pos="9059545" algn="l"/>
                <a:tab pos="9760585" algn="l"/>
                <a:tab pos="10459085" algn="l"/>
              </a:tabLst>
            </a:pPr>
            <a:r>
              <a:rPr sz="2200" spc="-15" dirty="0">
                <a:latin typeface="Arial"/>
                <a:cs typeface="Arial"/>
              </a:rPr>
              <a:t>H</a:t>
            </a:r>
            <a:r>
              <a:rPr sz="2200" spc="-5" dirty="0">
                <a:latin typeface="Arial"/>
                <a:cs typeface="Arial"/>
              </a:rPr>
              <a:t>ere</a:t>
            </a:r>
            <a:r>
              <a:rPr sz="2200" dirty="0">
                <a:latin typeface="Arial"/>
                <a:cs typeface="Arial"/>
              </a:rPr>
              <a:t>	</a:t>
            </a:r>
            <a:r>
              <a:rPr sz="2200" spc="-5" dirty="0">
                <a:latin typeface="Arial"/>
                <a:cs typeface="Arial"/>
              </a:rPr>
              <a:t>only</a:t>
            </a:r>
            <a:r>
              <a:rPr sz="2200" dirty="0">
                <a:latin typeface="Arial"/>
                <a:cs typeface="Arial"/>
              </a:rPr>
              <a:t>	</a:t>
            </a:r>
            <a:r>
              <a:rPr sz="2200" spc="10" dirty="0">
                <a:latin typeface="Arial"/>
                <a:cs typeface="Arial"/>
              </a:rPr>
              <a:t>o</a:t>
            </a:r>
            <a:r>
              <a:rPr sz="2200" spc="-5" dirty="0">
                <a:latin typeface="Arial"/>
                <a:cs typeface="Arial"/>
              </a:rPr>
              <a:t>ne</a:t>
            </a:r>
            <a:r>
              <a:rPr sz="2200" dirty="0">
                <a:latin typeface="Arial"/>
                <a:cs typeface="Arial"/>
              </a:rPr>
              <a:t>	</a:t>
            </a:r>
            <a:r>
              <a:rPr sz="2200" spc="-5" dirty="0">
                <a:latin typeface="Arial"/>
                <a:cs typeface="Arial"/>
              </a:rPr>
              <a:t>k</a:t>
            </a:r>
            <a:r>
              <a:rPr sz="2200" spc="10" dirty="0">
                <a:latin typeface="Arial"/>
                <a:cs typeface="Arial"/>
              </a:rPr>
              <a:t>e</a:t>
            </a:r>
            <a:r>
              <a:rPr sz="2200" dirty="0">
                <a:latin typeface="Arial"/>
                <a:cs typeface="Arial"/>
              </a:rPr>
              <a:t>y	</a:t>
            </a:r>
            <a:r>
              <a:rPr sz="2200" spc="-15" dirty="0">
                <a:latin typeface="Arial"/>
                <a:cs typeface="Arial"/>
              </a:rPr>
              <a:t>i</a:t>
            </a:r>
            <a:r>
              <a:rPr sz="2200" spc="-5" dirty="0">
                <a:latin typeface="Arial"/>
                <a:cs typeface="Arial"/>
              </a:rPr>
              <a:t>s</a:t>
            </a:r>
            <a:r>
              <a:rPr sz="2200" dirty="0">
                <a:latin typeface="Arial"/>
                <a:cs typeface="Arial"/>
              </a:rPr>
              <a:t>	</a:t>
            </a:r>
            <a:r>
              <a:rPr sz="2200" spc="-5" dirty="0">
                <a:latin typeface="Arial"/>
                <a:cs typeface="Arial"/>
              </a:rPr>
              <a:t>used</a:t>
            </a:r>
            <a:r>
              <a:rPr sz="2200" dirty="0">
                <a:latin typeface="Arial"/>
                <a:cs typeface="Arial"/>
              </a:rPr>
              <a:t>	</a:t>
            </a:r>
            <a:r>
              <a:rPr sz="2200" spc="5" dirty="0">
                <a:latin typeface="Arial"/>
                <a:cs typeface="Arial"/>
              </a:rPr>
              <a:t>f</a:t>
            </a:r>
            <a:r>
              <a:rPr sz="2200" spc="-5" dirty="0">
                <a:latin typeface="Arial"/>
                <a:cs typeface="Arial"/>
              </a:rPr>
              <a:t>or</a:t>
            </a:r>
            <a:r>
              <a:rPr sz="2200" dirty="0">
                <a:latin typeface="Arial"/>
                <a:cs typeface="Arial"/>
              </a:rPr>
              <a:t>	</a:t>
            </a:r>
            <a:r>
              <a:rPr sz="2200" spc="-5" dirty="0">
                <a:latin typeface="Arial"/>
                <a:cs typeface="Arial"/>
              </a:rPr>
              <a:t>both</a:t>
            </a:r>
            <a:r>
              <a:rPr sz="2200" dirty="0">
                <a:latin typeface="Arial"/>
                <a:cs typeface="Arial"/>
              </a:rPr>
              <a:t>	</a:t>
            </a:r>
            <a:r>
              <a:rPr sz="2200" spc="-5" dirty="0">
                <a:latin typeface="Arial"/>
                <a:cs typeface="Arial"/>
              </a:rPr>
              <a:t>enc</a:t>
            </a:r>
            <a:r>
              <a:rPr sz="2200" spc="10" dirty="0">
                <a:latin typeface="Arial"/>
                <a:cs typeface="Arial"/>
              </a:rPr>
              <a:t>r</a:t>
            </a:r>
            <a:r>
              <a:rPr sz="2200" spc="-20" dirty="0">
                <a:latin typeface="Arial"/>
                <a:cs typeface="Arial"/>
              </a:rPr>
              <a:t>y</a:t>
            </a:r>
            <a:r>
              <a:rPr sz="2200" spc="-5" dirty="0">
                <a:latin typeface="Arial"/>
                <a:cs typeface="Arial"/>
              </a:rPr>
              <a:t>ption</a:t>
            </a:r>
            <a:r>
              <a:rPr sz="2200" dirty="0">
                <a:latin typeface="Arial"/>
                <a:cs typeface="Arial"/>
              </a:rPr>
              <a:t>	</a:t>
            </a:r>
            <a:r>
              <a:rPr sz="2200" spc="-10" dirty="0">
                <a:latin typeface="Arial"/>
                <a:cs typeface="Arial"/>
              </a:rPr>
              <a:t>an</a:t>
            </a:r>
            <a:r>
              <a:rPr sz="2200" spc="-5" dirty="0">
                <a:latin typeface="Arial"/>
                <a:cs typeface="Arial"/>
              </a:rPr>
              <a:t>d</a:t>
            </a:r>
            <a:r>
              <a:rPr sz="2200" dirty="0">
                <a:latin typeface="Arial"/>
                <a:cs typeface="Arial"/>
              </a:rPr>
              <a:t>	</a:t>
            </a:r>
            <a:r>
              <a:rPr sz="2200" spc="-5" dirty="0">
                <a:latin typeface="Arial"/>
                <a:cs typeface="Arial"/>
              </a:rPr>
              <a:t>de</a:t>
            </a:r>
            <a:r>
              <a:rPr sz="2200" spc="5" dirty="0">
                <a:latin typeface="Arial"/>
                <a:cs typeface="Arial"/>
              </a:rPr>
              <a:t>c</a:t>
            </a:r>
            <a:r>
              <a:rPr sz="2200" spc="20" dirty="0">
                <a:latin typeface="Arial"/>
                <a:cs typeface="Arial"/>
              </a:rPr>
              <a:t>r</a:t>
            </a:r>
            <a:r>
              <a:rPr sz="2200" spc="-40" dirty="0">
                <a:latin typeface="Arial"/>
                <a:cs typeface="Arial"/>
              </a:rPr>
              <a:t>y</a:t>
            </a:r>
            <a:r>
              <a:rPr sz="2200" spc="-5" dirty="0">
                <a:latin typeface="Arial"/>
                <a:cs typeface="Arial"/>
              </a:rPr>
              <a:t>pti</a:t>
            </a:r>
            <a:r>
              <a:rPr sz="2200" spc="5" dirty="0">
                <a:latin typeface="Arial"/>
                <a:cs typeface="Arial"/>
              </a:rPr>
              <a:t>o</a:t>
            </a:r>
            <a:r>
              <a:rPr sz="2200" dirty="0">
                <a:latin typeface="Arial"/>
                <a:cs typeface="Arial"/>
              </a:rPr>
              <a:t>n.	</a:t>
            </a:r>
            <a:r>
              <a:rPr sz="2200" spc="30" dirty="0">
                <a:latin typeface="Arial"/>
                <a:cs typeface="Arial"/>
              </a:rPr>
              <a:t>T</a:t>
            </a:r>
            <a:r>
              <a:rPr sz="2200" spc="-5" dirty="0">
                <a:latin typeface="Arial"/>
                <a:cs typeface="Arial"/>
              </a:rPr>
              <a:t>h</a:t>
            </a:r>
            <a:r>
              <a:rPr sz="2200" spc="-20" dirty="0">
                <a:latin typeface="Arial"/>
                <a:cs typeface="Arial"/>
              </a:rPr>
              <a:t>i</a:t>
            </a:r>
            <a:r>
              <a:rPr sz="2200" dirty="0">
                <a:latin typeface="Arial"/>
                <a:cs typeface="Arial"/>
              </a:rPr>
              <a:t>s	</a:t>
            </a:r>
            <a:r>
              <a:rPr sz="2200" spc="5" dirty="0">
                <a:latin typeface="Arial"/>
                <a:cs typeface="Arial"/>
              </a:rPr>
              <a:t>t</a:t>
            </a:r>
            <a:r>
              <a:rPr sz="2200" spc="-20" dirty="0">
                <a:latin typeface="Arial"/>
                <a:cs typeface="Arial"/>
              </a:rPr>
              <a:t>y</a:t>
            </a:r>
            <a:r>
              <a:rPr sz="2200" spc="-5" dirty="0">
                <a:latin typeface="Arial"/>
                <a:cs typeface="Arial"/>
              </a:rPr>
              <a:t>pe</a:t>
            </a:r>
            <a:r>
              <a:rPr sz="2200" dirty="0">
                <a:latin typeface="Arial"/>
                <a:cs typeface="Arial"/>
              </a:rPr>
              <a:t>	</a:t>
            </a:r>
            <a:r>
              <a:rPr sz="2200" spc="-5" dirty="0">
                <a:latin typeface="Arial"/>
                <a:cs typeface="Arial"/>
              </a:rPr>
              <a:t>of  encryption</a:t>
            </a:r>
            <a:r>
              <a:rPr sz="2200" spc="55" dirty="0">
                <a:latin typeface="Arial"/>
                <a:cs typeface="Arial"/>
              </a:rPr>
              <a:t> </a:t>
            </a:r>
            <a:r>
              <a:rPr sz="2200" spc="-10" dirty="0">
                <a:latin typeface="Arial"/>
                <a:cs typeface="Arial"/>
              </a:rPr>
              <a:t>is</a:t>
            </a:r>
            <a:r>
              <a:rPr sz="2200" spc="5" dirty="0">
                <a:latin typeface="Arial"/>
                <a:cs typeface="Arial"/>
              </a:rPr>
              <a:t> </a:t>
            </a:r>
            <a:r>
              <a:rPr sz="2200" spc="-5" dirty="0">
                <a:latin typeface="Arial"/>
                <a:cs typeface="Arial"/>
              </a:rPr>
              <a:t>also</a:t>
            </a:r>
            <a:r>
              <a:rPr sz="2200" spc="5" dirty="0">
                <a:latin typeface="Arial"/>
                <a:cs typeface="Arial"/>
              </a:rPr>
              <a:t> </a:t>
            </a:r>
            <a:r>
              <a:rPr sz="2200" dirty="0">
                <a:latin typeface="Arial"/>
                <a:cs typeface="Arial"/>
              </a:rPr>
              <a:t>referred</a:t>
            </a:r>
            <a:r>
              <a:rPr sz="2200" spc="10" dirty="0">
                <a:latin typeface="Arial"/>
                <a:cs typeface="Arial"/>
              </a:rPr>
              <a:t> </a:t>
            </a:r>
            <a:r>
              <a:rPr sz="2200" dirty="0">
                <a:latin typeface="Arial"/>
                <a:cs typeface="Arial"/>
              </a:rPr>
              <a:t>to </a:t>
            </a:r>
            <a:r>
              <a:rPr sz="2200" spc="-5" dirty="0">
                <a:latin typeface="Arial"/>
                <a:cs typeface="Arial"/>
              </a:rPr>
              <a:t>as</a:t>
            </a:r>
            <a:r>
              <a:rPr sz="2200" spc="5" dirty="0">
                <a:latin typeface="Arial"/>
                <a:cs typeface="Arial"/>
              </a:rPr>
              <a:t> </a:t>
            </a:r>
            <a:r>
              <a:rPr sz="2200" spc="-5" dirty="0">
                <a:latin typeface="Arial"/>
                <a:cs typeface="Arial"/>
              </a:rPr>
              <a:t>symmetric</a:t>
            </a:r>
            <a:r>
              <a:rPr sz="2200" spc="35" dirty="0">
                <a:latin typeface="Arial"/>
                <a:cs typeface="Arial"/>
              </a:rPr>
              <a:t> </a:t>
            </a:r>
            <a:r>
              <a:rPr sz="2200" spc="-5" dirty="0">
                <a:latin typeface="Arial"/>
                <a:cs typeface="Arial"/>
              </a:rPr>
              <a:t>encryption.</a:t>
            </a:r>
            <a:endParaRPr sz="2200">
              <a:latin typeface="Arial"/>
              <a:cs typeface="Arial"/>
            </a:endParaRPr>
          </a:p>
        </p:txBody>
      </p:sp>
      <p:pic>
        <p:nvPicPr>
          <p:cNvPr id="5" name="object 5"/>
          <p:cNvPicPr/>
          <p:nvPr/>
        </p:nvPicPr>
        <p:blipFill>
          <a:blip r:embed="rId2" cstate="print"/>
          <a:stretch>
            <a:fillRect/>
          </a:stretch>
        </p:blipFill>
        <p:spPr>
          <a:xfrm>
            <a:off x="2867660" y="2133600"/>
            <a:ext cx="5400040" cy="240030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45"/>
              </a:lnSpc>
            </a:pPr>
            <a:fld id="{81D60167-4931-47E6-BA6A-407CBD079E47}" type="slidenum">
              <a:rPr spc="-5" dirty="0"/>
              <a:t>59</a:t>
            </a:fld>
            <a:endParaRPr spc="-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B1404910-299C-4780-BB45-8A25713A3E45}" type="slidenum">
              <a:rPr lang="en-US" altLang="en-US" sz="1400"/>
              <a:pPr>
                <a:spcBef>
                  <a:spcPct val="50000"/>
                </a:spcBef>
                <a:buClrTx/>
                <a:buFontTx/>
                <a:buNone/>
              </a:pPr>
              <a:t>60</a:t>
            </a:fld>
            <a:endParaRPr lang="en-US" altLang="en-US" sz="1400"/>
          </a:p>
        </p:txBody>
      </p:sp>
      <p:sp>
        <p:nvSpPr>
          <p:cNvPr id="147460" name="Rectangle 2"/>
          <p:cNvSpPr>
            <a:spLocks noGrp="1" noChangeArrowheads="1"/>
          </p:cNvSpPr>
          <p:nvPr>
            <p:ph type="body" idx="1"/>
          </p:nvPr>
        </p:nvSpPr>
        <p:spPr>
          <a:xfrm>
            <a:off x="927100" y="533400"/>
            <a:ext cx="10711814" cy="5224507"/>
          </a:xfrm>
        </p:spPr>
        <p:txBody>
          <a:bodyPr/>
          <a:lstStyle/>
          <a:p>
            <a:pPr algn="ctr" eaLnBrk="1" hangingPunct="1">
              <a:lnSpc>
                <a:spcPct val="90000"/>
              </a:lnSpc>
              <a:buFont typeface="Wingdings" panose="05000000000000000000" pitchFamily="2" charset="2"/>
              <a:buNone/>
            </a:pPr>
            <a:r>
              <a:rPr lang="en-US" altLang="en-US" sz="3500" b="1" u="sng" dirty="0"/>
              <a:t>Data Encryption and Decryption</a:t>
            </a:r>
            <a:endParaRPr lang="en-US" altLang="en-US" sz="2800" dirty="0"/>
          </a:p>
          <a:p>
            <a:r>
              <a:rPr lang="en-US" altLang="en-US" sz="2800" b="1" i="1" dirty="0"/>
              <a:t> </a:t>
            </a:r>
            <a:r>
              <a:rPr lang="en-US" altLang="en-US" sz="2800" b="1" dirty="0"/>
              <a:t>Private (Symmetric) Key Algorithms</a:t>
            </a:r>
          </a:p>
          <a:p>
            <a:pPr algn="just"/>
            <a:r>
              <a:rPr lang="en-US" altLang="en-US" sz="2800" dirty="0"/>
              <a:t>A symmetric key is one key that is used for both encryption and decryption. </a:t>
            </a:r>
          </a:p>
          <a:p>
            <a:pPr algn="just"/>
            <a:r>
              <a:rPr lang="en-US" altLang="en-US" sz="2800" dirty="0"/>
              <a:t>By using a symmetric key, fast encryption and decryption is possible for routine use with sensitive data in the database. </a:t>
            </a:r>
          </a:p>
          <a:p>
            <a:pPr algn="just"/>
            <a:r>
              <a:rPr lang="en-US" altLang="en-US" sz="2800" dirty="0"/>
              <a:t>A message encrypted with a secret key can be decrypted only with the same secret key. </a:t>
            </a:r>
          </a:p>
          <a:p>
            <a:pPr algn="just"/>
            <a:r>
              <a:rPr lang="en-US" altLang="en-US" sz="2800" dirty="0"/>
              <a:t>Algorithms used for symmetric key encryption are called </a:t>
            </a:r>
            <a:r>
              <a:rPr lang="en-US" altLang="en-US" sz="2800" b="1" dirty="0"/>
              <a:t>secret key algorithms. Since secret-key algorithms </a:t>
            </a:r>
            <a:r>
              <a:rPr lang="en-US" altLang="en-US" sz="2800" dirty="0"/>
              <a:t>are mostly used for encrypting the content of a message, they are also called </a:t>
            </a:r>
            <a:r>
              <a:rPr lang="en-US" altLang="en-US" sz="2800" b="1" dirty="0"/>
              <a:t>content-encryption algorithms.</a:t>
            </a:r>
            <a:endParaRPr lang="en-US" altLang="en-US" sz="2800" dirty="0"/>
          </a:p>
        </p:txBody>
      </p:sp>
    </p:spTree>
    <p:extLst>
      <p:ext uri="{BB962C8B-B14F-4D97-AF65-F5344CB8AC3E}">
        <p14:creationId xmlns:p14="http://schemas.microsoft.com/office/powerpoint/2010/main" val="50160460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F9C549ED-7C51-4BC6-B82F-6EBF3AB8D27D}" type="slidenum">
              <a:rPr lang="en-US" altLang="en-US" sz="1400"/>
              <a:pPr>
                <a:spcBef>
                  <a:spcPct val="50000"/>
                </a:spcBef>
                <a:buClrTx/>
                <a:buFontTx/>
                <a:buNone/>
              </a:pPr>
              <a:t>61</a:t>
            </a:fld>
            <a:endParaRPr lang="en-US" altLang="en-US" sz="1400"/>
          </a:p>
        </p:txBody>
      </p:sp>
      <p:sp>
        <p:nvSpPr>
          <p:cNvPr id="149508" name="Rectangle 2"/>
          <p:cNvSpPr>
            <a:spLocks noGrp="1" noChangeArrowheads="1"/>
          </p:cNvSpPr>
          <p:nvPr>
            <p:ph type="body" idx="1"/>
          </p:nvPr>
        </p:nvSpPr>
        <p:spPr>
          <a:xfrm>
            <a:off x="774700" y="990600"/>
            <a:ext cx="10711814" cy="4793620"/>
          </a:xfrm>
        </p:spPr>
        <p:txBody>
          <a:bodyPr/>
          <a:lstStyle/>
          <a:p>
            <a:pPr algn="ctr" eaLnBrk="1" hangingPunct="1">
              <a:lnSpc>
                <a:spcPct val="90000"/>
              </a:lnSpc>
              <a:buFont typeface="Wingdings" panose="05000000000000000000" pitchFamily="2" charset="2"/>
              <a:buNone/>
            </a:pPr>
            <a:r>
              <a:rPr lang="en-US" altLang="en-US" sz="3500" b="1" u="sng" dirty="0"/>
              <a:t>Data Encryption and Decryption</a:t>
            </a:r>
            <a:endParaRPr lang="en-US" altLang="en-US" sz="2800" dirty="0"/>
          </a:p>
          <a:p>
            <a:r>
              <a:rPr lang="en-US" altLang="en-US" sz="2800" b="1" i="1" dirty="0"/>
              <a:t> </a:t>
            </a:r>
            <a:r>
              <a:rPr lang="en-US" altLang="en-US" sz="2800" b="1" dirty="0"/>
              <a:t>Private (Symmetric) Key Algorithms</a:t>
            </a:r>
          </a:p>
          <a:p>
            <a:pPr algn="just"/>
            <a:r>
              <a:rPr lang="en-US" altLang="en-US" sz="2800" dirty="0"/>
              <a:t>The major liability associated with secret-key algorithms is the need for sharing the secret key. A possible method is to derive the secret key from a user-supplied password string by applying the same function to the string at both the sender and receiver; this is known as a </a:t>
            </a:r>
            <a:r>
              <a:rPr lang="en-US" altLang="en-US" sz="2800" i="1" dirty="0"/>
              <a:t>password-based encryption algorithm. </a:t>
            </a:r>
          </a:p>
          <a:p>
            <a:pPr algn="just"/>
            <a:r>
              <a:rPr lang="en-US" altLang="en-US" sz="2800" i="1" dirty="0"/>
              <a:t>The strength of the symmetric key </a:t>
            </a:r>
            <a:r>
              <a:rPr lang="en-US" altLang="en-US" sz="2800" dirty="0"/>
              <a:t>encryption depends on the size of the key used. For the same algorithm, encrypting using a longer key is tougher to break than the one using a shorter key.</a:t>
            </a:r>
          </a:p>
          <a:p>
            <a:pPr algn="just"/>
            <a:r>
              <a:rPr lang="en-US" altLang="en-US" sz="2800" dirty="0" err="1"/>
              <a:t>Eg</a:t>
            </a:r>
            <a:r>
              <a:rPr lang="en-US" altLang="en-US" sz="2800" dirty="0"/>
              <a:t>: DES, AES etc.</a:t>
            </a:r>
          </a:p>
        </p:txBody>
      </p:sp>
    </p:spTree>
    <p:extLst>
      <p:ext uri="{BB962C8B-B14F-4D97-AF65-F5344CB8AC3E}">
        <p14:creationId xmlns:p14="http://schemas.microsoft.com/office/powerpoint/2010/main" val="354488320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2A193172-CE69-4A34-B5C2-7D3141D1EE06}" type="slidenum">
              <a:rPr lang="en-US" altLang="en-US" sz="1400"/>
              <a:pPr>
                <a:spcBef>
                  <a:spcPct val="50000"/>
                </a:spcBef>
                <a:buClrTx/>
                <a:buFontTx/>
                <a:buNone/>
              </a:pPr>
              <a:t>62</a:t>
            </a:fld>
            <a:endParaRPr lang="en-US" altLang="en-US" sz="1400"/>
          </a:p>
        </p:txBody>
      </p:sp>
      <p:sp>
        <p:nvSpPr>
          <p:cNvPr id="151556" name="Rectangle 2"/>
          <p:cNvSpPr>
            <a:spLocks noGrp="1" noChangeArrowheads="1"/>
          </p:cNvSpPr>
          <p:nvPr>
            <p:ph type="body" idx="1"/>
          </p:nvPr>
        </p:nvSpPr>
        <p:spPr>
          <a:xfrm>
            <a:off x="927100" y="1066800"/>
            <a:ext cx="10711814" cy="4978286"/>
          </a:xfrm>
        </p:spPr>
        <p:txBody>
          <a:bodyPr/>
          <a:lstStyle/>
          <a:p>
            <a:pPr algn="ctr" eaLnBrk="1" hangingPunct="1">
              <a:lnSpc>
                <a:spcPct val="90000"/>
              </a:lnSpc>
              <a:buFont typeface="Wingdings" panose="05000000000000000000" pitchFamily="2" charset="2"/>
              <a:buNone/>
            </a:pPr>
            <a:r>
              <a:rPr lang="en-US" altLang="en-US" sz="3500" b="1" u="sng" dirty="0"/>
              <a:t>Data Encryption and Decryption</a:t>
            </a:r>
            <a:endParaRPr lang="en-US" altLang="en-US" sz="2800" dirty="0"/>
          </a:p>
          <a:p>
            <a:r>
              <a:rPr lang="en-US" altLang="en-US" sz="2800" b="1" i="1" dirty="0"/>
              <a:t> </a:t>
            </a:r>
            <a:r>
              <a:rPr lang="en-US" altLang="en-US" sz="2800" b="1" dirty="0"/>
              <a:t>Public (</a:t>
            </a:r>
            <a:r>
              <a:rPr lang="en-US" altLang="en-US" sz="2800" b="1" dirty="0" err="1"/>
              <a:t>Assymmetric</a:t>
            </a:r>
            <a:r>
              <a:rPr lang="en-US" altLang="en-US" sz="2800" b="1" dirty="0"/>
              <a:t>) Key Algorithms</a:t>
            </a:r>
          </a:p>
          <a:p>
            <a:pPr algn="just"/>
            <a:r>
              <a:rPr lang="en-US" altLang="en-US" sz="2400" dirty="0"/>
              <a:t>These algorithms </a:t>
            </a:r>
            <a:r>
              <a:rPr lang="en-US" altLang="en-US" sz="2400" b="1" dirty="0"/>
              <a:t>use two related different keys, a public key and a private key</a:t>
            </a:r>
            <a:r>
              <a:rPr lang="en-US" altLang="en-US" sz="2400" dirty="0"/>
              <a:t>, to perform encryption and decryption.</a:t>
            </a:r>
            <a:endParaRPr lang="en-US" altLang="en-US" sz="2400" b="1" dirty="0"/>
          </a:p>
          <a:p>
            <a:pPr algn="just"/>
            <a:r>
              <a:rPr lang="en-US" altLang="en-US" sz="2400" dirty="0"/>
              <a:t>The use of two keys can have profound consequences in the areas of confidentiality, key distribution, and authentication. </a:t>
            </a:r>
          </a:p>
          <a:p>
            <a:pPr algn="just"/>
            <a:r>
              <a:rPr lang="en-US" altLang="en-US" sz="2400" dirty="0"/>
              <a:t>The two keys used for public key encryption are referred to as the </a:t>
            </a:r>
            <a:r>
              <a:rPr lang="en-US" altLang="en-US" sz="2400" b="1" dirty="0"/>
              <a:t>public key and the private key. </a:t>
            </a:r>
            <a:r>
              <a:rPr lang="en-US" altLang="en-US" sz="2400" dirty="0"/>
              <a:t>The private key is kept secret, but it is referred to as a </a:t>
            </a:r>
            <a:r>
              <a:rPr lang="en-US" altLang="en-US" sz="2400" i="1" dirty="0"/>
              <a:t>private key rather than a secret key (the key </a:t>
            </a:r>
            <a:r>
              <a:rPr lang="en-US" altLang="en-US" sz="2400" dirty="0"/>
              <a:t>used in conventional encryption) to avoid confusion with conventional encryption. The two keys are mathematically related, since one of the keys is used to perform encryption and the other to perform decryption. However, it is very difficult to derive the private key from the public key.</a:t>
            </a:r>
          </a:p>
        </p:txBody>
      </p:sp>
    </p:spTree>
    <p:extLst>
      <p:ext uri="{BB962C8B-B14F-4D97-AF65-F5344CB8AC3E}">
        <p14:creationId xmlns:p14="http://schemas.microsoft.com/office/powerpoint/2010/main" val="63278975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68DA95C0-21FA-4271-8981-C92444AC0664}" type="slidenum">
              <a:rPr lang="en-US" altLang="en-US" sz="1400"/>
              <a:pPr>
                <a:spcBef>
                  <a:spcPct val="50000"/>
                </a:spcBef>
                <a:buClrTx/>
                <a:buFontTx/>
                <a:buNone/>
              </a:pPr>
              <a:t>63</a:t>
            </a:fld>
            <a:endParaRPr lang="en-US" altLang="en-US" sz="1400"/>
          </a:p>
        </p:txBody>
      </p:sp>
      <p:sp>
        <p:nvSpPr>
          <p:cNvPr id="153604" name="Rectangle 2"/>
          <p:cNvSpPr>
            <a:spLocks noGrp="1" noChangeArrowheads="1"/>
          </p:cNvSpPr>
          <p:nvPr>
            <p:ph type="body" idx="1"/>
          </p:nvPr>
        </p:nvSpPr>
        <p:spPr>
          <a:xfrm>
            <a:off x="850900" y="1600200"/>
            <a:ext cx="10711814" cy="2023631"/>
          </a:xfrm>
        </p:spPr>
        <p:txBody>
          <a:bodyPr/>
          <a:lstStyle/>
          <a:p>
            <a:pPr algn="ctr" eaLnBrk="1" hangingPunct="1">
              <a:lnSpc>
                <a:spcPct val="90000"/>
              </a:lnSpc>
              <a:buFont typeface="Wingdings" panose="05000000000000000000" pitchFamily="2" charset="2"/>
              <a:buNone/>
            </a:pPr>
            <a:r>
              <a:rPr lang="en-US" altLang="en-US" sz="3500" b="1" u="sng"/>
              <a:t>Data Encryption and Decryption</a:t>
            </a:r>
            <a:endParaRPr lang="en-US" altLang="en-US" sz="2800"/>
          </a:p>
          <a:p>
            <a:r>
              <a:rPr lang="en-US" altLang="en-US" sz="2800" b="1" i="1"/>
              <a:t> </a:t>
            </a:r>
            <a:r>
              <a:rPr lang="en-US" altLang="en-US" sz="2800" b="1"/>
              <a:t>Public (Assymmetric) Key Algorithms</a:t>
            </a:r>
          </a:p>
          <a:p>
            <a:r>
              <a:rPr lang="en-US" altLang="en-US" sz="2400"/>
              <a:t>As the name suggests, </a:t>
            </a:r>
            <a:r>
              <a:rPr lang="en-US" altLang="en-US" sz="2400" b="1"/>
              <a:t>the public key of the pair is made public for others to use, whereas the private key is known only to its owner.</a:t>
            </a:r>
          </a:p>
          <a:p>
            <a:r>
              <a:rPr lang="en-US" altLang="en-US" sz="2400"/>
              <a:t>Eg: RSA, ElGamal etc.</a:t>
            </a:r>
          </a:p>
        </p:txBody>
      </p:sp>
    </p:spTree>
    <p:extLst>
      <p:ext uri="{BB962C8B-B14F-4D97-AF65-F5344CB8AC3E}">
        <p14:creationId xmlns:p14="http://schemas.microsoft.com/office/powerpoint/2010/main" val="313267928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Slide Number Placeholder 4"/>
          <p:cNvSpPr>
            <a:spLocks noGrp="1"/>
          </p:cNvSpPr>
          <p:nvPr>
            <p:ph type="sldNum" sz="quarter" idx="4294967295"/>
          </p:nvPr>
        </p:nvSpPr>
        <p:spPr>
          <a:xfrm>
            <a:off x="8851900" y="6477000"/>
            <a:ext cx="2063750" cy="304800"/>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SzPct val="95000"/>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fld id="{95D54140-B34B-48C9-AD92-D78CFF59E750}" type="slidenum">
              <a:rPr lang="en-US" altLang="en-US" sz="1400"/>
              <a:pPr>
                <a:spcBef>
                  <a:spcPct val="50000"/>
                </a:spcBef>
                <a:buClrTx/>
                <a:buFontTx/>
                <a:buNone/>
              </a:pPr>
              <a:t>64</a:t>
            </a:fld>
            <a:endParaRPr lang="en-US" altLang="en-US" sz="1400"/>
          </a:p>
        </p:txBody>
      </p:sp>
      <p:sp>
        <p:nvSpPr>
          <p:cNvPr id="74756" name="Rectangle 2"/>
          <p:cNvSpPr>
            <a:spLocks noGrp="1" noChangeArrowheads="1"/>
          </p:cNvSpPr>
          <p:nvPr>
            <p:ph type="body" idx="1"/>
          </p:nvPr>
        </p:nvSpPr>
        <p:spPr>
          <a:xfrm>
            <a:off x="850900" y="838200"/>
            <a:ext cx="10711814" cy="5316840"/>
          </a:xfrm>
        </p:spPr>
        <p:txBody>
          <a:bodyPr/>
          <a:lstStyle/>
          <a:p>
            <a:pPr algn="ctr" eaLnBrk="1" hangingPunct="1">
              <a:lnSpc>
                <a:spcPct val="90000"/>
              </a:lnSpc>
              <a:buFont typeface="Wingdings" panose="05000000000000000000" pitchFamily="2" charset="2"/>
              <a:buNone/>
              <a:defRPr/>
            </a:pPr>
            <a:r>
              <a:rPr lang="en-US" sz="3500" b="1" u="sng" dirty="0"/>
              <a:t>Data Encryption and Decryption</a:t>
            </a:r>
            <a:endParaRPr lang="en-US" sz="2800" dirty="0"/>
          </a:p>
          <a:p>
            <a:pPr>
              <a:defRPr/>
            </a:pPr>
            <a:r>
              <a:rPr lang="en-US" sz="2800" b="1" i="1" dirty="0"/>
              <a:t> </a:t>
            </a:r>
            <a:r>
              <a:rPr lang="en-US" b="1" dirty="0"/>
              <a:t>Public (</a:t>
            </a:r>
            <a:r>
              <a:rPr lang="en-US" b="1" dirty="0" err="1"/>
              <a:t>Assymmetric</a:t>
            </a:r>
            <a:r>
              <a:rPr lang="en-US" b="1" dirty="0"/>
              <a:t>) Key Algorithms</a:t>
            </a:r>
          </a:p>
          <a:p>
            <a:pPr algn="just">
              <a:defRPr/>
            </a:pPr>
            <a:r>
              <a:rPr lang="en-US" dirty="0"/>
              <a:t>A public key encryption scheme, or </a:t>
            </a:r>
            <a:r>
              <a:rPr lang="en-US" i="1" dirty="0"/>
              <a:t>infrastructure, has </a:t>
            </a:r>
            <a:r>
              <a:rPr lang="en-US" i="1" dirty="0" err="1"/>
              <a:t>followint</a:t>
            </a:r>
            <a:r>
              <a:rPr lang="en-US" i="1" dirty="0"/>
              <a:t> ingredients:</a:t>
            </a:r>
          </a:p>
          <a:p>
            <a:pPr lvl="1" algn="just">
              <a:defRPr/>
            </a:pPr>
            <a:r>
              <a:rPr lang="en-US" sz="2200" b="1" dirty="0"/>
              <a:t>Plaintext: This is the data or readable message that is fed into the algorithm </a:t>
            </a:r>
            <a:r>
              <a:rPr lang="en-US" sz="2200" dirty="0"/>
              <a:t>as input.</a:t>
            </a:r>
          </a:p>
          <a:p>
            <a:pPr lvl="1" algn="just">
              <a:defRPr/>
            </a:pPr>
            <a:r>
              <a:rPr lang="en-US" sz="2200" b="1" dirty="0"/>
              <a:t>Encryption algorithm: This algorithm performs various transformations </a:t>
            </a:r>
            <a:r>
              <a:rPr lang="en-US" sz="2200" dirty="0"/>
              <a:t>on the plaintext.</a:t>
            </a:r>
          </a:p>
          <a:p>
            <a:pPr lvl="1" algn="just">
              <a:defRPr/>
            </a:pPr>
            <a:r>
              <a:rPr lang="en-US" sz="2200" b="1" dirty="0"/>
              <a:t>Public and private keys: These are a pair of keys that have been selected so that if one is used for encryption, the other is used for decryption. </a:t>
            </a:r>
            <a:r>
              <a:rPr lang="en-US" sz="2200" dirty="0"/>
              <a:t>The exact transformations performed by the encryption algorithm depend on the public or private key that is provided as input. For example, if a message is encrypted using the public key, it can only be decrypted using the private key.</a:t>
            </a:r>
          </a:p>
          <a:p>
            <a:pPr lvl="1" algn="just">
              <a:defRPr/>
            </a:pPr>
            <a:r>
              <a:rPr lang="en-US" sz="2200" b="1" dirty="0" err="1"/>
              <a:t>Ciphertext</a:t>
            </a:r>
            <a:r>
              <a:rPr lang="en-US" sz="2200" b="1" dirty="0"/>
              <a:t>: This is the scrambled message produced as output. It depends </a:t>
            </a:r>
            <a:r>
              <a:rPr lang="en-US" sz="2200" dirty="0"/>
              <a:t>on the plaintext and the key. For a given message, two different keys will produce two different </a:t>
            </a:r>
            <a:r>
              <a:rPr lang="en-US" sz="2200" dirty="0" err="1"/>
              <a:t>ciphertexts</a:t>
            </a:r>
            <a:r>
              <a:rPr lang="en-US" sz="2200" dirty="0"/>
              <a:t>.</a:t>
            </a:r>
          </a:p>
          <a:p>
            <a:pPr lvl="1" algn="just">
              <a:defRPr/>
            </a:pPr>
            <a:r>
              <a:rPr lang="en-US" sz="2200" b="1" dirty="0"/>
              <a:t>Decryption algorithm: This algorithm accepts the </a:t>
            </a:r>
            <a:r>
              <a:rPr lang="en-US" sz="2200" b="1" dirty="0" err="1"/>
              <a:t>ciphertext</a:t>
            </a:r>
            <a:r>
              <a:rPr lang="en-US" sz="2200" b="1" dirty="0"/>
              <a:t> and the </a:t>
            </a:r>
            <a:r>
              <a:rPr lang="en-US" sz="2200" dirty="0"/>
              <a:t>matching key and produces the original plaintext</a:t>
            </a:r>
            <a:endParaRPr lang="en-US" altLang="en-US" sz="2200" b="1" dirty="0"/>
          </a:p>
        </p:txBody>
      </p:sp>
    </p:spTree>
    <p:extLst>
      <p:ext uri="{BB962C8B-B14F-4D97-AF65-F5344CB8AC3E}">
        <p14:creationId xmlns:p14="http://schemas.microsoft.com/office/powerpoint/2010/main" val="3852140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992AB4424D6C04CA5A2D2EFD0CCB497" ma:contentTypeVersion="13" ma:contentTypeDescription="Create a new document." ma:contentTypeScope="" ma:versionID="d0d8025081ff058010f6e9d077ed697d">
  <xsd:schema xmlns:xsd="http://www.w3.org/2001/XMLSchema" xmlns:xs="http://www.w3.org/2001/XMLSchema" xmlns:p="http://schemas.microsoft.com/office/2006/metadata/properties" xmlns:ns2="44ea191f-1900-44ba-a84f-f2f258cf563f" xmlns:ns3="52809b0a-625c-4535-b4b3-8600d1b12921" targetNamespace="http://schemas.microsoft.com/office/2006/metadata/properties" ma:root="true" ma:fieldsID="285407809a173e33d25a4d4d0cb54f20" ns2:_="" ns3:_="">
    <xsd:import namespace="44ea191f-1900-44ba-a84f-f2f258cf563f"/>
    <xsd:import namespace="52809b0a-625c-4535-b4b3-8600d1b1292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1f-1900-44ba-a84f-f2f258cf56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2809b0a-625c-4535-b4b3-8600d1b1292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B827E3-7BDD-44A7-9FD1-1B620F0113C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462A763-3AA7-4B84-811E-76BBC00FB789}">
  <ds:schemaRefs>
    <ds:schemaRef ds:uri="http://schemas.microsoft.com/sharepoint/v3/contenttype/forms"/>
  </ds:schemaRefs>
</ds:datastoreItem>
</file>

<file path=customXml/itemProps3.xml><?xml version="1.0" encoding="utf-8"?>
<ds:datastoreItem xmlns:ds="http://schemas.openxmlformats.org/officeDocument/2006/customXml" ds:itemID="{BFC9D99F-601F-4E6F-8E18-F64D9CB8BB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1f-1900-44ba-a84f-f2f258cf563f"/>
    <ds:schemaRef ds:uri="52809b0a-625c-4535-b4b3-8600d1b129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273</TotalTime>
  <Words>5407</Words>
  <Application>Microsoft Office PowerPoint</Application>
  <PresentationFormat>Custom</PresentationFormat>
  <Paragraphs>521</Paragraphs>
  <Slides>64</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 Unicode MS</vt:lpstr>
      <vt:lpstr>Arial</vt:lpstr>
      <vt:lpstr>Calibri</vt:lpstr>
      <vt:lpstr>Times New Roman</vt:lpstr>
      <vt:lpstr>Verdana</vt:lpstr>
      <vt:lpstr>Wingdings</vt:lpstr>
      <vt:lpstr>Office Theme</vt:lpstr>
      <vt:lpstr>QUERY PROCESSING &amp; SECURITY</vt:lpstr>
      <vt:lpstr>Overview of Query Processing</vt:lpstr>
      <vt:lpstr>Overview of Query Processing</vt:lpstr>
      <vt:lpstr>Measuring of Query Cost</vt:lpstr>
      <vt:lpstr>Measuring of Query Cost</vt:lpstr>
      <vt:lpstr>Selection Operation</vt:lpstr>
      <vt:lpstr>Selection Operation</vt:lpstr>
      <vt:lpstr>Sorting Operation</vt:lpstr>
      <vt:lpstr>External Sort–Merge</vt:lpstr>
      <vt:lpstr>External Sort–Merge Example</vt:lpstr>
      <vt:lpstr>Join Operation</vt:lpstr>
      <vt:lpstr>PowerPoint Presentation</vt:lpstr>
      <vt:lpstr>PowerPoint Presentation</vt:lpstr>
      <vt:lpstr>PowerPoint Presentation</vt:lpstr>
      <vt:lpstr>PowerPoint Presentation</vt:lpstr>
      <vt:lpstr>PowerPoint Presentation</vt:lpstr>
      <vt:lpstr>PowerPoint Presentation</vt:lpstr>
      <vt:lpstr>Query Optimization</vt:lpstr>
      <vt:lpstr>PowerPoint Presentation</vt:lpstr>
      <vt:lpstr>PowerPoint Presentation</vt:lpstr>
      <vt:lpstr>PowerPoint Presentation</vt:lpstr>
      <vt:lpstr>PowerPoint Presentation</vt:lpstr>
      <vt:lpstr>Importance of Query Optimization</vt:lpstr>
      <vt:lpstr>Query Optimization Process</vt:lpstr>
      <vt:lpstr>Database Administrator (DBA)</vt:lpstr>
      <vt:lpstr>Types of DBA</vt:lpstr>
      <vt:lpstr>Roles &amp; Responsibilities of DBA</vt:lpstr>
      <vt:lpstr>Roles &amp; Responsibilities of DBA</vt:lpstr>
      <vt:lpstr>Database Security</vt:lpstr>
      <vt:lpstr>PowerPoint Presentation</vt:lpstr>
      <vt:lpstr>Database Security Issues</vt:lpstr>
      <vt:lpstr>Types of Database Security</vt:lpstr>
      <vt:lpstr>PowerPoint Presentation</vt:lpstr>
      <vt:lpstr>PowerPoint Presentation</vt:lpstr>
      <vt:lpstr>PowerPoint Presentation</vt:lpstr>
      <vt:lpstr>PowerPoint Presentation</vt:lpstr>
      <vt:lpstr>Access Protection/Control</vt:lpstr>
      <vt:lpstr>User Account and Database Audits</vt:lpstr>
      <vt:lpstr>PowerPoint Presentation</vt:lpstr>
      <vt:lpstr>PowerPoint Presentation</vt:lpstr>
      <vt:lpstr>PowerPoint Presentation</vt:lpstr>
      <vt:lpstr>Discretionary access control (DAC)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Mandatory access control (MAC)</vt:lpstr>
      <vt:lpstr>PowerPoint Presentation</vt:lpstr>
      <vt:lpstr>PowerPoint Presentation</vt:lpstr>
      <vt:lpstr>PowerPoint Presentation</vt:lpstr>
      <vt:lpstr>PowerPoint Presentation</vt:lpstr>
      <vt:lpstr>Data Encryption and Decryption</vt:lpstr>
      <vt:lpstr>Public Key Cryptography</vt:lpstr>
      <vt:lpstr>Secret Key Cryptography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Microsoft account</cp:lastModifiedBy>
  <cp:revision>7</cp:revision>
  <dcterms:created xsi:type="dcterms:W3CDTF">2021-12-28T16:33:55Z</dcterms:created>
  <dcterms:modified xsi:type="dcterms:W3CDTF">2023-04-12T15:14:34Z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2019-09-04T00:00:00Z</vt:filetime>
  </property>
  <property fmtid="{D5CDD505-2E9C-101B-9397-08002B2CF9AE}" pid="3" name="Creator">
    <vt:lpwstr>Microsoft® PowerPoint® 2016</vt:lpwstr>
  </property>
  <property fmtid="{D5CDD505-2E9C-101B-9397-08002B2CF9AE}" pid="4" name="LastSaved">
    <vt:filetime>2021-12-28T00:00:00Z</vt:filetime>
  </property>
  <property fmtid="{D5CDD505-2E9C-101B-9397-08002B2CF9AE}" pid="5" name="ContentTypeId">
    <vt:lpwstr>0x010100C992AB4424D6C04CA5A2D2EFD0CCB497</vt:lpwstr>
  </property>
</Properties>
</file>