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32"/>
  </p:handoutMasterIdLst>
  <p:sldIdLst>
    <p:sldId id="355" r:id="rId2"/>
    <p:sldId id="357" r:id="rId3"/>
    <p:sldId id="358" r:id="rId4"/>
    <p:sldId id="576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7" r:id="rId13"/>
    <p:sldId id="577" r:id="rId14"/>
    <p:sldId id="368" r:id="rId15"/>
    <p:sldId id="369" r:id="rId16"/>
    <p:sldId id="370" r:id="rId17"/>
    <p:sldId id="371" r:id="rId18"/>
    <p:sldId id="373" r:id="rId19"/>
    <p:sldId id="578" r:id="rId20"/>
    <p:sldId id="377" r:id="rId21"/>
    <p:sldId id="378" r:id="rId22"/>
    <p:sldId id="380" r:id="rId23"/>
    <p:sldId id="381" r:id="rId24"/>
    <p:sldId id="382" r:id="rId25"/>
    <p:sldId id="384" r:id="rId26"/>
    <p:sldId id="385" r:id="rId27"/>
    <p:sldId id="386" r:id="rId28"/>
    <p:sldId id="387" r:id="rId29"/>
    <p:sldId id="388" r:id="rId30"/>
    <p:sldId id="389" r:id="rId3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21"/>
  </p:normalViewPr>
  <p:slideViewPr>
    <p:cSldViewPr>
      <p:cViewPr varScale="1">
        <p:scale>
          <a:sx n="62" d="100"/>
          <a:sy n="62" d="100"/>
        </p:scale>
        <p:origin x="804" y="4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186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513CD2D-DDE8-4918-B6B6-8AD10DBF9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581D6-B179-4B46-9D94-E85A14D46A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D1D41-A6D9-4039-B938-68AC24BF9470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7C92E-3E49-4020-B223-096C6BF935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007FF-50C0-4167-BCFF-E866758EF2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69C73-96FA-4CAB-90BE-C7D1DBC62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52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lang="en-US" smtClean="0"/>
              <a:pPr marL="38100">
                <a:lnSpc>
                  <a:spcPts val="167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FF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lang="en-US" smtClean="0"/>
              <a:pPr marL="38100">
                <a:lnSpc>
                  <a:spcPts val="167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FF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24593" y="2170304"/>
            <a:ext cx="439504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22888" y="1299154"/>
            <a:ext cx="497077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lang="en-US" smtClean="0"/>
              <a:pPr marL="38100">
                <a:lnSpc>
                  <a:spcPts val="167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FF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lang="en-US" smtClean="0"/>
              <a:pPr marL="38100">
                <a:lnSpc>
                  <a:spcPts val="167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lang="en-US" smtClean="0"/>
              <a:pPr marL="38100">
                <a:lnSpc>
                  <a:spcPts val="1670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343" y="70103"/>
            <a:ext cx="12017587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7302" y="490854"/>
            <a:ext cx="9317396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FF0000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3334" y="1299153"/>
            <a:ext cx="10765332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8557" y="6329252"/>
            <a:ext cx="522393" cy="20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8100">
              <a:lnSpc>
                <a:spcPts val="1670"/>
              </a:lnSpc>
            </a:pPr>
            <a:fld id="{81D60167-4931-47E6-BA6A-407CBD079E47}" type="slidenum">
              <a:rPr lang="en-US" smtClean="0"/>
              <a:pPr marL="38100">
                <a:lnSpc>
                  <a:spcPts val="1670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09209" y="1882267"/>
            <a:ext cx="19761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b="1" i="0" u="heavy" spc="-5" dirty="0"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UNIT</a:t>
            </a:r>
            <a:r>
              <a:rPr b="1" i="0" u="heavy" spc="-65" dirty="0"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b="1" i="0" u="heavy" spc="-5" dirty="0"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14600" y="3200400"/>
            <a:ext cx="7696200" cy="671338"/>
          </a:xfrm>
          <a:prstGeom prst="rect">
            <a:avLst/>
          </a:prstGeom>
          <a:solidFill>
            <a:srgbClr val="B7DEE8"/>
          </a:solidFill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635" algn="ctr"/>
            <a:r>
              <a:rPr sz="2000" b="1" i="1" spc="-5" dirty="0">
                <a:solidFill>
                  <a:srgbClr val="FF0000"/>
                </a:solidFill>
                <a:latin typeface="Comic Sans MS"/>
                <a:cs typeface="Comic Sans MS"/>
              </a:rPr>
              <a:t>QUEUE</a:t>
            </a:r>
            <a:endParaRPr sz="20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06289" y="490854"/>
            <a:ext cx="1434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328674"/>
            <a:ext cx="7614920" cy="149361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41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Queue is a linear list of elements in which deletion of an element can  take place at one end, called the </a:t>
            </a:r>
            <a:r>
              <a:rPr sz="2600" i="1" dirty="0">
                <a:solidFill>
                  <a:srgbClr val="FF0000"/>
                </a:solidFill>
                <a:latin typeface="Times New Roman"/>
                <a:cs typeface="Times New Roman"/>
              </a:rPr>
              <a:t>front </a:t>
            </a:r>
            <a:r>
              <a:rPr sz="2600" i="1" dirty="0">
                <a:latin typeface="Times New Roman"/>
                <a:cs typeface="Times New Roman"/>
              </a:rPr>
              <a:t>and insertion can take place at  the other end, called the </a:t>
            </a:r>
            <a:r>
              <a:rPr sz="2600" i="1" dirty="0">
                <a:solidFill>
                  <a:srgbClr val="FF0000"/>
                </a:solidFill>
                <a:latin typeface="Times New Roman"/>
                <a:cs typeface="Times New Roman"/>
              </a:rPr>
              <a:t>rear</a:t>
            </a:r>
            <a:r>
              <a:rPr sz="2600" i="1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445" y="2895601"/>
            <a:ext cx="761555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The first element in a queue will be the first one to be removed from  the list.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7445" y="4130422"/>
            <a:ext cx="7617459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Queues are also called FIFO (First In First Out), i.e. the data item  stored first will be accessed first.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7445" y="5353000"/>
            <a:ext cx="7613015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spcBef>
                <a:spcPts val="100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The process to add an element into queue is called </a:t>
            </a:r>
            <a:r>
              <a:rPr sz="2600" i="1" dirty="0">
                <a:solidFill>
                  <a:srgbClr val="FF0000"/>
                </a:solidFill>
                <a:latin typeface="Times New Roman"/>
                <a:cs typeface="Times New Roman"/>
              </a:rPr>
              <a:t>enqueue </a:t>
            </a:r>
            <a:r>
              <a:rPr sz="2600" i="1" dirty="0">
                <a:latin typeface="Times New Roman"/>
                <a:cs typeface="Times New Roman"/>
              </a:rPr>
              <a:t>and the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1714" y="5769201"/>
            <a:ext cx="7301865" cy="1113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lang="en-US" sz="2600" i="1" dirty="0">
                <a:latin typeface="Times New Roman"/>
                <a:cs typeface="Times New Roman"/>
              </a:rPr>
              <a:t>		     </a:t>
            </a:r>
            <a:r>
              <a:rPr sz="2600" i="1" dirty="0">
                <a:latin typeface="Times New Roman"/>
                <a:cs typeface="Times New Roman"/>
              </a:rPr>
              <a:t>process of removal of an element from queue is called </a:t>
            </a:r>
            <a:r>
              <a:rPr sz="2600" i="1" dirty="0">
                <a:solidFill>
                  <a:srgbClr val="FF0000"/>
                </a:solidFill>
                <a:latin typeface="Times New Roman"/>
                <a:cs typeface="Times New Roman"/>
              </a:rPr>
              <a:t>dequeue</a:t>
            </a:r>
            <a:r>
              <a:rPr sz="2600" i="1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  <a:p>
            <a:pPr marR="5080" algn="r">
              <a:spcBef>
                <a:spcPts val="1410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86962" y="490854"/>
            <a:ext cx="4873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80" dirty="0"/>
              <a:t> </a:t>
            </a:r>
            <a:r>
              <a:rPr spc="-15" dirty="0"/>
              <a:t>Representation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17444" y="1357631"/>
            <a:ext cx="55651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spc="-204" dirty="0">
                <a:latin typeface="Times New Roman"/>
                <a:cs typeface="Times New Roman"/>
              </a:rPr>
              <a:t>In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-235" dirty="0">
                <a:latin typeface="Times New Roman"/>
                <a:cs typeface="Times New Roman"/>
              </a:rPr>
              <a:t>queue,</a:t>
            </a:r>
            <a:r>
              <a:rPr sz="2600" i="1" spc="-320" dirty="0">
                <a:latin typeface="Times New Roman"/>
                <a:cs typeface="Times New Roman"/>
              </a:rPr>
              <a:t> </a:t>
            </a:r>
            <a:r>
              <a:rPr sz="2600" i="1" spc="-385" dirty="0">
                <a:latin typeface="Times New Roman"/>
                <a:cs typeface="Times New Roman"/>
              </a:rPr>
              <a:t>we</a:t>
            </a:r>
            <a:r>
              <a:rPr sz="2600" i="1" spc="-75" dirty="0">
                <a:latin typeface="Times New Roman"/>
                <a:cs typeface="Times New Roman"/>
              </a:rPr>
              <a:t> </a:t>
            </a:r>
            <a:r>
              <a:rPr sz="2600" i="1" spc="-350" dirty="0">
                <a:latin typeface="Times New Roman"/>
                <a:cs typeface="Times New Roman"/>
              </a:rPr>
              <a:t>access  </a:t>
            </a:r>
            <a:r>
              <a:rPr sz="2600" i="1" spc="-250" dirty="0">
                <a:latin typeface="Times New Roman"/>
                <a:cs typeface="Times New Roman"/>
              </a:rPr>
              <a:t>both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300" dirty="0">
                <a:latin typeface="Times New Roman"/>
                <a:cs typeface="Times New Roman"/>
              </a:rPr>
              <a:t>ends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260" dirty="0">
                <a:latin typeface="Times New Roman"/>
                <a:cs typeface="Times New Roman"/>
              </a:rPr>
              <a:t>for</a:t>
            </a:r>
            <a:r>
              <a:rPr sz="2600" i="1" spc="-75" dirty="0">
                <a:latin typeface="Times New Roman"/>
                <a:cs typeface="Times New Roman"/>
              </a:rPr>
              <a:t> </a:t>
            </a:r>
            <a:r>
              <a:rPr sz="2600" i="1" spc="-204" dirty="0">
                <a:latin typeface="Times New Roman"/>
                <a:cs typeface="Times New Roman"/>
              </a:rPr>
              <a:t>different</a:t>
            </a:r>
            <a:r>
              <a:rPr sz="2600" i="1" spc="-80" dirty="0">
                <a:latin typeface="Times New Roman"/>
                <a:cs typeface="Times New Roman"/>
              </a:rPr>
              <a:t> </a:t>
            </a:r>
            <a:r>
              <a:rPr sz="2600" i="1" spc="-285" dirty="0">
                <a:latin typeface="Times New Roman"/>
                <a:cs typeface="Times New Roman"/>
              </a:rPr>
              <a:t>reasons.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2116631"/>
            <a:ext cx="7734300" cy="3961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86962" y="490854"/>
            <a:ext cx="4873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80" dirty="0"/>
              <a:t> </a:t>
            </a:r>
            <a:r>
              <a:rPr spc="-15" dirty="0"/>
              <a:t>Representation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F5C7D-9776-4301-81A8-8F070C49C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757" y="1278684"/>
            <a:ext cx="6948487" cy="505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2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5501" y="490854"/>
            <a:ext cx="6914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50" dirty="0"/>
              <a:t>Stack </a:t>
            </a:r>
            <a:r>
              <a:rPr spc="15" dirty="0"/>
              <a:t>vs.</a:t>
            </a:r>
            <a:r>
              <a:rPr spc="-45" dirty="0"/>
              <a:t> </a:t>
            </a:r>
            <a:r>
              <a:rPr spc="20" dirty="0"/>
              <a:t>Queue</a:t>
            </a:r>
            <a:r>
              <a:rPr spc="-35" dirty="0"/>
              <a:t> </a:t>
            </a:r>
            <a:r>
              <a:rPr spc="-15" dirty="0"/>
              <a:t>Representation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853183"/>
            <a:ext cx="7734300" cy="3557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62450" y="490854"/>
            <a:ext cx="3920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9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5" y="1307339"/>
            <a:ext cx="3726815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lnSpc>
                <a:spcPts val="2825"/>
              </a:lnSpc>
              <a:spcBef>
                <a:spcPts val="10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95" dirty="0">
                <a:latin typeface="Times New Roman"/>
                <a:cs typeface="Times New Roman"/>
              </a:rPr>
              <a:t>enqueue</a:t>
            </a:r>
            <a:r>
              <a:rPr sz="2400" b="1" i="1" spc="-55" dirty="0">
                <a:latin typeface="Times New Roman"/>
                <a:cs typeface="Times New Roman"/>
              </a:rPr>
              <a:t> </a:t>
            </a:r>
            <a:r>
              <a:rPr sz="2400" b="1" i="1" spc="-80" dirty="0">
                <a:latin typeface="Times New Roman"/>
                <a:cs typeface="Times New Roman"/>
              </a:rPr>
              <a:t>ope</a:t>
            </a:r>
            <a:r>
              <a:rPr sz="2400" b="1" i="1" spc="-135" dirty="0">
                <a:latin typeface="Times New Roman"/>
                <a:cs typeface="Times New Roman"/>
              </a:rPr>
              <a:t>r</a:t>
            </a:r>
            <a:r>
              <a:rPr sz="2400" b="1" i="1" spc="-25" dirty="0">
                <a:latin typeface="Times New Roman"/>
                <a:cs typeface="Times New Roman"/>
              </a:rPr>
              <a:t>a</a:t>
            </a:r>
            <a:r>
              <a:rPr sz="2400" b="1" i="1" spc="65" dirty="0">
                <a:latin typeface="Times New Roman"/>
                <a:cs typeface="Times New Roman"/>
              </a:rPr>
              <a:t>ti</a:t>
            </a:r>
            <a:r>
              <a:rPr sz="2400" b="1" i="1" spc="-14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320"/>
              </a:lnSpc>
              <a:buClr>
                <a:srgbClr val="C0504D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i="1" spc="-105" dirty="0">
                <a:latin typeface="Times New Roman"/>
                <a:cs typeface="Times New Roman"/>
              </a:rPr>
              <a:t>It</a:t>
            </a:r>
            <a:r>
              <a:rPr sz="2200" i="1" spc="365" dirty="0">
                <a:latin typeface="Times New Roman"/>
                <a:cs typeface="Times New Roman"/>
              </a:rPr>
              <a:t> </a:t>
            </a:r>
            <a:r>
              <a:rPr sz="2200" i="1" spc="-204" dirty="0">
                <a:latin typeface="Times New Roman"/>
                <a:cs typeface="Times New Roman"/>
              </a:rPr>
              <a:t>inserts</a:t>
            </a:r>
            <a:r>
              <a:rPr sz="2200" i="1" spc="39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370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element</a:t>
            </a:r>
            <a:r>
              <a:rPr sz="2200" i="1" spc="390" dirty="0">
                <a:latin typeface="Times New Roman"/>
                <a:cs typeface="Times New Roman"/>
              </a:rPr>
              <a:t> </a:t>
            </a:r>
            <a:r>
              <a:rPr sz="2200" i="1" spc="-155" dirty="0">
                <a:latin typeface="Times New Roman"/>
                <a:cs typeface="Times New Roman"/>
              </a:rPr>
              <a:t>at</a:t>
            </a:r>
            <a:r>
              <a:rPr sz="2200" i="1" spc="38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370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end</a:t>
            </a:r>
            <a:endParaRPr sz="2200">
              <a:latin typeface="Times New Roman"/>
              <a:cs typeface="Times New Roman"/>
            </a:endParaRPr>
          </a:p>
          <a:p>
            <a:pPr marL="560705">
              <a:lnSpc>
                <a:spcPts val="2375"/>
              </a:lnSpc>
            </a:pPr>
            <a:r>
              <a:rPr sz="2200" i="1" spc="-190" dirty="0">
                <a:latin typeface="Times New Roman"/>
                <a:cs typeface="Times New Roman"/>
              </a:rPr>
              <a:t>(</a:t>
            </a:r>
            <a:r>
              <a:rPr sz="2200" i="1" spc="-245" dirty="0">
                <a:latin typeface="Times New Roman"/>
                <a:cs typeface="Times New Roman"/>
              </a:rPr>
              <a:t>re</a:t>
            </a:r>
            <a:r>
              <a:rPr sz="2200" i="1" spc="-290" dirty="0">
                <a:latin typeface="Times New Roman"/>
                <a:cs typeface="Times New Roman"/>
              </a:rPr>
              <a:t>a</a:t>
            </a:r>
            <a:r>
              <a:rPr sz="2200" i="1" spc="-204" dirty="0">
                <a:latin typeface="Times New Roman"/>
                <a:cs typeface="Times New Roman"/>
              </a:rPr>
              <a:t>r)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sz="2200" i="1" spc="-45" dirty="0">
                <a:latin typeface="Times New Roman"/>
                <a:cs typeface="Times New Roman"/>
              </a:rPr>
              <a:t>t</a:t>
            </a:r>
            <a:r>
              <a:rPr sz="2200" i="1" spc="-240" dirty="0">
                <a:latin typeface="Times New Roman"/>
                <a:cs typeface="Times New Roman"/>
              </a:rPr>
              <a:t>he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20" dirty="0">
                <a:latin typeface="Times New Roman"/>
                <a:cs typeface="Times New Roman"/>
              </a:rPr>
              <a:t>q</a:t>
            </a:r>
            <a:r>
              <a:rPr sz="2200" i="1" spc="-229" dirty="0">
                <a:latin typeface="Times New Roman"/>
                <a:cs typeface="Times New Roman"/>
              </a:rPr>
              <a:t>u</a:t>
            </a:r>
            <a:r>
              <a:rPr sz="2200" i="1" spc="-225" dirty="0">
                <a:latin typeface="Times New Roman"/>
                <a:cs typeface="Times New Roman"/>
              </a:rPr>
              <a:t>e</a:t>
            </a:r>
            <a:r>
              <a:rPr sz="2200" i="1" spc="-265" dirty="0">
                <a:latin typeface="Times New Roman"/>
                <a:cs typeface="Times New Roman"/>
              </a:rPr>
              <a:t>u</a:t>
            </a:r>
            <a:r>
              <a:rPr sz="2200" i="1" spc="-285" dirty="0">
                <a:latin typeface="Times New Roman"/>
                <a:cs typeface="Times New Roman"/>
              </a:rPr>
              <a:t>e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444" y="2632075"/>
            <a:ext cx="3728720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lnSpc>
                <a:spcPts val="2825"/>
              </a:lnSpc>
              <a:spcBef>
                <a:spcPts val="10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90" dirty="0">
                <a:latin typeface="Times New Roman"/>
                <a:cs typeface="Times New Roman"/>
              </a:rPr>
              <a:t>dequeu</a:t>
            </a:r>
            <a:r>
              <a:rPr sz="2400" b="1" i="1" spc="-75" dirty="0">
                <a:latin typeface="Times New Roman"/>
                <a:cs typeface="Times New Roman"/>
              </a:rPr>
              <a:t>e</a:t>
            </a:r>
            <a:r>
              <a:rPr sz="2400" b="1" i="1" spc="-60" dirty="0">
                <a:latin typeface="Times New Roman"/>
                <a:cs typeface="Times New Roman"/>
              </a:rPr>
              <a:t> </a:t>
            </a:r>
            <a:r>
              <a:rPr sz="2400" b="1" i="1" spc="-80" dirty="0">
                <a:latin typeface="Times New Roman"/>
                <a:cs typeface="Times New Roman"/>
              </a:rPr>
              <a:t>ope</a:t>
            </a:r>
            <a:r>
              <a:rPr sz="2400" b="1" i="1" spc="-135" dirty="0">
                <a:latin typeface="Times New Roman"/>
                <a:cs typeface="Times New Roman"/>
              </a:rPr>
              <a:t>r</a:t>
            </a:r>
            <a:r>
              <a:rPr sz="2400" b="1" i="1" spc="-25" dirty="0">
                <a:latin typeface="Times New Roman"/>
                <a:cs typeface="Times New Roman"/>
              </a:rPr>
              <a:t>a</a:t>
            </a:r>
            <a:r>
              <a:rPr sz="2400" b="1" i="1" spc="65" dirty="0">
                <a:latin typeface="Times New Roman"/>
                <a:cs typeface="Times New Roman"/>
              </a:rPr>
              <a:t>ti</a:t>
            </a:r>
            <a:r>
              <a:rPr sz="2400" b="1" i="1" spc="-14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320"/>
              </a:lnSpc>
              <a:buClr>
                <a:srgbClr val="C0504D"/>
              </a:buClr>
              <a:buSzPct val="84090"/>
              <a:buFont typeface="Segoe UI Symbol"/>
              <a:buChar char="⚫"/>
              <a:tabLst>
                <a:tab pos="561340" algn="l"/>
                <a:tab pos="864235" algn="l"/>
                <a:tab pos="1604010" algn="l"/>
                <a:tab pos="2039620" algn="l"/>
                <a:tab pos="2873375" algn="l"/>
                <a:tab pos="3437254" algn="l"/>
              </a:tabLst>
            </a:pPr>
            <a:r>
              <a:rPr sz="2200" i="1" spc="-110" dirty="0">
                <a:latin typeface="Times New Roman"/>
                <a:cs typeface="Times New Roman"/>
              </a:rPr>
              <a:t>I</a:t>
            </a:r>
            <a:r>
              <a:rPr sz="2200" i="1" spc="-95" dirty="0">
                <a:latin typeface="Times New Roman"/>
                <a:cs typeface="Times New Roman"/>
              </a:rPr>
              <a:t>t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80" dirty="0">
                <a:latin typeface="Times New Roman"/>
                <a:cs typeface="Times New Roman"/>
              </a:rPr>
              <a:t>d</a:t>
            </a:r>
            <a:r>
              <a:rPr sz="2200" i="1" spc="-254" dirty="0">
                <a:latin typeface="Times New Roman"/>
                <a:cs typeface="Times New Roman"/>
              </a:rPr>
              <a:t>e</a:t>
            </a:r>
            <a:r>
              <a:rPr sz="2200" i="1" spc="-155" dirty="0">
                <a:latin typeface="Times New Roman"/>
                <a:cs typeface="Times New Roman"/>
              </a:rPr>
              <a:t>le</a:t>
            </a:r>
            <a:r>
              <a:rPr sz="2200" i="1" spc="-105" dirty="0">
                <a:latin typeface="Times New Roman"/>
                <a:cs typeface="Times New Roman"/>
              </a:rPr>
              <a:t>t</a:t>
            </a:r>
            <a:r>
              <a:rPr sz="2200" i="1" spc="-300" dirty="0">
                <a:latin typeface="Times New Roman"/>
                <a:cs typeface="Times New Roman"/>
              </a:rPr>
              <a:t>es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60" dirty="0">
                <a:latin typeface="Times New Roman"/>
                <a:cs typeface="Times New Roman"/>
              </a:rPr>
              <a:t>elem</a:t>
            </a:r>
            <a:r>
              <a:rPr sz="2200" i="1" spc="-254" dirty="0">
                <a:latin typeface="Times New Roman"/>
                <a:cs typeface="Times New Roman"/>
              </a:rPr>
              <a:t>e</a:t>
            </a:r>
            <a:r>
              <a:rPr sz="2200" i="1" spc="-114" dirty="0">
                <a:latin typeface="Times New Roman"/>
                <a:cs typeface="Times New Roman"/>
              </a:rPr>
              <a:t>nt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04" dirty="0">
                <a:latin typeface="Times New Roman"/>
                <a:cs typeface="Times New Roman"/>
              </a:rPr>
              <a:t>fro</a:t>
            </a:r>
            <a:r>
              <a:rPr sz="2200" i="1" spc="-365" dirty="0">
                <a:latin typeface="Times New Roman"/>
                <a:cs typeface="Times New Roman"/>
              </a:rPr>
              <a:t>m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30" dirty="0">
                <a:latin typeface="Times New Roman"/>
                <a:cs typeface="Times New Roman"/>
              </a:rPr>
              <a:t>t</a:t>
            </a:r>
            <a:r>
              <a:rPr sz="2200" i="1" spc="-240" dirty="0">
                <a:latin typeface="Times New Roman"/>
                <a:cs typeface="Times New Roman"/>
              </a:rPr>
              <a:t>he</a:t>
            </a:r>
            <a:endParaRPr sz="2200">
              <a:latin typeface="Times New Roman"/>
              <a:cs typeface="Times New Roman"/>
            </a:endParaRPr>
          </a:p>
          <a:p>
            <a:pPr marL="560705">
              <a:lnSpc>
                <a:spcPts val="2375"/>
              </a:lnSpc>
            </a:pPr>
            <a:r>
              <a:rPr sz="2200" i="1" spc="-195" dirty="0">
                <a:latin typeface="Times New Roman"/>
                <a:cs typeface="Times New Roman"/>
              </a:rPr>
              <a:t>fro</a:t>
            </a:r>
            <a:r>
              <a:rPr sz="2200" i="1" spc="-254" dirty="0">
                <a:latin typeface="Times New Roman"/>
                <a:cs typeface="Times New Roman"/>
              </a:rPr>
              <a:t>n</a:t>
            </a:r>
            <a:r>
              <a:rPr sz="2200" i="1" spc="-45" dirty="0">
                <a:latin typeface="Times New Roman"/>
                <a:cs typeface="Times New Roman"/>
              </a:rPr>
              <a:t>t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20" dirty="0">
                <a:latin typeface="Times New Roman"/>
                <a:cs typeface="Times New Roman"/>
              </a:rPr>
              <a:t>q</a:t>
            </a:r>
            <a:r>
              <a:rPr sz="2200" i="1" spc="-235" dirty="0">
                <a:latin typeface="Times New Roman"/>
                <a:cs typeface="Times New Roman"/>
              </a:rPr>
              <a:t>u</a:t>
            </a:r>
            <a:r>
              <a:rPr sz="2200" i="1" spc="-225" dirty="0">
                <a:latin typeface="Times New Roman"/>
                <a:cs typeface="Times New Roman"/>
              </a:rPr>
              <a:t>e</a:t>
            </a:r>
            <a:r>
              <a:rPr sz="2200" i="1" spc="-260" dirty="0">
                <a:latin typeface="Times New Roman"/>
                <a:cs typeface="Times New Roman"/>
              </a:rPr>
              <a:t>u</a:t>
            </a:r>
            <a:r>
              <a:rPr sz="2200" i="1" spc="-285" dirty="0">
                <a:latin typeface="Times New Roman"/>
                <a:cs typeface="Times New Roman"/>
              </a:rPr>
              <a:t>e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7445" y="3956684"/>
            <a:ext cx="3728085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lnSpc>
                <a:spcPts val="2825"/>
              </a:lnSpc>
              <a:spcBef>
                <a:spcPts val="10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100" dirty="0">
                <a:latin typeface="Times New Roman"/>
                <a:cs typeface="Times New Roman"/>
              </a:rPr>
              <a:t>g</a:t>
            </a:r>
            <a:r>
              <a:rPr sz="2400" b="1" i="1" spc="-85" dirty="0">
                <a:latin typeface="Times New Roman"/>
                <a:cs typeface="Times New Roman"/>
              </a:rPr>
              <a:t>et</a:t>
            </a:r>
            <a:r>
              <a:rPr sz="2400" b="1" i="1" spc="-200" dirty="0">
                <a:latin typeface="Times New Roman"/>
                <a:cs typeface="Times New Roman"/>
              </a:rPr>
              <a:t>F</a:t>
            </a:r>
            <a:r>
              <a:rPr sz="2400" b="1" i="1" spc="-55" dirty="0">
                <a:latin typeface="Times New Roman"/>
                <a:cs typeface="Times New Roman"/>
              </a:rPr>
              <a:t>ront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i="1" spc="-80" dirty="0">
                <a:latin typeface="Times New Roman"/>
                <a:cs typeface="Times New Roman"/>
              </a:rPr>
              <a:t>ope</a:t>
            </a:r>
            <a:r>
              <a:rPr sz="2400" b="1" i="1" spc="-135" dirty="0">
                <a:latin typeface="Times New Roman"/>
                <a:cs typeface="Times New Roman"/>
              </a:rPr>
              <a:t>r</a:t>
            </a:r>
            <a:r>
              <a:rPr sz="2400" b="1" i="1" spc="-25" dirty="0">
                <a:latin typeface="Times New Roman"/>
                <a:cs typeface="Times New Roman"/>
              </a:rPr>
              <a:t>a</a:t>
            </a:r>
            <a:r>
              <a:rPr sz="2400" b="1" i="1" spc="65" dirty="0">
                <a:latin typeface="Times New Roman"/>
                <a:cs typeface="Times New Roman"/>
              </a:rPr>
              <a:t>ti</a:t>
            </a:r>
            <a:r>
              <a:rPr sz="2400" b="1" i="1" spc="-145" dirty="0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320"/>
              </a:lnSpc>
              <a:buClr>
                <a:srgbClr val="C0504D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i="1" spc="-100" dirty="0">
                <a:latin typeface="Times New Roman"/>
                <a:cs typeface="Times New Roman"/>
              </a:rPr>
              <a:t>It</a:t>
            </a:r>
            <a:r>
              <a:rPr sz="2200" i="1" spc="140" dirty="0">
                <a:latin typeface="Times New Roman"/>
                <a:cs typeface="Times New Roman"/>
              </a:rPr>
              <a:t> </a:t>
            </a:r>
            <a:r>
              <a:rPr sz="2200" i="1" spc="-210" dirty="0">
                <a:latin typeface="Times New Roman"/>
                <a:cs typeface="Times New Roman"/>
              </a:rPr>
              <a:t>returns</a:t>
            </a:r>
            <a:r>
              <a:rPr sz="2200" i="1" spc="15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150" dirty="0">
                <a:latin typeface="Times New Roman"/>
                <a:cs typeface="Times New Roman"/>
              </a:rPr>
              <a:t> </a:t>
            </a:r>
            <a:r>
              <a:rPr sz="2200" i="1" spc="-220" dirty="0">
                <a:latin typeface="Times New Roman"/>
                <a:cs typeface="Times New Roman"/>
              </a:rPr>
              <a:t>element</a:t>
            </a:r>
            <a:r>
              <a:rPr sz="2200" i="1" spc="155" dirty="0">
                <a:latin typeface="Times New Roman"/>
                <a:cs typeface="Times New Roman"/>
              </a:rPr>
              <a:t> </a:t>
            </a:r>
            <a:r>
              <a:rPr sz="2200" i="1" spc="-155" dirty="0">
                <a:latin typeface="Times New Roman"/>
                <a:cs typeface="Times New Roman"/>
              </a:rPr>
              <a:t>at</a:t>
            </a:r>
            <a:r>
              <a:rPr sz="2200" i="1" spc="155" dirty="0">
                <a:latin typeface="Times New Roman"/>
                <a:cs typeface="Times New Roman"/>
              </a:rPr>
              <a:t> </a:t>
            </a:r>
            <a:r>
              <a:rPr sz="2200" i="1" spc="-170" dirty="0">
                <a:latin typeface="Times New Roman"/>
                <a:cs typeface="Times New Roman"/>
              </a:rPr>
              <a:t>the</a:t>
            </a:r>
            <a:r>
              <a:rPr sz="2200" i="1" spc="15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front</a:t>
            </a:r>
            <a:endParaRPr sz="2200">
              <a:latin typeface="Times New Roman"/>
              <a:cs typeface="Times New Roman"/>
            </a:endParaRPr>
          </a:p>
          <a:p>
            <a:pPr marL="560705">
              <a:lnSpc>
                <a:spcPts val="2375"/>
              </a:lnSpc>
            </a:pP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20" dirty="0">
                <a:latin typeface="Times New Roman"/>
                <a:cs typeface="Times New Roman"/>
              </a:rPr>
              <a:t>q</a:t>
            </a:r>
            <a:r>
              <a:rPr sz="2200" i="1" spc="-235" dirty="0">
                <a:latin typeface="Times New Roman"/>
                <a:cs typeface="Times New Roman"/>
              </a:rPr>
              <a:t>u</a:t>
            </a:r>
            <a:r>
              <a:rPr sz="2200" i="1" spc="-225" dirty="0">
                <a:latin typeface="Times New Roman"/>
                <a:cs typeface="Times New Roman"/>
              </a:rPr>
              <a:t>e</a:t>
            </a:r>
            <a:r>
              <a:rPr sz="2200" i="1" spc="-260" dirty="0">
                <a:latin typeface="Times New Roman"/>
                <a:cs typeface="Times New Roman"/>
              </a:rPr>
              <a:t>u</a:t>
            </a:r>
            <a:r>
              <a:rPr sz="2200" i="1" spc="-280" dirty="0">
                <a:latin typeface="Times New Roman"/>
                <a:cs typeface="Times New Roman"/>
              </a:rPr>
              <a:t>e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7444" y="5282895"/>
            <a:ext cx="3729990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4320">
              <a:lnSpc>
                <a:spcPts val="2825"/>
              </a:lnSpc>
              <a:spcBef>
                <a:spcPts val="10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40" dirty="0">
                <a:latin typeface="Times New Roman"/>
                <a:cs typeface="Times New Roman"/>
              </a:rPr>
              <a:t>getRear</a:t>
            </a:r>
            <a:r>
              <a:rPr sz="2400" b="1" i="1" spc="-90" dirty="0">
                <a:latin typeface="Times New Roman"/>
                <a:cs typeface="Times New Roman"/>
              </a:rPr>
              <a:t> </a:t>
            </a:r>
            <a:r>
              <a:rPr sz="2400" b="1" i="1" spc="-65" dirty="0">
                <a:latin typeface="Times New Roman"/>
                <a:cs typeface="Times New Roman"/>
              </a:rPr>
              <a:t>operation</a:t>
            </a:r>
            <a:endParaRPr sz="2400">
              <a:latin typeface="Times New Roman"/>
              <a:cs typeface="Times New Roman"/>
            </a:endParaRPr>
          </a:p>
          <a:p>
            <a:pPr marL="560705" marR="5080" lvl="1" indent="-228600">
              <a:lnSpc>
                <a:spcPts val="2110"/>
              </a:lnSpc>
              <a:spcBef>
                <a:spcPts val="455"/>
              </a:spcBef>
              <a:buClr>
                <a:srgbClr val="C0504D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i="1" spc="-110" dirty="0">
                <a:latin typeface="Times New Roman"/>
                <a:cs typeface="Times New Roman"/>
              </a:rPr>
              <a:t>I</a:t>
            </a:r>
            <a:r>
              <a:rPr sz="2200" i="1" spc="-95" dirty="0">
                <a:latin typeface="Times New Roman"/>
                <a:cs typeface="Times New Roman"/>
              </a:rPr>
              <a:t>t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spc="-270" dirty="0">
                <a:latin typeface="Times New Roman"/>
                <a:cs typeface="Times New Roman"/>
              </a:rPr>
              <a:t>r</a:t>
            </a:r>
            <a:r>
              <a:rPr sz="2200" i="1" spc="-195" dirty="0">
                <a:latin typeface="Times New Roman"/>
                <a:cs typeface="Times New Roman"/>
              </a:rPr>
              <a:t>etu</a:t>
            </a:r>
            <a:r>
              <a:rPr sz="2200" i="1" spc="-135" dirty="0">
                <a:latin typeface="Times New Roman"/>
                <a:cs typeface="Times New Roman"/>
              </a:rPr>
              <a:t>r</a:t>
            </a:r>
            <a:r>
              <a:rPr sz="2200" i="1" spc="-250" dirty="0">
                <a:latin typeface="Times New Roman"/>
                <a:cs typeface="Times New Roman"/>
              </a:rPr>
              <a:t>ns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e</a:t>
            </a:r>
            <a:r>
              <a:rPr sz="2200" i="1" spc="-140" dirty="0">
                <a:latin typeface="Times New Roman"/>
                <a:cs typeface="Times New Roman"/>
              </a:rPr>
              <a:t>l</a:t>
            </a:r>
            <a:r>
              <a:rPr sz="2200" i="1" spc="-285" dirty="0">
                <a:latin typeface="Times New Roman"/>
                <a:cs typeface="Times New Roman"/>
              </a:rPr>
              <a:t>e</a:t>
            </a:r>
            <a:r>
              <a:rPr sz="2200" i="1" spc="-250" dirty="0">
                <a:latin typeface="Times New Roman"/>
                <a:cs typeface="Times New Roman"/>
              </a:rPr>
              <a:t>men</a:t>
            </a:r>
            <a:r>
              <a:rPr sz="2200" i="1" spc="-125" dirty="0">
                <a:latin typeface="Times New Roman"/>
                <a:cs typeface="Times New Roman"/>
              </a:rPr>
              <a:t>t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a</a:t>
            </a:r>
            <a:r>
              <a:rPr sz="2200" i="1" spc="-100" dirty="0">
                <a:latin typeface="Times New Roman"/>
                <a:cs typeface="Times New Roman"/>
              </a:rPr>
              <a:t>t</a:t>
            </a:r>
            <a:r>
              <a:rPr sz="2200" i="1" spc="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end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60" dirty="0">
                <a:latin typeface="Times New Roman"/>
                <a:cs typeface="Times New Roman"/>
              </a:rPr>
              <a:t>of 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20" dirty="0">
                <a:latin typeface="Times New Roman"/>
                <a:cs typeface="Times New Roman"/>
              </a:rPr>
              <a:t>q</a:t>
            </a:r>
            <a:r>
              <a:rPr sz="2200" i="1" spc="-229" dirty="0">
                <a:latin typeface="Times New Roman"/>
                <a:cs typeface="Times New Roman"/>
              </a:rPr>
              <a:t>u</a:t>
            </a:r>
            <a:r>
              <a:rPr sz="2200" i="1" spc="-225" dirty="0">
                <a:latin typeface="Times New Roman"/>
                <a:cs typeface="Times New Roman"/>
              </a:rPr>
              <a:t>e</a:t>
            </a:r>
            <a:r>
              <a:rPr sz="2200" i="1" spc="-265" dirty="0">
                <a:latin typeface="Times New Roman"/>
                <a:cs typeface="Times New Roman"/>
              </a:rPr>
              <a:t>u</a:t>
            </a:r>
            <a:r>
              <a:rPr sz="2200" i="1" spc="-280" dirty="0">
                <a:latin typeface="Times New Roman"/>
                <a:cs typeface="Times New Roman"/>
              </a:rPr>
              <a:t>e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4228" y="1295117"/>
            <a:ext cx="3606800" cy="3283591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87020" indent="-274320">
              <a:spcBef>
                <a:spcPts val="625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95" dirty="0">
                <a:latin typeface="Times New Roman"/>
                <a:cs typeface="Times New Roman"/>
              </a:rPr>
              <a:t>isFull</a:t>
            </a:r>
            <a:r>
              <a:rPr sz="2400" b="1" i="1" spc="-55" dirty="0">
                <a:latin typeface="Times New Roman"/>
                <a:cs typeface="Times New Roman"/>
              </a:rPr>
              <a:t> </a:t>
            </a:r>
            <a:r>
              <a:rPr sz="2400" b="1" i="1" spc="-105" dirty="0">
                <a:latin typeface="Times New Roman"/>
                <a:cs typeface="Times New Roman"/>
              </a:rPr>
              <a:t>op</a:t>
            </a:r>
            <a:r>
              <a:rPr sz="2400" b="1" i="1" spc="-100" dirty="0">
                <a:latin typeface="Times New Roman"/>
                <a:cs typeface="Times New Roman"/>
              </a:rPr>
              <a:t>e</a:t>
            </a:r>
            <a:r>
              <a:rPr sz="2400" b="1" i="1" spc="-90" dirty="0">
                <a:latin typeface="Times New Roman"/>
                <a:cs typeface="Times New Roman"/>
              </a:rPr>
              <a:t>r</a:t>
            </a:r>
            <a:r>
              <a:rPr sz="2400" b="1" i="1" spc="-25" dirty="0">
                <a:latin typeface="Times New Roman"/>
                <a:cs typeface="Times New Roman"/>
              </a:rPr>
              <a:t>a</a:t>
            </a:r>
            <a:r>
              <a:rPr sz="2400" b="1" i="1" spc="-40" dirty="0">
                <a:latin typeface="Times New Roman"/>
                <a:cs typeface="Times New Roman"/>
              </a:rPr>
              <a:t>tion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spcBef>
                <a:spcPts val="450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i="1" spc="-270" dirty="0">
                <a:latin typeface="Times New Roman"/>
                <a:cs typeface="Times New Roman"/>
              </a:rPr>
              <a:t>R</a:t>
            </a:r>
            <a:r>
              <a:rPr sz="2000" i="1" spc="-204" dirty="0">
                <a:latin typeface="Times New Roman"/>
                <a:cs typeface="Times New Roman"/>
              </a:rPr>
              <a:t>e</a:t>
            </a:r>
            <a:r>
              <a:rPr sz="2000" i="1" spc="-140" dirty="0">
                <a:latin typeface="Times New Roman"/>
                <a:cs typeface="Times New Roman"/>
              </a:rPr>
              <a:t>tu</a:t>
            </a:r>
            <a:r>
              <a:rPr sz="2000" i="1" spc="-100" dirty="0">
                <a:latin typeface="Times New Roman"/>
                <a:cs typeface="Times New Roman"/>
              </a:rPr>
              <a:t>r</a:t>
            </a:r>
            <a:r>
              <a:rPr sz="2000" i="1" spc="-165" dirty="0">
                <a:latin typeface="Times New Roman"/>
                <a:cs typeface="Times New Roman"/>
              </a:rPr>
              <a:t>n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5" dirty="0">
                <a:latin typeface="Times New Roman"/>
                <a:cs typeface="Times New Roman"/>
              </a:rPr>
              <a:t>t</a:t>
            </a:r>
            <a:r>
              <a:rPr sz="2000" i="1" spc="-125" dirty="0">
                <a:latin typeface="Times New Roman"/>
                <a:cs typeface="Times New Roman"/>
              </a:rPr>
              <a:t>r</a:t>
            </a:r>
            <a:r>
              <a:rPr sz="2000" i="1" spc="-215" dirty="0">
                <a:latin typeface="Times New Roman"/>
                <a:cs typeface="Times New Roman"/>
              </a:rPr>
              <a:t>ue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355" dirty="0">
                <a:latin typeface="Times New Roman"/>
                <a:cs typeface="Times New Roman"/>
              </a:rPr>
              <a:t>w</a:t>
            </a:r>
            <a:r>
              <a:rPr sz="2000" i="1" spc="-200" dirty="0">
                <a:latin typeface="Times New Roman"/>
                <a:cs typeface="Times New Roman"/>
              </a:rPr>
              <a:t>hen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55" dirty="0">
                <a:latin typeface="Times New Roman"/>
                <a:cs typeface="Times New Roman"/>
              </a:rPr>
              <a:t>the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204" dirty="0">
                <a:latin typeface="Times New Roman"/>
                <a:cs typeface="Times New Roman"/>
              </a:rPr>
              <a:t>queu</a:t>
            </a:r>
            <a:r>
              <a:rPr sz="2000" i="1" spc="-260" dirty="0">
                <a:latin typeface="Times New Roman"/>
                <a:cs typeface="Times New Roman"/>
              </a:rPr>
              <a:t>e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55" dirty="0">
                <a:latin typeface="Times New Roman"/>
                <a:cs typeface="Times New Roman"/>
              </a:rPr>
              <a:t>i</a:t>
            </a:r>
            <a:r>
              <a:rPr sz="2000" i="1" spc="-204" dirty="0">
                <a:latin typeface="Times New Roman"/>
                <a:cs typeface="Times New Roman"/>
              </a:rPr>
              <a:t>s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05" dirty="0">
                <a:latin typeface="Times New Roman"/>
                <a:cs typeface="Times New Roman"/>
              </a:rPr>
              <a:t>full</a:t>
            </a:r>
            <a:r>
              <a:rPr sz="2000" i="1" spc="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C0504D"/>
              </a:buClr>
              <a:buFont typeface="Segoe UI Symbol"/>
              <a:buChar char="⚫"/>
            </a:pPr>
            <a:endParaRPr sz="2300">
              <a:latin typeface="Times New Roman"/>
              <a:cs typeface="Times New Roman"/>
            </a:endParaRPr>
          </a:p>
          <a:p>
            <a:pPr marL="287020" indent="-274320">
              <a:spcBef>
                <a:spcPts val="1385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75" dirty="0">
                <a:latin typeface="Times New Roman"/>
                <a:cs typeface="Times New Roman"/>
              </a:rPr>
              <a:t>isEmpty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i="1" spc="-105" dirty="0">
                <a:latin typeface="Times New Roman"/>
                <a:cs typeface="Times New Roman"/>
              </a:rPr>
              <a:t>op</a:t>
            </a:r>
            <a:r>
              <a:rPr sz="2400" b="1" i="1" spc="-100" dirty="0">
                <a:latin typeface="Times New Roman"/>
                <a:cs typeface="Times New Roman"/>
              </a:rPr>
              <a:t>e</a:t>
            </a:r>
            <a:r>
              <a:rPr sz="2400" b="1" i="1" spc="-90" dirty="0">
                <a:latin typeface="Times New Roman"/>
                <a:cs typeface="Times New Roman"/>
              </a:rPr>
              <a:t>r</a:t>
            </a:r>
            <a:r>
              <a:rPr sz="2400" b="1" i="1" spc="-25" dirty="0">
                <a:latin typeface="Times New Roman"/>
                <a:cs typeface="Times New Roman"/>
              </a:rPr>
              <a:t>a</a:t>
            </a:r>
            <a:r>
              <a:rPr sz="2400" b="1" i="1" spc="-40" dirty="0">
                <a:latin typeface="Times New Roman"/>
                <a:cs typeface="Times New Roman"/>
              </a:rPr>
              <a:t>tion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spcBef>
                <a:spcPts val="459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i="1" spc="-200" dirty="0">
                <a:latin typeface="Times New Roman"/>
                <a:cs typeface="Times New Roman"/>
              </a:rPr>
              <a:t>Re</a:t>
            </a:r>
            <a:r>
              <a:rPr sz="2000" i="1" spc="-114" dirty="0">
                <a:latin typeface="Times New Roman"/>
                <a:cs typeface="Times New Roman"/>
              </a:rPr>
              <a:t>t</a:t>
            </a:r>
            <a:r>
              <a:rPr sz="2000" i="1" spc="-215" dirty="0">
                <a:latin typeface="Times New Roman"/>
                <a:cs typeface="Times New Roman"/>
              </a:rPr>
              <a:t>u</a:t>
            </a:r>
            <a:r>
              <a:rPr sz="2000" i="1" spc="-120" dirty="0">
                <a:latin typeface="Times New Roman"/>
                <a:cs typeface="Times New Roman"/>
              </a:rPr>
              <a:t>r</a:t>
            </a:r>
            <a:r>
              <a:rPr sz="2000" i="1" spc="-165" dirty="0">
                <a:latin typeface="Times New Roman"/>
                <a:cs typeface="Times New Roman"/>
              </a:rPr>
              <a:t>n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5" dirty="0">
                <a:latin typeface="Times New Roman"/>
                <a:cs typeface="Times New Roman"/>
              </a:rPr>
              <a:t>t</a:t>
            </a:r>
            <a:r>
              <a:rPr sz="2000" i="1" spc="-120" dirty="0">
                <a:latin typeface="Times New Roman"/>
                <a:cs typeface="Times New Roman"/>
              </a:rPr>
              <a:t>r</a:t>
            </a:r>
            <a:r>
              <a:rPr sz="2000" i="1" spc="-215" dirty="0">
                <a:latin typeface="Times New Roman"/>
                <a:cs typeface="Times New Roman"/>
              </a:rPr>
              <a:t>ue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355" dirty="0">
                <a:latin typeface="Times New Roman"/>
                <a:cs typeface="Times New Roman"/>
              </a:rPr>
              <a:t>w</a:t>
            </a:r>
            <a:r>
              <a:rPr sz="2000" i="1" spc="-200" dirty="0">
                <a:latin typeface="Times New Roman"/>
                <a:cs typeface="Times New Roman"/>
              </a:rPr>
              <a:t>hen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55" dirty="0">
                <a:latin typeface="Times New Roman"/>
                <a:cs typeface="Times New Roman"/>
              </a:rPr>
              <a:t>the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204" dirty="0">
                <a:latin typeface="Times New Roman"/>
                <a:cs typeface="Times New Roman"/>
              </a:rPr>
              <a:t>queu</a:t>
            </a:r>
            <a:r>
              <a:rPr sz="2000" i="1" spc="-265" dirty="0">
                <a:latin typeface="Times New Roman"/>
                <a:cs typeface="Times New Roman"/>
              </a:rPr>
              <a:t>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55" dirty="0">
                <a:latin typeface="Times New Roman"/>
                <a:cs typeface="Times New Roman"/>
              </a:rPr>
              <a:t>i</a:t>
            </a:r>
            <a:r>
              <a:rPr sz="2000" i="1" spc="-210" dirty="0">
                <a:latin typeface="Times New Roman"/>
                <a:cs typeface="Times New Roman"/>
              </a:rPr>
              <a:t>s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229" dirty="0">
                <a:latin typeface="Times New Roman"/>
                <a:cs typeface="Times New Roman"/>
              </a:rPr>
              <a:t>emp</a:t>
            </a:r>
            <a:r>
              <a:rPr sz="2000" i="1" spc="-125" dirty="0">
                <a:latin typeface="Times New Roman"/>
                <a:cs typeface="Times New Roman"/>
              </a:rPr>
              <a:t>t</a:t>
            </a:r>
            <a:r>
              <a:rPr sz="2000" i="1" spc="-320" dirty="0">
                <a:latin typeface="Times New Roman"/>
                <a:cs typeface="Times New Roman"/>
              </a:rPr>
              <a:t>y</a:t>
            </a:r>
            <a:r>
              <a:rPr sz="2000" i="1" spc="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lvl="1">
              <a:spcBef>
                <a:spcPts val="10"/>
              </a:spcBef>
              <a:buClr>
                <a:srgbClr val="C0504D"/>
              </a:buClr>
              <a:buFont typeface="Segoe UI Symbol"/>
              <a:buChar char="⚫"/>
            </a:pPr>
            <a:endParaRPr sz="2900">
              <a:latin typeface="Times New Roman"/>
              <a:cs typeface="Times New Roman"/>
            </a:endParaRPr>
          </a:p>
          <a:p>
            <a:pPr marL="287020" indent="-274320"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40" dirty="0">
                <a:latin typeface="Times New Roman"/>
                <a:cs typeface="Times New Roman"/>
              </a:rPr>
              <a:t>vi</a:t>
            </a:r>
            <a:r>
              <a:rPr sz="2400" b="1" i="1" spc="-95" dirty="0">
                <a:latin typeface="Times New Roman"/>
                <a:cs typeface="Times New Roman"/>
              </a:rPr>
              <a:t>e</a:t>
            </a:r>
            <a:r>
              <a:rPr sz="2400" b="1" i="1" spc="-105" dirty="0">
                <a:latin typeface="Times New Roman"/>
                <a:cs typeface="Times New Roman"/>
              </a:rPr>
              <a:t>wQueue</a:t>
            </a:r>
            <a:r>
              <a:rPr sz="2400" b="1" i="1" spc="-45" dirty="0">
                <a:latin typeface="Times New Roman"/>
                <a:cs typeface="Times New Roman"/>
              </a:rPr>
              <a:t> </a:t>
            </a:r>
            <a:r>
              <a:rPr sz="2400" b="1" i="1" spc="-105" dirty="0">
                <a:latin typeface="Times New Roman"/>
                <a:cs typeface="Times New Roman"/>
              </a:rPr>
              <a:t>op</a:t>
            </a:r>
            <a:r>
              <a:rPr sz="2400" b="1" i="1" spc="-100" dirty="0">
                <a:latin typeface="Times New Roman"/>
                <a:cs typeface="Times New Roman"/>
              </a:rPr>
              <a:t>e</a:t>
            </a:r>
            <a:r>
              <a:rPr sz="2400" b="1" i="1" spc="-90" dirty="0">
                <a:latin typeface="Times New Roman"/>
                <a:cs typeface="Times New Roman"/>
              </a:rPr>
              <a:t>r</a:t>
            </a:r>
            <a:r>
              <a:rPr sz="2400" b="1" i="1" spc="-25" dirty="0">
                <a:latin typeface="Times New Roman"/>
                <a:cs typeface="Times New Roman"/>
              </a:rPr>
              <a:t>a</a:t>
            </a:r>
            <a:r>
              <a:rPr sz="2400" b="1" i="1" spc="-40" dirty="0">
                <a:latin typeface="Times New Roman"/>
                <a:cs typeface="Times New Roman"/>
              </a:rPr>
              <a:t>tion</a:t>
            </a:r>
            <a:endParaRPr sz="2400">
              <a:latin typeface="Times New Roman"/>
              <a:cs typeface="Times New Roman"/>
            </a:endParaRPr>
          </a:p>
          <a:p>
            <a:pPr marL="561340" lvl="1" indent="-228600">
              <a:spcBef>
                <a:spcPts val="450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i="1" spc="-305" dirty="0">
                <a:latin typeface="Times New Roman"/>
                <a:cs typeface="Times New Roman"/>
              </a:rPr>
              <a:t>V</a:t>
            </a:r>
            <a:r>
              <a:rPr sz="2000" i="1" spc="-175" dirty="0">
                <a:latin typeface="Times New Roman"/>
                <a:cs typeface="Times New Roman"/>
              </a:rPr>
              <a:t>ie</a:t>
            </a:r>
            <a:r>
              <a:rPr sz="2000" i="1" spc="-315" dirty="0">
                <a:latin typeface="Times New Roman"/>
                <a:cs typeface="Times New Roman"/>
              </a:rPr>
              <a:t>w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140" dirty="0">
                <a:latin typeface="Times New Roman"/>
                <a:cs typeface="Times New Roman"/>
              </a:rPr>
              <a:t>al</a:t>
            </a:r>
            <a:r>
              <a:rPr sz="2000" i="1" spc="-95" dirty="0">
                <a:latin typeface="Times New Roman"/>
                <a:cs typeface="Times New Roman"/>
              </a:rPr>
              <a:t>l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155" dirty="0">
                <a:latin typeface="Times New Roman"/>
                <a:cs typeface="Times New Roman"/>
              </a:rPr>
              <a:t>the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185" dirty="0">
                <a:latin typeface="Times New Roman"/>
                <a:cs typeface="Times New Roman"/>
              </a:rPr>
              <a:t>el</a:t>
            </a:r>
            <a:r>
              <a:rPr sz="2000" i="1" spc="-240" dirty="0">
                <a:latin typeface="Times New Roman"/>
                <a:cs typeface="Times New Roman"/>
              </a:rPr>
              <a:t>e</a:t>
            </a:r>
            <a:r>
              <a:rPr sz="2000" i="1" spc="-225" dirty="0">
                <a:latin typeface="Times New Roman"/>
                <a:cs typeface="Times New Roman"/>
              </a:rPr>
              <a:t>ment</a:t>
            </a:r>
            <a:r>
              <a:rPr sz="2000" i="1" spc="-175" dirty="0">
                <a:latin typeface="Times New Roman"/>
                <a:cs typeface="Times New Roman"/>
              </a:rPr>
              <a:t>s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95" dirty="0">
                <a:latin typeface="Times New Roman"/>
                <a:cs typeface="Times New Roman"/>
              </a:rPr>
              <a:t>i</a:t>
            </a:r>
            <a:r>
              <a:rPr sz="2000" i="1" spc="-155" dirty="0">
                <a:latin typeface="Times New Roman"/>
                <a:cs typeface="Times New Roman"/>
              </a:rPr>
              <a:t>n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220" dirty="0">
                <a:latin typeface="Times New Roman"/>
                <a:cs typeface="Times New Roman"/>
              </a:rPr>
              <a:t>queu</a:t>
            </a:r>
            <a:r>
              <a:rPr sz="2000" i="1" spc="-200" dirty="0">
                <a:latin typeface="Times New Roman"/>
                <a:cs typeface="Times New Roman"/>
              </a:rPr>
              <a:t>e</a:t>
            </a:r>
            <a:r>
              <a:rPr sz="2000" i="1" spc="2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66082" y="490854"/>
            <a:ext cx="37122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45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spc="15" dirty="0"/>
              <a:t>an</a:t>
            </a:r>
            <a:r>
              <a:rPr spc="-35" dirty="0"/>
              <a:t> </a:t>
            </a:r>
            <a:r>
              <a:rPr spc="-60" dirty="0"/>
              <a:t>ADT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314958"/>
            <a:ext cx="6718300" cy="919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lnSpc>
                <a:spcPts val="2610"/>
              </a:lnSpc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i="1" spc="-315" dirty="0">
                <a:latin typeface="Times New Roman"/>
                <a:cs typeface="Times New Roman"/>
              </a:rPr>
              <a:t>A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245" dirty="0">
                <a:latin typeface="Times New Roman"/>
                <a:cs typeface="Times New Roman"/>
              </a:rPr>
              <a:t>queue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q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185" dirty="0">
                <a:latin typeface="Times New Roman"/>
                <a:cs typeface="Times New Roman"/>
              </a:rPr>
              <a:t>type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200" b="1" i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i="1" spc="-200" dirty="0">
                <a:latin typeface="Times New Roman"/>
                <a:cs typeface="Times New Roman"/>
              </a:rPr>
              <a:t>is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a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135" dirty="0">
                <a:latin typeface="Times New Roman"/>
                <a:cs typeface="Times New Roman"/>
              </a:rPr>
              <a:t>finite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70" dirty="0">
                <a:latin typeface="Times New Roman"/>
                <a:cs typeface="Times New Roman"/>
              </a:rPr>
              <a:t>sequence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elements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-165" dirty="0">
                <a:latin typeface="Times New Roman"/>
                <a:cs typeface="Times New Roman"/>
              </a:rPr>
              <a:t>with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operations:</a:t>
            </a:r>
            <a:endParaRPr sz="22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370"/>
              </a:lnSpc>
              <a:buClr>
                <a:srgbClr val="C0504D"/>
              </a:buClr>
              <a:buSzPct val="85000"/>
              <a:buFont typeface="Segoe UI Symbol"/>
              <a:buChar char="⚫"/>
              <a:tabLst>
                <a:tab pos="561340" algn="l"/>
              </a:tabLst>
            </a:pPr>
            <a:r>
              <a:rPr sz="2000" b="1" i="1" spc="-35" dirty="0">
                <a:latin typeface="Times New Roman"/>
                <a:cs typeface="Times New Roman"/>
              </a:rPr>
              <a:t>makeEmpty(q)</a:t>
            </a:r>
            <a:endParaRPr sz="2000">
              <a:latin typeface="Times New Roman"/>
              <a:cs typeface="Times New Roman"/>
            </a:endParaRPr>
          </a:p>
          <a:p>
            <a:pPr marL="835025" lvl="2" indent="-229235">
              <a:spcBef>
                <a:spcPts val="25"/>
              </a:spcBef>
              <a:buClr>
                <a:srgbClr val="B1C1DB"/>
              </a:buClr>
              <a:buSzPct val="85294"/>
              <a:buFont typeface="Segoe UI Symbol"/>
              <a:buChar char="⚫"/>
              <a:tabLst>
                <a:tab pos="835025" algn="l"/>
                <a:tab pos="835660" algn="l"/>
              </a:tabLst>
            </a:pPr>
            <a:r>
              <a:rPr sz="1700" i="1" spc="-385" dirty="0">
                <a:latin typeface="Times New Roman"/>
                <a:cs typeface="Times New Roman"/>
              </a:rPr>
              <a:t>T</a:t>
            </a:r>
            <a:r>
              <a:rPr sz="1700" i="1" spc="-160" dirty="0">
                <a:latin typeface="Times New Roman"/>
                <a:cs typeface="Times New Roman"/>
              </a:rPr>
              <a:t>o</a:t>
            </a:r>
            <a:r>
              <a:rPr sz="1700" i="1" spc="-45" dirty="0">
                <a:latin typeface="Times New Roman"/>
                <a:cs typeface="Times New Roman"/>
              </a:rPr>
              <a:t> </a:t>
            </a:r>
            <a:r>
              <a:rPr sz="1700" i="1" spc="-260" dirty="0">
                <a:latin typeface="Times New Roman"/>
                <a:cs typeface="Times New Roman"/>
              </a:rPr>
              <a:t>m</a:t>
            </a:r>
            <a:r>
              <a:rPr sz="1700" i="1" spc="-180" dirty="0">
                <a:latin typeface="Times New Roman"/>
                <a:cs typeface="Times New Roman"/>
              </a:rPr>
              <a:t>ake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240" dirty="0">
                <a:latin typeface="Times New Roman"/>
                <a:cs typeface="Times New Roman"/>
              </a:rPr>
              <a:t>a</a:t>
            </a:r>
            <a:r>
              <a:rPr sz="1700" i="1" spc="-180" dirty="0">
                <a:latin typeface="Times New Roman"/>
                <a:cs typeface="Times New Roman"/>
              </a:rPr>
              <a:t>s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65" dirty="0">
                <a:latin typeface="Times New Roman"/>
                <a:cs typeface="Times New Roman"/>
              </a:rPr>
              <a:t>a</a:t>
            </a:r>
            <a:r>
              <a:rPr sz="1700" i="1" spc="-160" dirty="0">
                <a:latin typeface="Times New Roman"/>
                <a:cs typeface="Times New Roman"/>
              </a:rPr>
              <a:t>n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235" dirty="0">
                <a:latin typeface="Times New Roman"/>
                <a:cs typeface="Times New Roman"/>
              </a:rPr>
              <a:t>e</a:t>
            </a:r>
            <a:r>
              <a:rPr sz="1700" i="1" spc="-260" dirty="0">
                <a:latin typeface="Times New Roman"/>
                <a:cs typeface="Times New Roman"/>
              </a:rPr>
              <a:t>m</a:t>
            </a:r>
            <a:r>
              <a:rPr sz="1700" i="1" spc="-114" dirty="0">
                <a:latin typeface="Times New Roman"/>
                <a:cs typeface="Times New Roman"/>
              </a:rPr>
              <a:t>pty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qu</a:t>
            </a:r>
            <a:r>
              <a:rPr sz="1700" i="1" spc="-180" dirty="0">
                <a:latin typeface="Times New Roman"/>
                <a:cs typeface="Times New Roman"/>
              </a:rPr>
              <a:t>eue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434" y="2488820"/>
            <a:ext cx="7293609" cy="800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spcBef>
                <a:spcPts val="105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241300" algn="l"/>
              </a:tabLst>
            </a:pPr>
            <a:r>
              <a:rPr sz="2000" b="1" i="1" spc="-25" dirty="0">
                <a:latin typeface="Times New Roman"/>
                <a:cs typeface="Times New Roman"/>
              </a:rPr>
              <a:t>isEmpty(q)</a:t>
            </a:r>
            <a:endParaRPr sz="2000">
              <a:latin typeface="Times New Roman"/>
              <a:cs typeface="Times New Roman"/>
            </a:endParaRPr>
          </a:p>
          <a:p>
            <a:pPr marL="515620" marR="5080" lvl="1" indent="-228600">
              <a:lnSpc>
                <a:spcPts val="1630"/>
              </a:lnSpc>
              <a:spcBef>
                <a:spcPts val="415"/>
              </a:spcBef>
              <a:buClr>
                <a:srgbClr val="B1C1DB"/>
              </a:buClr>
              <a:buSzPct val="85294"/>
              <a:buFont typeface="Segoe UI Symbol"/>
              <a:buChar char="⚫"/>
              <a:tabLst>
                <a:tab pos="514984" algn="l"/>
                <a:tab pos="515620" algn="l"/>
              </a:tabLst>
            </a:pPr>
            <a:r>
              <a:rPr sz="1700" i="1" spc="-270" dirty="0">
                <a:latin typeface="Times New Roman"/>
                <a:cs typeface="Times New Roman"/>
              </a:rPr>
              <a:t>To</a:t>
            </a:r>
            <a:r>
              <a:rPr sz="1700" i="1" spc="-175" dirty="0">
                <a:latin typeface="Times New Roman"/>
                <a:cs typeface="Times New Roman"/>
              </a:rPr>
              <a:t> </a:t>
            </a:r>
            <a:r>
              <a:rPr sz="1700" i="1" spc="-204" dirty="0">
                <a:latin typeface="Times New Roman"/>
                <a:cs typeface="Times New Roman"/>
              </a:rPr>
              <a:t>check</a:t>
            </a:r>
            <a:r>
              <a:rPr sz="1700" i="1" spc="-150" dirty="0">
                <a:latin typeface="Times New Roman"/>
                <a:cs typeface="Times New Roman"/>
              </a:rPr>
              <a:t> </a:t>
            </a:r>
            <a:r>
              <a:rPr sz="1700" i="1" spc="-180" dirty="0">
                <a:latin typeface="Times New Roman"/>
                <a:cs typeface="Times New Roman"/>
              </a:rPr>
              <a:t>whether</a:t>
            </a:r>
            <a:r>
              <a:rPr sz="1700" i="1" spc="45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the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185" dirty="0">
                <a:latin typeface="Times New Roman"/>
                <a:cs typeface="Times New Roman"/>
              </a:rPr>
              <a:t>queue</a:t>
            </a:r>
            <a:r>
              <a:rPr sz="1700" i="1" spc="40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170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is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empty</a:t>
            </a:r>
            <a:r>
              <a:rPr sz="1700" i="1" spc="35" dirty="0">
                <a:latin typeface="Times New Roman"/>
                <a:cs typeface="Times New Roman"/>
              </a:rPr>
              <a:t> </a:t>
            </a:r>
            <a:r>
              <a:rPr sz="1700" i="1" spc="-204" dirty="0">
                <a:latin typeface="Times New Roman"/>
                <a:cs typeface="Times New Roman"/>
              </a:rPr>
              <a:t>or</a:t>
            </a:r>
            <a:r>
              <a:rPr sz="1700" i="1" spc="-155" dirty="0">
                <a:latin typeface="Times New Roman"/>
                <a:cs typeface="Times New Roman"/>
              </a:rPr>
              <a:t> </a:t>
            </a:r>
            <a:r>
              <a:rPr sz="1700" i="1" spc="-95" dirty="0">
                <a:latin typeface="Times New Roman"/>
                <a:cs typeface="Times New Roman"/>
              </a:rPr>
              <a:t>not.</a:t>
            </a:r>
            <a:r>
              <a:rPr sz="1700" i="1" spc="114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latin typeface="Times New Roman"/>
                <a:cs typeface="Times New Roman"/>
              </a:rPr>
              <a:t>Return</a:t>
            </a:r>
            <a:r>
              <a:rPr sz="1700" i="1" spc="5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latin typeface="Times New Roman"/>
                <a:cs typeface="Times New Roman"/>
              </a:rPr>
              <a:t>true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60" dirty="0">
                <a:latin typeface="Times New Roman"/>
                <a:cs typeface="Times New Roman"/>
              </a:rPr>
              <a:t>if</a:t>
            </a:r>
            <a:r>
              <a:rPr sz="1700" i="1" spc="29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170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is</a:t>
            </a:r>
            <a:r>
              <a:rPr sz="1700" i="1" spc="20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empty</a:t>
            </a:r>
            <a:r>
              <a:rPr sz="1700" i="1" spc="35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and</a:t>
            </a:r>
            <a:r>
              <a:rPr sz="1700" i="1" spc="45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return</a:t>
            </a:r>
            <a:r>
              <a:rPr sz="1700" i="1" spc="10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false </a:t>
            </a:r>
            <a:r>
              <a:rPr sz="1700" i="1" spc="-409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otherwise.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7434" y="3543680"/>
            <a:ext cx="6971665" cy="593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spcBef>
                <a:spcPts val="105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241300" algn="l"/>
              </a:tabLst>
            </a:pPr>
            <a:r>
              <a:rPr sz="2000" b="1" i="1" spc="-30" dirty="0">
                <a:latin typeface="Times New Roman"/>
                <a:cs typeface="Times New Roman"/>
              </a:rPr>
              <a:t>isFull(q)</a:t>
            </a:r>
            <a:endParaRPr sz="2000">
              <a:latin typeface="Times New Roman"/>
              <a:cs typeface="Times New Roman"/>
            </a:endParaRPr>
          </a:p>
          <a:p>
            <a:pPr marL="515620" lvl="1" indent="-229235">
              <a:spcBef>
                <a:spcPts val="20"/>
              </a:spcBef>
              <a:buClr>
                <a:srgbClr val="B1C1DB"/>
              </a:buClr>
              <a:buSzPct val="85294"/>
              <a:buFont typeface="Segoe UI Symbol"/>
              <a:buChar char="⚫"/>
              <a:tabLst>
                <a:tab pos="514984" algn="l"/>
                <a:tab pos="515620" algn="l"/>
              </a:tabLst>
            </a:pPr>
            <a:r>
              <a:rPr sz="1700" i="1" spc="-270" dirty="0">
                <a:latin typeface="Times New Roman"/>
                <a:cs typeface="Times New Roman"/>
              </a:rPr>
              <a:t>To</a:t>
            </a:r>
            <a:r>
              <a:rPr sz="1700" i="1" spc="-185" dirty="0">
                <a:latin typeface="Times New Roman"/>
                <a:cs typeface="Times New Roman"/>
              </a:rPr>
              <a:t> </a:t>
            </a:r>
            <a:r>
              <a:rPr sz="1700" i="1" spc="-204" dirty="0">
                <a:latin typeface="Times New Roman"/>
                <a:cs typeface="Times New Roman"/>
              </a:rPr>
              <a:t>check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185" dirty="0">
                <a:latin typeface="Times New Roman"/>
                <a:cs typeface="Times New Roman"/>
              </a:rPr>
              <a:t>whether</a:t>
            </a:r>
            <a:r>
              <a:rPr sz="1700" i="1" spc="-15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the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90" dirty="0">
                <a:latin typeface="Times New Roman"/>
                <a:cs typeface="Times New Roman"/>
              </a:rPr>
              <a:t>queue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is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90" dirty="0">
                <a:latin typeface="Times New Roman"/>
                <a:cs typeface="Times New Roman"/>
              </a:rPr>
              <a:t>full</a:t>
            </a:r>
            <a:r>
              <a:rPr sz="1700" i="1" spc="-15" dirty="0">
                <a:latin typeface="Times New Roman"/>
                <a:cs typeface="Times New Roman"/>
              </a:rPr>
              <a:t> </a:t>
            </a:r>
            <a:r>
              <a:rPr sz="1700" i="1" spc="-210" dirty="0">
                <a:latin typeface="Times New Roman"/>
                <a:cs typeface="Times New Roman"/>
              </a:rPr>
              <a:t>or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95" dirty="0">
                <a:latin typeface="Times New Roman"/>
                <a:cs typeface="Times New Roman"/>
              </a:rPr>
              <a:t>not.</a:t>
            </a:r>
            <a:r>
              <a:rPr sz="1700" i="1" spc="-215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latin typeface="Times New Roman"/>
                <a:cs typeface="Times New Roman"/>
              </a:rPr>
              <a:t>Return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40" dirty="0">
                <a:latin typeface="Times New Roman"/>
                <a:cs typeface="Times New Roman"/>
              </a:rPr>
              <a:t>true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70" dirty="0">
                <a:latin typeface="Times New Roman"/>
                <a:cs typeface="Times New Roman"/>
              </a:rPr>
              <a:t>if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is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90" dirty="0">
                <a:latin typeface="Times New Roman"/>
                <a:cs typeface="Times New Roman"/>
              </a:rPr>
              <a:t>full</a:t>
            </a:r>
            <a:r>
              <a:rPr sz="1700" i="1" spc="-15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and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return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false</a:t>
            </a:r>
            <a:r>
              <a:rPr sz="1700" i="1" spc="-10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otherwise.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7433" y="4391025"/>
            <a:ext cx="5406390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241300" algn="l"/>
              </a:tabLst>
            </a:pPr>
            <a:r>
              <a:rPr sz="2000" b="1" i="1" spc="-40" dirty="0">
                <a:latin typeface="Times New Roman"/>
                <a:cs typeface="Times New Roman"/>
              </a:rPr>
              <a:t>enqueue(q,x)</a:t>
            </a:r>
            <a:endParaRPr sz="2000">
              <a:latin typeface="Times New Roman"/>
              <a:cs typeface="Times New Roman"/>
            </a:endParaRPr>
          </a:p>
          <a:p>
            <a:pPr marL="515620" lvl="1" indent="-229235">
              <a:spcBef>
                <a:spcPts val="25"/>
              </a:spcBef>
              <a:buClr>
                <a:srgbClr val="B1C1DB"/>
              </a:buClr>
              <a:buSzPct val="85294"/>
              <a:buFont typeface="Segoe UI Symbol"/>
              <a:buChar char="⚫"/>
              <a:tabLst>
                <a:tab pos="514984" algn="l"/>
                <a:tab pos="515620" algn="l"/>
              </a:tabLst>
            </a:pPr>
            <a:r>
              <a:rPr sz="1700" i="1" spc="-270" dirty="0">
                <a:latin typeface="Times New Roman"/>
                <a:cs typeface="Times New Roman"/>
              </a:rPr>
              <a:t>To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latin typeface="Times New Roman"/>
                <a:cs typeface="Times New Roman"/>
              </a:rPr>
              <a:t>insert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an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item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x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10" dirty="0">
                <a:latin typeface="Times New Roman"/>
                <a:cs typeface="Times New Roman"/>
              </a:rPr>
              <a:t>at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the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200" dirty="0">
                <a:latin typeface="Times New Roman"/>
                <a:cs typeface="Times New Roman"/>
              </a:rPr>
              <a:t>rear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of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the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queue,</a:t>
            </a:r>
            <a:r>
              <a:rPr sz="1700" i="1" spc="-195" dirty="0">
                <a:latin typeface="Times New Roman"/>
                <a:cs typeface="Times New Roman"/>
              </a:rPr>
              <a:t> </a:t>
            </a:r>
            <a:r>
              <a:rPr sz="1700" i="1" spc="-70" dirty="0">
                <a:latin typeface="Times New Roman"/>
                <a:cs typeface="Times New Roman"/>
              </a:rPr>
              <a:t>if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and</a:t>
            </a:r>
            <a:r>
              <a:rPr sz="1700" i="1" spc="-15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only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-70" dirty="0">
                <a:latin typeface="Times New Roman"/>
                <a:cs typeface="Times New Roman"/>
              </a:rPr>
              <a:t>if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50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is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not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70" dirty="0">
                <a:latin typeface="Times New Roman"/>
                <a:cs typeface="Times New Roman"/>
              </a:rPr>
              <a:t>full.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7434" y="5238750"/>
            <a:ext cx="5782945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241300" algn="l"/>
              </a:tabLst>
            </a:pPr>
            <a:r>
              <a:rPr sz="2000" b="1" i="1" spc="-30" dirty="0">
                <a:latin typeface="Times New Roman"/>
                <a:cs typeface="Times New Roman"/>
              </a:rPr>
              <a:t>dequeue(q)</a:t>
            </a:r>
            <a:endParaRPr sz="2000">
              <a:latin typeface="Times New Roman"/>
              <a:cs typeface="Times New Roman"/>
            </a:endParaRPr>
          </a:p>
          <a:p>
            <a:pPr marL="515620" lvl="1" indent="-229235">
              <a:spcBef>
                <a:spcPts val="25"/>
              </a:spcBef>
              <a:buClr>
                <a:srgbClr val="B1C1DB"/>
              </a:buClr>
              <a:buSzPct val="85294"/>
              <a:buFont typeface="Segoe UI Symbol"/>
              <a:buChar char="⚫"/>
              <a:tabLst>
                <a:tab pos="514984" algn="l"/>
                <a:tab pos="515620" algn="l"/>
              </a:tabLst>
            </a:pPr>
            <a:r>
              <a:rPr sz="1700" i="1" spc="-270" dirty="0">
                <a:latin typeface="Times New Roman"/>
                <a:cs typeface="Times New Roman"/>
              </a:rPr>
              <a:t>To</a:t>
            </a:r>
            <a:r>
              <a:rPr sz="1700" i="1" spc="-190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delete</a:t>
            </a:r>
            <a:r>
              <a:rPr sz="1700" i="1" spc="-10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an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item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85" dirty="0">
                <a:latin typeface="Times New Roman"/>
                <a:cs typeface="Times New Roman"/>
              </a:rPr>
              <a:t>from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the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front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of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the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90" dirty="0">
                <a:latin typeface="Times New Roman"/>
                <a:cs typeface="Times New Roman"/>
              </a:rPr>
              <a:t>queue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70" dirty="0">
                <a:latin typeface="Times New Roman"/>
                <a:cs typeface="Times New Roman"/>
              </a:rPr>
              <a:t>if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70" dirty="0">
                <a:latin typeface="Times New Roman"/>
                <a:cs typeface="Times New Roman"/>
              </a:rPr>
              <a:t>and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only</a:t>
            </a:r>
            <a:r>
              <a:rPr sz="1700" i="1" spc="-20" dirty="0">
                <a:latin typeface="Times New Roman"/>
                <a:cs typeface="Times New Roman"/>
              </a:rPr>
              <a:t> </a:t>
            </a:r>
            <a:r>
              <a:rPr sz="1700" i="1" spc="-70" dirty="0">
                <a:latin typeface="Times New Roman"/>
                <a:cs typeface="Times New Roman"/>
              </a:rPr>
              <a:t>if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q</a:t>
            </a:r>
            <a:r>
              <a:rPr sz="1700" i="1" spc="-45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is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35" dirty="0">
                <a:latin typeface="Times New Roman"/>
                <a:cs typeface="Times New Roman"/>
              </a:rPr>
              <a:t>not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empty.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7434" y="6085739"/>
            <a:ext cx="4526915" cy="593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spcBef>
                <a:spcPts val="105"/>
              </a:spcBef>
              <a:buClr>
                <a:srgbClr val="C0504D"/>
              </a:buClr>
              <a:buSzPct val="85000"/>
              <a:buFont typeface="Segoe UI Symbol"/>
              <a:buChar char="⚫"/>
              <a:tabLst>
                <a:tab pos="241300" algn="l"/>
              </a:tabLst>
            </a:pPr>
            <a:r>
              <a:rPr sz="2000" b="1" i="1" spc="-20" dirty="0">
                <a:latin typeface="Times New Roman"/>
                <a:cs typeface="Times New Roman"/>
              </a:rPr>
              <a:t>traverse(q)</a:t>
            </a:r>
            <a:endParaRPr sz="2000" dirty="0">
              <a:latin typeface="Times New Roman"/>
              <a:cs typeface="Times New Roman"/>
            </a:endParaRPr>
          </a:p>
          <a:p>
            <a:pPr marL="515620" lvl="1" indent="-229235">
              <a:spcBef>
                <a:spcPts val="25"/>
              </a:spcBef>
              <a:buClr>
                <a:srgbClr val="B1C1DB"/>
              </a:buClr>
              <a:buSzPct val="85294"/>
              <a:buFont typeface="Segoe UI Symbol"/>
              <a:buChar char="⚫"/>
              <a:tabLst>
                <a:tab pos="514984" algn="l"/>
                <a:tab pos="515620" algn="l"/>
              </a:tabLst>
            </a:pPr>
            <a:r>
              <a:rPr sz="1700" i="1" spc="-275" dirty="0">
                <a:latin typeface="Times New Roman"/>
                <a:cs typeface="Times New Roman"/>
              </a:rPr>
              <a:t>To</a:t>
            </a:r>
            <a:r>
              <a:rPr sz="1700" i="1" spc="-45" dirty="0">
                <a:latin typeface="Times New Roman"/>
                <a:cs typeface="Times New Roman"/>
              </a:rPr>
              <a:t> </a:t>
            </a:r>
            <a:r>
              <a:rPr sz="1700" i="1" spc="-195" dirty="0">
                <a:latin typeface="Times New Roman"/>
                <a:cs typeface="Times New Roman"/>
              </a:rPr>
              <a:t>read</a:t>
            </a:r>
            <a:r>
              <a:rPr sz="1700" i="1" spc="-35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latin typeface="Times New Roman"/>
                <a:cs typeface="Times New Roman"/>
              </a:rPr>
              <a:t>entire</a:t>
            </a:r>
            <a:r>
              <a:rPr sz="1700" i="1" spc="-45" dirty="0">
                <a:latin typeface="Times New Roman"/>
                <a:cs typeface="Times New Roman"/>
              </a:rPr>
              <a:t> </a:t>
            </a:r>
            <a:r>
              <a:rPr sz="1700" i="1" spc="-180" dirty="0">
                <a:latin typeface="Times New Roman"/>
                <a:cs typeface="Times New Roman"/>
              </a:rPr>
              <a:t>queue;</a:t>
            </a:r>
            <a:r>
              <a:rPr sz="1700" i="1" spc="-195" dirty="0">
                <a:latin typeface="Times New Roman"/>
                <a:cs typeface="Times New Roman"/>
              </a:rPr>
              <a:t> </a:t>
            </a:r>
            <a:r>
              <a:rPr sz="1700" i="1" spc="-65" dirty="0">
                <a:latin typeface="Times New Roman"/>
                <a:cs typeface="Times New Roman"/>
              </a:rPr>
              <a:t>i.e.</a:t>
            </a:r>
            <a:r>
              <a:rPr sz="1700" i="1" spc="-210" dirty="0">
                <a:latin typeface="Times New Roman"/>
                <a:cs typeface="Times New Roman"/>
              </a:rPr>
              <a:t> </a:t>
            </a:r>
            <a:r>
              <a:rPr sz="1700" i="1" spc="-160" dirty="0">
                <a:latin typeface="Times New Roman"/>
                <a:cs typeface="Times New Roman"/>
              </a:rPr>
              <a:t>display</a:t>
            </a:r>
            <a:r>
              <a:rPr sz="1700" i="1" spc="-25" dirty="0">
                <a:latin typeface="Times New Roman"/>
                <a:cs typeface="Times New Roman"/>
              </a:rPr>
              <a:t> </a:t>
            </a:r>
            <a:r>
              <a:rPr sz="1700" i="1" spc="-130" dirty="0">
                <a:latin typeface="Times New Roman"/>
                <a:cs typeface="Times New Roman"/>
              </a:rPr>
              <a:t>the</a:t>
            </a:r>
            <a:r>
              <a:rPr sz="1700" i="1" spc="-40" dirty="0">
                <a:latin typeface="Times New Roman"/>
                <a:cs typeface="Times New Roman"/>
              </a:rPr>
              <a:t> </a:t>
            </a:r>
            <a:r>
              <a:rPr sz="1700" i="1" spc="-150" dirty="0">
                <a:latin typeface="Times New Roman"/>
                <a:cs typeface="Times New Roman"/>
              </a:rPr>
              <a:t>content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45" dirty="0">
                <a:latin typeface="Times New Roman"/>
                <a:cs typeface="Times New Roman"/>
              </a:rPr>
              <a:t>of</a:t>
            </a:r>
            <a:r>
              <a:rPr sz="1700" i="1" spc="-30" dirty="0">
                <a:latin typeface="Times New Roman"/>
                <a:cs typeface="Times New Roman"/>
              </a:rPr>
              <a:t> </a:t>
            </a:r>
            <a:r>
              <a:rPr sz="1700" i="1" spc="-130" dirty="0">
                <a:latin typeface="Times New Roman"/>
                <a:cs typeface="Times New Roman"/>
              </a:rPr>
              <a:t>the</a:t>
            </a:r>
            <a:r>
              <a:rPr sz="1700" i="1" spc="-55" dirty="0">
                <a:latin typeface="Times New Roman"/>
                <a:cs typeface="Times New Roman"/>
              </a:rPr>
              <a:t> </a:t>
            </a:r>
            <a:r>
              <a:rPr sz="1700" i="1" spc="-155" dirty="0">
                <a:latin typeface="Times New Roman"/>
                <a:cs typeface="Times New Roman"/>
              </a:rPr>
              <a:t>queue.</a:t>
            </a:r>
            <a:endParaRPr sz="1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5814" y="490854"/>
            <a:ext cx="495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35" dirty="0"/>
              <a:t> </a:t>
            </a:r>
            <a:r>
              <a:rPr spc="-45" dirty="0"/>
              <a:t>Implementation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90801" y="1314892"/>
            <a:ext cx="5982147" cy="499944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0" tIns="13335" rIns="0" bIns="0" rtlCol="0">
            <a:spAutoFit/>
          </a:bodyPr>
          <a:lstStyle/>
          <a:p>
            <a:pPr algn="ctr">
              <a:spcBef>
                <a:spcPts val="25"/>
              </a:spcBef>
            </a:pPr>
            <a:r>
              <a:rPr lang="en-US" sz="3200" b="1" i="1" spc="-229" dirty="0">
                <a:solidFill>
                  <a:schemeClr val="tx1"/>
                </a:solidFill>
                <a:latin typeface="Times New Roman"/>
                <a:cs typeface="Times New Roman"/>
              </a:rPr>
              <a:t>C</a:t>
            </a:r>
            <a:r>
              <a:rPr lang="en-US" sz="3200" b="1" i="1" spc="-180" dirty="0">
                <a:solidFill>
                  <a:schemeClr val="tx1"/>
                </a:solidFill>
                <a:latin typeface="Times New Roman"/>
                <a:cs typeface="Times New Roman"/>
              </a:rPr>
              <a:t>r</a:t>
            </a:r>
            <a:r>
              <a:rPr lang="en-US" sz="3200" b="1" i="1" spc="-45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  <a:r>
              <a:rPr lang="en-US" sz="3200" b="1" i="1" spc="-70" dirty="0">
                <a:solidFill>
                  <a:schemeClr val="tx1"/>
                </a:solidFill>
                <a:latin typeface="Times New Roman"/>
                <a:cs typeface="Times New Roman"/>
              </a:rPr>
              <a:t>a</a:t>
            </a:r>
            <a:r>
              <a:rPr lang="en-US" sz="3200" b="1" i="1" spc="-10" dirty="0">
                <a:solidFill>
                  <a:schemeClr val="tx1"/>
                </a:solidFill>
                <a:latin typeface="Times New Roman"/>
                <a:cs typeface="Times New Roman"/>
              </a:rPr>
              <a:t>ti</a:t>
            </a:r>
            <a:r>
              <a:rPr lang="en-US" sz="3200" b="1" i="1" spc="-15" dirty="0">
                <a:solidFill>
                  <a:schemeClr val="tx1"/>
                </a:solidFill>
                <a:latin typeface="Times New Roman"/>
                <a:cs typeface="Times New Roman"/>
              </a:rPr>
              <a:t>o</a:t>
            </a:r>
            <a:r>
              <a:rPr lang="en-US" sz="3200" b="1" i="1" spc="-120" dirty="0">
                <a:solidFill>
                  <a:schemeClr val="tx1"/>
                </a:solidFill>
                <a:latin typeface="Times New Roman"/>
                <a:cs typeface="Times New Roman"/>
              </a:rPr>
              <a:t>n</a:t>
            </a:r>
            <a:r>
              <a:rPr lang="en-US" sz="3200" b="1" i="1" spc="-9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1" i="1" spc="-120" dirty="0">
                <a:solidFill>
                  <a:schemeClr val="tx1"/>
                </a:solidFill>
                <a:latin typeface="Times New Roman"/>
                <a:cs typeface="Times New Roman"/>
              </a:rPr>
              <a:t>of</a:t>
            </a:r>
            <a:r>
              <a:rPr lang="en-US" sz="3200" b="1" i="1" spc="-6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3200" b="1" i="1" spc="-120" dirty="0">
                <a:solidFill>
                  <a:schemeClr val="tx1"/>
                </a:solidFill>
                <a:latin typeface="Times New Roman"/>
                <a:cs typeface="Times New Roman"/>
              </a:rPr>
              <a:t>Que</a:t>
            </a:r>
            <a:r>
              <a:rPr lang="en-US" sz="3200" b="1" i="1" spc="-110" dirty="0">
                <a:solidFill>
                  <a:schemeClr val="tx1"/>
                </a:solidFill>
                <a:latin typeface="Times New Roman"/>
                <a:cs typeface="Times New Roman"/>
              </a:rPr>
              <a:t>u</a:t>
            </a:r>
            <a:r>
              <a:rPr lang="en-US" sz="3200" b="1" i="1" spc="-100" dirty="0">
                <a:solidFill>
                  <a:schemeClr val="tx1"/>
                </a:solidFill>
                <a:latin typeface="Times New Roman"/>
                <a:cs typeface="Times New Roman"/>
              </a:rPr>
              <a:t>e</a:t>
            </a:r>
          </a:p>
          <a:p>
            <a:pPr>
              <a:spcBef>
                <a:spcPts val="25"/>
              </a:spcBef>
            </a:pP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/>
            <a:r>
              <a:rPr sz="2600" i="1" spc="-135" dirty="0">
                <a:latin typeface="Times New Roman"/>
                <a:cs typeface="Times New Roman"/>
              </a:rPr>
              <a:t>#</a:t>
            </a:r>
            <a:r>
              <a:rPr sz="2600" i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sz="2600" i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>
                <a:latin typeface="Times New Roman"/>
                <a:cs typeface="Times New Roman"/>
              </a:rPr>
              <a:t>Maxsize</a:t>
            </a:r>
            <a:r>
              <a:rPr sz="26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marL="12700"/>
            <a:r>
              <a:rPr lang="en-US" sz="2600" i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Lqueue</a:t>
            </a:r>
          </a:p>
          <a:p>
            <a:pPr marL="12700"/>
            <a:r>
              <a:rPr lang="en-US" sz="2600" i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12700"/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rear, front;</a:t>
            </a:r>
          </a:p>
          <a:p>
            <a:pPr marL="12700"/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 item[</a:t>
            </a:r>
            <a:r>
              <a:rPr lang="en-US" sz="2600" i="1" dirty="0">
                <a:latin typeface="Times New Roman"/>
                <a:cs typeface="Times New Roman"/>
              </a:rPr>
              <a:t>Maxsize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pPr marL="12700"/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 marL="12700"/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Lqueue qt;</a:t>
            </a:r>
          </a:p>
          <a:p>
            <a:pPr marL="12700"/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endParaRPr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5814" y="490854"/>
            <a:ext cx="495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35" dirty="0"/>
              <a:t> </a:t>
            </a:r>
            <a:r>
              <a:rPr spc="-45" dirty="0"/>
              <a:t>Implementation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29961" y="1357631"/>
            <a:ext cx="258699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b="1" i="1" spc="-90" dirty="0">
                <a:latin typeface="Times New Roman"/>
                <a:cs typeface="Times New Roman"/>
              </a:rPr>
              <a:t>Inse</a:t>
            </a:r>
            <a:r>
              <a:rPr sz="2600" b="1" i="1" spc="-60" dirty="0">
                <a:latin typeface="Times New Roman"/>
                <a:cs typeface="Times New Roman"/>
              </a:rPr>
              <a:t>r</a:t>
            </a:r>
            <a:r>
              <a:rPr sz="2600" b="1" i="1" spc="-40" dirty="0">
                <a:latin typeface="Times New Roman"/>
                <a:cs typeface="Times New Roman"/>
              </a:rPr>
              <a:t>tion</a:t>
            </a:r>
            <a:r>
              <a:rPr sz="2600" b="1" i="1" spc="-80" dirty="0">
                <a:latin typeface="Times New Roman"/>
                <a:cs typeface="Times New Roman"/>
              </a:rPr>
              <a:t> </a:t>
            </a:r>
            <a:r>
              <a:rPr sz="2600" b="1" i="1" spc="-75" dirty="0">
                <a:latin typeface="Times New Roman"/>
                <a:cs typeface="Times New Roman"/>
              </a:rPr>
              <a:t>Ope</a:t>
            </a:r>
            <a:r>
              <a:rPr sz="2600" b="1" i="1" spc="-140" dirty="0">
                <a:latin typeface="Times New Roman"/>
                <a:cs typeface="Times New Roman"/>
              </a:rPr>
              <a:t>r</a:t>
            </a:r>
            <a:r>
              <a:rPr sz="2600" b="1" i="1" spc="-20" dirty="0">
                <a:latin typeface="Times New Roman"/>
                <a:cs typeface="Times New Roman"/>
              </a:rPr>
              <a:t>a</a:t>
            </a:r>
            <a:r>
              <a:rPr sz="2600" b="1" i="1" spc="-40" dirty="0">
                <a:latin typeface="Times New Roman"/>
                <a:cs typeface="Times New Roman"/>
              </a:rPr>
              <a:t>tion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92488" y="1737761"/>
            <a:ext cx="2939719" cy="4758096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spcBef>
                <a:spcPts val="409"/>
              </a:spcBef>
            </a:pPr>
            <a:r>
              <a:rPr sz="2200" i="1" spc="-290" dirty="0">
                <a:latin typeface="Times New Roman"/>
                <a:cs typeface="Times New Roman"/>
              </a:rPr>
              <a:t>v</a:t>
            </a:r>
            <a:r>
              <a:rPr sz="2200" i="1" spc="-210" dirty="0">
                <a:latin typeface="Times New Roman"/>
                <a:cs typeface="Times New Roman"/>
              </a:rPr>
              <a:t>oi</a:t>
            </a:r>
            <a:r>
              <a:rPr sz="2200" i="1" spc="-260" dirty="0">
                <a:latin typeface="Times New Roman"/>
                <a:cs typeface="Times New Roman"/>
              </a:rPr>
              <a:t>d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spc="-250" dirty="0">
                <a:latin typeface="Times New Roman"/>
                <a:cs typeface="Times New Roman"/>
              </a:rPr>
              <a:t>inse</a:t>
            </a:r>
            <a:r>
              <a:rPr sz="2200" i="1" spc="-170" dirty="0">
                <a:latin typeface="Times New Roman"/>
                <a:cs typeface="Times New Roman"/>
              </a:rPr>
              <a:t>r</a:t>
            </a:r>
            <a:r>
              <a:rPr sz="2200" i="1" spc="-135" dirty="0">
                <a:latin typeface="Times New Roman"/>
                <a:cs typeface="Times New Roman"/>
              </a:rPr>
              <a:t>t()</a:t>
            </a:r>
            <a:endParaRPr sz="2200" i="1" dirty="0">
              <a:latin typeface="Times New Roman"/>
              <a:cs typeface="Times New Roman"/>
            </a:endParaRPr>
          </a:p>
          <a:p>
            <a:pPr marL="12700">
              <a:spcBef>
                <a:spcPts val="310"/>
              </a:spcBef>
            </a:pPr>
            <a:r>
              <a:rPr sz="2200" i="1" spc="190" dirty="0">
                <a:latin typeface="Times New Roman"/>
                <a:cs typeface="Times New Roman"/>
              </a:rPr>
              <a:t>{</a:t>
            </a:r>
            <a:endParaRPr sz="2200" i="1" dirty="0">
              <a:latin typeface="Times New Roman"/>
              <a:cs typeface="Times New Roman"/>
            </a:endParaRPr>
          </a:p>
          <a:p>
            <a:pPr marL="286385">
              <a:spcBef>
                <a:spcPts val="155"/>
              </a:spcBef>
            </a:pPr>
            <a:r>
              <a:rPr sz="2200" i="1" spc="-110" dirty="0">
                <a:latin typeface="Times New Roman"/>
                <a:cs typeface="Times New Roman"/>
              </a:rPr>
              <a:t>if</a:t>
            </a:r>
            <a:r>
              <a:rPr sz="2200" i="1" spc="-125" dirty="0">
                <a:latin typeface="Times New Roman"/>
                <a:cs typeface="Times New Roman"/>
              </a:rPr>
              <a:t>(</a:t>
            </a:r>
            <a:r>
              <a:rPr sz="2200" i="1" spc="-270" dirty="0">
                <a:latin typeface="Times New Roman"/>
                <a:cs typeface="Times New Roman"/>
              </a:rPr>
              <a:t>r</a:t>
            </a:r>
            <a:r>
              <a:rPr sz="2200" i="1" spc="-245" dirty="0">
                <a:latin typeface="Times New Roman"/>
                <a:cs typeface="Times New Roman"/>
              </a:rPr>
              <a:t>e</a:t>
            </a:r>
            <a:r>
              <a:rPr sz="2200" i="1" spc="-290" dirty="0">
                <a:latin typeface="Times New Roman"/>
                <a:cs typeface="Times New Roman"/>
              </a:rPr>
              <a:t>a</a:t>
            </a:r>
            <a:r>
              <a:rPr sz="2200" i="1" spc="-240" dirty="0">
                <a:latin typeface="Times New Roman"/>
                <a:cs typeface="Times New Roman"/>
              </a:rPr>
              <a:t>r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lang="en-US" sz="2200" i="1" spc="-25" dirty="0">
                <a:latin typeface="Times New Roman"/>
                <a:cs typeface="Times New Roman"/>
              </a:rPr>
              <a:t>&gt;</a:t>
            </a:r>
            <a:r>
              <a:rPr sz="2200" i="1" spc="-20" dirty="0">
                <a:latin typeface="Times New Roman"/>
                <a:cs typeface="Times New Roman"/>
              </a:rPr>
              <a:t>=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lang="en-US" sz="2400" i="1" dirty="0">
                <a:latin typeface="Times New Roman"/>
                <a:cs typeface="Times New Roman"/>
              </a:rPr>
              <a:t>Maxsize</a:t>
            </a:r>
            <a:r>
              <a:rPr lang="en-US" sz="2200" i="1" spc="-180" dirty="0">
                <a:latin typeface="Times New Roman"/>
                <a:cs typeface="Times New Roman"/>
              </a:rPr>
              <a:t> -1</a:t>
            </a:r>
            <a:r>
              <a:rPr sz="2200" i="1" spc="-165" dirty="0">
                <a:latin typeface="Times New Roman"/>
                <a:cs typeface="Times New Roman"/>
              </a:rPr>
              <a:t>)</a:t>
            </a:r>
            <a:endParaRPr sz="2200" i="1" dirty="0">
              <a:latin typeface="Times New Roman"/>
              <a:cs typeface="Times New Roman"/>
            </a:endParaRPr>
          </a:p>
          <a:p>
            <a:pPr marL="286385">
              <a:spcBef>
                <a:spcPts val="145"/>
              </a:spcBef>
            </a:pPr>
            <a:r>
              <a:rPr sz="2200" i="1" spc="170" dirty="0">
                <a:latin typeface="Times New Roman"/>
                <a:cs typeface="Times New Roman"/>
              </a:rPr>
              <a:t>{</a:t>
            </a:r>
            <a:endParaRPr sz="2200" i="1" dirty="0">
              <a:latin typeface="Times New Roman"/>
              <a:cs typeface="Times New Roman"/>
            </a:endParaRPr>
          </a:p>
          <a:p>
            <a:pPr marL="560705">
              <a:spcBef>
                <a:spcPts val="204"/>
              </a:spcBef>
            </a:pPr>
            <a:r>
              <a:rPr sz="2200" i="1" spc="-229" dirty="0">
                <a:latin typeface="Times New Roman"/>
                <a:cs typeface="Times New Roman"/>
              </a:rPr>
              <a:t>p</a:t>
            </a:r>
            <a:r>
              <a:rPr sz="2200" i="1" spc="-135" dirty="0">
                <a:latin typeface="Times New Roman"/>
                <a:cs typeface="Times New Roman"/>
              </a:rPr>
              <a:t>r</a:t>
            </a:r>
            <a:r>
              <a:rPr sz="2200" i="1" spc="-95" dirty="0">
                <a:latin typeface="Times New Roman"/>
                <a:cs typeface="Times New Roman"/>
              </a:rPr>
              <a:t>int</a:t>
            </a:r>
            <a:r>
              <a:rPr sz="2200" i="1" spc="-75" dirty="0">
                <a:latin typeface="Times New Roman"/>
                <a:cs typeface="Times New Roman"/>
              </a:rPr>
              <a:t>f</a:t>
            </a:r>
            <a:r>
              <a:rPr sz="2200" i="1" spc="-175" dirty="0">
                <a:latin typeface="Times New Roman"/>
                <a:cs typeface="Times New Roman"/>
              </a:rPr>
              <a:t>("Qu</a:t>
            </a:r>
            <a:r>
              <a:rPr sz="2200" i="1" spc="-170" dirty="0">
                <a:latin typeface="Times New Roman"/>
                <a:cs typeface="Times New Roman"/>
              </a:rPr>
              <a:t>e</a:t>
            </a:r>
            <a:r>
              <a:rPr sz="2200" i="1" spc="-204" dirty="0">
                <a:latin typeface="Times New Roman"/>
                <a:cs typeface="Times New Roman"/>
              </a:rPr>
              <a:t>ue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-170" dirty="0">
                <a:latin typeface="Times New Roman"/>
                <a:cs typeface="Times New Roman"/>
              </a:rPr>
              <a:t>is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95" dirty="0">
                <a:latin typeface="Times New Roman"/>
                <a:cs typeface="Times New Roman"/>
              </a:rPr>
              <a:t>full"</a:t>
            </a:r>
            <a:r>
              <a:rPr sz="2200" i="1" spc="-85" dirty="0">
                <a:latin typeface="Times New Roman"/>
                <a:cs typeface="Times New Roman"/>
              </a:rPr>
              <a:t>)</a:t>
            </a:r>
            <a:r>
              <a:rPr sz="2200" i="1" spc="-145" dirty="0">
                <a:latin typeface="Times New Roman"/>
                <a:cs typeface="Times New Roman"/>
              </a:rPr>
              <a:t>;</a:t>
            </a:r>
            <a:endParaRPr sz="2200" i="1" dirty="0">
              <a:latin typeface="Times New Roman"/>
              <a:cs typeface="Times New Roman"/>
            </a:endParaRPr>
          </a:p>
          <a:p>
            <a:pPr marL="286385">
              <a:spcBef>
                <a:spcPts val="95"/>
              </a:spcBef>
            </a:pPr>
            <a:r>
              <a:rPr sz="2200" i="1" spc="170" dirty="0">
                <a:latin typeface="Times New Roman"/>
                <a:cs typeface="Times New Roman"/>
              </a:rPr>
              <a:t>}</a:t>
            </a:r>
            <a:endParaRPr sz="2200" i="1" dirty="0">
              <a:latin typeface="Times New Roman"/>
              <a:cs typeface="Times New Roman"/>
            </a:endParaRPr>
          </a:p>
          <a:p>
            <a:pPr marL="286385">
              <a:spcBef>
                <a:spcPts val="145"/>
              </a:spcBef>
            </a:pPr>
            <a:r>
              <a:rPr sz="2200" i="1" spc="-245" dirty="0">
                <a:latin typeface="Times New Roman"/>
                <a:cs typeface="Times New Roman"/>
              </a:rPr>
              <a:t>else</a:t>
            </a:r>
            <a:endParaRPr sz="2200" i="1" dirty="0">
              <a:latin typeface="Times New Roman"/>
              <a:cs typeface="Times New Roman"/>
            </a:endParaRPr>
          </a:p>
          <a:p>
            <a:pPr marL="286385">
              <a:spcBef>
                <a:spcPts val="130"/>
              </a:spcBef>
            </a:pPr>
            <a:r>
              <a:rPr sz="2200" i="1" spc="170" dirty="0">
                <a:latin typeface="Times New Roman"/>
                <a:cs typeface="Times New Roman"/>
              </a:rPr>
              <a:t>{</a:t>
            </a:r>
            <a:endParaRPr sz="2200" i="1" dirty="0">
              <a:latin typeface="Times New Roman"/>
              <a:cs typeface="Times New Roman"/>
            </a:endParaRPr>
          </a:p>
          <a:p>
            <a:pPr marL="560705" marR="394335">
              <a:lnSpc>
                <a:spcPct val="107700"/>
              </a:lnSpc>
              <a:spcBef>
                <a:spcPts val="30"/>
              </a:spcBef>
            </a:pPr>
            <a:r>
              <a:rPr sz="2200" i="1" spc="-105" dirty="0">
                <a:latin typeface="Times New Roman"/>
                <a:cs typeface="Times New Roman"/>
              </a:rPr>
              <a:t>in</a:t>
            </a:r>
            <a:r>
              <a:rPr sz="2200" i="1" spc="-70" dirty="0">
                <a:latin typeface="Times New Roman"/>
                <a:cs typeface="Times New Roman"/>
              </a:rPr>
              <a:t>t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lang="en-US" sz="2200" i="1" spc="-260" dirty="0">
                <a:latin typeface="Times New Roman"/>
                <a:cs typeface="Times New Roman"/>
              </a:rPr>
              <a:t>item</a:t>
            </a:r>
            <a:r>
              <a:rPr sz="2200" i="1" spc="-120" dirty="0">
                <a:latin typeface="Times New Roman"/>
                <a:cs typeface="Times New Roman"/>
              </a:rPr>
              <a:t>;  </a:t>
            </a:r>
            <a:endParaRPr lang="en-US" sz="2200" i="1" spc="-120" dirty="0">
              <a:latin typeface="Times New Roman"/>
              <a:cs typeface="Times New Roman"/>
            </a:endParaRPr>
          </a:p>
          <a:p>
            <a:pPr marL="560705" marR="394335">
              <a:lnSpc>
                <a:spcPct val="107700"/>
              </a:lnSpc>
              <a:spcBef>
                <a:spcPts val="30"/>
              </a:spcBef>
            </a:pPr>
            <a:r>
              <a:rPr lang="en-US" sz="2200" i="1" spc="-155" dirty="0">
                <a:latin typeface="Times New Roman"/>
                <a:cs typeface="Times New Roman"/>
              </a:rPr>
              <a:t>r</a:t>
            </a:r>
            <a:r>
              <a:rPr sz="2200" i="1" spc="-155" dirty="0">
                <a:latin typeface="Times New Roman"/>
                <a:cs typeface="Times New Roman"/>
              </a:rPr>
              <a:t>ear</a:t>
            </a:r>
            <a:r>
              <a:rPr lang="en-US" sz="2200" i="1" spc="-155" dirty="0">
                <a:latin typeface="Times New Roman"/>
                <a:cs typeface="Times New Roman"/>
              </a:rPr>
              <a:t>= rear+1</a:t>
            </a:r>
            <a:r>
              <a:rPr sz="2200" i="1" spc="-155" dirty="0">
                <a:latin typeface="Times New Roman"/>
                <a:cs typeface="Times New Roman"/>
              </a:rPr>
              <a:t>;</a:t>
            </a:r>
            <a:endParaRPr lang="en-US" sz="2200" i="1" spc="-155" dirty="0">
              <a:latin typeface="Times New Roman"/>
              <a:cs typeface="Times New Roman"/>
            </a:endParaRPr>
          </a:p>
          <a:p>
            <a:pPr marL="560705" marR="394335">
              <a:lnSpc>
                <a:spcPct val="107700"/>
              </a:lnSpc>
              <a:spcBef>
                <a:spcPts val="30"/>
              </a:spcBef>
            </a:pPr>
            <a:r>
              <a:rPr lang="en-US" sz="2200" i="1" spc="-215" dirty="0">
                <a:latin typeface="Times New Roman"/>
                <a:cs typeface="Times New Roman"/>
              </a:rPr>
              <a:t>queu</a:t>
            </a:r>
            <a:r>
              <a:rPr lang="en-US" sz="2200" i="1" spc="-204" dirty="0">
                <a:latin typeface="Times New Roman"/>
                <a:cs typeface="Times New Roman"/>
              </a:rPr>
              <a:t>e</a:t>
            </a:r>
            <a:r>
              <a:rPr lang="en-US" sz="2200" i="1" spc="-180" dirty="0">
                <a:latin typeface="Times New Roman"/>
                <a:cs typeface="Times New Roman"/>
              </a:rPr>
              <a:t>[</a:t>
            </a:r>
            <a:r>
              <a:rPr lang="en-US" sz="2200" i="1" spc="-215" dirty="0">
                <a:latin typeface="Times New Roman"/>
                <a:cs typeface="Times New Roman"/>
              </a:rPr>
              <a:t>r</a:t>
            </a:r>
            <a:r>
              <a:rPr lang="en-US" sz="2200" i="1" spc="-204" dirty="0">
                <a:latin typeface="Times New Roman"/>
                <a:cs typeface="Times New Roman"/>
              </a:rPr>
              <a:t>ear]</a:t>
            </a:r>
            <a:r>
              <a:rPr lang="en-US" sz="2200" i="1" spc="5" dirty="0">
                <a:latin typeface="Times New Roman"/>
                <a:cs typeface="Times New Roman"/>
              </a:rPr>
              <a:t> </a:t>
            </a:r>
            <a:r>
              <a:rPr lang="en-US" sz="2200" i="1" spc="-20" dirty="0">
                <a:latin typeface="Times New Roman"/>
                <a:cs typeface="Times New Roman"/>
              </a:rPr>
              <a:t>=</a:t>
            </a:r>
            <a:r>
              <a:rPr lang="en-US" sz="2200" i="1" spc="-60" dirty="0">
                <a:latin typeface="Times New Roman"/>
                <a:cs typeface="Times New Roman"/>
              </a:rPr>
              <a:t> </a:t>
            </a:r>
            <a:r>
              <a:rPr lang="en-US" sz="2200" i="1" spc="-180" dirty="0">
                <a:latin typeface="Times New Roman"/>
                <a:cs typeface="Times New Roman"/>
              </a:rPr>
              <a:t>item</a:t>
            </a:r>
            <a:r>
              <a:rPr lang="en-US" sz="2200" i="1" spc="-120" dirty="0">
                <a:latin typeface="Times New Roman"/>
                <a:cs typeface="Times New Roman"/>
              </a:rPr>
              <a:t>;</a:t>
            </a:r>
            <a:endParaRPr sz="2200" i="1" dirty="0">
              <a:latin typeface="Times New Roman"/>
              <a:cs typeface="Times New Roman"/>
            </a:endParaRPr>
          </a:p>
          <a:p>
            <a:pPr marL="560705">
              <a:spcBef>
                <a:spcPts val="170"/>
              </a:spcBef>
            </a:pPr>
            <a:r>
              <a:rPr sz="2200" i="1" spc="150" dirty="0">
                <a:latin typeface="Times New Roman"/>
                <a:cs typeface="Times New Roman"/>
              </a:rPr>
              <a:t>}</a:t>
            </a:r>
            <a:endParaRPr lang="en-US" sz="2200" i="1" spc="150" dirty="0">
              <a:latin typeface="Times New Roman"/>
              <a:cs typeface="Times New Roman"/>
            </a:endParaRPr>
          </a:p>
          <a:p>
            <a:pPr marL="560705">
              <a:spcBef>
                <a:spcPts val="170"/>
              </a:spcBef>
            </a:pPr>
            <a:r>
              <a:rPr lang="en-US" sz="2200" i="1" spc="150" dirty="0">
                <a:latin typeface="Times New Roman"/>
                <a:cs typeface="Times New Roman"/>
              </a:rPr>
              <a:t>}</a:t>
            </a:r>
            <a:endParaRPr sz="2200" i="1" dirty="0">
              <a:latin typeface="Times New Roman"/>
              <a:cs typeface="Times New Roman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28DC1C04-314F-4770-8CE6-F2A2C30A7A44}"/>
              </a:ext>
            </a:extLst>
          </p:cNvPr>
          <p:cNvSpPr txBox="1"/>
          <p:nvPr/>
        </p:nvSpPr>
        <p:spPr>
          <a:xfrm>
            <a:off x="5699590" y="2364866"/>
            <a:ext cx="4663611" cy="33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600" i="1" dirty="0">
                <a:latin typeface="Times New Roman"/>
                <a:cs typeface="Times New Roman"/>
              </a:rPr>
              <a:t>Start</a:t>
            </a:r>
          </a:p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600" i="1" dirty="0">
                <a:latin typeface="Times New Roman"/>
                <a:cs typeface="Times New Roman"/>
              </a:rPr>
              <a:t>Initialize front=0 &amp; rear=-1</a:t>
            </a:r>
          </a:p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600" i="1" dirty="0">
                <a:latin typeface="Times New Roman"/>
                <a:cs typeface="Times New Roman"/>
              </a:rPr>
              <a:t>If rear&gt;= Maxsize-1</a:t>
            </a:r>
          </a:p>
          <a:p>
            <a:pPr marL="12700">
              <a:spcBef>
                <a:spcPts val="105"/>
              </a:spcBef>
            </a:pPr>
            <a:r>
              <a:rPr lang="en-US" sz="2600" i="1" dirty="0">
                <a:latin typeface="Times New Roman"/>
                <a:cs typeface="Times New Roman"/>
              </a:rPr>
              <a:t>	print “ queue overflow”</a:t>
            </a:r>
          </a:p>
          <a:p>
            <a:pPr marL="12700">
              <a:spcBef>
                <a:spcPts val="105"/>
              </a:spcBef>
            </a:pPr>
            <a:r>
              <a:rPr lang="en-US" sz="2600" i="1" dirty="0">
                <a:latin typeface="Times New Roman"/>
                <a:cs typeface="Times New Roman"/>
              </a:rPr>
              <a:t>	otherwise</a:t>
            </a:r>
          </a:p>
          <a:p>
            <a:pPr marL="12700">
              <a:spcBef>
                <a:spcPts val="105"/>
              </a:spcBef>
            </a:pPr>
            <a:r>
              <a:rPr lang="en-US" sz="2600" i="1" dirty="0">
                <a:latin typeface="Times New Roman"/>
                <a:cs typeface="Times New Roman"/>
              </a:rPr>
              <a:t>	set rear= rear+1</a:t>
            </a:r>
          </a:p>
          <a:p>
            <a:pPr marL="12700">
              <a:spcBef>
                <a:spcPts val="105"/>
              </a:spcBef>
            </a:pPr>
            <a:r>
              <a:rPr lang="en-US" sz="2600" i="1" dirty="0">
                <a:latin typeface="Times New Roman"/>
                <a:cs typeface="Times New Roman"/>
              </a:rPr>
              <a:t>	queue[rear+1]= Item</a:t>
            </a:r>
          </a:p>
          <a:p>
            <a:pPr marL="12700">
              <a:spcBef>
                <a:spcPts val="105"/>
              </a:spcBef>
            </a:pPr>
            <a:r>
              <a:rPr lang="en-US" sz="2600" i="1" dirty="0">
                <a:latin typeface="Times New Roman"/>
                <a:cs typeface="Times New Roman"/>
              </a:rPr>
              <a:t>4. Stop</a:t>
            </a:r>
            <a:endParaRPr sz="2600" i="1" dirty="0">
              <a:latin typeface="Times New Roman"/>
              <a:cs typeface="Times New Roman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A8781350-ADBA-4242-A2F2-9A56FB94EEAA}"/>
              </a:ext>
            </a:extLst>
          </p:cNvPr>
          <p:cNvSpPr txBox="1"/>
          <p:nvPr/>
        </p:nvSpPr>
        <p:spPr>
          <a:xfrm>
            <a:off x="7620000" y="1838028"/>
            <a:ext cx="24282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600" i="1" spc="-140" dirty="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endParaRPr sz="2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5814" y="490854"/>
            <a:ext cx="495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35" dirty="0"/>
              <a:t> </a:t>
            </a:r>
            <a:r>
              <a:rPr spc="-45" dirty="0"/>
              <a:t>Implementation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065014" y="1357631"/>
            <a:ext cx="2783586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600" b="1" i="1" spc="-50" dirty="0">
                <a:latin typeface="Times New Roman"/>
                <a:cs typeface="Times New Roman"/>
              </a:rPr>
              <a:t>D</a:t>
            </a:r>
            <a:r>
              <a:rPr lang="en-US" sz="2600" b="1" i="1" spc="-50" dirty="0">
                <a:latin typeface="Times New Roman"/>
                <a:cs typeface="Times New Roman"/>
              </a:rPr>
              <a:t>equeue</a:t>
            </a:r>
            <a:r>
              <a:rPr sz="2600" b="1" i="1" spc="-100" dirty="0">
                <a:latin typeface="Times New Roman"/>
                <a:cs typeface="Times New Roman"/>
              </a:rPr>
              <a:t> </a:t>
            </a:r>
            <a:r>
              <a:rPr sz="2600" b="1" i="1" spc="-75" dirty="0">
                <a:latin typeface="Times New Roman"/>
                <a:cs typeface="Times New Roman"/>
              </a:rPr>
              <a:t>Ope</a:t>
            </a:r>
            <a:r>
              <a:rPr sz="2600" b="1" i="1" spc="-140" dirty="0">
                <a:latin typeface="Times New Roman"/>
                <a:cs typeface="Times New Roman"/>
              </a:rPr>
              <a:t>r</a:t>
            </a:r>
            <a:r>
              <a:rPr sz="2600" b="1" i="1" spc="-20" dirty="0">
                <a:latin typeface="Times New Roman"/>
                <a:cs typeface="Times New Roman"/>
              </a:rPr>
              <a:t>a</a:t>
            </a:r>
            <a:r>
              <a:rPr sz="2600" b="1" i="1" spc="-40" dirty="0">
                <a:latin typeface="Times New Roman"/>
                <a:cs typeface="Times New Roman"/>
              </a:rPr>
              <a:t>tion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5965" y="1890157"/>
            <a:ext cx="4313834" cy="39799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del(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700">
              <a:lnSpc>
                <a:spcPts val="2610"/>
              </a:lnSpc>
              <a:spcBef>
                <a:spcPts val="70"/>
              </a:spcBef>
            </a:pPr>
            <a:r>
              <a:rPr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286385">
              <a:lnSpc>
                <a:spcPts val="233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&lt; front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6385">
              <a:lnSpc>
                <a:spcPts val="2365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560705">
              <a:lnSpc>
                <a:spcPts val="1985"/>
              </a:lnSpc>
              <a:spcBef>
                <a:spcPts val="15"/>
              </a:spcBef>
            </a:pPr>
            <a:r>
              <a:rPr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printf("Queue is empty");</a:t>
            </a:r>
          </a:p>
          <a:p>
            <a:pPr marL="286385">
              <a:lnSpc>
                <a:spcPts val="231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6385">
              <a:lnSpc>
                <a:spcPts val="232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286385">
              <a:lnSpc>
                <a:spcPts val="236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>
              <a:lnSpc>
                <a:spcPts val="236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d= queue[front]</a:t>
            </a:r>
          </a:p>
          <a:p>
            <a:pPr marL="286385">
              <a:lnSpc>
                <a:spcPts val="236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front= front+1</a:t>
            </a:r>
          </a:p>
          <a:p>
            <a:pPr marL="286385">
              <a:lnSpc>
                <a:spcPts val="236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printf(“Dequeue item is %d”, d);</a:t>
            </a:r>
            <a:r>
              <a:rPr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0705" marR="5080">
              <a:spcBef>
                <a:spcPts val="1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6385">
              <a:lnSpc>
                <a:spcPts val="2345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9A9A1E8C-96E7-4226-8AAB-12894817C1D7}"/>
              </a:ext>
            </a:extLst>
          </p:cNvPr>
          <p:cNvSpPr txBox="1"/>
          <p:nvPr/>
        </p:nvSpPr>
        <p:spPr>
          <a:xfrm>
            <a:off x="7620000" y="1838028"/>
            <a:ext cx="24282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600" i="1" spc="-140" dirty="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endParaRPr sz="2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FD76CFF-6659-44F7-A6E6-DB9184875B19}"/>
              </a:ext>
            </a:extLst>
          </p:cNvPr>
          <p:cNvSpPr txBox="1"/>
          <p:nvPr/>
        </p:nvSpPr>
        <p:spPr>
          <a:xfrm>
            <a:off x="6172204" y="2462174"/>
            <a:ext cx="4663611" cy="305788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400" i="1" dirty="0">
                <a:latin typeface="Times New Roman"/>
                <a:cs typeface="Times New Roman"/>
              </a:rPr>
              <a:t>Start</a:t>
            </a:r>
          </a:p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400" i="1" dirty="0">
                <a:latin typeface="Times New Roman"/>
                <a:cs typeface="Times New Roman"/>
              </a:rPr>
              <a:t>If rear&lt;front</a:t>
            </a:r>
          </a:p>
          <a:p>
            <a:pPr marL="12700">
              <a:spcBef>
                <a:spcPts val="105"/>
              </a:spcBef>
            </a:pPr>
            <a:r>
              <a:rPr lang="en-US" sz="2400" i="1" dirty="0">
                <a:latin typeface="Times New Roman"/>
                <a:cs typeface="Times New Roman"/>
              </a:rPr>
              <a:t>	print “ queue empty”</a:t>
            </a:r>
          </a:p>
          <a:p>
            <a:pPr marL="12700">
              <a:spcBef>
                <a:spcPts val="105"/>
              </a:spcBef>
            </a:pPr>
            <a:r>
              <a:rPr lang="en-US" sz="2400" i="1" dirty="0">
                <a:latin typeface="Times New Roman"/>
                <a:cs typeface="Times New Roman"/>
              </a:rPr>
              <a:t>	otherwise</a:t>
            </a:r>
          </a:p>
          <a:p>
            <a:pPr marL="12700">
              <a:spcBef>
                <a:spcPts val="105"/>
              </a:spcBef>
            </a:pPr>
            <a:r>
              <a:rPr lang="en-US" sz="2400" i="1" dirty="0">
                <a:latin typeface="Times New Roman"/>
                <a:cs typeface="Times New Roman"/>
              </a:rPr>
              <a:t>	set d= queue[front]</a:t>
            </a:r>
          </a:p>
          <a:p>
            <a:pPr marL="12700">
              <a:spcBef>
                <a:spcPts val="105"/>
              </a:spcBef>
            </a:pPr>
            <a:r>
              <a:rPr lang="en-US" sz="2400" i="1" dirty="0">
                <a:latin typeface="Times New Roman"/>
                <a:cs typeface="Times New Roman"/>
              </a:rPr>
              <a:t>	front= front+1</a:t>
            </a:r>
          </a:p>
          <a:p>
            <a:pPr marL="12700">
              <a:spcBef>
                <a:spcPts val="105"/>
              </a:spcBef>
            </a:pPr>
            <a:r>
              <a:rPr lang="en-US" sz="2400" i="1" dirty="0">
                <a:latin typeface="Times New Roman"/>
                <a:cs typeface="Times New Roman"/>
              </a:rPr>
              <a:t>	print “d” as dequeue item</a:t>
            </a:r>
          </a:p>
          <a:p>
            <a:pPr marL="12700">
              <a:spcBef>
                <a:spcPts val="105"/>
              </a:spcBef>
            </a:pPr>
            <a:r>
              <a:rPr lang="en-US" sz="2400" i="1" dirty="0">
                <a:latin typeface="Times New Roman"/>
                <a:cs typeface="Times New Roman"/>
              </a:rPr>
              <a:t>4. Stop</a:t>
            </a:r>
            <a:endParaRPr sz="2400" i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5814" y="490854"/>
            <a:ext cx="495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20" dirty="0"/>
              <a:t>Queue</a:t>
            </a:r>
            <a:r>
              <a:rPr spc="-35" dirty="0"/>
              <a:t> </a:t>
            </a:r>
            <a:r>
              <a:rPr spc="-45" dirty="0"/>
              <a:t>Implementation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517444" y="1151186"/>
            <a:ext cx="7007556" cy="5059077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2585720">
              <a:spcBef>
                <a:spcPts val="1730"/>
              </a:spcBef>
            </a:pPr>
            <a:r>
              <a:rPr lang="en-US" sz="2400" b="1" i="1" spc="-90" dirty="0">
                <a:latin typeface="Times New Roman"/>
                <a:cs typeface="Times New Roman"/>
              </a:rPr>
              <a:t>Display / Traverse</a:t>
            </a:r>
            <a:r>
              <a:rPr sz="2400" b="1" i="1" spc="-100" dirty="0">
                <a:latin typeface="Times New Roman"/>
                <a:cs typeface="Times New Roman"/>
              </a:rPr>
              <a:t> </a:t>
            </a:r>
            <a:r>
              <a:rPr sz="2400" b="1" i="1" spc="-75" dirty="0">
                <a:latin typeface="Times New Roman"/>
                <a:cs typeface="Times New Roman"/>
              </a:rPr>
              <a:t>Ope</a:t>
            </a:r>
            <a:r>
              <a:rPr sz="2400" b="1" i="1" spc="-140" dirty="0">
                <a:latin typeface="Times New Roman"/>
                <a:cs typeface="Times New Roman"/>
              </a:rPr>
              <a:t>r</a:t>
            </a:r>
            <a:r>
              <a:rPr sz="2400" b="1" i="1" spc="-20" dirty="0">
                <a:latin typeface="Times New Roman"/>
                <a:cs typeface="Times New Roman"/>
              </a:rPr>
              <a:t>a</a:t>
            </a:r>
            <a:r>
              <a:rPr sz="2400" b="1" i="1" spc="-40" dirty="0">
                <a:latin typeface="Times New Roman"/>
                <a:cs typeface="Times New Roman"/>
              </a:rPr>
              <a:t>tion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1495"/>
              </a:spcBef>
            </a:pPr>
            <a:r>
              <a:rPr sz="2400" i="1" spc="-290" dirty="0">
                <a:latin typeface="Times New Roman"/>
                <a:cs typeface="Times New Roman"/>
              </a:rPr>
              <a:t>v</a:t>
            </a:r>
            <a:r>
              <a:rPr sz="2400" i="1" spc="-210" dirty="0">
                <a:latin typeface="Times New Roman"/>
                <a:cs typeface="Times New Roman"/>
              </a:rPr>
              <a:t>oi</a:t>
            </a:r>
            <a:r>
              <a:rPr sz="2400" i="1" spc="-260" dirty="0">
                <a:latin typeface="Times New Roman"/>
                <a:cs typeface="Times New Roman"/>
              </a:rPr>
              <a:t>d</a:t>
            </a:r>
            <a:r>
              <a:rPr sz="2400" i="1" spc="-65" dirty="0">
                <a:latin typeface="Times New Roman"/>
                <a:cs typeface="Times New Roman"/>
              </a:rPr>
              <a:t> </a:t>
            </a:r>
            <a:r>
              <a:rPr sz="2400" i="1" spc="-130" dirty="0">
                <a:latin typeface="Times New Roman"/>
                <a:cs typeface="Times New Roman"/>
              </a:rPr>
              <a:t>t</a:t>
            </a:r>
            <a:r>
              <a:rPr sz="2400" i="1" spc="-254" dirty="0">
                <a:latin typeface="Times New Roman"/>
                <a:cs typeface="Times New Roman"/>
              </a:rPr>
              <a:t>r</a:t>
            </a:r>
            <a:r>
              <a:rPr sz="2400" i="1" spc="-325" dirty="0">
                <a:latin typeface="Times New Roman"/>
                <a:cs typeface="Times New Roman"/>
              </a:rPr>
              <a:t>a</a:t>
            </a:r>
            <a:r>
              <a:rPr sz="2400" i="1" spc="-290" dirty="0">
                <a:latin typeface="Times New Roman"/>
                <a:cs typeface="Times New Roman"/>
              </a:rPr>
              <a:t>v</a:t>
            </a:r>
            <a:r>
              <a:rPr sz="2400" i="1" spc="-310" dirty="0">
                <a:latin typeface="Times New Roman"/>
                <a:cs typeface="Times New Roman"/>
              </a:rPr>
              <a:t>e</a:t>
            </a:r>
            <a:r>
              <a:rPr sz="2400" i="1" spc="-260" dirty="0">
                <a:latin typeface="Times New Roman"/>
                <a:cs typeface="Times New Roman"/>
              </a:rPr>
              <a:t>r</a:t>
            </a:r>
            <a:r>
              <a:rPr sz="2400" i="1" spc="-250" dirty="0">
                <a:latin typeface="Times New Roman"/>
                <a:cs typeface="Times New Roman"/>
              </a:rPr>
              <a:t>se(</a:t>
            </a:r>
            <a:r>
              <a:rPr lang="en-US" sz="2400" i="1" spc="-250" dirty="0">
                <a:latin typeface="Times New Roman"/>
                <a:cs typeface="Times New Roman"/>
              </a:rPr>
              <a:t> </a:t>
            </a:r>
            <a:r>
              <a:rPr sz="2400" i="1" spc="-250" dirty="0"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315"/>
              </a:spcBef>
            </a:pPr>
            <a:r>
              <a:rPr sz="2400" i="1" spc="190" dirty="0">
                <a:latin typeface="Times New Roman"/>
                <a:cs typeface="Times New Roman"/>
              </a:rPr>
              <a:t>{</a:t>
            </a:r>
            <a:endParaRPr sz="2400" dirty="0">
              <a:latin typeface="Times New Roman"/>
              <a:cs typeface="Times New Roman"/>
            </a:endParaRPr>
          </a:p>
          <a:p>
            <a:pPr marL="286385">
              <a:lnSpc>
                <a:spcPts val="233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if(rear &lt; front)</a:t>
            </a:r>
          </a:p>
          <a:p>
            <a:pPr marL="286385">
              <a:lnSpc>
                <a:spcPts val="2365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560705">
              <a:lnSpc>
                <a:spcPts val="1985"/>
              </a:lnSpc>
              <a:spcBef>
                <a:spcPts val="15"/>
              </a:spcBef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printf("Queue is empty");</a:t>
            </a:r>
          </a:p>
          <a:p>
            <a:pPr marL="286385">
              <a:lnSpc>
                <a:spcPts val="231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6385">
              <a:spcBef>
                <a:spcPts val="145"/>
              </a:spcBef>
            </a:pPr>
            <a:r>
              <a:rPr sz="2400" i="1" spc="-245" dirty="0">
                <a:latin typeface="Times New Roman"/>
                <a:cs typeface="Times New Roman"/>
              </a:rPr>
              <a:t>else</a:t>
            </a:r>
            <a:endParaRPr sz="2400" dirty="0">
              <a:latin typeface="Times New Roman"/>
              <a:cs typeface="Times New Roman"/>
            </a:endParaRPr>
          </a:p>
          <a:p>
            <a:pPr marL="286385">
              <a:spcBef>
                <a:spcPts val="135"/>
              </a:spcBef>
            </a:pPr>
            <a:r>
              <a:rPr sz="2400" i="1" spc="170" dirty="0">
                <a:latin typeface="Times New Roman"/>
                <a:cs typeface="Times New Roman"/>
              </a:rPr>
              <a:t>{</a:t>
            </a:r>
            <a:endParaRPr sz="2400" dirty="0">
              <a:latin typeface="Times New Roman"/>
              <a:cs typeface="Times New Roman"/>
            </a:endParaRPr>
          </a:p>
          <a:p>
            <a:pPr marL="560705">
              <a:spcBef>
                <a:spcPts val="200"/>
              </a:spcBef>
            </a:pPr>
            <a:r>
              <a:rPr sz="2400" i="1" spc="-100" dirty="0">
                <a:latin typeface="Times New Roman"/>
                <a:cs typeface="Times New Roman"/>
              </a:rPr>
              <a:t>f</a:t>
            </a:r>
            <a:r>
              <a:rPr sz="2400" i="1" spc="-210" dirty="0">
                <a:latin typeface="Times New Roman"/>
                <a:cs typeface="Times New Roman"/>
              </a:rPr>
              <a:t>or(</a:t>
            </a:r>
            <a:r>
              <a:rPr sz="2400" i="1" spc="-80" dirty="0">
                <a:latin typeface="Times New Roman"/>
                <a:cs typeface="Times New Roman"/>
              </a:rPr>
              <a:t>i</a:t>
            </a:r>
            <a:r>
              <a:rPr sz="2400" i="1" spc="-30" dirty="0">
                <a:latin typeface="Times New Roman"/>
                <a:cs typeface="Times New Roman"/>
              </a:rPr>
              <a:t>=</a:t>
            </a:r>
            <a:r>
              <a:rPr sz="2400" i="1" spc="-165" dirty="0">
                <a:latin typeface="Times New Roman"/>
                <a:cs typeface="Times New Roman"/>
              </a:rPr>
              <a:t>fron</a:t>
            </a:r>
            <a:r>
              <a:rPr sz="2400" i="1" spc="-105" dirty="0">
                <a:latin typeface="Times New Roman"/>
                <a:cs typeface="Times New Roman"/>
              </a:rPr>
              <a:t>t</a:t>
            </a:r>
            <a:r>
              <a:rPr sz="2400" i="1" spc="-140" dirty="0">
                <a:latin typeface="Times New Roman"/>
                <a:cs typeface="Times New Roman"/>
              </a:rPr>
              <a:t>;</a:t>
            </a:r>
            <a:r>
              <a:rPr sz="2400" i="1" spc="-215" dirty="0">
                <a:latin typeface="Times New Roman"/>
                <a:cs typeface="Times New Roman"/>
              </a:rPr>
              <a:t> </a:t>
            </a:r>
            <a:r>
              <a:rPr sz="2400" i="1" spc="-80" dirty="0" err="1">
                <a:latin typeface="Times New Roman"/>
                <a:cs typeface="Times New Roman"/>
              </a:rPr>
              <a:t>i</a:t>
            </a:r>
            <a:r>
              <a:rPr sz="2400" i="1" spc="-30" dirty="0">
                <a:latin typeface="Times New Roman"/>
                <a:cs typeface="Times New Roman"/>
              </a:rPr>
              <a:t>&lt;</a:t>
            </a:r>
            <a:r>
              <a:rPr lang="en-US" sz="2400" i="1" spc="-30" dirty="0">
                <a:latin typeface="Times New Roman"/>
                <a:cs typeface="Times New Roman"/>
              </a:rPr>
              <a:t>=</a:t>
            </a:r>
            <a:r>
              <a:rPr sz="2400" i="1" spc="-240" dirty="0">
                <a:latin typeface="Times New Roman"/>
                <a:cs typeface="Times New Roman"/>
              </a:rPr>
              <a:t>r</a:t>
            </a:r>
            <a:r>
              <a:rPr sz="2400" i="1" spc="-260" dirty="0">
                <a:latin typeface="Times New Roman"/>
                <a:cs typeface="Times New Roman"/>
              </a:rPr>
              <a:t>e</a:t>
            </a:r>
            <a:r>
              <a:rPr sz="2400" i="1" spc="-229" dirty="0">
                <a:latin typeface="Times New Roman"/>
                <a:cs typeface="Times New Roman"/>
              </a:rPr>
              <a:t>a</a:t>
            </a:r>
            <a:r>
              <a:rPr sz="2400" i="1" spc="-185" dirty="0">
                <a:latin typeface="Times New Roman"/>
                <a:cs typeface="Times New Roman"/>
              </a:rPr>
              <a:t>r</a:t>
            </a:r>
            <a:r>
              <a:rPr sz="2400" i="1" spc="-140" dirty="0">
                <a:latin typeface="Times New Roman"/>
                <a:cs typeface="Times New Roman"/>
              </a:rPr>
              <a:t>;</a:t>
            </a:r>
            <a:r>
              <a:rPr sz="2400" i="1" spc="-215" dirty="0">
                <a:latin typeface="Times New Roman"/>
                <a:cs typeface="Times New Roman"/>
              </a:rPr>
              <a:t> </a:t>
            </a:r>
            <a:r>
              <a:rPr sz="2400" i="1" spc="-80" dirty="0">
                <a:latin typeface="Times New Roman"/>
                <a:cs typeface="Times New Roman"/>
              </a:rPr>
              <a:t>i</a:t>
            </a:r>
            <a:r>
              <a:rPr sz="2400" i="1" spc="-70" dirty="0">
                <a:latin typeface="Times New Roman"/>
                <a:cs typeface="Times New Roman"/>
              </a:rPr>
              <a:t>++)</a:t>
            </a:r>
            <a:endParaRPr sz="2400" dirty="0">
              <a:latin typeface="Times New Roman"/>
              <a:cs typeface="Times New Roman"/>
            </a:endParaRPr>
          </a:p>
          <a:p>
            <a:pPr marL="560705">
              <a:spcBef>
                <a:spcPts val="175"/>
              </a:spcBef>
            </a:pPr>
            <a:r>
              <a:rPr sz="2400" i="1" spc="150" dirty="0">
                <a:latin typeface="Times New Roman"/>
                <a:cs typeface="Times New Roman"/>
              </a:rPr>
              <a:t>{</a:t>
            </a:r>
            <a:endParaRPr sz="2400" dirty="0">
              <a:latin typeface="Times New Roman"/>
              <a:cs typeface="Times New Roman"/>
            </a:endParaRPr>
          </a:p>
          <a:p>
            <a:pPr marL="835025">
              <a:spcBef>
                <a:spcPts val="180"/>
              </a:spcBef>
            </a:pPr>
            <a:r>
              <a:rPr sz="2400" i="1" spc="-110" dirty="0">
                <a:latin typeface="Times New Roman"/>
                <a:cs typeface="Times New Roman"/>
              </a:rPr>
              <a:t>printf("%d\t",queue[i]);</a:t>
            </a:r>
            <a:endParaRPr sz="2400" dirty="0">
              <a:latin typeface="Times New Roman"/>
              <a:cs typeface="Times New Roman"/>
            </a:endParaRPr>
          </a:p>
          <a:p>
            <a:pPr marL="560705">
              <a:spcBef>
                <a:spcPts val="165"/>
              </a:spcBef>
            </a:pPr>
            <a:r>
              <a:rPr sz="2400" i="1" spc="150" dirty="0">
                <a:latin typeface="Times New Roman"/>
                <a:cs typeface="Times New Roman"/>
              </a:rPr>
              <a:t>}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17445" y="6075071"/>
            <a:ext cx="1720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i="1" spc="19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49336" y="365068"/>
            <a:ext cx="7693328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spc="-140" dirty="0"/>
              <a:t>Problem with Linear queue</a:t>
            </a:r>
            <a:br>
              <a:rPr lang="en-US" spc="-140" dirty="0"/>
            </a:br>
            <a:r>
              <a:rPr spc="-140" dirty="0"/>
              <a:t>Why</a:t>
            </a:r>
            <a:r>
              <a:rPr spc="-30" dirty="0"/>
              <a:t> Circular</a:t>
            </a:r>
            <a:r>
              <a:rPr spc="-70" dirty="0"/>
              <a:t> </a:t>
            </a:r>
            <a:r>
              <a:rPr spc="25" dirty="0"/>
              <a:t>Queue?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80779" y="1509674"/>
            <a:ext cx="7608570" cy="1317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i="1" spc="-204" dirty="0">
                <a:latin typeface="Times New Roman"/>
                <a:cs typeface="Times New Roman"/>
              </a:rPr>
              <a:t>Implementation</a:t>
            </a:r>
            <a:r>
              <a:rPr sz="2200" i="1" spc="-1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a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linear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245" dirty="0">
                <a:latin typeface="Times New Roman"/>
                <a:cs typeface="Times New Roman"/>
              </a:rPr>
              <a:t>queue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225" dirty="0">
                <a:latin typeface="Times New Roman"/>
                <a:cs typeface="Times New Roman"/>
              </a:rPr>
              <a:t>brings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285" dirty="0">
                <a:latin typeface="Times New Roman"/>
                <a:cs typeface="Times New Roman"/>
              </a:rPr>
              <a:t>drawback</a:t>
            </a:r>
            <a:r>
              <a:rPr sz="2200" i="1" spc="-260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85" dirty="0">
                <a:latin typeface="Times New Roman"/>
                <a:cs typeface="Times New Roman"/>
              </a:rPr>
              <a:t>memory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wastage.</a:t>
            </a:r>
            <a:endParaRPr sz="2200" dirty="0">
              <a:latin typeface="Times New Roman"/>
              <a:cs typeface="Times New Roman"/>
            </a:endParaRPr>
          </a:p>
          <a:p>
            <a:pPr>
              <a:spcBef>
                <a:spcPts val="20"/>
              </a:spcBef>
              <a:buClr>
                <a:srgbClr val="4F81BC"/>
              </a:buClr>
              <a:buFont typeface="Segoe UI Symbol"/>
              <a:buChar char="⚫"/>
            </a:pPr>
            <a:endParaRPr sz="2850" dirty="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110"/>
              </a:lnSpc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  <a:tab pos="2058035" algn="l"/>
                <a:tab pos="2343150" algn="l"/>
                <a:tab pos="2602230" algn="l"/>
                <a:tab pos="3361054" algn="l"/>
                <a:tab pos="4206875" algn="l"/>
                <a:tab pos="4725670" algn="l"/>
                <a:tab pos="5188585" algn="l"/>
                <a:tab pos="5918835" algn="l"/>
                <a:tab pos="6650355" algn="l"/>
                <a:tab pos="7406640" algn="l"/>
              </a:tabLst>
            </a:pPr>
            <a:r>
              <a:rPr sz="2200" i="1" spc="-325" dirty="0">
                <a:latin typeface="Times New Roman"/>
                <a:cs typeface="Times New Roman"/>
              </a:rPr>
              <a:t>H</a:t>
            </a:r>
            <a:r>
              <a:rPr sz="2200" i="1" spc="-250" dirty="0">
                <a:latin typeface="Times New Roman"/>
                <a:cs typeface="Times New Roman"/>
              </a:rPr>
              <a:t>o</a:t>
            </a:r>
            <a:r>
              <a:rPr sz="2200" i="1" spc="-380" dirty="0">
                <a:latin typeface="Times New Roman"/>
                <a:cs typeface="Times New Roman"/>
              </a:rPr>
              <a:t>w</a:t>
            </a:r>
            <a:r>
              <a:rPr sz="2200" i="1" spc="-254" dirty="0">
                <a:latin typeface="Times New Roman"/>
                <a:cs typeface="Times New Roman"/>
              </a:rPr>
              <a:t>e</a:t>
            </a:r>
            <a:r>
              <a:rPr sz="2200" i="1" spc="-295" dirty="0">
                <a:latin typeface="Times New Roman"/>
                <a:cs typeface="Times New Roman"/>
              </a:rPr>
              <a:t>v</a:t>
            </a:r>
            <a:r>
              <a:rPr sz="2200" i="1" spc="-285" dirty="0">
                <a:latin typeface="Times New Roman"/>
                <a:cs typeface="Times New Roman"/>
              </a:rPr>
              <a:t>e</a:t>
            </a:r>
            <a:r>
              <a:rPr sz="2200" i="1" spc="-345" dirty="0">
                <a:latin typeface="Times New Roman"/>
                <a:cs typeface="Times New Roman"/>
              </a:rPr>
              <a:t>r</a:t>
            </a:r>
            <a:r>
              <a:rPr sz="2200" i="1" spc="20" dirty="0">
                <a:latin typeface="Times New Roman"/>
                <a:cs typeface="Times New Roman"/>
              </a:rPr>
              <a:t>,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160" dirty="0">
                <a:latin typeface="Times New Roman"/>
                <a:cs typeface="Times New Roman"/>
              </a:rPr>
              <a:t> </a:t>
            </a:r>
            <a:r>
              <a:rPr sz="2200" i="1" spc="-320" dirty="0">
                <a:latin typeface="Times New Roman"/>
                <a:cs typeface="Times New Roman"/>
              </a:rPr>
              <a:t>m</a:t>
            </a:r>
            <a:r>
              <a:rPr sz="2200" i="1" spc="-315" dirty="0">
                <a:latin typeface="Times New Roman"/>
                <a:cs typeface="Times New Roman"/>
              </a:rPr>
              <a:t>emo</a:t>
            </a:r>
            <a:r>
              <a:rPr sz="2200" i="1" spc="-215" dirty="0">
                <a:latin typeface="Times New Roman"/>
                <a:cs typeface="Times New Roman"/>
              </a:rPr>
              <a:t>r</a:t>
            </a:r>
            <a:r>
              <a:rPr sz="2200" i="1" spc="-175" dirty="0">
                <a:latin typeface="Times New Roman"/>
                <a:cs typeface="Times New Roman"/>
              </a:rPr>
              <a:t>y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00" dirty="0">
                <a:latin typeface="Times New Roman"/>
                <a:cs typeface="Times New Roman"/>
              </a:rPr>
              <a:t>is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35" dirty="0">
                <a:latin typeface="Times New Roman"/>
                <a:cs typeface="Times New Roman"/>
              </a:rPr>
              <a:t>a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95" dirty="0">
                <a:latin typeface="Times New Roman"/>
                <a:cs typeface="Times New Roman"/>
              </a:rPr>
              <a:t>c</a:t>
            </a:r>
            <a:r>
              <a:rPr sz="2200" i="1" spc="-235" dirty="0">
                <a:latin typeface="Times New Roman"/>
                <a:cs typeface="Times New Roman"/>
              </a:rPr>
              <a:t>r</a:t>
            </a:r>
            <a:r>
              <a:rPr sz="2200" i="1" spc="-265" dirty="0">
                <a:latin typeface="Times New Roman"/>
                <a:cs typeface="Times New Roman"/>
              </a:rPr>
              <a:t>u</a:t>
            </a:r>
            <a:r>
              <a:rPr sz="2200" i="1" spc="-245" dirty="0">
                <a:latin typeface="Times New Roman"/>
                <a:cs typeface="Times New Roman"/>
              </a:rPr>
              <a:t>c</a:t>
            </a:r>
            <a:r>
              <a:rPr sz="2200" i="1" spc="-155" dirty="0">
                <a:latin typeface="Times New Roman"/>
                <a:cs typeface="Times New Roman"/>
              </a:rPr>
              <a:t>ia</a:t>
            </a:r>
            <a:r>
              <a:rPr sz="2200" i="1" spc="-105" dirty="0">
                <a:latin typeface="Times New Roman"/>
                <a:cs typeface="Times New Roman"/>
              </a:rPr>
              <a:t>l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70" dirty="0">
                <a:latin typeface="Times New Roman"/>
                <a:cs typeface="Times New Roman"/>
              </a:rPr>
              <a:t>r</a:t>
            </a:r>
            <a:r>
              <a:rPr sz="2200" i="1" spc="-275" dirty="0">
                <a:latin typeface="Times New Roman"/>
                <a:cs typeface="Times New Roman"/>
              </a:rPr>
              <a:t>esou</a:t>
            </a:r>
            <a:r>
              <a:rPr sz="2200" i="1" spc="-245" dirty="0">
                <a:latin typeface="Times New Roman"/>
                <a:cs typeface="Times New Roman"/>
              </a:rPr>
              <a:t>r</a:t>
            </a:r>
            <a:r>
              <a:rPr sz="2200" i="1" spc="-305" dirty="0">
                <a:latin typeface="Times New Roman"/>
                <a:cs typeface="Times New Roman"/>
              </a:rPr>
              <a:t>ce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85" dirty="0">
                <a:latin typeface="Times New Roman"/>
                <a:cs typeface="Times New Roman"/>
              </a:rPr>
              <a:t>t</a:t>
            </a:r>
            <a:r>
              <a:rPr sz="2200" i="1" spc="-135" dirty="0">
                <a:latin typeface="Times New Roman"/>
                <a:cs typeface="Times New Roman"/>
              </a:rPr>
              <a:t>h</a:t>
            </a:r>
            <a:r>
              <a:rPr sz="2200" i="1" spc="-265" dirty="0">
                <a:latin typeface="Times New Roman"/>
                <a:cs typeface="Times New Roman"/>
              </a:rPr>
              <a:t>a</a:t>
            </a:r>
            <a:r>
              <a:rPr sz="2200" i="1" spc="-45" dirty="0">
                <a:latin typeface="Times New Roman"/>
                <a:cs typeface="Times New Roman"/>
              </a:rPr>
              <a:t>t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00" dirty="0">
                <a:latin typeface="Times New Roman"/>
                <a:cs typeface="Times New Roman"/>
              </a:rPr>
              <a:t>y</a:t>
            </a:r>
            <a:r>
              <a:rPr sz="2200" i="1" spc="-250" dirty="0">
                <a:latin typeface="Times New Roman"/>
                <a:cs typeface="Times New Roman"/>
              </a:rPr>
              <a:t>o</a:t>
            </a:r>
            <a:r>
              <a:rPr sz="2200" i="1" spc="-245" dirty="0">
                <a:latin typeface="Times New Roman"/>
                <a:cs typeface="Times New Roman"/>
              </a:rPr>
              <a:t>u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15" dirty="0">
                <a:latin typeface="Times New Roman"/>
                <a:cs typeface="Times New Roman"/>
              </a:rPr>
              <a:t>should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04" dirty="0">
                <a:latin typeface="Times New Roman"/>
                <a:cs typeface="Times New Roman"/>
              </a:rPr>
              <a:t>a</a:t>
            </a:r>
            <a:r>
              <a:rPr sz="2200" i="1" spc="-145" dirty="0">
                <a:latin typeface="Times New Roman"/>
                <a:cs typeface="Times New Roman"/>
              </a:rPr>
              <a:t>l</a:t>
            </a:r>
            <a:r>
              <a:rPr sz="2200" i="1" spc="-405" dirty="0">
                <a:latin typeface="Times New Roman"/>
                <a:cs typeface="Times New Roman"/>
              </a:rPr>
              <a:t>w</a:t>
            </a:r>
            <a:r>
              <a:rPr sz="2200" i="1" spc="-290" dirty="0">
                <a:latin typeface="Times New Roman"/>
                <a:cs typeface="Times New Roman"/>
              </a:rPr>
              <a:t>a</a:t>
            </a:r>
            <a:r>
              <a:rPr sz="2200" i="1" spc="-265" dirty="0">
                <a:latin typeface="Times New Roman"/>
                <a:cs typeface="Times New Roman"/>
              </a:rPr>
              <a:t>y</a:t>
            </a:r>
            <a:r>
              <a:rPr sz="2200" i="1" spc="-225" dirty="0">
                <a:latin typeface="Times New Roman"/>
                <a:cs typeface="Times New Roman"/>
              </a:rPr>
              <a:t>s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65" dirty="0">
                <a:latin typeface="Times New Roman"/>
                <a:cs typeface="Times New Roman"/>
              </a:rPr>
              <a:t>p</a:t>
            </a:r>
            <a:r>
              <a:rPr sz="2200" i="1" spc="-225" dirty="0">
                <a:latin typeface="Times New Roman"/>
                <a:cs typeface="Times New Roman"/>
              </a:rPr>
              <a:t>ro</a:t>
            </a:r>
            <a:r>
              <a:rPr sz="2200" i="1" spc="-125" dirty="0">
                <a:latin typeface="Times New Roman"/>
                <a:cs typeface="Times New Roman"/>
              </a:rPr>
              <a:t>t</a:t>
            </a:r>
            <a:r>
              <a:rPr sz="2200" i="1" spc="-285" dirty="0">
                <a:latin typeface="Times New Roman"/>
                <a:cs typeface="Times New Roman"/>
              </a:rPr>
              <a:t>e</a:t>
            </a:r>
            <a:r>
              <a:rPr sz="2200" i="1" spc="-180" dirty="0">
                <a:latin typeface="Times New Roman"/>
                <a:cs typeface="Times New Roman"/>
              </a:rPr>
              <a:t>ct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i="1" spc="-245" dirty="0">
                <a:latin typeface="Times New Roman"/>
                <a:cs typeface="Times New Roman"/>
              </a:rPr>
              <a:t>by  </a:t>
            </a:r>
            <a:r>
              <a:rPr sz="2200" i="1" spc="-175" dirty="0">
                <a:latin typeface="Times New Roman"/>
                <a:cs typeface="Times New Roman"/>
              </a:rPr>
              <a:t>analyzing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135" dirty="0">
                <a:latin typeface="Times New Roman"/>
                <a:cs typeface="Times New Roman"/>
              </a:rPr>
              <a:t>all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implications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210" dirty="0">
                <a:latin typeface="Times New Roman"/>
                <a:cs typeface="Times New Roman"/>
              </a:rPr>
              <a:t>while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designing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-210" dirty="0">
                <a:latin typeface="Times New Roman"/>
                <a:cs typeface="Times New Roman"/>
              </a:rPr>
              <a:t>algorithms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270" dirty="0">
                <a:latin typeface="Times New Roman"/>
                <a:cs typeface="Times New Roman"/>
              </a:rPr>
              <a:t>or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sz="2200" i="1" spc="-185" dirty="0">
                <a:latin typeface="Times New Roman"/>
                <a:cs typeface="Times New Roman"/>
              </a:rPr>
              <a:t>solutions.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444" y="2961259"/>
            <a:ext cx="7614284" cy="8972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6385" marR="5080" indent="-274320" algn="just">
              <a:lnSpc>
                <a:spcPct val="80000"/>
              </a:lnSpc>
              <a:spcBef>
                <a:spcPts val="620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i="1" spc="-175" dirty="0">
                <a:latin typeface="Times New Roman"/>
                <a:cs typeface="Times New Roman"/>
              </a:rPr>
              <a:t>In</a:t>
            </a:r>
            <a:r>
              <a:rPr sz="2200" i="1" spc="-17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170" dirty="0">
                <a:latin typeface="Times New Roman"/>
                <a:cs typeface="Times New Roman"/>
              </a:rPr>
              <a:t> </a:t>
            </a:r>
            <a:r>
              <a:rPr sz="2200" i="1" spc="-285" dirty="0">
                <a:latin typeface="Times New Roman"/>
                <a:cs typeface="Times New Roman"/>
              </a:rPr>
              <a:t>case</a:t>
            </a:r>
            <a:r>
              <a:rPr sz="2200" i="1" spc="-280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190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a</a:t>
            </a:r>
            <a:r>
              <a:rPr sz="2200" i="1" spc="-229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linear</a:t>
            </a:r>
            <a:r>
              <a:rPr sz="2200" i="1" spc="-190" dirty="0">
                <a:latin typeface="Times New Roman"/>
                <a:cs typeface="Times New Roman"/>
              </a:rPr>
              <a:t> </a:t>
            </a:r>
            <a:r>
              <a:rPr sz="2200" i="1" spc="-204" dirty="0">
                <a:latin typeface="Times New Roman"/>
                <a:cs typeface="Times New Roman"/>
              </a:rPr>
              <a:t>queue, </a:t>
            </a:r>
            <a:r>
              <a:rPr sz="2200" i="1" spc="-265" dirty="0">
                <a:latin typeface="Times New Roman"/>
                <a:cs typeface="Times New Roman"/>
              </a:rPr>
              <a:t>when</a:t>
            </a:r>
            <a:r>
              <a:rPr sz="2200" i="1" spc="-26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200" dirty="0">
                <a:latin typeface="Times New Roman"/>
                <a:cs typeface="Times New Roman"/>
              </a:rPr>
              <a:t> </a:t>
            </a:r>
            <a:r>
              <a:rPr sz="2200" i="1" spc="-260" dirty="0">
                <a:latin typeface="Times New Roman"/>
                <a:cs typeface="Times New Roman"/>
              </a:rPr>
              <a:t>rear</a:t>
            </a:r>
            <a:r>
              <a:rPr sz="2200" i="1" spc="30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pointer</a:t>
            </a:r>
            <a:r>
              <a:rPr sz="2200" i="1" spc="160" dirty="0">
                <a:latin typeface="Times New Roman"/>
                <a:cs typeface="Times New Roman"/>
              </a:rPr>
              <a:t> </a:t>
            </a:r>
            <a:r>
              <a:rPr sz="2200" i="1" spc="-270" dirty="0">
                <a:latin typeface="Times New Roman"/>
                <a:cs typeface="Times New Roman"/>
              </a:rPr>
              <a:t>reaches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200" dirty="0">
                <a:latin typeface="Times New Roman"/>
                <a:cs typeface="Times New Roman"/>
              </a:rPr>
              <a:t> </a:t>
            </a:r>
            <a:r>
              <a:rPr sz="2200" i="1" spc="-210" dirty="0">
                <a:latin typeface="Times New Roman"/>
                <a:cs typeface="Times New Roman"/>
              </a:rPr>
              <a:t>maxSize</a:t>
            </a:r>
            <a:r>
              <a:rPr sz="2200" i="1" spc="130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160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a </a:t>
            </a:r>
            <a:r>
              <a:rPr sz="2200" i="1" spc="-229" dirty="0">
                <a:latin typeface="Times New Roman"/>
                <a:cs typeface="Times New Roman"/>
              </a:rPr>
              <a:t> </a:t>
            </a:r>
            <a:r>
              <a:rPr sz="2200" i="1" spc="-204" dirty="0">
                <a:latin typeface="Times New Roman"/>
                <a:cs typeface="Times New Roman"/>
              </a:rPr>
              <a:t>queue,</a:t>
            </a:r>
            <a:r>
              <a:rPr sz="2200" i="1" spc="-200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there</a:t>
            </a:r>
            <a:r>
              <a:rPr sz="2200" i="1" spc="-210" dirty="0">
                <a:latin typeface="Times New Roman"/>
                <a:cs typeface="Times New Roman"/>
              </a:rPr>
              <a:t> </a:t>
            </a:r>
            <a:r>
              <a:rPr sz="2200" i="1" spc="-180" dirty="0">
                <a:latin typeface="Times New Roman"/>
                <a:cs typeface="Times New Roman"/>
              </a:rPr>
              <a:t>might</a:t>
            </a:r>
            <a:r>
              <a:rPr sz="2200" i="1" spc="-175" dirty="0">
                <a:latin typeface="Times New Roman"/>
                <a:cs typeface="Times New Roman"/>
              </a:rPr>
              <a:t> </a:t>
            </a:r>
            <a:r>
              <a:rPr sz="2200" i="1" spc="-295" dirty="0">
                <a:latin typeface="Times New Roman"/>
                <a:cs typeface="Times New Roman"/>
              </a:rPr>
              <a:t>be</a:t>
            </a:r>
            <a:r>
              <a:rPr sz="2200" i="1" spc="-290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a</a:t>
            </a:r>
            <a:r>
              <a:rPr sz="2200" i="1" spc="-225" dirty="0">
                <a:latin typeface="Times New Roman"/>
                <a:cs typeface="Times New Roman"/>
              </a:rPr>
              <a:t> </a:t>
            </a:r>
            <a:r>
              <a:rPr sz="2200" i="1" spc="-185" dirty="0">
                <a:latin typeface="Times New Roman"/>
                <a:cs typeface="Times New Roman"/>
              </a:rPr>
              <a:t>possibility</a:t>
            </a:r>
            <a:r>
              <a:rPr sz="2200" i="1" spc="-180" dirty="0">
                <a:latin typeface="Times New Roman"/>
                <a:cs typeface="Times New Roman"/>
              </a:rPr>
              <a:t> </a:t>
            </a:r>
            <a:r>
              <a:rPr sz="2200" i="1" spc="-135" dirty="0">
                <a:latin typeface="Times New Roman"/>
                <a:cs typeface="Times New Roman"/>
              </a:rPr>
              <a:t>that</a:t>
            </a:r>
            <a:r>
              <a:rPr sz="2200" i="1" spc="-130" dirty="0">
                <a:latin typeface="Times New Roman"/>
                <a:cs typeface="Times New Roman"/>
              </a:rPr>
              <a:t> </a:t>
            </a:r>
            <a:r>
              <a:rPr sz="2200" i="1" spc="-180" dirty="0">
                <a:latin typeface="Times New Roman"/>
                <a:cs typeface="Times New Roman"/>
              </a:rPr>
              <a:t>after</a:t>
            </a:r>
            <a:r>
              <a:rPr sz="2200" i="1" spc="-175" dirty="0">
                <a:latin typeface="Times New Roman"/>
                <a:cs typeface="Times New Roman"/>
              </a:rPr>
              <a:t> </a:t>
            </a:r>
            <a:r>
              <a:rPr sz="2200" i="1" spc="-190" dirty="0">
                <a:latin typeface="Times New Roman"/>
                <a:cs typeface="Times New Roman"/>
              </a:rPr>
              <a:t>certain</a:t>
            </a:r>
            <a:r>
              <a:rPr sz="2200" i="1" spc="-185" dirty="0">
                <a:latin typeface="Times New Roman"/>
                <a:cs typeface="Times New Roman"/>
              </a:rPr>
              <a:t> </a:t>
            </a:r>
            <a:r>
              <a:rPr sz="2200" i="1" spc="-260" dirty="0">
                <a:latin typeface="Times New Roman"/>
                <a:cs typeface="Times New Roman"/>
              </a:rPr>
              <a:t>number</a:t>
            </a:r>
            <a:r>
              <a:rPr sz="2200" i="1" spc="-254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51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dequeue() </a:t>
            </a:r>
            <a:r>
              <a:rPr sz="2200" i="1" spc="-225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operations,</a:t>
            </a:r>
            <a:r>
              <a:rPr sz="2200" i="1" spc="-254" dirty="0">
                <a:latin typeface="Times New Roman"/>
                <a:cs typeface="Times New Roman"/>
              </a:rPr>
              <a:t> </a:t>
            </a:r>
            <a:r>
              <a:rPr sz="2200" i="1" spc="-65" dirty="0">
                <a:latin typeface="Times New Roman"/>
                <a:cs typeface="Times New Roman"/>
              </a:rPr>
              <a:t>it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150" dirty="0">
                <a:latin typeface="Times New Roman"/>
                <a:cs typeface="Times New Roman"/>
              </a:rPr>
              <a:t>will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spc="-250" dirty="0">
                <a:latin typeface="Times New Roman"/>
                <a:cs typeface="Times New Roman"/>
              </a:rPr>
              <a:t>create</a:t>
            </a:r>
            <a:r>
              <a:rPr sz="2200" i="1" spc="-20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empty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280" dirty="0">
                <a:latin typeface="Times New Roman"/>
                <a:cs typeface="Times New Roman"/>
              </a:rPr>
              <a:t>space</a:t>
            </a:r>
            <a:r>
              <a:rPr sz="2200" i="1" spc="-30" dirty="0">
                <a:latin typeface="Times New Roman"/>
                <a:cs typeface="Times New Roman"/>
              </a:rPr>
              <a:t> </a:t>
            </a:r>
            <a:r>
              <a:rPr sz="2200" i="1" spc="-155" dirty="0">
                <a:latin typeface="Times New Roman"/>
                <a:cs typeface="Times New Roman"/>
              </a:rPr>
              <a:t>at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165" dirty="0">
                <a:latin typeface="Times New Roman"/>
                <a:cs typeface="Times New Roman"/>
              </a:rPr>
              <a:t>start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sz="2200" i="1" spc="-235" dirty="0">
                <a:latin typeface="Times New Roman"/>
                <a:cs typeface="Times New Roman"/>
              </a:rPr>
              <a:t>a</a:t>
            </a:r>
            <a:r>
              <a:rPr sz="2200" i="1" spc="-40" dirty="0">
                <a:latin typeface="Times New Roman"/>
                <a:cs typeface="Times New Roman"/>
              </a:rPr>
              <a:t> </a:t>
            </a:r>
            <a:r>
              <a:rPr sz="2200" i="1" spc="-200" dirty="0">
                <a:latin typeface="Times New Roman"/>
                <a:cs typeface="Times New Roman"/>
              </a:rPr>
              <a:t>queue.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7444" y="4186809"/>
            <a:ext cx="7606030" cy="6286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62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i="1" spc="-355" dirty="0">
                <a:latin typeface="Times New Roman"/>
                <a:cs typeface="Times New Roman"/>
              </a:rPr>
              <a:t>To</a:t>
            </a:r>
            <a:r>
              <a:rPr sz="2200" i="1" spc="-245" dirty="0">
                <a:latin typeface="Times New Roman"/>
                <a:cs typeface="Times New Roman"/>
              </a:rPr>
              <a:t> </a:t>
            </a:r>
            <a:r>
              <a:rPr sz="2200" i="1" spc="-125" dirty="0">
                <a:latin typeface="Times New Roman"/>
                <a:cs typeface="Times New Roman"/>
              </a:rPr>
              <a:t>utilize</a:t>
            </a:r>
            <a:r>
              <a:rPr sz="2200" i="1" spc="-9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-35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empty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225" dirty="0">
                <a:latin typeface="Times New Roman"/>
                <a:cs typeface="Times New Roman"/>
              </a:rPr>
              <a:t>space,</a:t>
            </a:r>
            <a:r>
              <a:rPr sz="2200" i="1" spc="-200" dirty="0">
                <a:latin typeface="Times New Roman"/>
                <a:cs typeface="Times New Roman"/>
              </a:rPr>
              <a:t> </a:t>
            </a:r>
            <a:r>
              <a:rPr sz="2200" i="1" spc="-254" dirty="0">
                <a:latin typeface="Times New Roman"/>
                <a:cs typeface="Times New Roman"/>
              </a:rPr>
              <a:t>each</a:t>
            </a:r>
            <a:r>
              <a:rPr sz="2200" i="1" spc="-24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dequeue()</a:t>
            </a:r>
            <a:r>
              <a:rPr sz="2200" i="1" spc="35" dirty="0">
                <a:latin typeface="Times New Roman"/>
                <a:cs typeface="Times New Roman"/>
              </a:rPr>
              <a:t> </a:t>
            </a:r>
            <a:r>
              <a:rPr sz="2200" i="1" spc="-220" dirty="0">
                <a:latin typeface="Times New Roman"/>
                <a:cs typeface="Times New Roman"/>
              </a:rPr>
              <a:t>operation</a:t>
            </a:r>
            <a:r>
              <a:rPr sz="2200" i="1" spc="10" dirty="0">
                <a:latin typeface="Times New Roman"/>
                <a:cs typeface="Times New Roman"/>
              </a:rPr>
              <a:t> </a:t>
            </a:r>
            <a:r>
              <a:rPr sz="2200" i="1" spc="-265" dirty="0">
                <a:latin typeface="Times New Roman"/>
                <a:cs typeface="Times New Roman"/>
              </a:rPr>
              <a:t>needs</a:t>
            </a:r>
            <a:r>
              <a:rPr sz="2200" i="1" spc="-229" dirty="0">
                <a:latin typeface="Times New Roman"/>
                <a:cs typeface="Times New Roman"/>
              </a:rPr>
              <a:t> </a:t>
            </a:r>
            <a:r>
              <a:rPr sz="2200" i="1" spc="-170" dirty="0">
                <a:latin typeface="Times New Roman"/>
                <a:cs typeface="Times New Roman"/>
              </a:rPr>
              <a:t>to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-295" dirty="0">
                <a:latin typeface="Times New Roman"/>
                <a:cs typeface="Times New Roman"/>
              </a:rPr>
              <a:t>be</a:t>
            </a:r>
            <a:r>
              <a:rPr sz="2200" i="1" spc="-17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followed</a:t>
            </a:r>
            <a:r>
              <a:rPr sz="2200" i="1" spc="15" dirty="0">
                <a:latin typeface="Times New Roman"/>
                <a:cs typeface="Times New Roman"/>
              </a:rPr>
              <a:t> </a:t>
            </a:r>
            <a:r>
              <a:rPr sz="2200" i="1" spc="-300" dirty="0">
                <a:latin typeface="Times New Roman"/>
                <a:cs typeface="Times New Roman"/>
              </a:rPr>
              <a:t>by </a:t>
            </a:r>
            <a:r>
              <a:rPr sz="2200" i="1" spc="-535" dirty="0">
                <a:latin typeface="Times New Roman"/>
                <a:cs typeface="Times New Roman"/>
              </a:rPr>
              <a:t> </a:t>
            </a:r>
            <a:r>
              <a:rPr sz="2200" i="1" spc="-135" dirty="0">
                <a:latin typeface="Times New Roman"/>
                <a:cs typeface="Times New Roman"/>
              </a:rPr>
              <a:t>shifti</a:t>
            </a:r>
            <a:r>
              <a:rPr sz="2200" i="1" spc="-220" dirty="0">
                <a:latin typeface="Times New Roman"/>
                <a:cs typeface="Times New Roman"/>
              </a:rPr>
              <a:t>ng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135" dirty="0">
                <a:latin typeface="Times New Roman"/>
                <a:cs typeface="Times New Roman"/>
              </a:rPr>
              <a:t>all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29" dirty="0">
                <a:latin typeface="Times New Roman"/>
                <a:cs typeface="Times New Roman"/>
              </a:rPr>
              <a:t>elemen</a:t>
            </a:r>
            <a:r>
              <a:rPr sz="2200" i="1" spc="-130" dirty="0">
                <a:latin typeface="Times New Roman"/>
                <a:cs typeface="Times New Roman"/>
              </a:rPr>
              <a:t>t</a:t>
            </a:r>
            <a:r>
              <a:rPr sz="2200" i="1" spc="-310" dirty="0">
                <a:latin typeface="Times New Roman"/>
                <a:cs typeface="Times New Roman"/>
              </a:rPr>
              <a:t>s</a:t>
            </a:r>
            <a:r>
              <a:rPr sz="2200" i="1" spc="-60" dirty="0">
                <a:latin typeface="Times New Roman"/>
                <a:cs typeface="Times New Roman"/>
              </a:rPr>
              <a:t> </a:t>
            </a:r>
            <a:r>
              <a:rPr sz="2200" i="1" spc="-285" dirty="0">
                <a:latin typeface="Times New Roman"/>
                <a:cs typeface="Times New Roman"/>
              </a:rPr>
              <a:t>onc</a:t>
            </a:r>
            <a:r>
              <a:rPr sz="2200" i="1" spc="-260" dirty="0">
                <a:latin typeface="Times New Roman"/>
                <a:cs typeface="Times New Roman"/>
              </a:rPr>
              <a:t>e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125" dirty="0">
                <a:latin typeface="Times New Roman"/>
                <a:cs typeface="Times New Roman"/>
              </a:rPr>
              <a:t>t</a:t>
            </a:r>
            <a:r>
              <a:rPr sz="2200" i="1" spc="-250" dirty="0">
                <a:latin typeface="Times New Roman"/>
                <a:cs typeface="Times New Roman"/>
              </a:rPr>
              <a:t>o</a:t>
            </a:r>
            <a:r>
              <a:rPr sz="2200" i="1" spc="-415" dirty="0">
                <a:latin typeface="Times New Roman"/>
                <a:cs typeface="Times New Roman"/>
              </a:rPr>
              <a:t>w</a:t>
            </a:r>
            <a:r>
              <a:rPr sz="2200" i="1" spc="-265" dirty="0">
                <a:latin typeface="Times New Roman"/>
                <a:cs typeface="Times New Roman"/>
              </a:rPr>
              <a:t>a</a:t>
            </a:r>
            <a:r>
              <a:rPr sz="2200" i="1" spc="-225" dirty="0">
                <a:latin typeface="Times New Roman"/>
                <a:cs typeface="Times New Roman"/>
              </a:rPr>
              <a:t>r</a:t>
            </a:r>
            <a:r>
              <a:rPr sz="2200" i="1" spc="-270" dirty="0">
                <a:latin typeface="Times New Roman"/>
                <a:cs typeface="Times New Roman"/>
              </a:rPr>
              <a:t>ds</a:t>
            </a:r>
            <a:r>
              <a:rPr sz="2200" i="1" spc="-25" dirty="0">
                <a:latin typeface="Times New Roman"/>
                <a:cs typeface="Times New Roman"/>
              </a:rPr>
              <a:t> </a:t>
            </a:r>
            <a:r>
              <a:rPr sz="2200" i="1" spc="-190" dirty="0">
                <a:latin typeface="Times New Roman"/>
                <a:cs typeface="Times New Roman"/>
              </a:rPr>
              <a:t>fron</a:t>
            </a:r>
            <a:r>
              <a:rPr sz="2200" i="1" spc="-125" dirty="0">
                <a:latin typeface="Times New Roman"/>
                <a:cs typeface="Times New Roman"/>
              </a:rPr>
              <a:t>t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7444" y="5144261"/>
            <a:ext cx="45580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i="1" spc="-195" dirty="0">
                <a:latin typeface="Times New Roman"/>
                <a:cs typeface="Times New Roman"/>
              </a:rPr>
              <a:t>Thi</a:t>
            </a:r>
            <a:r>
              <a:rPr sz="2200" i="1" spc="-165" dirty="0">
                <a:latin typeface="Times New Roman"/>
                <a:cs typeface="Times New Roman"/>
              </a:rPr>
              <a:t>s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65" dirty="0">
                <a:latin typeface="Times New Roman"/>
                <a:cs typeface="Times New Roman"/>
              </a:rPr>
              <a:t>p</a:t>
            </a:r>
            <a:r>
              <a:rPr sz="2200" i="1" spc="-225" dirty="0">
                <a:latin typeface="Times New Roman"/>
                <a:cs typeface="Times New Roman"/>
              </a:rPr>
              <a:t>r</a:t>
            </a:r>
            <a:r>
              <a:rPr sz="2200" i="1" spc="-320" dirty="0">
                <a:latin typeface="Times New Roman"/>
                <a:cs typeface="Times New Roman"/>
              </a:rPr>
              <a:t>oces</a:t>
            </a:r>
            <a:r>
              <a:rPr sz="2200" i="1" spc="-275" dirty="0">
                <a:latin typeface="Times New Roman"/>
                <a:cs typeface="Times New Roman"/>
              </a:rPr>
              <a:t>s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50" dirty="0">
                <a:latin typeface="Times New Roman"/>
                <a:cs typeface="Times New Roman"/>
              </a:rPr>
              <a:t>will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270" dirty="0">
                <a:latin typeface="Times New Roman"/>
                <a:cs typeface="Times New Roman"/>
              </a:rPr>
              <a:t>r</a:t>
            </a:r>
            <a:r>
              <a:rPr sz="2200" i="1" spc="-185" dirty="0">
                <a:latin typeface="Times New Roman"/>
                <a:cs typeface="Times New Roman"/>
              </a:rPr>
              <a:t>esult</a:t>
            </a:r>
            <a:r>
              <a:rPr sz="2200" i="1" spc="-45" dirty="0">
                <a:latin typeface="Times New Roman"/>
                <a:cs typeface="Times New Roman"/>
              </a:rPr>
              <a:t> </a:t>
            </a:r>
            <a:r>
              <a:rPr sz="2200" i="1" spc="-135" dirty="0">
                <a:latin typeface="Times New Roman"/>
                <a:cs typeface="Times New Roman"/>
              </a:rPr>
              <a:t>in</a:t>
            </a:r>
            <a:r>
              <a:rPr sz="2200" i="1" spc="-65" dirty="0">
                <a:latin typeface="Times New Roman"/>
                <a:cs typeface="Times New Roman"/>
              </a:rPr>
              <a:t> </a:t>
            </a:r>
            <a:r>
              <a:rPr sz="2200" i="1" spc="-335" dirty="0">
                <a:latin typeface="Times New Roman"/>
                <a:cs typeface="Times New Roman"/>
              </a:rPr>
              <a:t>mo</a:t>
            </a:r>
            <a:r>
              <a:rPr sz="2200" i="1" spc="-235" dirty="0">
                <a:latin typeface="Times New Roman"/>
                <a:cs typeface="Times New Roman"/>
              </a:rPr>
              <a:t>r</a:t>
            </a:r>
            <a:r>
              <a:rPr sz="2200" i="1" spc="-290" dirty="0">
                <a:latin typeface="Times New Roman"/>
                <a:cs typeface="Times New Roman"/>
              </a:rPr>
              <a:t>e</a:t>
            </a:r>
            <a:r>
              <a:rPr sz="2200" i="1" spc="-50" dirty="0">
                <a:latin typeface="Times New Roman"/>
                <a:cs typeface="Times New Roman"/>
              </a:rPr>
              <a:t> </a:t>
            </a:r>
            <a:r>
              <a:rPr sz="2200" i="1" spc="-100" dirty="0">
                <a:latin typeface="Times New Roman"/>
                <a:cs typeface="Times New Roman"/>
              </a:rPr>
              <a:t>ti</a:t>
            </a:r>
            <a:r>
              <a:rPr sz="2200" i="1" spc="-254" dirty="0">
                <a:latin typeface="Times New Roman"/>
                <a:cs typeface="Times New Roman"/>
              </a:rPr>
              <a:t>m</a:t>
            </a:r>
            <a:r>
              <a:rPr sz="2200" i="1" spc="-290" dirty="0">
                <a:latin typeface="Times New Roman"/>
                <a:cs typeface="Times New Roman"/>
              </a:rPr>
              <a:t>e</a:t>
            </a:r>
            <a:r>
              <a:rPr sz="2200" i="1" spc="-55" dirty="0">
                <a:latin typeface="Times New Roman"/>
                <a:cs typeface="Times New Roman"/>
              </a:rPr>
              <a:t> </a:t>
            </a:r>
            <a:r>
              <a:rPr sz="2200" i="1" spc="-265" dirty="0">
                <a:latin typeface="Times New Roman"/>
                <a:cs typeface="Times New Roman"/>
              </a:rPr>
              <a:t>compl</a:t>
            </a:r>
            <a:r>
              <a:rPr sz="2200" i="1" spc="-250" dirty="0">
                <a:latin typeface="Times New Roman"/>
                <a:cs typeface="Times New Roman"/>
              </a:rPr>
              <a:t>e</a:t>
            </a:r>
            <a:r>
              <a:rPr sz="2200" i="1" spc="-120" dirty="0">
                <a:latin typeface="Times New Roman"/>
                <a:cs typeface="Times New Roman"/>
              </a:rPr>
              <a:t>xit</a:t>
            </a:r>
            <a:r>
              <a:rPr sz="2200" i="1" spc="-355" dirty="0">
                <a:latin typeface="Times New Roman"/>
                <a:cs typeface="Times New Roman"/>
              </a:rPr>
              <a:t>y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17444" y="5833059"/>
            <a:ext cx="761428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i="1" spc="-225" dirty="0">
                <a:latin typeface="Times New Roman"/>
                <a:cs typeface="Times New Roman"/>
              </a:rPr>
              <a:t>Hence,</a:t>
            </a:r>
            <a:r>
              <a:rPr sz="2200" i="1" spc="165" dirty="0">
                <a:latin typeface="Times New Roman"/>
                <a:cs typeface="Times New Roman"/>
              </a:rPr>
              <a:t> </a:t>
            </a:r>
            <a:r>
              <a:rPr sz="2200" i="1" spc="-225" dirty="0">
                <a:latin typeface="Times New Roman"/>
                <a:cs typeface="Times New Roman"/>
              </a:rPr>
              <a:t>experts</a:t>
            </a:r>
            <a:r>
              <a:rPr sz="2200" i="1" spc="409" dirty="0">
                <a:latin typeface="Times New Roman"/>
                <a:cs typeface="Times New Roman"/>
              </a:rPr>
              <a:t> </a:t>
            </a:r>
            <a:r>
              <a:rPr sz="2200" i="1" spc="-215" dirty="0">
                <a:latin typeface="Times New Roman"/>
                <a:cs typeface="Times New Roman"/>
              </a:rPr>
              <a:t>introduced</a:t>
            </a:r>
            <a:r>
              <a:rPr sz="2200" i="1" spc="390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390" dirty="0">
                <a:latin typeface="Times New Roman"/>
                <a:cs typeface="Times New Roman"/>
              </a:rPr>
              <a:t> </a:t>
            </a:r>
            <a:r>
              <a:rPr sz="2200" i="1" spc="-245" dirty="0">
                <a:latin typeface="Times New Roman"/>
                <a:cs typeface="Times New Roman"/>
              </a:rPr>
              <a:t>concept</a:t>
            </a:r>
            <a:r>
              <a:rPr sz="2200" i="1" spc="395" dirty="0">
                <a:latin typeface="Times New Roman"/>
                <a:cs typeface="Times New Roman"/>
              </a:rPr>
              <a:t> </a:t>
            </a:r>
            <a:r>
              <a:rPr sz="2200" i="1" spc="-195" dirty="0">
                <a:latin typeface="Times New Roman"/>
                <a:cs typeface="Times New Roman"/>
              </a:rPr>
              <a:t>of</a:t>
            </a:r>
            <a:r>
              <a:rPr sz="2200" i="1" spc="375" dirty="0">
                <a:latin typeface="Times New Roman"/>
                <a:cs typeface="Times New Roman"/>
              </a:rPr>
              <a:t> </a:t>
            </a:r>
            <a:r>
              <a:rPr sz="2200" i="1" spc="-175" dirty="0">
                <a:latin typeface="Times New Roman"/>
                <a:cs typeface="Times New Roman"/>
              </a:rPr>
              <a:t>the</a:t>
            </a:r>
            <a:r>
              <a:rPr sz="2200" i="1" spc="385" dirty="0">
                <a:latin typeface="Times New Roman"/>
                <a:cs typeface="Times New Roman"/>
              </a:rPr>
              <a:t> </a:t>
            </a:r>
            <a:r>
              <a:rPr sz="2200" i="1" spc="-210" dirty="0">
                <a:latin typeface="Times New Roman"/>
                <a:cs typeface="Times New Roman"/>
              </a:rPr>
              <a:t>circular</a:t>
            </a:r>
            <a:r>
              <a:rPr sz="2200" i="1" spc="375" dirty="0">
                <a:latin typeface="Times New Roman"/>
                <a:cs typeface="Times New Roman"/>
              </a:rPr>
              <a:t> </a:t>
            </a:r>
            <a:r>
              <a:rPr sz="2200" i="1" spc="-245" dirty="0">
                <a:latin typeface="Times New Roman"/>
                <a:cs typeface="Times New Roman"/>
              </a:rPr>
              <a:t>queue</a:t>
            </a:r>
            <a:r>
              <a:rPr sz="2200" i="1" spc="385" dirty="0">
                <a:latin typeface="Times New Roman"/>
                <a:cs typeface="Times New Roman"/>
              </a:rPr>
              <a:t> </a:t>
            </a:r>
            <a:r>
              <a:rPr sz="2200" i="1" spc="-170" dirty="0">
                <a:latin typeface="Times New Roman"/>
                <a:cs typeface="Times New Roman"/>
              </a:rPr>
              <a:t>to</a:t>
            </a:r>
            <a:r>
              <a:rPr sz="2200" i="1" spc="390" dirty="0">
                <a:latin typeface="Times New Roman"/>
                <a:cs typeface="Times New Roman"/>
              </a:rPr>
              <a:t> </a:t>
            </a:r>
            <a:r>
              <a:rPr sz="2200" i="1" spc="-300" dirty="0">
                <a:latin typeface="Times New Roman"/>
                <a:cs typeface="Times New Roman"/>
              </a:rPr>
              <a:t>overcome</a:t>
            </a:r>
            <a:r>
              <a:rPr sz="2200" i="1" spc="390" dirty="0">
                <a:latin typeface="Times New Roman"/>
                <a:cs typeface="Times New Roman"/>
              </a:rPr>
              <a:t> </a:t>
            </a:r>
            <a:r>
              <a:rPr sz="2200" i="1" spc="-155" dirty="0">
                <a:latin typeface="Times New Roman"/>
                <a:cs typeface="Times New Roman"/>
              </a:rPr>
              <a:t>this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1714" y="6100978"/>
            <a:ext cx="9975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00" i="1" spc="-140" dirty="0">
                <a:latin typeface="Times New Roman"/>
                <a:cs typeface="Times New Roman"/>
              </a:rPr>
              <a:t>limit</a:t>
            </a:r>
            <a:r>
              <a:rPr sz="2200" i="1" spc="-210" dirty="0">
                <a:latin typeface="Times New Roman"/>
                <a:cs typeface="Times New Roman"/>
              </a:rPr>
              <a:t>a</a:t>
            </a:r>
            <a:r>
              <a:rPr sz="2200" i="1" spc="-155" dirty="0">
                <a:latin typeface="Times New Roman"/>
                <a:cs typeface="Times New Roman"/>
              </a:rPr>
              <a:t>tion</a:t>
            </a:r>
            <a:r>
              <a:rPr sz="2200" i="1" spc="2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86962" y="490854"/>
            <a:ext cx="4873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pc="-15" dirty="0"/>
              <a:t>Possible solution</a:t>
            </a:r>
            <a:endParaRPr spc="-1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6E8AB-9E1E-4E68-904E-0D695479C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397" y="1447801"/>
            <a:ext cx="8197207" cy="453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39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11445" y="490854"/>
            <a:ext cx="32207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30" dirty="0"/>
              <a:t>Circular</a:t>
            </a:r>
            <a:r>
              <a:rPr spc="-95" dirty="0"/>
              <a:t> </a:t>
            </a:r>
            <a:r>
              <a:rPr spc="20" dirty="0"/>
              <a:t>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5" y="1357630"/>
            <a:ext cx="7615555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spc="-370" dirty="0">
                <a:latin typeface="Times New Roman"/>
                <a:cs typeface="Times New Roman"/>
              </a:rPr>
              <a:t>A</a:t>
            </a:r>
            <a:r>
              <a:rPr sz="2600" i="1" spc="-90" dirty="0">
                <a:latin typeface="Times New Roman"/>
                <a:cs typeface="Times New Roman"/>
              </a:rPr>
              <a:t> </a:t>
            </a:r>
            <a:r>
              <a:rPr sz="2600" i="1" spc="-250" dirty="0">
                <a:latin typeface="Times New Roman"/>
                <a:cs typeface="Times New Roman"/>
              </a:rPr>
              <a:t>circular </a:t>
            </a:r>
            <a:r>
              <a:rPr sz="2600" i="1" spc="-285" dirty="0">
                <a:latin typeface="Times New Roman"/>
                <a:cs typeface="Times New Roman"/>
              </a:rPr>
              <a:t>queue </a:t>
            </a:r>
            <a:r>
              <a:rPr sz="2600" i="1" spc="-235" dirty="0">
                <a:latin typeface="Times New Roman"/>
                <a:cs typeface="Times New Roman"/>
              </a:rPr>
              <a:t>is </a:t>
            </a:r>
            <a:r>
              <a:rPr sz="2600" i="1" spc="-245" dirty="0">
                <a:latin typeface="Times New Roman"/>
                <a:cs typeface="Times New Roman"/>
              </a:rPr>
              <a:t>an </a:t>
            </a:r>
            <a:r>
              <a:rPr sz="2600" i="1" spc="-260" dirty="0">
                <a:latin typeface="Times New Roman"/>
                <a:cs typeface="Times New Roman"/>
              </a:rPr>
              <a:t>extended </a:t>
            </a:r>
            <a:r>
              <a:rPr sz="2600" i="1" spc="-280" dirty="0">
                <a:latin typeface="Times New Roman"/>
                <a:cs typeface="Times New Roman"/>
              </a:rPr>
              <a:t>version </a:t>
            </a:r>
            <a:r>
              <a:rPr sz="2600" i="1" spc="-229" dirty="0">
                <a:latin typeface="Times New Roman"/>
                <a:cs typeface="Times New Roman"/>
              </a:rPr>
              <a:t>of </a:t>
            </a:r>
            <a:r>
              <a:rPr sz="2600" i="1" spc="-270" dirty="0">
                <a:latin typeface="Times New Roman"/>
                <a:cs typeface="Times New Roman"/>
              </a:rPr>
              <a:t>a </a:t>
            </a:r>
            <a:r>
              <a:rPr sz="2600" i="1" spc="-225" dirty="0">
                <a:latin typeface="Times New Roman"/>
                <a:cs typeface="Times New Roman"/>
              </a:rPr>
              <a:t>linear </a:t>
            </a:r>
            <a:r>
              <a:rPr sz="2600" i="1" spc="-285" dirty="0">
                <a:latin typeface="Times New Roman"/>
                <a:cs typeface="Times New Roman"/>
              </a:rPr>
              <a:t>queue </a:t>
            </a:r>
            <a:r>
              <a:rPr sz="2600" i="1" spc="-315" dirty="0">
                <a:latin typeface="Times New Roman"/>
                <a:cs typeface="Times New Roman"/>
              </a:rPr>
              <a:t>as</a:t>
            </a:r>
            <a:r>
              <a:rPr sz="2600" i="1" spc="20" dirty="0">
                <a:latin typeface="Times New Roman"/>
                <a:cs typeface="Times New Roman"/>
              </a:rPr>
              <a:t> </a:t>
            </a:r>
            <a:r>
              <a:rPr sz="2600" i="1" spc="-75" dirty="0">
                <a:latin typeface="Times New Roman"/>
                <a:cs typeface="Times New Roman"/>
              </a:rPr>
              <a:t>it </a:t>
            </a:r>
            <a:r>
              <a:rPr sz="2600" i="1" spc="-270" dirty="0">
                <a:latin typeface="Times New Roman"/>
                <a:cs typeface="Times New Roman"/>
              </a:rPr>
              <a:t>follows </a:t>
            </a:r>
            <a:r>
              <a:rPr sz="2600" i="1" spc="-265" dirty="0">
                <a:latin typeface="Times New Roman"/>
                <a:cs typeface="Times New Roman"/>
              </a:rPr>
              <a:t> </a:t>
            </a:r>
            <a:r>
              <a:rPr sz="2600" i="1" spc="-204" dirty="0">
                <a:latin typeface="Times New Roman"/>
                <a:cs typeface="Times New Roman"/>
              </a:rPr>
              <a:t>the</a:t>
            </a:r>
            <a:r>
              <a:rPr sz="2600" i="1" spc="-200" dirty="0">
                <a:latin typeface="Times New Roman"/>
                <a:cs typeface="Times New Roman"/>
              </a:rPr>
              <a:t> </a:t>
            </a:r>
            <a:r>
              <a:rPr sz="2600" i="1" spc="-265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600" i="1" spc="-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204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600" i="1" spc="-2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265" dirty="0">
                <a:solidFill>
                  <a:srgbClr val="FF0000"/>
                </a:solidFill>
                <a:latin typeface="Times New Roman"/>
                <a:cs typeface="Times New Roman"/>
              </a:rPr>
              <a:t>First</a:t>
            </a:r>
            <a:r>
              <a:rPr sz="2600" i="1" spc="-2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229" dirty="0">
                <a:solidFill>
                  <a:srgbClr val="FF0000"/>
                </a:solidFill>
                <a:latin typeface="Times New Roman"/>
                <a:cs typeface="Times New Roman"/>
              </a:rPr>
              <a:t>Out</a:t>
            </a:r>
            <a:r>
              <a:rPr sz="2600" i="1" spc="-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345" dirty="0">
                <a:solidFill>
                  <a:srgbClr val="FF0000"/>
                </a:solidFill>
                <a:latin typeface="Times New Roman"/>
                <a:cs typeface="Times New Roman"/>
              </a:rPr>
              <a:t>(FIFO)</a:t>
            </a:r>
            <a:r>
              <a:rPr sz="2600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spc="-225" dirty="0">
                <a:latin typeface="Times New Roman"/>
                <a:cs typeface="Times New Roman"/>
              </a:rPr>
              <a:t>principle</a:t>
            </a:r>
            <a:r>
              <a:rPr sz="2600" i="1" spc="-220" dirty="0">
                <a:latin typeface="Times New Roman"/>
                <a:cs typeface="Times New Roman"/>
              </a:rPr>
              <a:t> </a:t>
            </a:r>
            <a:r>
              <a:rPr sz="2600" i="1" spc="-195" dirty="0">
                <a:latin typeface="Times New Roman"/>
                <a:cs typeface="Times New Roman"/>
              </a:rPr>
              <a:t>with</a:t>
            </a:r>
            <a:r>
              <a:rPr sz="2600" i="1" spc="-19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the</a:t>
            </a:r>
            <a:r>
              <a:rPr sz="2600" i="1" spc="-195" dirty="0">
                <a:latin typeface="Times New Roman"/>
                <a:cs typeface="Times New Roman"/>
              </a:rPr>
              <a:t> </a:t>
            </a:r>
            <a:r>
              <a:rPr sz="2600" i="1" spc="-254" dirty="0">
                <a:latin typeface="Times New Roman"/>
                <a:cs typeface="Times New Roman"/>
              </a:rPr>
              <a:t>exception</a:t>
            </a:r>
            <a:r>
              <a:rPr sz="2600" i="1" spc="-250" dirty="0">
                <a:latin typeface="Times New Roman"/>
                <a:cs typeface="Times New Roman"/>
              </a:rPr>
              <a:t> </a:t>
            </a:r>
            <a:r>
              <a:rPr sz="2600" i="1" spc="-150" dirty="0">
                <a:latin typeface="Times New Roman"/>
                <a:cs typeface="Times New Roman"/>
              </a:rPr>
              <a:t>that</a:t>
            </a:r>
            <a:r>
              <a:rPr sz="2600" i="1" spc="-145" dirty="0">
                <a:latin typeface="Times New Roman"/>
                <a:cs typeface="Times New Roman"/>
              </a:rPr>
              <a:t> </a:t>
            </a:r>
            <a:r>
              <a:rPr sz="2600" i="1" spc="-80" dirty="0">
                <a:latin typeface="Times New Roman"/>
                <a:cs typeface="Times New Roman"/>
              </a:rPr>
              <a:t>it </a:t>
            </a:r>
            <a:r>
              <a:rPr sz="2600" i="1" spc="-75" dirty="0">
                <a:latin typeface="Times New Roman"/>
                <a:cs typeface="Times New Roman"/>
              </a:rPr>
              <a:t> </a:t>
            </a:r>
            <a:r>
              <a:rPr sz="2600" i="1" spc="-285" dirty="0">
                <a:latin typeface="Times New Roman"/>
                <a:cs typeface="Times New Roman"/>
              </a:rPr>
              <a:t>connects</a:t>
            </a:r>
            <a:r>
              <a:rPr sz="2600" i="1" spc="-28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the </a:t>
            </a:r>
            <a:r>
              <a:rPr sz="2600" i="1" spc="-195" dirty="0">
                <a:latin typeface="Times New Roman"/>
                <a:cs typeface="Times New Roman"/>
              </a:rPr>
              <a:t>last </a:t>
            </a:r>
            <a:r>
              <a:rPr sz="2600" i="1" spc="-300" dirty="0">
                <a:latin typeface="Times New Roman"/>
                <a:cs typeface="Times New Roman"/>
              </a:rPr>
              <a:t>node</a:t>
            </a:r>
            <a:r>
              <a:rPr sz="2600" i="1" spc="-295" dirty="0">
                <a:latin typeface="Times New Roman"/>
                <a:cs typeface="Times New Roman"/>
              </a:rPr>
              <a:t> </a:t>
            </a:r>
            <a:r>
              <a:rPr sz="2600" i="1" spc="-229" dirty="0">
                <a:latin typeface="Times New Roman"/>
                <a:cs typeface="Times New Roman"/>
              </a:rPr>
              <a:t>of</a:t>
            </a:r>
            <a:r>
              <a:rPr sz="2600" i="1" spc="190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a</a:t>
            </a:r>
            <a:r>
              <a:rPr sz="2600" i="1" spc="110" dirty="0">
                <a:latin typeface="Times New Roman"/>
                <a:cs typeface="Times New Roman"/>
              </a:rPr>
              <a:t> </a:t>
            </a:r>
            <a:r>
              <a:rPr sz="2600" i="1" spc="-285" dirty="0">
                <a:latin typeface="Times New Roman"/>
                <a:cs typeface="Times New Roman"/>
              </a:rPr>
              <a:t>queue</a:t>
            </a:r>
            <a:r>
              <a:rPr sz="2600" i="1" spc="8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to </a:t>
            </a:r>
            <a:r>
              <a:rPr sz="2600" i="1" spc="-175" dirty="0">
                <a:latin typeface="Times New Roman"/>
                <a:cs typeface="Times New Roman"/>
              </a:rPr>
              <a:t>its </a:t>
            </a:r>
            <a:r>
              <a:rPr sz="2600" i="1" spc="-180" dirty="0">
                <a:latin typeface="Times New Roman"/>
                <a:cs typeface="Times New Roman"/>
              </a:rPr>
              <a:t>first </a:t>
            </a:r>
            <a:r>
              <a:rPr sz="2600" i="1" spc="-310" dirty="0">
                <a:latin typeface="Times New Roman"/>
                <a:cs typeface="Times New Roman"/>
              </a:rPr>
              <a:t>by</a:t>
            </a:r>
            <a:r>
              <a:rPr sz="2600" i="1" spc="30" dirty="0">
                <a:latin typeface="Times New Roman"/>
                <a:cs typeface="Times New Roman"/>
              </a:rPr>
              <a:t> </a:t>
            </a:r>
            <a:r>
              <a:rPr sz="2600" i="1" spc="-250" dirty="0">
                <a:latin typeface="Times New Roman"/>
                <a:cs typeface="Times New Roman"/>
              </a:rPr>
              <a:t>forming</a:t>
            </a:r>
            <a:r>
              <a:rPr sz="2600" i="1" spc="150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a</a:t>
            </a:r>
            <a:r>
              <a:rPr sz="2600" i="1" spc="110" dirty="0">
                <a:latin typeface="Times New Roman"/>
                <a:cs typeface="Times New Roman"/>
              </a:rPr>
              <a:t> </a:t>
            </a:r>
            <a:r>
              <a:rPr sz="2600" i="1" spc="-250" dirty="0">
                <a:latin typeface="Times New Roman"/>
                <a:cs typeface="Times New Roman"/>
              </a:rPr>
              <a:t>circular </a:t>
            </a:r>
            <a:r>
              <a:rPr sz="2600" i="1" spc="-245" dirty="0">
                <a:latin typeface="Times New Roman"/>
                <a:cs typeface="Times New Roman"/>
              </a:rPr>
              <a:t> </a:t>
            </a:r>
            <a:r>
              <a:rPr sz="2600" i="1" spc="-125" dirty="0">
                <a:latin typeface="Times New Roman"/>
                <a:cs typeface="Times New Roman"/>
              </a:rPr>
              <a:t>link.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444" y="3491866"/>
            <a:ext cx="37909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spc="-135" dirty="0">
                <a:latin typeface="Times New Roman"/>
                <a:cs typeface="Times New Roman"/>
              </a:rPr>
              <a:t>I</a:t>
            </a:r>
            <a:r>
              <a:rPr sz="2600" i="1" spc="-110" dirty="0">
                <a:latin typeface="Times New Roman"/>
                <a:cs typeface="Times New Roman"/>
              </a:rPr>
              <a:t>t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i</a:t>
            </a:r>
            <a:r>
              <a:rPr sz="2600" i="1" spc="-270" dirty="0">
                <a:latin typeface="Times New Roman"/>
                <a:cs typeface="Times New Roman"/>
              </a:rPr>
              <a:t>s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also</a:t>
            </a:r>
            <a:r>
              <a:rPr sz="2600" i="1" spc="-85" dirty="0">
                <a:latin typeface="Times New Roman"/>
                <a:cs typeface="Times New Roman"/>
              </a:rPr>
              <a:t> </a:t>
            </a:r>
            <a:r>
              <a:rPr sz="2600" i="1" spc="-240" dirty="0">
                <a:latin typeface="Times New Roman"/>
                <a:cs typeface="Times New Roman"/>
              </a:rPr>
              <a:t>called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a</a:t>
            </a:r>
            <a:r>
              <a:rPr sz="2600" i="1" spc="-75" dirty="0">
                <a:latin typeface="Times New Roman"/>
                <a:cs typeface="Times New Roman"/>
              </a:rPr>
              <a:t> </a:t>
            </a:r>
            <a:r>
              <a:rPr sz="2600" b="1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Ri</a:t>
            </a:r>
            <a:r>
              <a:rPr sz="2600" b="1" i="1" spc="-80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600" b="1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2600" b="1"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i="1" spc="-17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600" b="1" i="1" spc="-135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b="1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600" b="1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600" b="1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6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i="1" spc="2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6993" y="4171950"/>
            <a:ext cx="3938015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06876" y="490854"/>
            <a:ext cx="622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Operations</a:t>
            </a:r>
            <a:r>
              <a:rPr spc="-60" dirty="0"/>
              <a:t> </a:t>
            </a:r>
            <a:r>
              <a:rPr spc="-20" dirty="0"/>
              <a:t>in </a:t>
            </a:r>
            <a:r>
              <a:rPr spc="-30" dirty="0"/>
              <a:t>Circular</a:t>
            </a:r>
            <a:r>
              <a:rPr spc="-50" dirty="0"/>
              <a:t> </a:t>
            </a:r>
            <a:r>
              <a:rPr spc="20" dirty="0"/>
              <a:t>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357631"/>
            <a:ext cx="6871970" cy="1390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i="1" spc="-130" dirty="0">
                <a:solidFill>
                  <a:srgbClr val="FF0000"/>
                </a:solidFill>
                <a:latin typeface="Times New Roman"/>
                <a:cs typeface="Times New Roman"/>
              </a:rPr>
              <a:t>Front</a:t>
            </a:r>
            <a:r>
              <a:rPr sz="2600" b="1" i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–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300" dirty="0">
                <a:latin typeface="Times New Roman"/>
                <a:cs typeface="Times New Roman"/>
              </a:rPr>
              <a:t>used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to</a:t>
            </a:r>
            <a:r>
              <a:rPr sz="2600" i="1" spc="-50" dirty="0">
                <a:latin typeface="Times New Roman"/>
                <a:cs typeface="Times New Roman"/>
              </a:rPr>
              <a:t> </a:t>
            </a:r>
            <a:r>
              <a:rPr sz="2600" i="1" spc="-245" dirty="0">
                <a:latin typeface="Times New Roman"/>
                <a:cs typeface="Times New Roman"/>
              </a:rPr>
              <a:t>get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04" dirty="0">
                <a:latin typeface="Times New Roman"/>
                <a:cs typeface="Times New Roman"/>
              </a:rPr>
              <a:t>the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starting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254" dirty="0">
                <a:latin typeface="Times New Roman"/>
                <a:cs typeface="Times New Roman"/>
              </a:rPr>
              <a:t>element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229" dirty="0">
                <a:latin typeface="Times New Roman"/>
                <a:cs typeface="Times New Roman"/>
              </a:rPr>
              <a:t>of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204" dirty="0">
                <a:latin typeface="Times New Roman"/>
                <a:cs typeface="Times New Roman"/>
              </a:rPr>
              <a:t>the</a:t>
            </a:r>
            <a:r>
              <a:rPr sz="2600" i="1" spc="-50" dirty="0">
                <a:latin typeface="Times New Roman"/>
                <a:cs typeface="Times New Roman"/>
              </a:rPr>
              <a:t> </a:t>
            </a:r>
            <a:r>
              <a:rPr sz="2600" i="1" spc="-250" dirty="0">
                <a:latin typeface="Times New Roman"/>
                <a:cs typeface="Times New Roman"/>
              </a:rPr>
              <a:t>circular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85" dirty="0">
                <a:latin typeface="Times New Roman"/>
                <a:cs typeface="Times New Roman"/>
              </a:rPr>
              <a:t>queue</a:t>
            </a:r>
            <a:endParaRPr sz="260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  <a:buClr>
                <a:srgbClr val="4F81BC"/>
              </a:buClr>
              <a:buFont typeface="Segoe UI Symbol"/>
              <a:buChar char="⚫"/>
            </a:pPr>
            <a:endParaRPr sz="3750">
              <a:latin typeface="Times New Roman"/>
              <a:cs typeface="Times New Roman"/>
            </a:endParaRPr>
          </a:p>
          <a:p>
            <a:pPr marL="286385" indent="-274320">
              <a:spcBef>
                <a:spcPts val="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i="1" spc="-70" dirty="0">
                <a:solidFill>
                  <a:srgbClr val="FF0000"/>
                </a:solidFill>
                <a:latin typeface="Times New Roman"/>
                <a:cs typeface="Times New Roman"/>
              </a:rPr>
              <a:t>Re</a:t>
            </a:r>
            <a:r>
              <a:rPr sz="2600" b="1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6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sz="2600" b="1" i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–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325" dirty="0">
                <a:latin typeface="Times New Roman"/>
                <a:cs typeface="Times New Roman"/>
              </a:rPr>
              <a:t>u</a:t>
            </a:r>
            <a:r>
              <a:rPr sz="2600" i="1" spc="-265" dirty="0">
                <a:latin typeface="Times New Roman"/>
                <a:cs typeface="Times New Roman"/>
              </a:rPr>
              <a:t>s</a:t>
            </a:r>
            <a:r>
              <a:rPr sz="2600" i="1" spc="-305" dirty="0">
                <a:latin typeface="Times New Roman"/>
                <a:cs typeface="Times New Roman"/>
              </a:rPr>
              <a:t>ed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-150" dirty="0">
                <a:latin typeface="Times New Roman"/>
                <a:cs typeface="Times New Roman"/>
              </a:rPr>
              <a:t>t</a:t>
            </a:r>
            <a:r>
              <a:rPr sz="2600" i="1" spc="-254" dirty="0">
                <a:latin typeface="Times New Roman"/>
                <a:cs typeface="Times New Roman"/>
              </a:rPr>
              <a:t>o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345" dirty="0">
                <a:latin typeface="Times New Roman"/>
                <a:cs typeface="Times New Roman"/>
              </a:rPr>
              <a:t>g</a:t>
            </a:r>
            <a:r>
              <a:rPr sz="2600" i="1" spc="-195" dirty="0">
                <a:latin typeface="Times New Roman"/>
                <a:cs typeface="Times New Roman"/>
              </a:rPr>
              <a:t>et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</a:t>
            </a:r>
            <a:r>
              <a:rPr sz="2600" i="1" spc="-220" dirty="0">
                <a:latin typeface="Times New Roman"/>
                <a:cs typeface="Times New Roman"/>
              </a:rPr>
              <a:t>e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275" dirty="0">
                <a:latin typeface="Times New Roman"/>
                <a:cs typeface="Times New Roman"/>
              </a:rPr>
              <a:t>end</a:t>
            </a:r>
            <a:r>
              <a:rPr sz="2600" i="1" spc="-80" dirty="0">
                <a:latin typeface="Times New Roman"/>
                <a:cs typeface="Times New Roman"/>
              </a:rPr>
              <a:t> </a:t>
            </a:r>
            <a:r>
              <a:rPr sz="2600" i="1" spc="-285" dirty="0">
                <a:latin typeface="Times New Roman"/>
                <a:cs typeface="Times New Roman"/>
              </a:rPr>
              <a:t>eleme</a:t>
            </a:r>
            <a:r>
              <a:rPr sz="2600" i="1" spc="-315" dirty="0">
                <a:latin typeface="Times New Roman"/>
                <a:cs typeface="Times New Roman"/>
              </a:rPr>
              <a:t>n</a:t>
            </a:r>
            <a:r>
              <a:rPr sz="2600" i="1" spc="-50" dirty="0">
                <a:latin typeface="Times New Roman"/>
                <a:cs typeface="Times New Roman"/>
              </a:rPr>
              <a:t>t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95" dirty="0">
                <a:latin typeface="Times New Roman"/>
                <a:cs typeface="Times New Roman"/>
              </a:rPr>
              <a:t>o</a:t>
            </a:r>
            <a:r>
              <a:rPr sz="2600" i="1" spc="-160" dirty="0">
                <a:latin typeface="Times New Roman"/>
                <a:cs typeface="Times New Roman"/>
              </a:rPr>
              <a:t>f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</a:t>
            </a:r>
            <a:r>
              <a:rPr sz="2600" i="1" spc="-220" dirty="0">
                <a:latin typeface="Times New Roman"/>
                <a:cs typeface="Times New Roman"/>
              </a:rPr>
              <a:t>e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cir</a:t>
            </a:r>
            <a:r>
              <a:rPr sz="2600" i="1" spc="-335" dirty="0">
                <a:latin typeface="Times New Roman"/>
                <a:cs typeface="Times New Roman"/>
              </a:rPr>
              <a:t>c</a:t>
            </a:r>
            <a:r>
              <a:rPr sz="2600" i="1" spc="-220" dirty="0">
                <a:latin typeface="Times New Roman"/>
                <a:cs typeface="Times New Roman"/>
              </a:rPr>
              <a:t>ular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60" dirty="0">
                <a:latin typeface="Times New Roman"/>
                <a:cs typeface="Times New Roman"/>
              </a:rPr>
              <a:t>q</a:t>
            </a:r>
            <a:r>
              <a:rPr sz="2600" i="1" spc="-275" dirty="0">
                <a:latin typeface="Times New Roman"/>
                <a:cs typeface="Times New Roman"/>
              </a:rPr>
              <a:t>u</a:t>
            </a:r>
            <a:r>
              <a:rPr sz="2600" i="1" spc="-300" dirty="0">
                <a:latin typeface="Times New Roman"/>
                <a:cs typeface="Times New Roman"/>
              </a:rPr>
              <a:t>eue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444" y="3247466"/>
            <a:ext cx="761619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  <a:tab pos="2496820" algn="l"/>
                <a:tab pos="2800350" algn="l"/>
                <a:tab pos="3390265" algn="l"/>
                <a:tab pos="3733165" algn="l"/>
                <a:tab pos="4460240" algn="l"/>
                <a:tab pos="4730115" algn="l"/>
                <a:tab pos="5278755" algn="l"/>
                <a:tab pos="5970905" algn="l"/>
                <a:tab pos="6323965" algn="l"/>
                <a:tab pos="6789420" algn="l"/>
              </a:tabLst>
            </a:pPr>
            <a:r>
              <a:rPr sz="2600" b="1" i="1" spc="-105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2600" b="1" i="1" spc="-160" dirty="0">
                <a:solidFill>
                  <a:srgbClr val="FF0000"/>
                </a:solidFill>
                <a:latin typeface="Times New Roman"/>
                <a:cs typeface="Times New Roman"/>
              </a:rPr>
              <a:t>Q</a:t>
            </a:r>
            <a:r>
              <a:rPr sz="2600" b="1" i="1" spc="-12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b="1" i="1" spc="-10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600" b="1" i="1" spc="-12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b="1" i="1" spc="-110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600" b="1" i="1" spc="16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i="1" spc="-160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26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al</a:t>
            </a:r>
            <a:r>
              <a:rPr sz="2600" b="1"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sz="2600" b="1" i="1" spc="30" dirty="0">
                <a:solidFill>
                  <a:srgbClr val="FF0000"/>
                </a:solidFill>
                <a:latin typeface="Times New Roman"/>
                <a:cs typeface="Times New Roman"/>
              </a:rPr>
              <a:t>e)</a:t>
            </a:r>
            <a:r>
              <a:rPr sz="2600" b="1" i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i="1" dirty="0">
                <a:latin typeface="Times New Roman"/>
                <a:cs typeface="Times New Roman"/>
              </a:rPr>
              <a:t>–	</a:t>
            </a:r>
            <a:r>
              <a:rPr sz="2600" i="1" spc="-325" dirty="0">
                <a:latin typeface="Times New Roman"/>
                <a:cs typeface="Times New Roman"/>
              </a:rPr>
              <a:t>u</a:t>
            </a:r>
            <a:r>
              <a:rPr sz="2600" i="1" spc="-270" dirty="0">
                <a:latin typeface="Times New Roman"/>
                <a:cs typeface="Times New Roman"/>
              </a:rPr>
              <a:t>s</a:t>
            </a:r>
            <a:r>
              <a:rPr sz="2600" i="1" spc="-305" dirty="0">
                <a:latin typeface="Times New Roman"/>
                <a:cs typeface="Times New Roman"/>
              </a:rPr>
              <a:t>ed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150" dirty="0">
                <a:latin typeface="Times New Roman"/>
                <a:cs typeface="Times New Roman"/>
              </a:rPr>
              <a:t>t</a:t>
            </a:r>
            <a:r>
              <a:rPr sz="2600" i="1" spc="-254" dirty="0">
                <a:latin typeface="Times New Roman"/>
                <a:cs typeface="Times New Roman"/>
              </a:rPr>
              <a:t>o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120" dirty="0">
                <a:latin typeface="Times New Roman"/>
                <a:cs typeface="Times New Roman"/>
              </a:rPr>
              <a:t>i</a:t>
            </a:r>
            <a:r>
              <a:rPr sz="2600" i="1" spc="-210" dirty="0">
                <a:latin typeface="Times New Roman"/>
                <a:cs typeface="Times New Roman"/>
              </a:rPr>
              <a:t>n</a:t>
            </a:r>
            <a:r>
              <a:rPr sz="2600" i="1" spc="-335" dirty="0">
                <a:latin typeface="Times New Roman"/>
                <a:cs typeface="Times New Roman"/>
              </a:rPr>
              <a:t>se</a:t>
            </a:r>
            <a:r>
              <a:rPr sz="2600" i="1" spc="-250" dirty="0">
                <a:latin typeface="Times New Roman"/>
                <a:cs typeface="Times New Roman"/>
              </a:rPr>
              <a:t>r</a:t>
            </a:r>
            <a:r>
              <a:rPr sz="2600" i="1" spc="-50" dirty="0">
                <a:latin typeface="Times New Roman"/>
                <a:cs typeface="Times New Roman"/>
              </a:rPr>
              <a:t>t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270" dirty="0">
                <a:latin typeface="Times New Roman"/>
                <a:cs typeface="Times New Roman"/>
              </a:rPr>
              <a:t>a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320" dirty="0">
                <a:latin typeface="Times New Roman"/>
                <a:cs typeface="Times New Roman"/>
              </a:rPr>
              <a:t>new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345" dirty="0">
                <a:latin typeface="Times New Roman"/>
                <a:cs typeface="Times New Roman"/>
              </a:rPr>
              <a:t>v</a:t>
            </a:r>
            <a:r>
              <a:rPr sz="2600" i="1" spc="-180" dirty="0">
                <a:latin typeface="Times New Roman"/>
                <a:cs typeface="Times New Roman"/>
              </a:rPr>
              <a:t>al</a:t>
            </a:r>
            <a:r>
              <a:rPr sz="2600" i="1" spc="-240" dirty="0">
                <a:latin typeface="Times New Roman"/>
                <a:cs typeface="Times New Roman"/>
              </a:rPr>
              <a:t>u</a:t>
            </a:r>
            <a:r>
              <a:rPr sz="2600" i="1" spc="-340" dirty="0">
                <a:latin typeface="Times New Roman"/>
                <a:cs typeface="Times New Roman"/>
              </a:rPr>
              <a:t>e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120" dirty="0">
                <a:latin typeface="Times New Roman"/>
                <a:cs typeface="Times New Roman"/>
              </a:rPr>
              <a:t>i</a:t>
            </a:r>
            <a:r>
              <a:rPr sz="2600" i="1" spc="-200" dirty="0">
                <a:latin typeface="Times New Roman"/>
                <a:cs typeface="Times New Roman"/>
              </a:rPr>
              <a:t>n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45" dirty="0">
                <a:latin typeface="Times New Roman"/>
                <a:cs typeface="Times New Roman"/>
              </a:rPr>
              <a:t>t</a:t>
            </a:r>
            <a:r>
              <a:rPr sz="2600" i="1" spc="-280" dirty="0">
                <a:latin typeface="Times New Roman"/>
                <a:cs typeface="Times New Roman"/>
              </a:rPr>
              <a:t>he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2600" i="1" spc="-290" dirty="0">
                <a:latin typeface="Times New Roman"/>
                <a:cs typeface="Times New Roman"/>
              </a:rPr>
              <a:t>c</a:t>
            </a:r>
            <a:r>
              <a:rPr sz="2600" i="1" spc="-190" dirty="0">
                <a:latin typeface="Times New Roman"/>
                <a:cs typeface="Times New Roman"/>
              </a:rPr>
              <a:t>i</a:t>
            </a:r>
            <a:r>
              <a:rPr sz="2600" i="1" spc="-229" dirty="0">
                <a:latin typeface="Times New Roman"/>
                <a:cs typeface="Times New Roman"/>
              </a:rPr>
              <a:t>rcular  </a:t>
            </a:r>
            <a:r>
              <a:rPr sz="2600" i="1" spc="-260" dirty="0">
                <a:latin typeface="Times New Roman"/>
                <a:cs typeface="Times New Roman"/>
              </a:rPr>
              <a:t>q</a:t>
            </a:r>
            <a:r>
              <a:rPr sz="2600" i="1" spc="-275" dirty="0">
                <a:latin typeface="Times New Roman"/>
                <a:cs typeface="Times New Roman"/>
              </a:rPr>
              <a:t>u</a:t>
            </a:r>
            <a:r>
              <a:rPr sz="2600" i="1" spc="-305" dirty="0">
                <a:latin typeface="Times New Roman"/>
                <a:cs typeface="Times New Roman"/>
              </a:rPr>
              <a:t>eu</a:t>
            </a:r>
            <a:r>
              <a:rPr sz="2600" i="1" spc="-285" dirty="0">
                <a:latin typeface="Times New Roman"/>
                <a:cs typeface="Times New Roman"/>
              </a:rPr>
              <a:t>e</a:t>
            </a:r>
            <a:r>
              <a:rPr sz="2600" i="1" spc="40" dirty="0">
                <a:latin typeface="Times New Roman"/>
                <a:cs typeface="Times New Roman"/>
              </a:rPr>
              <a:t>.</a:t>
            </a:r>
            <a:r>
              <a:rPr sz="2600" i="1" spc="-210" dirty="0">
                <a:latin typeface="Times New Roman"/>
                <a:cs typeface="Times New Roman"/>
              </a:rPr>
              <a:t>T</a:t>
            </a:r>
            <a:r>
              <a:rPr sz="2600" i="1" spc="-200" dirty="0">
                <a:latin typeface="Times New Roman"/>
                <a:cs typeface="Times New Roman"/>
              </a:rPr>
              <a:t>hi</a:t>
            </a:r>
            <a:r>
              <a:rPr sz="2600" i="1" spc="-270" dirty="0">
                <a:latin typeface="Times New Roman"/>
                <a:cs typeface="Times New Roman"/>
              </a:rPr>
              <a:t>s</a:t>
            </a:r>
            <a:r>
              <a:rPr sz="2600" i="1" spc="-40" dirty="0">
                <a:latin typeface="Times New Roman"/>
                <a:cs typeface="Times New Roman"/>
              </a:rPr>
              <a:t> </a:t>
            </a:r>
            <a:r>
              <a:rPr sz="2600" i="1" spc="-330" dirty="0">
                <a:latin typeface="Times New Roman"/>
                <a:cs typeface="Times New Roman"/>
              </a:rPr>
              <a:t>ope</a:t>
            </a:r>
            <a:r>
              <a:rPr sz="2600" i="1" spc="-340" dirty="0">
                <a:latin typeface="Times New Roman"/>
                <a:cs typeface="Times New Roman"/>
              </a:rPr>
              <a:t>r</a:t>
            </a:r>
            <a:r>
              <a:rPr sz="2600" i="1" spc="-295" dirty="0">
                <a:latin typeface="Times New Roman"/>
                <a:cs typeface="Times New Roman"/>
              </a:rPr>
              <a:t>a</a:t>
            </a:r>
            <a:r>
              <a:rPr sz="2600" i="1" spc="-130" dirty="0">
                <a:latin typeface="Times New Roman"/>
                <a:cs typeface="Times New Roman"/>
              </a:rPr>
              <a:t>ti</a:t>
            </a:r>
            <a:r>
              <a:rPr sz="2600" i="1" spc="-245" dirty="0">
                <a:latin typeface="Times New Roman"/>
                <a:cs typeface="Times New Roman"/>
              </a:rPr>
              <a:t>o</a:t>
            </a:r>
            <a:r>
              <a:rPr sz="2600" i="1" spc="-215" dirty="0">
                <a:latin typeface="Times New Roman"/>
                <a:cs typeface="Times New Roman"/>
              </a:rPr>
              <a:t>n</a:t>
            </a:r>
            <a:r>
              <a:rPr sz="2600" i="1" spc="-95" dirty="0">
                <a:latin typeface="Times New Roman"/>
                <a:cs typeface="Times New Roman"/>
              </a:rPr>
              <a:t> </a:t>
            </a:r>
            <a:r>
              <a:rPr sz="2600" i="1" spc="-245" dirty="0">
                <a:latin typeface="Times New Roman"/>
                <a:cs typeface="Times New Roman"/>
              </a:rPr>
              <a:t>takes</a:t>
            </a:r>
            <a:r>
              <a:rPr sz="2600" i="1" spc="-75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place</a:t>
            </a:r>
            <a:r>
              <a:rPr sz="2600" i="1" spc="-80" dirty="0">
                <a:latin typeface="Times New Roman"/>
                <a:cs typeface="Times New Roman"/>
              </a:rPr>
              <a:t> </a:t>
            </a:r>
            <a:r>
              <a:rPr sz="2600" i="1" spc="-235" dirty="0">
                <a:latin typeface="Times New Roman"/>
                <a:cs typeface="Times New Roman"/>
              </a:rPr>
              <a:t>fro</a:t>
            </a:r>
            <a:r>
              <a:rPr sz="2600" i="1" spc="-425" dirty="0">
                <a:latin typeface="Times New Roman"/>
                <a:cs typeface="Times New Roman"/>
              </a:rPr>
              <a:t>m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</a:t>
            </a:r>
            <a:r>
              <a:rPr sz="2600" i="1" spc="-220" dirty="0">
                <a:latin typeface="Times New Roman"/>
                <a:cs typeface="Times New Roman"/>
              </a:rPr>
              <a:t>e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-275" dirty="0">
                <a:latin typeface="Times New Roman"/>
                <a:cs typeface="Times New Roman"/>
              </a:rPr>
              <a:t>end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95" dirty="0">
                <a:latin typeface="Times New Roman"/>
                <a:cs typeface="Times New Roman"/>
              </a:rPr>
              <a:t>o</a:t>
            </a:r>
            <a:r>
              <a:rPr sz="2600" i="1" spc="-160" dirty="0">
                <a:latin typeface="Times New Roman"/>
                <a:cs typeface="Times New Roman"/>
              </a:rPr>
              <a:t>f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</a:t>
            </a:r>
            <a:r>
              <a:rPr sz="2600" i="1" spc="-220" dirty="0">
                <a:latin typeface="Times New Roman"/>
                <a:cs typeface="Times New Roman"/>
              </a:rPr>
              <a:t>e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370" dirty="0">
                <a:latin typeface="Times New Roman"/>
                <a:cs typeface="Times New Roman"/>
              </a:rPr>
              <a:t>Q</a:t>
            </a:r>
            <a:r>
              <a:rPr sz="2600" i="1" spc="-270" dirty="0">
                <a:latin typeface="Times New Roman"/>
                <a:cs typeface="Times New Roman"/>
              </a:rPr>
              <a:t>u</a:t>
            </a:r>
            <a:r>
              <a:rPr sz="2600" i="1" spc="-305" dirty="0">
                <a:latin typeface="Times New Roman"/>
                <a:cs typeface="Times New Roman"/>
              </a:rPr>
              <a:t>eu</a:t>
            </a:r>
            <a:r>
              <a:rPr sz="2600" i="1" spc="-285" dirty="0">
                <a:latin typeface="Times New Roman"/>
                <a:cs typeface="Times New Roman"/>
              </a:rPr>
              <a:t>e</a:t>
            </a:r>
            <a:r>
              <a:rPr sz="2600" i="1" spc="2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7445" y="4588841"/>
            <a:ext cx="7615555" cy="819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deQueue()</a:t>
            </a:r>
            <a:r>
              <a:rPr sz="2600" b="1" i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i="1" dirty="0">
                <a:latin typeface="Times New Roman"/>
                <a:cs typeface="Times New Roman"/>
              </a:rPr>
              <a:t>–</a:t>
            </a:r>
            <a:r>
              <a:rPr sz="2600" i="1" spc="120" dirty="0">
                <a:latin typeface="Times New Roman"/>
                <a:cs typeface="Times New Roman"/>
              </a:rPr>
              <a:t> </a:t>
            </a:r>
            <a:r>
              <a:rPr sz="2600" i="1" spc="-300" dirty="0">
                <a:latin typeface="Times New Roman"/>
                <a:cs typeface="Times New Roman"/>
              </a:rPr>
              <a:t>used</a:t>
            </a:r>
            <a:r>
              <a:rPr sz="2600" i="1" spc="-229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to</a:t>
            </a:r>
            <a:r>
              <a:rPr sz="2600" i="1" spc="110" dirty="0">
                <a:latin typeface="Times New Roman"/>
                <a:cs typeface="Times New Roman"/>
              </a:rPr>
              <a:t> </a:t>
            </a:r>
            <a:r>
              <a:rPr sz="2600" i="1" spc="-240" dirty="0">
                <a:latin typeface="Times New Roman"/>
                <a:cs typeface="Times New Roman"/>
              </a:rPr>
              <a:t>delete</a:t>
            </a:r>
            <a:r>
              <a:rPr sz="2600" i="1" spc="114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a</a:t>
            </a:r>
            <a:r>
              <a:rPr sz="2600" i="1" spc="-260" dirty="0">
                <a:latin typeface="Times New Roman"/>
                <a:cs typeface="Times New Roman"/>
              </a:rPr>
              <a:t> </a:t>
            </a:r>
            <a:r>
              <a:rPr sz="2600" i="1" spc="-254" dirty="0">
                <a:latin typeface="Times New Roman"/>
                <a:cs typeface="Times New Roman"/>
              </a:rPr>
              <a:t>value</a:t>
            </a:r>
            <a:r>
              <a:rPr sz="2600" i="1" spc="114" dirty="0">
                <a:latin typeface="Times New Roman"/>
                <a:cs typeface="Times New Roman"/>
              </a:rPr>
              <a:t> </a:t>
            </a:r>
            <a:r>
              <a:rPr sz="2600" i="1" spc="-285" dirty="0">
                <a:latin typeface="Times New Roman"/>
                <a:cs typeface="Times New Roman"/>
              </a:rPr>
              <a:t>from</a:t>
            </a:r>
            <a:r>
              <a:rPr sz="2600" i="1" spc="-250" dirty="0">
                <a:latin typeface="Times New Roman"/>
                <a:cs typeface="Times New Roman"/>
              </a:rPr>
              <a:t> </a:t>
            </a:r>
            <a:r>
              <a:rPr sz="2600" i="1" spc="-204" dirty="0">
                <a:latin typeface="Times New Roman"/>
                <a:cs typeface="Times New Roman"/>
              </a:rPr>
              <a:t>the</a:t>
            </a:r>
            <a:r>
              <a:rPr sz="2600" i="1" spc="114" dirty="0">
                <a:latin typeface="Times New Roman"/>
                <a:cs typeface="Times New Roman"/>
              </a:rPr>
              <a:t> </a:t>
            </a:r>
            <a:r>
              <a:rPr sz="2600" i="1" spc="-250" dirty="0">
                <a:latin typeface="Times New Roman"/>
                <a:cs typeface="Times New Roman"/>
              </a:rPr>
              <a:t>circular</a:t>
            </a:r>
            <a:r>
              <a:rPr sz="2600" i="1" spc="110" dirty="0">
                <a:latin typeface="Times New Roman"/>
                <a:cs typeface="Times New Roman"/>
              </a:rPr>
              <a:t> </a:t>
            </a:r>
            <a:r>
              <a:rPr sz="2600" i="1" spc="-229" dirty="0">
                <a:latin typeface="Times New Roman"/>
                <a:cs typeface="Times New Roman"/>
              </a:rPr>
              <a:t>queue.</a:t>
            </a:r>
            <a:r>
              <a:rPr sz="2600" i="1" spc="-150" dirty="0">
                <a:latin typeface="Times New Roman"/>
                <a:cs typeface="Times New Roman"/>
              </a:rPr>
              <a:t> </a:t>
            </a:r>
            <a:r>
              <a:rPr sz="2600" i="1" spc="-215" dirty="0">
                <a:latin typeface="Times New Roman"/>
                <a:cs typeface="Times New Roman"/>
              </a:rPr>
              <a:t>This </a:t>
            </a:r>
            <a:r>
              <a:rPr sz="2600" i="1" spc="-635" dirty="0">
                <a:latin typeface="Times New Roman"/>
                <a:cs typeface="Times New Roman"/>
              </a:rPr>
              <a:t> </a:t>
            </a:r>
            <a:r>
              <a:rPr sz="2600" i="1" spc="-330" dirty="0">
                <a:latin typeface="Times New Roman"/>
                <a:cs typeface="Times New Roman"/>
              </a:rPr>
              <a:t>ope</a:t>
            </a:r>
            <a:r>
              <a:rPr sz="2600" i="1" spc="-340" dirty="0">
                <a:latin typeface="Times New Roman"/>
                <a:cs typeface="Times New Roman"/>
              </a:rPr>
              <a:t>r</a:t>
            </a:r>
            <a:r>
              <a:rPr sz="2600" i="1" spc="-295" dirty="0">
                <a:latin typeface="Times New Roman"/>
                <a:cs typeface="Times New Roman"/>
              </a:rPr>
              <a:t>a</a:t>
            </a:r>
            <a:r>
              <a:rPr sz="2600" i="1" spc="-130" dirty="0">
                <a:latin typeface="Times New Roman"/>
                <a:cs typeface="Times New Roman"/>
              </a:rPr>
              <a:t>ti</a:t>
            </a:r>
            <a:r>
              <a:rPr sz="2600" i="1" spc="-245" dirty="0">
                <a:latin typeface="Times New Roman"/>
                <a:cs typeface="Times New Roman"/>
              </a:rPr>
              <a:t>o</a:t>
            </a:r>
            <a:r>
              <a:rPr sz="2600" i="1" spc="-215" dirty="0">
                <a:latin typeface="Times New Roman"/>
                <a:cs typeface="Times New Roman"/>
              </a:rPr>
              <a:t>n</a:t>
            </a:r>
            <a:r>
              <a:rPr sz="2600" i="1" spc="-80" dirty="0">
                <a:latin typeface="Times New Roman"/>
                <a:cs typeface="Times New Roman"/>
              </a:rPr>
              <a:t> </a:t>
            </a:r>
            <a:r>
              <a:rPr sz="2600" i="1" spc="-245" dirty="0">
                <a:latin typeface="Times New Roman"/>
                <a:cs typeface="Times New Roman"/>
              </a:rPr>
              <a:t>takes</a:t>
            </a:r>
            <a:r>
              <a:rPr sz="2600" i="1" spc="-85" dirty="0">
                <a:latin typeface="Times New Roman"/>
                <a:cs typeface="Times New Roman"/>
              </a:rPr>
              <a:t> </a:t>
            </a:r>
            <a:r>
              <a:rPr sz="2600" i="1" spc="-270" dirty="0">
                <a:latin typeface="Times New Roman"/>
                <a:cs typeface="Times New Roman"/>
              </a:rPr>
              <a:t>place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35" dirty="0">
                <a:latin typeface="Times New Roman"/>
                <a:cs typeface="Times New Roman"/>
              </a:rPr>
              <a:t>fro</a:t>
            </a:r>
            <a:r>
              <a:rPr sz="2600" i="1" spc="-425" dirty="0">
                <a:latin typeface="Times New Roman"/>
                <a:cs typeface="Times New Roman"/>
              </a:rPr>
              <a:t>m</a:t>
            </a:r>
            <a:r>
              <a:rPr sz="2600" i="1" spc="-80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</a:t>
            </a:r>
            <a:r>
              <a:rPr sz="2600" i="1" spc="-220" dirty="0">
                <a:latin typeface="Times New Roman"/>
                <a:cs typeface="Times New Roman"/>
              </a:rPr>
              <a:t>e</a:t>
            </a:r>
            <a:r>
              <a:rPr sz="2600" i="1" spc="-55" dirty="0">
                <a:latin typeface="Times New Roman"/>
                <a:cs typeface="Times New Roman"/>
              </a:rPr>
              <a:t> </a:t>
            </a:r>
            <a:r>
              <a:rPr sz="2600" i="1" spc="-225" dirty="0">
                <a:latin typeface="Times New Roman"/>
                <a:cs typeface="Times New Roman"/>
              </a:rPr>
              <a:t>fro</a:t>
            </a:r>
            <a:r>
              <a:rPr sz="2600" i="1" spc="-295" dirty="0">
                <a:latin typeface="Times New Roman"/>
                <a:cs typeface="Times New Roman"/>
              </a:rPr>
              <a:t>n</a:t>
            </a:r>
            <a:r>
              <a:rPr sz="2600" i="1" spc="-50" dirty="0">
                <a:latin typeface="Times New Roman"/>
                <a:cs typeface="Times New Roman"/>
              </a:rPr>
              <a:t>t</a:t>
            </a:r>
            <a:r>
              <a:rPr sz="2600" i="1" spc="-70" dirty="0">
                <a:latin typeface="Times New Roman"/>
                <a:cs typeface="Times New Roman"/>
              </a:rPr>
              <a:t> </a:t>
            </a:r>
            <a:r>
              <a:rPr sz="2600" i="1" spc="-295" dirty="0">
                <a:latin typeface="Times New Roman"/>
                <a:cs typeface="Times New Roman"/>
              </a:rPr>
              <a:t>o</a:t>
            </a:r>
            <a:r>
              <a:rPr sz="2600" i="1" spc="-160" dirty="0">
                <a:latin typeface="Times New Roman"/>
                <a:cs typeface="Times New Roman"/>
              </a:rPr>
              <a:t>f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-200" dirty="0">
                <a:latin typeface="Times New Roman"/>
                <a:cs typeface="Times New Roman"/>
              </a:rPr>
              <a:t>th</a:t>
            </a:r>
            <a:r>
              <a:rPr sz="2600" i="1" spc="-220" dirty="0">
                <a:latin typeface="Times New Roman"/>
                <a:cs typeface="Times New Roman"/>
              </a:rPr>
              <a:t>e</a:t>
            </a:r>
            <a:r>
              <a:rPr sz="2600" i="1" spc="-50" dirty="0">
                <a:latin typeface="Times New Roman"/>
                <a:cs typeface="Times New Roman"/>
              </a:rPr>
              <a:t> </a:t>
            </a:r>
            <a:r>
              <a:rPr sz="2600" i="1" spc="-370" dirty="0">
                <a:latin typeface="Times New Roman"/>
                <a:cs typeface="Times New Roman"/>
              </a:rPr>
              <a:t>Q</a:t>
            </a:r>
            <a:r>
              <a:rPr sz="2600" i="1" spc="-270" dirty="0">
                <a:latin typeface="Times New Roman"/>
                <a:cs typeface="Times New Roman"/>
              </a:rPr>
              <a:t>u</a:t>
            </a:r>
            <a:r>
              <a:rPr sz="2600" i="1" spc="-305" dirty="0">
                <a:latin typeface="Times New Roman"/>
                <a:cs typeface="Times New Roman"/>
              </a:rPr>
              <a:t>eu</a:t>
            </a:r>
            <a:r>
              <a:rPr sz="2600" i="1" spc="-285" dirty="0">
                <a:latin typeface="Times New Roman"/>
                <a:cs typeface="Times New Roman"/>
              </a:rPr>
              <a:t>e</a:t>
            </a:r>
            <a:r>
              <a:rPr sz="2600" i="1" spc="2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06876" y="490854"/>
            <a:ext cx="622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Operations</a:t>
            </a:r>
            <a:r>
              <a:rPr spc="-60" dirty="0"/>
              <a:t> </a:t>
            </a:r>
            <a:r>
              <a:rPr spc="-20" dirty="0"/>
              <a:t>in </a:t>
            </a:r>
            <a:r>
              <a:rPr spc="-30" dirty="0"/>
              <a:t>Circular</a:t>
            </a:r>
            <a:r>
              <a:rPr spc="-50" dirty="0"/>
              <a:t> </a:t>
            </a:r>
            <a:r>
              <a:rPr spc="20" dirty="0"/>
              <a:t>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35061" y="1371601"/>
            <a:ext cx="7521878" cy="40434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86385" indent="-274320">
              <a:spcBef>
                <a:spcPts val="33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spc="-70" dirty="0">
                <a:latin typeface="Times New Roman"/>
                <a:cs typeface="Times New Roman"/>
              </a:rPr>
              <a:t>enQueue(x)</a:t>
            </a:r>
            <a:r>
              <a:rPr sz="2400" b="1" i="1" spc="-65" dirty="0">
                <a:latin typeface="Times New Roman"/>
                <a:cs typeface="Times New Roman"/>
              </a:rPr>
              <a:t> </a:t>
            </a:r>
            <a:r>
              <a:rPr sz="2400" b="1" i="1" spc="-70" dirty="0">
                <a:latin typeface="Times New Roman"/>
                <a:cs typeface="Times New Roman"/>
              </a:rPr>
              <a:t>Operation:</a:t>
            </a:r>
            <a:endParaRPr lang="en-US" sz="2400" b="1" i="1" spc="-70" dirty="0">
              <a:latin typeface="Times New Roman"/>
              <a:cs typeface="Times New Roman"/>
            </a:endParaRP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This algorithm is assume that rear and front are initially set to MAZSIZE-1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Algorithm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1. if (front==(rear+1)%MAXSIZE) 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		print Queue is full and exit 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	else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	rear=(rear+1)%MAXSIZE; 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2. queue[rear]=item;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400" i="1" dirty="0">
                <a:latin typeface="Times New Roman" panose="02020603050405020304" pitchFamily="18" charset="0"/>
              </a:rPr>
              <a:t>3.end</a:t>
            </a:r>
            <a:endParaRPr sz="2400" i="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06876" y="490854"/>
            <a:ext cx="622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Operations</a:t>
            </a:r>
            <a:r>
              <a:rPr spc="-60" dirty="0"/>
              <a:t> </a:t>
            </a:r>
            <a:r>
              <a:rPr spc="-20" dirty="0"/>
              <a:t>in </a:t>
            </a:r>
            <a:r>
              <a:rPr spc="-30" dirty="0"/>
              <a:t>Circular</a:t>
            </a:r>
            <a:r>
              <a:rPr spc="-50" dirty="0"/>
              <a:t> </a:t>
            </a:r>
            <a:r>
              <a:rPr spc="20" dirty="0"/>
              <a:t>Queue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17444" y="1357631"/>
            <a:ext cx="32956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i="1" spc="-120" dirty="0">
                <a:latin typeface="Times New Roman"/>
                <a:cs typeface="Times New Roman"/>
              </a:rPr>
              <a:t>enQ</a:t>
            </a:r>
            <a:r>
              <a:rPr sz="2600" b="1" i="1" spc="-114" dirty="0">
                <a:latin typeface="Times New Roman"/>
                <a:cs typeface="Times New Roman"/>
              </a:rPr>
              <a:t>u</a:t>
            </a:r>
            <a:r>
              <a:rPr sz="2600" b="1" i="1" spc="-110" dirty="0">
                <a:latin typeface="Times New Roman"/>
                <a:cs typeface="Times New Roman"/>
              </a:rPr>
              <a:t>eu</a:t>
            </a:r>
            <a:r>
              <a:rPr sz="2600" b="1" i="1" spc="-95" dirty="0">
                <a:latin typeface="Times New Roman"/>
                <a:cs typeface="Times New Roman"/>
              </a:rPr>
              <a:t>e</a:t>
            </a:r>
            <a:r>
              <a:rPr sz="2600" b="1" i="1" spc="150" dirty="0">
                <a:latin typeface="Times New Roman"/>
                <a:cs typeface="Times New Roman"/>
              </a:rPr>
              <a:t>(</a:t>
            </a:r>
            <a:r>
              <a:rPr sz="2600" b="1" i="1" spc="-25" dirty="0">
                <a:latin typeface="Times New Roman"/>
                <a:cs typeface="Times New Roman"/>
              </a:rPr>
              <a:t>x)</a:t>
            </a:r>
            <a:r>
              <a:rPr sz="2600" b="1" i="1" spc="-105" dirty="0">
                <a:latin typeface="Times New Roman"/>
                <a:cs typeface="Times New Roman"/>
              </a:rPr>
              <a:t> </a:t>
            </a:r>
            <a:r>
              <a:rPr sz="2600" b="1" i="1" spc="-75" dirty="0">
                <a:latin typeface="Times New Roman"/>
                <a:cs typeface="Times New Roman"/>
              </a:rPr>
              <a:t>Ope</a:t>
            </a:r>
            <a:r>
              <a:rPr sz="2600" b="1" i="1" spc="-140" dirty="0">
                <a:latin typeface="Times New Roman"/>
                <a:cs typeface="Times New Roman"/>
              </a:rPr>
              <a:t>r</a:t>
            </a:r>
            <a:r>
              <a:rPr sz="2600" b="1" i="1" spc="-20" dirty="0">
                <a:latin typeface="Times New Roman"/>
                <a:cs typeface="Times New Roman"/>
              </a:rPr>
              <a:t>a</a:t>
            </a:r>
            <a:r>
              <a:rPr sz="2600" b="1" i="1" spc="-35" dirty="0">
                <a:latin typeface="Times New Roman"/>
                <a:cs typeface="Times New Roman"/>
              </a:rPr>
              <a:t>tio</a:t>
            </a:r>
            <a:r>
              <a:rPr sz="2600" b="1" i="1" spc="-45" dirty="0">
                <a:latin typeface="Times New Roman"/>
                <a:cs typeface="Times New Roman"/>
              </a:rPr>
              <a:t>n</a:t>
            </a:r>
            <a:r>
              <a:rPr sz="2600" b="1" i="1" spc="-19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B855BD-1D3D-4587-B86C-99CE7D1739AF}"/>
              </a:ext>
            </a:extLst>
          </p:cNvPr>
          <p:cNvSpPr txBox="1"/>
          <p:nvPr/>
        </p:nvSpPr>
        <p:spPr>
          <a:xfrm>
            <a:off x="2743200" y="2011682"/>
            <a:ext cx="7239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latin typeface="Times New Roman" panose="02020603050405020304" pitchFamily="18" charset="0"/>
              </a:rPr>
              <a:t>void Enqueue(cq *q, int item){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if(front == (rear+1)%MAXSIZE) {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printf(“queue is full”);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exit(1);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else{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q-&gt;rear=(q-&gt;rear+1)%MAXSIZE;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q-&gt;items[q-&gt;rear]=newitem;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sz="2800" i="1" dirty="0">
                <a:latin typeface="Times New Roman" panose="02020603050405020304" pitchFamily="18" charset="0"/>
              </a:rPr>
              <a:t>}</a:t>
            </a:r>
            <a:endParaRPr lang="en-US" sz="2800" i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06876" y="490854"/>
            <a:ext cx="622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Operations</a:t>
            </a:r>
            <a:r>
              <a:rPr spc="-60" dirty="0"/>
              <a:t> </a:t>
            </a:r>
            <a:r>
              <a:rPr spc="-20" dirty="0"/>
              <a:t>in </a:t>
            </a:r>
            <a:r>
              <a:rPr spc="-30" dirty="0"/>
              <a:t>Circular</a:t>
            </a:r>
            <a:r>
              <a:rPr spc="-50" dirty="0"/>
              <a:t> </a:t>
            </a:r>
            <a:r>
              <a:rPr spc="20" dirty="0"/>
              <a:t>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305155"/>
            <a:ext cx="7034530" cy="4189608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86385" indent="-274320">
              <a:spcBef>
                <a:spcPts val="33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800" b="1" i="1" spc="-60" dirty="0">
                <a:latin typeface="Times New Roman"/>
                <a:cs typeface="Times New Roman"/>
              </a:rPr>
              <a:t>deQueue(x)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i="1" spc="-70" dirty="0">
                <a:latin typeface="Times New Roman"/>
                <a:cs typeface="Times New Roman"/>
              </a:rPr>
              <a:t>Operation:</a:t>
            </a:r>
            <a:endParaRPr lang="en-US" sz="2800" i="1" spc="-70" dirty="0">
              <a:latin typeface="Times New Roman"/>
              <a:cs typeface="Times New Roman"/>
            </a:endParaRP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This algorithm is assume that rear and front are initially set to MAZSIZE-1.1. 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1. if (rear==front) [checking empty condition] 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print Queue is empty and exit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2. front=(front+1)%MAXSIZE;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3. item=queue[front];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4. return item;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5. end</a:t>
            </a:r>
            <a:endParaRPr sz="2800" i="1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06876" y="490854"/>
            <a:ext cx="6226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pc="-10" dirty="0"/>
              <a:t>Operations</a:t>
            </a:r>
            <a:r>
              <a:rPr spc="-60" dirty="0"/>
              <a:t> </a:t>
            </a:r>
            <a:r>
              <a:rPr spc="-20" dirty="0"/>
              <a:t>in </a:t>
            </a:r>
            <a:r>
              <a:rPr spc="-30" dirty="0"/>
              <a:t>Circular</a:t>
            </a:r>
            <a:r>
              <a:rPr spc="-50" dirty="0"/>
              <a:t> </a:t>
            </a:r>
            <a:r>
              <a:rPr spc="20" dirty="0"/>
              <a:t>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305156"/>
            <a:ext cx="7034530" cy="516679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86385" indent="-274320">
              <a:spcBef>
                <a:spcPts val="33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800" b="1" i="1" spc="-60" dirty="0">
                <a:latin typeface="Times New Roman"/>
                <a:cs typeface="Times New Roman"/>
              </a:rPr>
              <a:t>deQueue(x)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i="1" spc="-70" dirty="0">
                <a:latin typeface="Times New Roman"/>
                <a:cs typeface="Times New Roman"/>
              </a:rPr>
              <a:t>Operation:</a:t>
            </a:r>
            <a:endParaRPr lang="en-US" sz="2800" i="1" spc="-70" dirty="0">
              <a:latin typeface="Times New Roman"/>
              <a:cs typeface="Times New Roman"/>
            </a:endParaRP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int Dequeue(cq *q) {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if(q-&gt;rear </a:t>
            </a:r>
            <a:r>
              <a:rPr lang="en-US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&lt;</a:t>
            </a:r>
            <a:r>
              <a:rPr lang="en-US" sz="2800" i="1" dirty="0">
                <a:latin typeface="Times New Roman" panose="02020603050405020304" pitchFamily="18" charset="0"/>
              </a:rPr>
              <a:t> q-&gt;front){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		printf(“queue is Empty”);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		exit(1);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	}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else{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q-&gt;front=(q-&gt;front+1)%MAXSIZE;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</a:rPr>
              <a:t>	return(q-&gt;items[q-&gt;front]);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  <a:cs typeface="Cambria Math"/>
              </a:rPr>
              <a:t>}</a:t>
            </a:r>
          </a:p>
          <a:p>
            <a:pPr marL="12065">
              <a:spcBef>
                <a:spcPts val="330"/>
              </a:spcBef>
              <a:buClr>
                <a:srgbClr val="4F81BC"/>
              </a:buClr>
              <a:buSzPct val="85416"/>
              <a:tabLst>
                <a:tab pos="286385" algn="l"/>
                <a:tab pos="287020" algn="l"/>
              </a:tabLst>
            </a:pPr>
            <a:r>
              <a:rPr lang="en-US" sz="2800" i="1" dirty="0">
                <a:latin typeface="Times New Roman" panose="02020603050405020304" pitchFamily="18" charset="0"/>
                <a:cs typeface="Cambria Math"/>
              </a:rPr>
              <a:t>}</a:t>
            </a:r>
            <a:endParaRPr sz="2800" i="1" dirty="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766663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41117" y="490854"/>
            <a:ext cx="6957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Linear Queue vs. Circular Queue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432050" y="1731010"/>
          <a:ext cx="7772400" cy="4476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9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ear</a:t>
                      </a:r>
                      <a:r>
                        <a:rPr sz="1800" b="1" i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6809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Ci</a:t>
                      </a:r>
                      <a:r>
                        <a:rPr sz="1800" b="1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lar</a:t>
                      </a:r>
                      <a:r>
                        <a:rPr sz="1800" b="1" i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eue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linea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tte</a:t>
                      </a:r>
                      <a:r>
                        <a:rPr sz="1800" i="1" spc="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835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3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ta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rcular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orde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he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the  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ear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nected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wit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fro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end.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eletion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ope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tio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ed.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i.</a:t>
                      </a:r>
                      <a:r>
                        <a:rPr sz="1800" i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800" i="1" spc="-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done</a:t>
                      </a:r>
                      <a:r>
                        <a:rPr sz="1800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ear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fro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end.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526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4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deletion</a:t>
                      </a:r>
                      <a:r>
                        <a:rPr sz="1800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-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ed</a:t>
                      </a:r>
                      <a:r>
                        <a:rPr sz="1800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i="1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be 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done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-3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positi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eue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eq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8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mo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memor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i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sp</a:t>
                      </a:r>
                      <a:r>
                        <a:rPr sz="1800" i="1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Circula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eue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eq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spc="-1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800" i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les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memor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spc="-10" dirty="0">
                          <a:latin typeface="Times New Roman"/>
                          <a:cs typeface="Times New Roman"/>
                        </a:rPr>
                        <a:t>pa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9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i="1" spc="-8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6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i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30" dirty="0">
                          <a:latin typeface="Times New Roman"/>
                          <a:cs typeface="Times New Roman"/>
                        </a:rPr>
                        <a:t>inefficient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14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i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204" dirty="0">
                          <a:latin typeface="Times New Roman"/>
                          <a:cs typeface="Times New Roman"/>
                        </a:rPr>
                        <a:t>comparison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4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75" dirty="0">
                          <a:latin typeface="Times New Roman"/>
                          <a:cs typeface="Times New Roman"/>
                        </a:rPr>
                        <a:t>circular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60" dirty="0">
                          <a:latin typeface="Times New Roman"/>
                          <a:cs typeface="Times New Roman"/>
                        </a:rPr>
                        <a:t>queue.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i="1" spc="-8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i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65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24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35" dirty="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14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204" dirty="0">
                          <a:latin typeface="Times New Roman"/>
                          <a:cs typeface="Times New Roman"/>
                        </a:rPr>
                        <a:t>comparison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4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55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60" dirty="0">
                          <a:latin typeface="Times New Roman"/>
                          <a:cs typeface="Times New Roman"/>
                        </a:rPr>
                        <a:t>queue.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9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linea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eue,</a:t>
                      </a:r>
                      <a:r>
                        <a:rPr sz="1800" i="1" spc="-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peek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alue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easi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etched.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i="1" spc="-12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etchi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800" i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peek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v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alue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ci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cular</a:t>
                      </a:r>
                      <a:r>
                        <a:rPr sz="1800" i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eu</a:t>
                      </a:r>
                      <a:r>
                        <a:rPr sz="1800" i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67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i="1" spc="-160" dirty="0">
                          <a:latin typeface="Times New Roman"/>
                          <a:cs typeface="Times New Roman"/>
                        </a:rPr>
                        <a:t>Application: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i="1" spc="-8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eople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standing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2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spc="-1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800" i="1" spc="-3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i="1" spc="-160" dirty="0">
                          <a:latin typeface="Times New Roman"/>
                          <a:cs typeface="Times New Roman"/>
                        </a:rPr>
                        <a:t>Application: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i="1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ompute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i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contro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lle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i="1" spc="-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affic</a:t>
                      </a:r>
                      <a:r>
                        <a:rPr sz="1800" i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i="1" spc="-5" dirty="0">
                          <a:latin typeface="Times New Roman"/>
                          <a:cs typeface="Times New Roman"/>
                        </a:rPr>
                        <a:t>ig</a:t>
                      </a:r>
                      <a:r>
                        <a:rPr sz="1800" i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i="1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33601" y="286664"/>
            <a:ext cx="784859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Applications of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7401" y="972579"/>
            <a:ext cx="7727385" cy="15600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Some of the real world applications of queues are:</a:t>
            </a:r>
            <a:endParaRPr sz="26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25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Cashier in line in any store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1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People in an escalator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2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Check in and check out at any book store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400" y="2590800"/>
            <a:ext cx="8305800" cy="34759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Some of the applications of queues related to computer science are:</a:t>
            </a:r>
            <a:endParaRPr sz="26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25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Data getting transferred between the IO buffers (Input Output Buffers)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1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CPU scheduling and Disk scheduling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2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Managing shared resources between various processes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1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Job scheduling algorithms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05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Round Robin scheduling</a:t>
            </a:r>
            <a:endParaRPr sz="2400" dirty="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12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Recognizing a palindrome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3485" y="6028131"/>
            <a:ext cx="258426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spcBef>
                <a:spcPts val="10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i="1" dirty="0">
                <a:latin typeface="Times New Roman"/>
                <a:cs typeface="Times New Roman"/>
              </a:rPr>
              <a:t>Traffic system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03100" y="495427"/>
            <a:ext cx="373748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0445" y="1345440"/>
            <a:ext cx="5101355" cy="96456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86385" marR="5080" indent="-274320" algn="just">
              <a:lnSpc>
                <a:spcPct val="90100"/>
              </a:lnSpc>
              <a:spcBef>
                <a:spcPts val="35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i="1" dirty="0">
                <a:latin typeface="Times New Roman"/>
                <a:cs typeface="Times New Roman"/>
              </a:rPr>
              <a:t>Priority Queue is an ADT that  performs operations on data elements  per their priority.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0023" y="2362201"/>
            <a:ext cx="5101355" cy="665567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86385" marR="5080" indent="-274320" algn="just">
              <a:lnSpc>
                <a:spcPts val="2380"/>
              </a:lnSpc>
              <a:spcBef>
                <a:spcPts val="390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i="1" dirty="0">
                <a:latin typeface="Times New Roman"/>
                <a:cs typeface="Times New Roman"/>
              </a:rPr>
              <a:t>The hospital emergency queue is an  ideal real-life example of a priority  queue.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0305" y="3048001"/>
            <a:ext cx="5101073" cy="1569659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359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7020" algn="l"/>
              </a:tabLst>
            </a:pPr>
            <a:r>
              <a:rPr sz="2200" i="1" dirty="0">
                <a:latin typeface="Times New Roman"/>
                <a:cs typeface="Times New Roman"/>
              </a:rPr>
              <a:t>In this queue of patients, the patient  with the most critical situation is the  first in a queue, and the patient who  doesn’t need immediate medical  attention will be at the last.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0442" y="4680616"/>
            <a:ext cx="4554159" cy="6533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4320">
              <a:lnSpc>
                <a:spcPts val="2510"/>
              </a:lnSpc>
              <a:spcBef>
                <a:spcPts val="95"/>
              </a:spcBef>
              <a:buClr>
                <a:srgbClr val="4F81BC"/>
              </a:buClr>
              <a:buSzPct val="84090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200" i="1" dirty="0">
                <a:latin typeface="Times New Roman"/>
                <a:cs typeface="Times New Roman"/>
              </a:rPr>
              <a:t>In this queue, the priority depends on</a:t>
            </a:r>
            <a:endParaRPr sz="2200" dirty="0">
              <a:latin typeface="Times New Roman"/>
              <a:cs typeface="Times New Roman"/>
            </a:endParaRPr>
          </a:p>
          <a:p>
            <a:pPr marL="286385">
              <a:lnSpc>
                <a:spcPts val="2510"/>
              </a:lnSpc>
            </a:pPr>
            <a:r>
              <a:rPr sz="2200" i="1" dirty="0">
                <a:latin typeface="Times New Roman"/>
                <a:cs typeface="Times New Roman"/>
              </a:rPr>
              <a:t>the medical condition of the patients.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057" y="1887817"/>
            <a:ext cx="3493499" cy="31973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12798" y="490854"/>
            <a:ext cx="716175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5000" y="1328675"/>
            <a:ext cx="4876800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  <a:tab pos="659765" algn="l"/>
                <a:tab pos="1024255" algn="l"/>
                <a:tab pos="1903730" algn="l"/>
                <a:tab pos="2560955" algn="l"/>
                <a:tab pos="2980055" algn="l"/>
              </a:tabLst>
            </a:pPr>
            <a:r>
              <a:rPr sz="2600" i="1" dirty="0">
                <a:latin typeface="Times New Roman"/>
                <a:cs typeface="Times New Roman"/>
              </a:rPr>
              <a:t>It	is	highly	used	in	sorting  algorithms.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5000" y="2214741"/>
            <a:ext cx="5105400" cy="149361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41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It behaves similar to a linear  queue except for the fact that  each element has some priority  assigned to it.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8317" y="3733493"/>
            <a:ext cx="5282083" cy="2213811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41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The priority of element  determines the order of removal  in a queue; i.e. the element with  higher priority will leave the  queue first, whereas the element  with the lowest priority at last</a:t>
            </a:r>
            <a:r>
              <a:rPr lang="en-US" sz="2600" i="1" dirty="0">
                <a:latin typeface="Times New Roman"/>
                <a:cs typeface="Times New Roman"/>
              </a:rPr>
              <a:t> or vice versa</a:t>
            </a:r>
            <a:endParaRPr sz="2600" dirty="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2214741"/>
            <a:ext cx="3005328" cy="289065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57401" y="490854"/>
            <a:ext cx="772909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Characteristics of 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357631"/>
            <a:ext cx="5640070" cy="16139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Every element has a certain priority assigned to it.</a:t>
            </a:r>
            <a:endParaRPr sz="3750" dirty="0">
              <a:latin typeface="Times New Roman"/>
              <a:cs typeface="Times New Roman"/>
            </a:endParaRPr>
          </a:p>
          <a:p>
            <a:pPr marL="286385" indent="-274320">
              <a:spcBef>
                <a:spcPts val="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Every element of this queue must be comparable.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444" y="3247466"/>
            <a:ext cx="761492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It will delete the element with higher priority before the element with  lower priority</a:t>
            </a:r>
            <a:r>
              <a:rPr lang="en-US" sz="2600" i="1" dirty="0">
                <a:latin typeface="Times New Roman"/>
                <a:cs typeface="Times New Roman"/>
              </a:rPr>
              <a:t> and vice versa.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17445" y="4588840"/>
            <a:ext cx="7617459" cy="12137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i="1" dirty="0">
                <a:latin typeface="Times New Roman"/>
                <a:cs typeface="Times New Roman"/>
              </a:rPr>
              <a:t>If multiple elements have the same priority, it does their removal from  the queue according to the FCFS principle.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39322" y="470306"/>
            <a:ext cx="594958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Types of 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9415" y="1357630"/>
            <a:ext cx="7612949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  <a:tab pos="1030605" algn="l"/>
                <a:tab pos="1501775" algn="l"/>
                <a:tab pos="2018030" algn="l"/>
                <a:tab pos="2688590" algn="l"/>
                <a:tab pos="3036570" algn="l"/>
                <a:tab pos="3999865" algn="l"/>
                <a:tab pos="4841240" algn="l"/>
                <a:tab pos="5557520" algn="l"/>
                <a:tab pos="5963285" algn="l"/>
                <a:tab pos="6436995" algn="l"/>
                <a:tab pos="7402195" algn="l"/>
              </a:tabLst>
            </a:pPr>
            <a:r>
              <a:rPr sz="2600" dirty="0">
                <a:latin typeface="Times New Roman"/>
                <a:cs typeface="Times New Roman"/>
              </a:rPr>
              <a:t>There	are	two	types	of	priority	queues	based	on	the	priority	of  elements: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39322" y="2677795"/>
            <a:ext cx="729172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i="1" dirty="0">
                <a:latin typeface="Times New Roman"/>
                <a:cs typeface="Times New Roman"/>
              </a:rPr>
              <a:t>If the element with the smallest value has the highest priority, then that  priority queue is called the min priority queue (ascending).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9322" y="3877436"/>
            <a:ext cx="729172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i="1" dirty="0">
                <a:latin typeface="Times New Roman"/>
                <a:cs typeface="Times New Roman"/>
              </a:rPr>
              <a:t>If the element with the higher value has the highest priority, then that  priority queue is called the max priority queue (descending).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43201" y="490854"/>
            <a:ext cx="604570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Types of 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4" y="1299154"/>
            <a:ext cx="7614284" cy="163185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spcBef>
                <a:spcPts val="56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b="1" i="1" dirty="0">
                <a:latin typeface="Times New Roman"/>
                <a:cs typeface="Times New Roman"/>
              </a:rPr>
              <a:t>Ascending Priority Queue</a:t>
            </a:r>
            <a:endParaRPr sz="2600">
              <a:latin typeface="Times New Roman"/>
              <a:cs typeface="Times New Roman"/>
            </a:endParaRPr>
          </a:p>
          <a:p>
            <a:pPr marL="560705" lvl="1" indent="-229235">
              <a:spcBef>
                <a:spcPts val="425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i="1" dirty="0">
                <a:latin typeface="Times New Roman"/>
                <a:cs typeface="Times New Roman"/>
              </a:rPr>
              <a:t>In this type of priority queue, elements can be inserted into any order</a:t>
            </a:r>
            <a:endParaRPr sz="2400">
              <a:latin typeface="Times New Roman"/>
              <a:cs typeface="Times New Roman"/>
            </a:endParaRPr>
          </a:p>
          <a:p>
            <a:pPr marL="560705">
              <a:spcBef>
                <a:spcPts val="5"/>
              </a:spcBef>
            </a:pPr>
            <a:r>
              <a:rPr sz="2400" i="1" dirty="0">
                <a:latin typeface="Times New Roman"/>
                <a:cs typeface="Times New Roman"/>
              </a:rPr>
              <a:t>but only the smallest element can be removed.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37434" y="3008504"/>
            <a:ext cx="72955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i="1" dirty="0">
                <a:latin typeface="Times New Roman"/>
                <a:cs typeface="Times New Roman"/>
              </a:rPr>
              <a:t>In ascending order priority queue, a lower  priority number is given as a  higher priority in a priority.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7434" y="4206620"/>
            <a:ext cx="7325359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spcBef>
                <a:spcPts val="10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i="1" dirty="0">
                <a:latin typeface="Times New Roman"/>
                <a:cs typeface="Times New Roman"/>
              </a:rPr>
              <a:t>For example, we take the numbers arranged in an ascending order like 2,  6, 7, 10, 11; therefore, the smallest number, i.e. 2, is given as the  highest priority in a priority queue.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4859" y="5067300"/>
            <a:ext cx="317784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29001" y="490854"/>
            <a:ext cx="535990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dirty="0"/>
              <a:t>Types of 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860034" y="1313474"/>
            <a:ext cx="8272330" cy="13907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86385" indent="-274320">
              <a:spcBef>
                <a:spcPts val="265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86385" algn="l"/>
                <a:tab pos="287020" algn="l"/>
              </a:tabLst>
            </a:pPr>
            <a:r>
              <a:rPr sz="2400" b="1" i="1" dirty="0">
                <a:latin typeface="Times New Roman"/>
                <a:cs typeface="Times New Roman"/>
              </a:rPr>
              <a:t>Descending Priority Queue</a:t>
            </a:r>
            <a:endParaRPr sz="2400">
              <a:latin typeface="Times New Roman"/>
              <a:cs typeface="Times New Roman"/>
            </a:endParaRPr>
          </a:p>
          <a:p>
            <a:pPr marL="560705" lvl="1" indent="-229235">
              <a:lnSpc>
                <a:spcPts val="2510"/>
              </a:lnSpc>
              <a:spcBef>
                <a:spcPts val="155"/>
              </a:spcBef>
              <a:buClr>
                <a:srgbClr val="C0504D"/>
              </a:buClr>
              <a:buSzPct val="84090"/>
              <a:buFont typeface="Segoe UI Symbol"/>
              <a:buChar char="⚫"/>
              <a:tabLst>
                <a:tab pos="561340" algn="l"/>
              </a:tabLst>
            </a:pPr>
            <a:r>
              <a:rPr sz="2200" i="1" dirty="0">
                <a:latin typeface="Times New Roman"/>
                <a:cs typeface="Times New Roman"/>
              </a:rPr>
              <a:t>In this type of priority queue, elements can be inserted into any order but only</a:t>
            </a:r>
            <a:endParaRPr sz="2200">
              <a:latin typeface="Times New Roman"/>
              <a:cs typeface="Times New Roman"/>
            </a:endParaRPr>
          </a:p>
          <a:p>
            <a:pPr marL="560705">
              <a:lnSpc>
                <a:spcPts val="2510"/>
              </a:lnSpc>
            </a:pPr>
            <a:r>
              <a:rPr sz="2200" i="1" dirty="0">
                <a:latin typeface="Times New Roman"/>
                <a:cs typeface="Times New Roman"/>
              </a:rPr>
              <a:t>the largest element can be removed.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07599" y="2728087"/>
            <a:ext cx="7925350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Clr>
                <a:srgbClr val="C0504D"/>
              </a:buClr>
              <a:buSzPct val="84090"/>
              <a:buFont typeface="Segoe UI Symbol"/>
              <a:buChar char="⚫"/>
              <a:tabLst>
                <a:tab pos="241300" algn="l"/>
              </a:tabLst>
            </a:pPr>
            <a:r>
              <a:rPr sz="2200" i="1" dirty="0">
                <a:latin typeface="Times New Roman"/>
                <a:cs typeface="Times New Roman"/>
              </a:rPr>
              <a:t>In descending order priority queue, a higher priority number is given as a  higher priority in a priority.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5461" y="3735704"/>
            <a:ext cx="7952253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 algn="just">
              <a:lnSpc>
                <a:spcPts val="2380"/>
              </a:lnSpc>
              <a:spcBef>
                <a:spcPts val="390"/>
              </a:spcBef>
              <a:buClr>
                <a:srgbClr val="C0504D"/>
              </a:buClr>
              <a:buSzPct val="84090"/>
              <a:buFont typeface="Segoe UI Symbol"/>
              <a:buChar char="⚫"/>
              <a:tabLst>
                <a:tab pos="241300" algn="l"/>
              </a:tabLst>
            </a:pPr>
            <a:r>
              <a:rPr sz="2200" i="1" dirty="0">
                <a:latin typeface="Times New Roman"/>
                <a:cs typeface="Times New Roman"/>
              </a:rPr>
              <a:t>For example, we take the numbers arranged in an descending order like 10, 9,  8, 7, 6; therefore, the smallest number, i.e. 10, is given as the highest priority  in a priority queue.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9090" y="4445508"/>
            <a:ext cx="3255406" cy="17647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17444" y="490854"/>
            <a:ext cx="683572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i="0" dirty="0"/>
              <a:t>Operations in 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5" y="1307339"/>
            <a:ext cx="7173595" cy="730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marR="1955164" indent="-273685" algn="r">
              <a:lnSpc>
                <a:spcPts val="2825"/>
              </a:lnSpc>
              <a:spcBef>
                <a:spcPts val="100"/>
              </a:spcBef>
              <a:buClr>
                <a:srgbClr val="4F81BC"/>
              </a:buClr>
              <a:buSzPct val="85416"/>
              <a:buFont typeface="Segoe UI Symbol"/>
              <a:buChar char="⚫"/>
              <a:tabLst>
                <a:tab pos="273685" algn="l"/>
                <a:tab pos="274320" algn="l"/>
              </a:tabLst>
            </a:pPr>
            <a:r>
              <a:rPr sz="2400" b="1" dirty="0">
                <a:latin typeface="Times New Roman"/>
                <a:cs typeface="Times New Roman"/>
              </a:rPr>
              <a:t>Inserting the element in a Priority Queue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24F652B5-2257-425D-BE96-A73505ABA2A7}"/>
              </a:ext>
            </a:extLst>
          </p:cNvPr>
          <p:cNvSpPr txBox="1"/>
          <p:nvPr/>
        </p:nvSpPr>
        <p:spPr>
          <a:xfrm>
            <a:off x="2092488" y="1737761"/>
            <a:ext cx="3393913" cy="4758096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spcBef>
                <a:spcPts val="409"/>
              </a:spcBef>
            </a:pPr>
            <a:r>
              <a:rPr sz="2200" dirty="0">
                <a:latin typeface="Times New Roman"/>
                <a:cs typeface="Times New Roman"/>
              </a:rPr>
              <a:t>void insert()</a:t>
            </a:r>
          </a:p>
          <a:p>
            <a:pPr marL="12700">
              <a:spcBef>
                <a:spcPts val="310"/>
              </a:spcBef>
            </a:pPr>
            <a:r>
              <a:rPr sz="2200" dirty="0">
                <a:latin typeface="Times New Roman"/>
                <a:cs typeface="Times New Roman"/>
              </a:rPr>
              <a:t>{</a:t>
            </a:r>
          </a:p>
          <a:p>
            <a:pPr marL="286385">
              <a:spcBef>
                <a:spcPts val="155"/>
              </a:spcBef>
            </a:pPr>
            <a:r>
              <a:rPr sz="2200" dirty="0">
                <a:latin typeface="Times New Roman"/>
                <a:cs typeface="Times New Roman"/>
              </a:rPr>
              <a:t>if(rear == </a:t>
            </a:r>
            <a:r>
              <a:rPr lang="en-US" sz="2400" dirty="0">
                <a:latin typeface="Times New Roman"/>
                <a:cs typeface="Times New Roman"/>
              </a:rPr>
              <a:t>Maxsize</a:t>
            </a:r>
            <a:r>
              <a:rPr lang="en-US" sz="2200" dirty="0">
                <a:latin typeface="Times New Roman"/>
                <a:cs typeface="Times New Roman"/>
              </a:rPr>
              <a:t> -1</a:t>
            </a:r>
            <a:r>
              <a:rPr sz="2200" dirty="0">
                <a:latin typeface="Times New Roman"/>
                <a:cs typeface="Times New Roman"/>
              </a:rPr>
              <a:t>)</a:t>
            </a:r>
          </a:p>
          <a:p>
            <a:pPr marL="286385">
              <a:spcBef>
                <a:spcPts val="145"/>
              </a:spcBef>
            </a:pPr>
            <a:r>
              <a:rPr sz="2200" dirty="0">
                <a:latin typeface="Times New Roman"/>
                <a:cs typeface="Times New Roman"/>
              </a:rPr>
              <a:t>{</a:t>
            </a:r>
          </a:p>
          <a:p>
            <a:pPr marL="560705">
              <a:spcBef>
                <a:spcPts val="204"/>
              </a:spcBef>
            </a:pPr>
            <a:r>
              <a:rPr sz="2200" dirty="0">
                <a:latin typeface="Times New Roman"/>
                <a:cs typeface="Times New Roman"/>
              </a:rPr>
              <a:t>printf("Queue is full");</a:t>
            </a:r>
          </a:p>
          <a:p>
            <a:pPr marL="286385"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}</a:t>
            </a:r>
          </a:p>
          <a:p>
            <a:pPr marL="286385">
              <a:spcBef>
                <a:spcPts val="145"/>
              </a:spcBef>
            </a:pPr>
            <a:r>
              <a:rPr sz="2200" dirty="0">
                <a:latin typeface="Times New Roman"/>
                <a:cs typeface="Times New Roman"/>
              </a:rPr>
              <a:t>else</a:t>
            </a:r>
          </a:p>
          <a:p>
            <a:pPr marL="286385">
              <a:spcBef>
                <a:spcPts val="130"/>
              </a:spcBef>
            </a:pPr>
            <a:r>
              <a:rPr sz="2200" dirty="0">
                <a:latin typeface="Times New Roman"/>
                <a:cs typeface="Times New Roman"/>
              </a:rPr>
              <a:t>{</a:t>
            </a:r>
          </a:p>
          <a:p>
            <a:pPr marL="560705" marR="394335">
              <a:lnSpc>
                <a:spcPct val="107700"/>
              </a:lnSpc>
              <a:spcBef>
                <a:spcPts val="30"/>
              </a:spcBef>
            </a:pPr>
            <a:r>
              <a:rPr sz="2200" dirty="0">
                <a:latin typeface="Times New Roman"/>
                <a:cs typeface="Times New Roman"/>
              </a:rPr>
              <a:t>int </a:t>
            </a:r>
            <a:r>
              <a:rPr lang="en-US" sz="2200" dirty="0">
                <a:latin typeface="Times New Roman"/>
                <a:cs typeface="Times New Roman"/>
              </a:rPr>
              <a:t>item</a:t>
            </a:r>
            <a:r>
              <a:rPr sz="2200" dirty="0">
                <a:latin typeface="Times New Roman"/>
                <a:cs typeface="Times New Roman"/>
              </a:rPr>
              <a:t>;  </a:t>
            </a:r>
            <a:endParaRPr lang="en-US" sz="2200" dirty="0">
              <a:latin typeface="Times New Roman"/>
              <a:cs typeface="Times New Roman"/>
            </a:endParaRPr>
          </a:p>
          <a:p>
            <a:pPr marL="560705" marR="394335">
              <a:lnSpc>
                <a:spcPct val="107700"/>
              </a:lnSpc>
              <a:spcBef>
                <a:spcPts val="30"/>
              </a:spcBef>
            </a:pPr>
            <a:r>
              <a:rPr lang="en-US" sz="2200" dirty="0">
                <a:latin typeface="Times New Roman"/>
                <a:cs typeface="Times New Roman"/>
              </a:rPr>
              <a:t>r</a:t>
            </a:r>
            <a:r>
              <a:rPr sz="2200" dirty="0">
                <a:latin typeface="Times New Roman"/>
                <a:cs typeface="Times New Roman"/>
              </a:rPr>
              <a:t>ear</a:t>
            </a:r>
            <a:r>
              <a:rPr lang="en-US" sz="2200" dirty="0">
                <a:latin typeface="Times New Roman"/>
                <a:cs typeface="Times New Roman"/>
              </a:rPr>
              <a:t>= rear+1</a:t>
            </a:r>
            <a:r>
              <a:rPr sz="2200" dirty="0">
                <a:latin typeface="Times New Roman"/>
                <a:cs typeface="Times New Roman"/>
              </a:rPr>
              <a:t>;</a:t>
            </a:r>
            <a:endParaRPr lang="en-US" sz="2200" dirty="0">
              <a:latin typeface="Times New Roman"/>
              <a:cs typeface="Times New Roman"/>
            </a:endParaRPr>
          </a:p>
          <a:p>
            <a:pPr marL="560705" marR="394335">
              <a:lnSpc>
                <a:spcPct val="107700"/>
              </a:lnSpc>
              <a:spcBef>
                <a:spcPts val="30"/>
              </a:spcBef>
            </a:pPr>
            <a:r>
              <a:rPr lang="en-US" sz="2200" dirty="0">
                <a:latin typeface="Times New Roman"/>
                <a:cs typeface="Times New Roman"/>
              </a:rPr>
              <a:t>queue[rear] = item;</a:t>
            </a:r>
            <a:endParaRPr sz="2200" dirty="0">
              <a:latin typeface="Times New Roman"/>
              <a:cs typeface="Times New Roman"/>
            </a:endParaRPr>
          </a:p>
          <a:p>
            <a:pPr marL="560705">
              <a:spcBef>
                <a:spcPts val="170"/>
              </a:spcBef>
            </a:pPr>
            <a:r>
              <a:rPr sz="2200" dirty="0">
                <a:latin typeface="Times New Roman"/>
                <a:cs typeface="Times New Roman"/>
              </a:rPr>
              <a:t>}</a:t>
            </a:r>
            <a:endParaRPr lang="en-US" sz="2200" dirty="0">
              <a:latin typeface="Times New Roman"/>
              <a:cs typeface="Times New Roman"/>
            </a:endParaRPr>
          </a:p>
          <a:p>
            <a:pPr marL="560705">
              <a:spcBef>
                <a:spcPts val="170"/>
              </a:spcBef>
            </a:pPr>
            <a:r>
              <a:rPr lang="en-US" sz="2200" dirty="0">
                <a:latin typeface="Times New Roman"/>
                <a:cs typeface="Times New Roman"/>
              </a:rPr>
              <a:t>}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38407EDC-A58F-4FE1-AAB0-29367EB3807D}"/>
              </a:ext>
            </a:extLst>
          </p:cNvPr>
          <p:cNvSpPr txBox="1"/>
          <p:nvPr/>
        </p:nvSpPr>
        <p:spPr>
          <a:xfrm>
            <a:off x="5699590" y="2364866"/>
            <a:ext cx="4663611" cy="33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600" dirty="0">
                <a:latin typeface="Times New Roman"/>
                <a:cs typeface="Times New Roman"/>
              </a:rPr>
              <a:t>Start</a:t>
            </a:r>
          </a:p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600" dirty="0">
                <a:latin typeface="Times New Roman"/>
                <a:cs typeface="Times New Roman"/>
              </a:rPr>
              <a:t>Initialize front=0 &amp; rear=-1</a:t>
            </a:r>
          </a:p>
          <a:p>
            <a:pPr marL="527050" indent="-514350">
              <a:spcBef>
                <a:spcPts val="105"/>
              </a:spcBef>
              <a:buFont typeface="+mj-lt"/>
              <a:buAutoNum type="arabicPeriod"/>
            </a:pPr>
            <a:r>
              <a:rPr lang="en-US" sz="2600" dirty="0">
                <a:latin typeface="Times New Roman"/>
                <a:cs typeface="Times New Roman"/>
              </a:rPr>
              <a:t>If rear&gt;= Maxsize-1</a:t>
            </a:r>
          </a:p>
          <a:p>
            <a:pPr marL="12700">
              <a:spcBef>
                <a:spcPts val="105"/>
              </a:spcBef>
            </a:pPr>
            <a:r>
              <a:rPr lang="en-US" sz="2600" dirty="0">
                <a:latin typeface="Times New Roman"/>
                <a:cs typeface="Times New Roman"/>
              </a:rPr>
              <a:t>	print “ queue overflow”</a:t>
            </a:r>
          </a:p>
          <a:p>
            <a:pPr marL="12700">
              <a:spcBef>
                <a:spcPts val="105"/>
              </a:spcBef>
            </a:pPr>
            <a:r>
              <a:rPr lang="en-US" sz="2600" dirty="0">
                <a:latin typeface="Times New Roman"/>
                <a:cs typeface="Times New Roman"/>
              </a:rPr>
              <a:t>	otherwise</a:t>
            </a:r>
          </a:p>
          <a:p>
            <a:pPr marL="12700">
              <a:spcBef>
                <a:spcPts val="105"/>
              </a:spcBef>
            </a:pPr>
            <a:r>
              <a:rPr lang="en-US" sz="2600" dirty="0">
                <a:latin typeface="Times New Roman"/>
                <a:cs typeface="Times New Roman"/>
              </a:rPr>
              <a:t>	set rear= rear+1</a:t>
            </a:r>
          </a:p>
          <a:p>
            <a:pPr marL="12700">
              <a:spcBef>
                <a:spcPts val="105"/>
              </a:spcBef>
            </a:pPr>
            <a:r>
              <a:rPr lang="en-US" sz="2600" dirty="0">
                <a:latin typeface="Times New Roman"/>
                <a:cs typeface="Times New Roman"/>
              </a:rPr>
              <a:t>	queue[rear+1]= Item</a:t>
            </a:r>
          </a:p>
          <a:p>
            <a:pPr marL="12700">
              <a:spcBef>
                <a:spcPts val="105"/>
              </a:spcBef>
            </a:pPr>
            <a:r>
              <a:rPr lang="en-US" sz="2600" dirty="0">
                <a:latin typeface="Times New Roman"/>
                <a:cs typeface="Times New Roman"/>
              </a:rPr>
              <a:t>4. Stop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7" name="object 11">
            <a:extLst>
              <a:ext uri="{FF2B5EF4-FFF2-40B4-BE49-F238E27FC236}">
                <a16:creationId xmlns:a16="http://schemas.microsoft.com/office/drawing/2014/main" id="{27BA37AC-64E7-4C00-8169-5D0F889B591D}"/>
              </a:ext>
            </a:extLst>
          </p:cNvPr>
          <p:cNvSpPr txBox="1"/>
          <p:nvPr/>
        </p:nvSpPr>
        <p:spPr>
          <a:xfrm>
            <a:off x="7620000" y="1838028"/>
            <a:ext cx="242824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2600" dirty="0">
                <a:solidFill>
                  <a:srgbClr val="FF0000"/>
                </a:solidFill>
                <a:latin typeface="Times New Roman"/>
                <a:cs typeface="Times New Roman"/>
              </a:rPr>
              <a:t>Algorithm</a:t>
            </a:r>
            <a:endParaRPr sz="2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24200" y="152400"/>
            <a:ext cx="6065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i="0" spc="-10" dirty="0"/>
              <a:t>Operations</a:t>
            </a:r>
            <a:r>
              <a:rPr i="0" spc="-50" dirty="0"/>
              <a:t> </a:t>
            </a:r>
            <a:r>
              <a:rPr i="0" spc="-20" dirty="0"/>
              <a:t>in</a:t>
            </a:r>
            <a:r>
              <a:rPr i="0" spc="-10" dirty="0"/>
              <a:t> </a:t>
            </a:r>
            <a:r>
              <a:rPr i="0" spc="-75" dirty="0"/>
              <a:t>Priority</a:t>
            </a:r>
            <a:r>
              <a:rPr i="0" spc="-35" dirty="0"/>
              <a:t> </a:t>
            </a:r>
            <a:r>
              <a:rPr i="0" spc="20" dirty="0"/>
              <a:t>Queue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14601" y="787401"/>
            <a:ext cx="7615555" cy="4725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86385" indent="-274320">
              <a:spcBef>
                <a:spcPts val="56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lang="en-US" sz="2600" b="1" spc="-30" dirty="0">
                <a:latin typeface="Times New Roman"/>
                <a:cs typeface="Times New Roman"/>
              </a:rPr>
              <a:t>Dequeue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b="1" spc="-60" dirty="0">
                <a:latin typeface="Times New Roman"/>
                <a:cs typeface="Times New Roman"/>
              </a:rPr>
              <a:t>element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b="1" spc="-30" dirty="0">
                <a:latin typeface="Times New Roman"/>
                <a:cs typeface="Times New Roman"/>
              </a:rPr>
              <a:t>f</a:t>
            </a:r>
            <a:r>
              <a:rPr sz="2600" b="1" spc="-80" dirty="0">
                <a:latin typeface="Times New Roman"/>
                <a:cs typeface="Times New Roman"/>
              </a:rPr>
              <a:t>r</a:t>
            </a:r>
            <a:r>
              <a:rPr sz="2600" b="1" spc="-170" dirty="0">
                <a:latin typeface="Times New Roman"/>
                <a:cs typeface="Times New Roman"/>
              </a:rPr>
              <a:t>om</a:t>
            </a:r>
            <a:r>
              <a:rPr sz="2600" b="1" spc="-7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-70" dirty="0">
                <a:latin typeface="Times New Roman"/>
                <a:cs typeface="Times New Roman"/>
              </a:rPr>
              <a:t>P</a:t>
            </a:r>
            <a:r>
              <a:rPr sz="2600" b="1" spc="-60" dirty="0">
                <a:latin typeface="Times New Roman"/>
                <a:cs typeface="Times New Roman"/>
              </a:rPr>
              <a:t>r</a:t>
            </a:r>
            <a:r>
              <a:rPr sz="2600" b="1" spc="-25" dirty="0">
                <a:latin typeface="Times New Roman"/>
                <a:cs typeface="Times New Roman"/>
              </a:rPr>
              <a:t>iority</a:t>
            </a:r>
            <a:r>
              <a:rPr sz="2600" b="1" spc="-90" dirty="0">
                <a:latin typeface="Times New Roman"/>
                <a:cs typeface="Times New Roman"/>
              </a:rPr>
              <a:t> </a:t>
            </a:r>
            <a:r>
              <a:rPr sz="2600" b="1" spc="-120" dirty="0">
                <a:latin typeface="Times New Roman"/>
                <a:cs typeface="Times New Roman"/>
              </a:rPr>
              <a:t>Que</a:t>
            </a:r>
            <a:r>
              <a:rPr sz="2600" b="1" spc="-114" dirty="0">
                <a:latin typeface="Times New Roman"/>
                <a:cs typeface="Times New Roman"/>
              </a:rPr>
              <a:t>u</a:t>
            </a:r>
            <a:r>
              <a:rPr sz="2600" b="1" spc="-100" dirty="0">
                <a:latin typeface="Times New Roman"/>
                <a:cs typeface="Times New Roman"/>
              </a:rPr>
              <a:t>e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B0FC0-A239-4B5D-AA92-F9BCC69D2917}"/>
              </a:ext>
            </a:extLst>
          </p:cNvPr>
          <p:cNvSpPr txBox="1"/>
          <p:nvPr/>
        </p:nvSpPr>
        <p:spPr>
          <a:xfrm>
            <a:off x="2041792" y="1259966"/>
            <a:ext cx="9209914" cy="5632311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</a:rPr>
              <a:t>void del (pq *q)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int i, temp=0, x;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x=q-&gt;item[q-&gt;front];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if(q-&gt;rear&lt;q-&gt;front) {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printf("Queue is empty\n");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return 0;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else{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for(i =q-&gt;front+1; i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&lt;</a:t>
            </a:r>
            <a:r>
              <a:rPr lang="en-US" sz="2200" dirty="0">
                <a:latin typeface="Times New Roman" panose="02020603050405020304" pitchFamily="18" charset="0"/>
              </a:rPr>
              <a:t> q-&gt;rear; i++)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if(x&gt;q-&gt;item[i])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{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temp= </a:t>
            </a:r>
            <a:r>
              <a:rPr lang="en-US" sz="2200" dirty="0" err="1">
                <a:latin typeface="Times New Roman" panose="02020603050405020304" pitchFamily="18" charset="0"/>
              </a:rPr>
              <a:t>i</a:t>
            </a:r>
            <a:r>
              <a:rPr lang="en-US" sz="2200" dirty="0">
                <a:latin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x=q-&gt;item[i];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	}</a:t>
            </a:r>
          </a:p>
          <a:p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</a:rPr>
              <a:t>}</a:t>
            </a:r>
          </a:p>
          <a:p>
            <a:endParaRPr lang="en-US" sz="2200" dirty="0">
              <a:latin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</a:rPr>
              <a:t>for(i= temp; i&lt; q-&gt;rear-1; i++)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q-&gt;item[i]=q-&gt;item[i+1];</a:t>
            </a:r>
          </a:p>
          <a:p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q-&gt;rear--;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return x;</a:t>
            </a:r>
          </a:p>
          <a:p>
            <a:r>
              <a:rPr lang="en-US" sz="2200" dirty="0">
                <a:latin typeface="Times New Roman" panose="02020603050405020304" pitchFamily="18" charset="0"/>
              </a:rPr>
              <a:t>}</a:t>
            </a:r>
          </a:p>
          <a:p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86000" y="490854"/>
            <a:ext cx="7096632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i="0" dirty="0"/>
              <a:t>Application of Priority Queue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17445" y="1328674"/>
            <a:ext cx="7616825" cy="1862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indent="-274320" algn="just">
              <a:spcBef>
                <a:spcPts val="105"/>
              </a:spcBef>
              <a:buClr>
                <a:srgbClr val="4F81BC"/>
              </a:buClr>
              <a:buSzPct val="84615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/>
                <a:cs typeface="Times New Roman"/>
              </a:rPr>
              <a:t>Priority queues are used in many computing applications.</a:t>
            </a:r>
          </a:p>
          <a:p>
            <a:pPr marL="560705" marR="5080" lvl="1" indent="-228600" algn="just">
              <a:lnSpc>
                <a:spcPct val="90100"/>
              </a:lnSpc>
              <a:spcBef>
                <a:spcPts val="409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561340" algn="l"/>
              </a:tabLst>
            </a:pPr>
            <a:r>
              <a:rPr sz="2400" dirty="0">
                <a:latin typeface="Times New Roman"/>
                <a:cs typeface="Times New Roman"/>
              </a:rPr>
              <a:t>For example, many operating systems uses a scheduling algorithm where  the next process executed is the one with the shortest execution time or  the highest priority.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37433" y="3160598"/>
            <a:ext cx="7296784" cy="235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  <a:tab pos="1539875" algn="l"/>
                <a:tab pos="4731385" algn="l"/>
              </a:tabLst>
            </a:pPr>
            <a:r>
              <a:rPr sz="2400" dirty="0">
                <a:latin typeface="Times New Roman"/>
                <a:cs typeface="Times New Roman"/>
              </a:rPr>
              <a:t>For another	example, consider the problem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sorting a file of data</a:t>
            </a: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representing persons.</a:t>
            </a:r>
          </a:p>
          <a:p>
            <a:pPr marL="515620" lvl="1" indent="-229235">
              <a:spcBef>
                <a:spcPts val="195"/>
              </a:spcBef>
              <a:buClr>
                <a:srgbClr val="B1C1DB"/>
              </a:buClr>
              <a:buSzPct val="85000"/>
              <a:buFont typeface="Segoe UI Symbol"/>
              <a:buChar char="⚫"/>
              <a:tabLst>
                <a:tab pos="515620" algn="l"/>
              </a:tabLst>
            </a:pPr>
            <a:r>
              <a:rPr sz="2000" dirty="0">
                <a:latin typeface="Times New Roman"/>
                <a:cs typeface="Times New Roman"/>
              </a:rPr>
              <a:t>We can first add all the persons to a queue</a:t>
            </a:r>
          </a:p>
          <a:p>
            <a:pPr marL="515620" lvl="1" indent="-229235">
              <a:spcBef>
                <a:spcPts val="170"/>
              </a:spcBef>
              <a:buClr>
                <a:srgbClr val="B1C1DB"/>
              </a:buClr>
              <a:buSzPct val="85000"/>
              <a:buFont typeface="Segoe UI Symbol"/>
              <a:buChar char="⚫"/>
              <a:tabLst>
                <a:tab pos="515620" algn="l"/>
              </a:tabLst>
            </a:pPr>
            <a:r>
              <a:rPr sz="2000" dirty="0">
                <a:latin typeface="Times New Roman"/>
                <a:cs typeface="Times New Roman"/>
              </a:rPr>
              <a:t>Sort data in certain order according to the specified priority, and then</a:t>
            </a:r>
          </a:p>
          <a:p>
            <a:pPr marL="515620" lvl="1" indent="-229235">
              <a:spcBef>
                <a:spcPts val="155"/>
              </a:spcBef>
              <a:buClr>
                <a:srgbClr val="B1C1DB"/>
              </a:buClr>
              <a:buSzPct val="85000"/>
              <a:buFont typeface="Segoe UI Symbol"/>
              <a:buChar char="⚫"/>
              <a:tabLst>
                <a:tab pos="515620" algn="l"/>
              </a:tabLst>
            </a:pPr>
            <a:r>
              <a:rPr sz="2000" dirty="0">
                <a:latin typeface="Times New Roman"/>
                <a:cs typeface="Times New Roman"/>
              </a:rPr>
              <a:t>Remove them in turn from the priority queue (front element first).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37434" y="5278323"/>
            <a:ext cx="7292975" cy="105477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Clr>
                <a:srgbClr val="C0504D"/>
              </a:buClr>
              <a:buSzPct val="85416"/>
              <a:buFont typeface="Segoe UI Symbol"/>
              <a:buChar char="⚫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The best application of priority queue is observed in CPU scheduling. A  short job is given higher priority over the longer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</TotalTime>
  <Words>2280</Words>
  <Application>Microsoft Office PowerPoint</Application>
  <PresentationFormat>Widescreen</PresentationFormat>
  <Paragraphs>306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Calibri</vt:lpstr>
      <vt:lpstr>Cambria Math</vt:lpstr>
      <vt:lpstr>Comic Sans MS</vt:lpstr>
      <vt:lpstr>Franklin Gothic Medium</vt:lpstr>
      <vt:lpstr>Segoe UI Symbol</vt:lpstr>
      <vt:lpstr>Times New Roman</vt:lpstr>
      <vt:lpstr>Trebuchet MS</vt:lpstr>
      <vt:lpstr>Office Theme</vt:lpstr>
      <vt:lpstr>UNIT 3</vt:lpstr>
      <vt:lpstr>Queue</vt:lpstr>
      <vt:lpstr>Queue Representation</vt:lpstr>
      <vt:lpstr>Queue Representation</vt:lpstr>
      <vt:lpstr>Stack vs. Queue Representation</vt:lpstr>
      <vt:lpstr>Queue Operations</vt:lpstr>
      <vt:lpstr>Queue as an ADT</vt:lpstr>
      <vt:lpstr>Queue Implementation</vt:lpstr>
      <vt:lpstr>Queue Implementation</vt:lpstr>
      <vt:lpstr>Queue Implementation</vt:lpstr>
      <vt:lpstr>Queue Implementation</vt:lpstr>
      <vt:lpstr>Problem with Linear queue Why Circular Queue?</vt:lpstr>
      <vt:lpstr>Possible solution</vt:lpstr>
      <vt:lpstr>Circular Queue</vt:lpstr>
      <vt:lpstr>Operations in Circular Queue</vt:lpstr>
      <vt:lpstr>Operations in Circular Queue</vt:lpstr>
      <vt:lpstr>Operations in Circular Queue</vt:lpstr>
      <vt:lpstr>Operations in Circular Queue</vt:lpstr>
      <vt:lpstr>Operations in Circular Queue</vt:lpstr>
      <vt:lpstr>Linear Queue vs. Circular Queue</vt:lpstr>
      <vt:lpstr>Applications of Queue</vt:lpstr>
      <vt:lpstr>Priority Queue</vt:lpstr>
      <vt:lpstr>Priority Queue</vt:lpstr>
      <vt:lpstr>Characteristics of Priority Queue</vt:lpstr>
      <vt:lpstr>Types of Priority Queue</vt:lpstr>
      <vt:lpstr>Types of Priority Queue</vt:lpstr>
      <vt:lpstr>Types of Priority Queue</vt:lpstr>
      <vt:lpstr>Operations in Priority Queue</vt:lpstr>
      <vt:lpstr>Operations in Priority Queue</vt:lpstr>
      <vt:lpstr>Application of Priority Queue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Saurav</dc:creator>
  <cp:lastModifiedBy>Mathreea</cp:lastModifiedBy>
  <cp:revision>36</cp:revision>
  <dcterms:created xsi:type="dcterms:W3CDTF">2023-05-30T15:08:22Z</dcterms:created>
  <dcterms:modified xsi:type="dcterms:W3CDTF">2025-05-12T15:49:38Z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2023-05-30T00:00:00Z</vt:filetime>
  </property>
</Properties>
</file>