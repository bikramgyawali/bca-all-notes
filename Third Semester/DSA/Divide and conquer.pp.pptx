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12" autoAdjust="0"/>
    <p:restoredTop sz="94585" autoAdjust="0"/>
  </p:normalViewPr>
  <p:slideViewPr>
    <p:cSldViewPr>
      <p:cViewPr varScale="1">
        <p:scale>
          <a:sx n="73" d="100"/>
          <a:sy n="73" d="100"/>
        </p:scale>
        <p:origin x="-124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BFA3D-68B4-4BB6-83A8-723B8EF686CB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D4CDA-2885-4DD4-A2EE-F4BF036F59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1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31984A1-EFF7-4B03-AA66-C8BB74D50078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081A541-A997-41F4-9635-49C80B0F651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762000"/>
          </a:xfrm>
        </p:spPr>
        <p:txBody>
          <a:bodyPr/>
          <a:lstStyle/>
          <a:p>
            <a:r>
              <a:rPr lang="en-US" dirty="0" smtClean="0"/>
              <a:t>Divide and Conquer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0" y="6096000"/>
            <a:ext cx="1600200" cy="278922"/>
          </a:xfrm>
        </p:spPr>
        <p:txBody>
          <a:bodyPr>
            <a:normAutofit fontScale="62500" lnSpcReduction="20000"/>
          </a:bodyPr>
          <a:lstStyle/>
          <a:p>
            <a:r>
              <a:rPr lang="en-US" smtClean="0"/>
              <a:t>By  Sunita</a:t>
            </a:r>
            <a:r>
              <a:rPr lang="en-US" dirty="0" smtClean="0"/>
              <a:t> </a:t>
            </a:r>
            <a:r>
              <a:rPr lang="en-US" dirty="0" err="1"/>
              <a:t>T</a:t>
            </a:r>
            <a:r>
              <a:rPr lang="en-US" dirty="0" err="1" smtClean="0"/>
              <a:t>amang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9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contents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Introduction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Characteristics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How Divide and Conquer Algorithms Work</a:t>
            </a:r>
            <a:r>
              <a:rPr lang="en-US" dirty="0" smtClean="0"/>
              <a:t>?</a:t>
            </a:r>
            <a:endParaRPr lang="en-US" b="1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 </a:t>
            </a:r>
            <a:r>
              <a:rPr lang="en-US" dirty="0" smtClean="0"/>
              <a:t>Merge Sort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Quick Sort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658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685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Introduction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09600"/>
            <a:ext cx="7467600" cy="5864352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A divide and conquer algorithm is a strategy of solving a large problem </a:t>
            </a:r>
            <a:r>
              <a:rPr lang="en-US" dirty="0" smtClean="0"/>
              <a:t>by: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breaking the problem into smaller sub-problems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solving the sub-problems, and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combining them to get the desired output.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To use the divide and conquer algorithm, recursion is </a:t>
            </a:r>
            <a:r>
              <a:rPr lang="en-US" dirty="0" smtClean="0"/>
              <a:t>used.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6341219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2800" b="1" dirty="0"/>
              <a:t>C</a:t>
            </a:r>
            <a:r>
              <a:rPr lang="en-US" sz="2800" b="1" dirty="0" smtClean="0"/>
              <a:t>haracteristics </a:t>
            </a:r>
            <a:r>
              <a:rPr lang="en-US" sz="2800" b="1" dirty="0"/>
              <a:t>of Divide and Conquer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Recursion</a:t>
            </a:r>
            <a:r>
              <a:rPr lang="en-US" b="1" dirty="0"/>
              <a:t>:</a:t>
            </a:r>
            <a:r>
              <a:rPr lang="en-US" dirty="0"/>
              <a:t> Often uses recursion to divide and solve sub-problems.</a:t>
            </a:r>
          </a:p>
          <a:p>
            <a:r>
              <a:rPr lang="en-US" b="1" dirty="0"/>
              <a:t>Efficiency:</a:t>
            </a:r>
            <a:r>
              <a:rPr lang="en-US" dirty="0"/>
              <a:t> Reduces problem complexity by breaking it down.</a:t>
            </a:r>
          </a:p>
          <a:p>
            <a:r>
              <a:rPr lang="en-US" b="1" dirty="0"/>
              <a:t>Independent Sub-Problems:</a:t>
            </a:r>
            <a:r>
              <a:rPr lang="en-US" dirty="0"/>
              <a:t> Sub-problems are solved independently before combining the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18616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How Divide and Conquer Algorithms Work?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Here are the steps involved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b="1" dirty="0"/>
              <a:t>Divide</a:t>
            </a:r>
            <a:r>
              <a:rPr lang="en-US" dirty="0"/>
              <a:t>: Divide the given problem into sub-problems using recursion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b="1" dirty="0"/>
              <a:t>Conquer</a:t>
            </a:r>
            <a:r>
              <a:rPr lang="en-US" dirty="0"/>
              <a:t>: Solve the smaller sub-problems recursively. If the </a:t>
            </a:r>
            <a:r>
              <a:rPr lang="en-US" dirty="0" smtClean="0"/>
              <a:t>sub-problem </a:t>
            </a:r>
            <a:r>
              <a:rPr lang="en-US" dirty="0"/>
              <a:t>is small enough, then solve it directly.</a:t>
            </a:r>
          </a:p>
          <a:p>
            <a:pPr>
              <a:buFont typeface="Wingdings" pitchFamily="2" charset="2"/>
              <a:buChar char="ü"/>
            </a:pPr>
            <a:r>
              <a:rPr lang="en-US" b="1" dirty="0"/>
              <a:t>Combine:</a:t>
            </a:r>
            <a:r>
              <a:rPr lang="en-US" dirty="0"/>
              <a:t> Combine the solutions of the sub-problems that are part of the recursive process to solve the actual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17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Let us take the examples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1.Merge sort  :</a:t>
            </a:r>
            <a:r>
              <a:rPr lang="en-US" dirty="0"/>
              <a:t>Divides the array, sorts parts, and merges.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Let the given array be: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Divide the array into two halves or sub parts.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244465"/>
              </p:ext>
            </p:extLst>
          </p:nvPr>
        </p:nvGraphicFramePr>
        <p:xfrm>
          <a:off x="685800" y="2057400"/>
          <a:ext cx="3048000" cy="365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28956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631564"/>
              </p:ext>
            </p:extLst>
          </p:nvPr>
        </p:nvGraphicFramePr>
        <p:xfrm>
          <a:off x="4114800" y="3276600"/>
          <a:ext cx="3048000" cy="523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5232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454690"/>
              </p:ext>
            </p:extLst>
          </p:nvPr>
        </p:nvGraphicFramePr>
        <p:xfrm>
          <a:off x="2667000" y="4953000"/>
          <a:ext cx="20574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Straight Arrow Connector 10"/>
          <p:cNvCxnSpPr>
            <a:stCxn id="8" idx="2"/>
          </p:cNvCxnSpPr>
          <p:nvPr/>
        </p:nvCxnSpPr>
        <p:spPr>
          <a:xfrm flipH="1">
            <a:off x="4038600" y="3799840"/>
            <a:ext cx="1600200" cy="10769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2"/>
          </p:cNvCxnSpPr>
          <p:nvPr/>
        </p:nvCxnSpPr>
        <p:spPr>
          <a:xfrm>
            <a:off x="5638800" y="3799840"/>
            <a:ext cx="1371600" cy="10769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40351"/>
              </p:ext>
            </p:extLst>
          </p:nvPr>
        </p:nvGraphicFramePr>
        <p:xfrm>
          <a:off x="5829300" y="5029200"/>
          <a:ext cx="20193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/>
                <a:gridCol w="673100"/>
                <a:gridCol w="673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82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" y="228599"/>
            <a:ext cx="9067800" cy="664029"/>
          </a:xfrm>
        </p:spPr>
        <p:txBody>
          <a:bodyPr>
            <a:noAutofit/>
          </a:bodyPr>
          <a:lstStyle/>
          <a:p>
            <a:r>
              <a:rPr lang="en-US" sz="2000" dirty="0" smtClean="0"/>
              <a:t>Again, divide each subparts recursively into two halves until you get individual elements.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56360690"/>
              </p:ext>
            </p:extLst>
          </p:nvPr>
        </p:nvGraphicFramePr>
        <p:xfrm>
          <a:off x="2209800" y="838200"/>
          <a:ext cx="3352800" cy="38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69070"/>
              </p:ext>
            </p:extLst>
          </p:nvPr>
        </p:nvGraphicFramePr>
        <p:xfrm>
          <a:off x="133350" y="1927274"/>
          <a:ext cx="19812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400"/>
                <a:gridCol w="660400"/>
                <a:gridCol w="660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76208"/>
              </p:ext>
            </p:extLst>
          </p:nvPr>
        </p:nvGraphicFramePr>
        <p:xfrm>
          <a:off x="5086350" y="1981200"/>
          <a:ext cx="18288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/>
                <a:gridCol w="609600"/>
                <a:gridCol w="6096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H="1">
            <a:off x="1964494" y="1241474"/>
            <a:ext cx="1905000" cy="5873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875356" y="1219200"/>
            <a:ext cx="16002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639284"/>
              </p:ext>
            </p:extLst>
          </p:nvPr>
        </p:nvGraphicFramePr>
        <p:xfrm>
          <a:off x="187063" y="3214468"/>
          <a:ext cx="1221546" cy="38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773"/>
                <a:gridCol w="610773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41023"/>
              </p:ext>
            </p:extLst>
          </p:nvPr>
        </p:nvGraphicFramePr>
        <p:xfrm>
          <a:off x="3989656" y="3376833"/>
          <a:ext cx="14859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950"/>
                <a:gridCol w="74295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91790"/>
              </p:ext>
            </p:extLst>
          </p:nvPr>
        </p:nvGraphicFramePr>
        <p:xfrm>
          <a:off x="6915150" y="3414933"/>
          <a:ext cx="381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19305"/>
              </p:ext>
            </p:extLst>
          </p:nvPr>
        </p:nvGraphicFramePr>
        <p:xfrm>
          <a:off x="1937531" y="3215640"/>
          <a:ext cx="381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1032509" y="2303585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36892" y="2286000"/>
            <a:ext cx="610772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886325" y="2431953"/>
            <a:ext cx="9525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2"/>
          </p:cNvCxnSpPr>
          <p:nvPr/>
        </p:nvCxnSpPr>
        <p:spPr>
          <a:xfrm>
            <a:off x="6000750" y="2377440"/>
            <a:ext cx="914400" cy="9993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371289"/>
              </p:ext>
            </p:extLst>
          </p:nvPr>
        </p:nvGraphicFramePr>
        <p:xfrm>
          <a:off x="92539" y="4994617"/>
          <a:ext cx="3429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724915"/>
              </p:ext>
            </p:extLst>
          </p:nvPr>
        </p:nvGraphicFramePr>
        <p:xfrm>
          <a:off x="1146809" y="4966482"/>
          <a:ext cx="3429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233473"/>
              </p:ext>
            </p:extLst>
          </p:nvPr>
        </p:nvGraphicFramePr>
        <p:xfrm>
          <a:off x="3443654" y="5006340"/>
          <a:ext cx="304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040449"/>
              </p:ext>
            </p:extLst>
          </p:nvPr>
        </p:nvGraphicFramePr>
        <p:xfrm>
          <a:off x="5191125" y="4994617"/>
          <a:ext cx="3429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Straight Arrow Connector 29"/>
          <p:cNvCxnSpPr>
            <a:stCxn id="12" idx="2"/>
            <a:endCxn id="25" idx="0"/>
          </p:cNvCxnSpPr>
          <p:nvPr/>
        </p:nvCxnSpPr>
        <p:spPr>
          <a:xfrm flipH="1">
            <a:off x="263989" y="3595468"/>
            <a:ext cx="533847" cy="13991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6" idx="0"/>
          </p:cNvCxnSpPr>
          <p:nvPr/>
        </p:nvCxnSpPr>
        <p:spPr>
          <a:xfrm>
            <a:off x="728003" y="3613053"/>
            <a:ext cx="590256" cy="13534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771900" y="3753730"/>
            <a:ext cx="74295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987143" y="3753730"/>
            <a:ext cx="281061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786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Now, combine the individual elements in a sorted manner. Here conquer and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combine steps go side by side.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01979947"/>
              </p:ext>
            </p:extLst>
          </p:nvPr>
        </p:nvGraphicFramePr>
        <p:xfrm>
          <a:off x="609600" y="1981200"/>
          <a:ext cx="5334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6091"/>
              </p:ext>
            </p:extLst>
          </p:nvPr>
        </p:nvGraphicFramePr>
        <p:xfrm>
          <a:off x="1524000" y="1981200"/>
          <a:ext cx="4572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822502"/>
              </p:ext>
            </p:extLst>
          </p:nvPr>
        </p:nvGraphicFramePr>
        <p:xfrm>
          <a:off x="762000" y="3048000"/>
          <a:ext cx="1143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/>
                <a:gridCol w="5715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606"/>
              </p:ext>
            </p:extLst>
          </p:nvPr>
        </p:nvGraphicFramePr>
        <p:xfrm>
          <a:off x="2514600" y="1981200"/>
          <a:ext cx="381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814621"/>
              </p:ext>
            </p:extLst>
          </p:nvPr>
        </p:nvGraphicFramePr>
        <p:xfrm>
          <a:off x="1371600" y="4191000"/>
          <a:ext cx="20574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685800"/>
                <a:gridCol w="6858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71659"/>
              </p:ext>
            </p:extLst>
          </p:nvPr>
        </p:nvGraphicFramePr>
        <p:xfrm>
          <a:off x="3886200" y="1981200"/>
          <a:ext cx="381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424895"/>
              </p:ext>
            </p:extLst>
          </p:nvPr>
        </p:nvGraphicFramePr>
        <p:xfrm>
          <a:off x="4572000" y="1981200"/>
          <a:ext cx="381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16777"/>
              </p:ext>
            </p:extLst>
          </p:nvPr>
        </p:nvGraphicFramePr>
        <p:xfrm>
          <a:off x="5486400" y="1981200"/>
          <a:ext cx="381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885119"/>
              </p:ext>
            </p:extLst>
          </p:nvPr>
        </p:nvGraphicFramePr>
        <p:xfrm>
          <a:off x="3733800" y="2895600"/>
          <a:ext cx="9144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572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21457"/>
              </p:ext>
            </p:extLst>
          </p:nvPr>
        </p:nvGraphicFramePr>
        <p:xfrm>
          <a:off x="4419600" y="4114800"/>
          <a:ext cx="20574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685800"/>
                <a:gridCol w="6858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25555"/>
              </p:ext>
            </p:extLst>
          </p:nvPr>
        </p:nvGraphicFramePr>
        <p:xfrm>
          <a:off x="2438400" y="5486400"/>
          <a:ext cx="3581400" cy="47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900"/>
                <a:gridCol w="596900"/>
                <a:gridCol w="596900"/>
                <a:gridCol w="596900"/>
                <a:gridCol w="596900"/>
                <a:gridCol w="596900"/>
              </a:tblGrid>
              <a:tr h="4724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914400" y="2362200"/>
            <a:ext cx="2286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524000" y="2362200"/>
            <a:ext cx="3810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0"/>
          </p:cNvCxnSpPr>
          <p:nvPr/>
        </p:nvCxnSpPr>
        <p:spPr>
          <a:xfrm flipH="1">
            <a:off x="2400300" y="2362200"/>
            <a:ext cx="419100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295400" y="3429000"/>
            <a:ext cx="9906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400300" y="4572000"/>
            <a:ext cx="13335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962400" y="2362200"/>
            <a:ext cx="152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4419600" y="2362200"/>
            <a:ext cx="2286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5257800" y="2362200"/>
            <a:ext cx="304800" cy="1752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114800" y="3276600"/>
            <a:ext cx="9906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4533900" y="4572000"/>
            <a:ext cx="8763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92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09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Quick Sort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problems: same as Merge </a:t>
            </a:r>
            <a:r>
              <a:rPr lang="en-US" sz="2000" dirty="0"/>
              <a:t>sort. Divides the array into partitions, sorts each, and combines.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 Compared with Merge Sort:</a:t>
            </a:r>
          </a:p>
          <a:p>
            <a:pPr marL="0" indent="0">
              <a:buNone/>
            </a:pPr>
            <a:endParaRPr lang="en-US" sz="2000" dirty="0" smtClean="0"/>
          </a:p>
          <a:p>
            <a:pPr lvl="3"/>
            <a:r>
              <a:rPr lang="en-US" dirty="0" smtClean="0"/>
              <a:t> </a:t>
            </a:r>
            <a:r>
              <a:rPr lang="en-US" sz="2000" dirty="0" smtClean="0"/>
              <a:t>Quick sort also use Divide and Conquer strategy.</a:t>
            </a:r>
          </a:p>
          <a:p>
            <a:pPr lvl="3"/>
            <a:r>
              <a:rPr lang="en-US" sz="2000" dirty="0" smtClean="0"/>
              <a:t> Quick sort eliminates merging operations.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6598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304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For example: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685800"/>
            <a:ext cx="8686800" cy="6019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Sort array: 65,70,75,80,85,60,55,50,45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567766"/>
              </p:ext>
            </p:extLst>
          </p:nvPr>
        </p:nvGraphicFramePr>
        <p:xfrm>
          <a:off x="1752600" y="1447800"/>
          <a:ext cx="4191003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  <a:gridCol w="465667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397449"/>
              </p:ext>
            </p:extLst>
          </p:nvPr>
        </p:nvGraphicFramePr>
        <p:xfrm>
          <a:off x="228600" y="2590800"/>
          <a:ext cx="2209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450"/>
                <a:gridCol w="552450"/>
                <a:gridCol w="552450"/>
                <a:gridCol w="5524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647688"/>
              </p:ext>
            </p:extLst>
          </p:nvPr>
        </p:nvGraphicFramePr>
        <p:xfrm>
          <a:off x="5334000" y="2667000"/>
          <a:ext cx="2133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84490"/>
              </p:ext>
            </p:extLst>
          </p:nvPr>
        </p:nvGraphicFramePr>
        <p:xfrm>
          <a:off x="228601" y="3886200"/>
          <a:ext cx="1905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000"/>
                <a:gridCol w="635000"/>
                <a:gridCol w="63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455542"/>
              </p:ext>
            </p:extLst>
          </p:nvPr>
        </p:nvGraphicFramePr>
        <p:xfrm>
          <a:off x="5715000" y="3810000"/>
          <a:ext cx="1905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000"/>
                <a:gridCol w="635000"/>
                <a:gridCol w="63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851565"/>
              </p:ext>
            </p:extLst>
          </p:nvPr>
        </p:nvGraphicFramePr>
        <p:xfrm>
          <a:off x="6781800" y="4876800"/>
          <a:ext cx="1143000" cy="44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/>
                <a:gridCol w="571500"/>
              </a:tblGrid>
              <a:tr h="447040"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61333"/>
              </p:ext>
            </p:extLst>
          </p:nvPr>
        </p:nvGraphicFramePr>
        <p:xfrm>
          <a:off x="304800" y="5181600"/>
          <a:ext cx="1143000" cy="44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/>
                <a:gridCol w="571500"/>
              </a:tblGrid>
              <a:tr h="447040"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19451"/>
              </p:ext>
            </p:extLst>
          </p:nvPr>
        </p:nvGraphicFramePr>
        <p:xfrm>
          <a:off x="533400" y="6248400"/>
          <a:ext cx="609600" cy="4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607346"/>
              </p:ext>
            </p:extLst>
          </p:nvPr>
        </p:nvGraphicFramePr>
        <p:xfrm>
          <a:off x="7162800" y="6019800"/>
          <a:ext cx="609600" cy="4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/>
              </a:tblGrid>
              <a:tr h="411480"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231936"/>
              </p:ext>
            </p:extLst>
          </p:nvPr>
        </p:nvGraphicFramePr>
        <p:xfrm>
          <a:off x="3429000" y="2667000"/>
          <a:ext cx="76200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  65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389370"/>
              </p:ext>
            </p:extLst>
          </p:nvPr>
        </p:nvGraphicFramePr>
        <p:xfrm>
          <a:off x="2971800" y="3810000"/>
          <a:ext cx="18288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979254"/>
              </p:ext>
            </p:extLst>
          </p:nvPr>
        </p:nvGraphicFramePr>
        <p:xfrm>
          <a:off x="2819400" y="4876800"/>
          <a:ext cx="259080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160"/>
                <a:gridCol w="518160"/>
                <a:gridCol w="518160"/>
                <a:gridCol w="518160"/>
                <a:gridCol w="51816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106091"/>
              </p:ext>
            </p:extLst>
          </p:nvPr>
        </p:nvGraphicFramePr>
        <p:xfrm>
          <a:off x="2895600" y="6019800"/>
          <a:ext cx="2895600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/>
                <a:gridCol w="482600"/>
                <a:gridCol w="482600"/>
                <a:gridCol w="482600"/>
                <a:gridCol w="482600"/>
                <a:gridCol w="482600"/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flipH="1">
            <a:off x="1981200" y="1828800"/>
            <a:ext cx="16002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14800" y="1828800"/>
            <a:ext cx="1524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7" idx="0"/>
          </p:cNvCxnSpPr>
          <p:nvPr/>
        </p:nvCxnSpPr>
        <p:spPr>
          <a:xfrm flipH="1">
            <a:off x="1181101" y="3048000"/>
            <a:ext cx="800099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867400" y="3048000"/>
            <a:ext cx="6858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76300" y="4343400"/>
            <a:ext cx="5715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781800" y="4191000"/>
            <a:ext cx="5715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1" idx="0"/>
          </p:cNvCxnSpPr>
          <p:nvPr/>
        </p:nvCxnSpPr>
        <p:spPr>
          <a:xfrm flipH="1">
            <a:off x="838200" y="5715000"/>
            <a:ext cx="342901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7353300" y="5334000"/>
            <a:ext cx="266700" cy="647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609600" y="5715000"/>
            <a:ext cx="0" cy="190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609600" y="4343400"/>
            <a:ext cx="0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609600" y="3048000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638800" y="3048000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6019800" y="4248150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7067550" y="5495926"/>
            <a:ext cx="0" cy="219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981200" y="1828800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21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Conclusion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Divide and Conquer is an efficient problem-solving technique that splits a problem into manageable sub-problems.</a:t>
            </a:r>
          </a:p>
          <a:p>
            <a:r>
              <a:rPr lang="en-US" dirty="0"/>
              <a:t>Used in many important algorithms, it improves efficiency, especially for large data 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6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258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40715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400" dirty="0" smtClean="0">
                <a:latin typeface="Algerian" pitchFamily="82" charset="0"/>
              </a:rPr>
              <a:t>              Thank you</a:t>
            </a:r>
            <a:endParaRPr lang="en-US" sz="4400" dirty="0">
              <a:latin typeface="Algerian" pitchFamily="82" charset="0"/>
            </a:endParaRPr>
          </a:p>
        </p:txBody>
      </p:sp>
      <p:sp>
        <p:nvSpPr>
          <p:cNvPr id="4" name="Smiley Face 3"/>
          <p:cNvSpPr/>
          <p:nvPr/>
        </p:nvSpPr>
        <p:spPr>
          <a:xfrm>
            <a:off x="5867400" y="2819400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9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412</TotalTime>
  <Words>360</Words>
  <Application>Microsoft Office PowerPoint</Application>
  <PresentationFormat>On-screen Show (4:3)</PresentationFormat>
  <Paragraphs>159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Oriel</vt:lpstr>
      <vt:lpstr>Divide and Conquer</vt:lpstr>
      <vt:lpstr>contents</vt:lpstr>
      <vt:lpstr>Introduction</vt:lpstr>
      <vt:lpstr>  Characteristics of Divide and Conquer </vt:lpstr>
      <vt:lpstr>How Divide and Conquer Algorithms Work? </vt:lpstr>
      <vt:lpstr>Let us take the examples</vt:lpstr>
      <vt:lpstr>Again, divide each subparts recursively into two halves until you get individual elements.</vt:lpstr>
      <vt:lpstr>Now, combine the individual elements in a sorted manner. Here conquer and combine steps go side by side.</vt:lpstr>
      <vt:lpstr>Quick Sort</vt:lpstr>
      <vt:lpstr>For example: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admin</dc:creator>
  <cp:lastModifiedBy>admin</cp:lastModifiedBy>
  <cp:revision>42</cp:revision>
  <dcterms:created xsi:type="dcterms:W3CDTF">2025-04-05T04:33:25Z</dcterms:created>
  <dcterms:modified xsi:type="dcterms:W3CDTF">2025-04-07T07:12:12Z</dcterms:modified>
</cp:coreProperties>
</file>