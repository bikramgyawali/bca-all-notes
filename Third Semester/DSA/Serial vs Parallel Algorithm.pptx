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8" r:id="rId6"/>
    <p:sldId id="264" r:id="rId7"/>
    <p:sldId id="260" r:id="rId8"/>
    <p:sldId id="270" r:id="rId9"/>
    <p:sldId id="262" r:id="rId10"/>
    <p:sldId id="267" r:id="rId11"/>
    <p:sldId id="261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1393D4-7A5A-40A1-9FA1-CA5C1390DD67}">
          <p14:sldIdLst>
            <p14:sldId id="256"/>
            <p14:sldId id="257"/>
            <p14:sldId id="258"/>
            <p14:sldId id="268"/>
            <p14:sldId id="264"/>
            <p14:sldId id="260"/>
            <p14:sldId id="270"/>
            <p14:sldId id="262"/>
            <p14:sldId id="267"/>
            <p14:sldId id="261"/>
            <p14:sldId id="265"/>
            <p14:sldId id="266"/>
          </p14:sldIdLst>
        </p14:section>
        <p14:section name="Untitled Section" id="{EB21FAB4-D93A-44B4-97F8-A597659702D2}">
          <p14:sldIdLst/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JIN BHANDARI" initials="PB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06T17:48:12.226" idx="2">
    <p:pos x="7680" y="5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slow">
    <p:cover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</a:t>
            </a:r>
            <a:r>
              <a:rPr lang="en-US" dirty="0" err="1"/>
              <a:t>Rubisha</a:t>
            </a:r>
            <a:r>
              <a:rPr lang="en-US" dirty="0"/>
              <a:t> Pokhrel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Serial vs Parallel Algorithm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Algorithm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Step-wise representation of a solution to a given problem.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Algorithm design depends upon architecture of computer.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According to architecture of computer, there are two type of algorithm: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  1.Serial or Sequential Algorithm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  2.Parallel Algorithm </a:t>
            </a:r>
            <a:endParaRPr lang="en-US" b="1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Serial Algorithm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process involves developing content sequentially, one step at a time.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Intuitive and easy to understand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Serial processing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Dependent steps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728" y="1154729"/>
            <a:ext cx="4226858" cy="4214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7930" y="2027070"/>
            <a:ext cx="2420470" cy="832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3.Simplicity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3798" y="3429001"/>
            <a:ext cx="2420471" cy="832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4.Limited performance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Arrow: Down 16"/>
          <p:cNvSpPr/>
          <p:nvPr/>
        </p:nvSpPr>
        <p:spPr>
          <a:xfrm rot="16200000">
            <a:off x="6993547" y="1829875"/>
            <a:ext cx="199557" cy="108921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/>
          <p:cNvSpPr/>
          <p:nvPr/>
        </p:nvSpPr>
        <p:spPr>
          <a:xfrm rot="16200000">
            <a:off x="6720120" y="3222122"/>
            <a:ext cx="199558" cy="1447798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/>
          <p:cNvSpPr/>
          <p:nvPr/>
        </p:nvSpPr>
        <p:spPr>
          <a:xfrm rot="10800000">
            <a:off x="3402114" y="2232212"/>
            <a:ext cx="1494860" cy="242047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/>
          <p:cNvSpPr/>
          <p:nvPr/>
        </p:nvSpPr>
        <p:spPr>
          <a:xfrm rot="10800000">
            <a:off x="3275485" y="3608985"/>
            <a:ext cx="1621489" cy="199559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24435" y="1987599"/>
            <a:ext cx="2853024" cy="64802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Pp</a:t>
            </a:r>
            <a:r>
              <a:rPr lang="en-US" dirty="0">
                <a:solidFill>
                  <a:schemeClr val="tx1"/>
                </a:solidFill>
              </a:rPr>
              <a:t>1.Sequential Execution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95836" y="3359810"/>
            <a:ext cx="2979650" cy="86256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as2.</a:t>
            </a:r>
            <a:r>
              <a:rPr lang="en-US" dirty="0">
                <a:solidFill>
                  <a:schemeClr val="tx1"/>
                </a:solidFill>
              </a:rPr>
              <a:t>2.Determinastic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49926" y="354007"/>
            <a:ext cx="58489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Characteristics</a:t>
            </a:r>
            <a:r>
              <a:rPr lang="en-US" sz="2800" b="1" dirty="0"/>
              <a:t> of Serial Algorithm</a:t>
            </a:r>
            <a:endParaRPr lang="en-US" sz="2800" b="1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305301" cy="6006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Example of Serial Algorithm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2603"/>
            <a:ext cx="9712960" cy="499075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Parallel Algorithm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processing involves developing multiple pieces of content simultaneously,</a:t>
            </a:r>
            <a:endParaRPr lang="en-US" dirty="0"/>
          </a:p>
          <a:p>
            <a:r>
              <a:rPr lang="en-US" dirty="0"/>
              <a:t>Distributing a larger task into small number of independent task and then solve them using multiple processing elements simultaneously,</a:t>
            </a:r>
            <a:endParaRPr lang="en-US" dirty="0"/>
          </a:p>
          <a:p>
            <a:r>
              <a:rPr lang="en-US" dirty="0"/>
              <a:t>Data Dependency,</a:t>
            </a:r>
            <a:endParaRPr lang="en-US" dirty="0"/>
          </a:p>
          <a:p>
            <a:r>
              <a:rPr lang="en-US" dirty="0"/>
              <a:t>Individual outputs combined-Desired output.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728" y="1154729"/>
            <a:ext cx="4226858" cy="4214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7930" y="2027070"/>
            <a:ext cx="2420470" cy="832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3.Complexity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3798" y="3429001"/>
            <a:ext cx="2420471" cy="832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4.Improved performance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Arrow: Down 16"/>
          <p:cNvSpPr/>
          <p:nvPr/>
        </p:nvSpPr>
        <p:spPr>
          <a:xfrm rot="16200000">
            <a:off x="6993547" y="1829875"/>
            <a:ext cx="199557" cy="108921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/>
          <p:cNvSpPr/>
          <p:nvPr/>
        </p:nvSpPr>
        <p:spPr>
          <a:xfrm rot="16200000">
            <a:off x="6720120" y="3222122"/>
            <a:ext cx="199558" cy="1447798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/>
          <p:cNvSpPr/>
          <p:nvPr/>
        </p:nvSpPr>
        <p:spPr>
          <a:xfrm rot="10800000">
            <a:off x="3402114" y="2232212"/>
            <a:ext cx="1494860" cy="242047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/>
          <p:cNvSpPr/>
          <p:nvPr/>
        </p:nvSpPr>
        <p:spPr>
          <a:xfrm rot="10800000">
            <a:off x="3275485" y="3608985"/>
            <a:ext cx="1621489" cy="199559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24435" y="1987599"/>
            <a:ext cx="2853024" cy="64802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Pp</a:t>
            </a:r>
            <a:r>
              <a:rPr lang="en-US" dirty="0">
                <a:solidFill>
                  <a:schemeClr val="tx1"/>
                </a:solidFill>
              </a:rPr>
              <a:t>1.Parallel Execution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95836" y="3359810"/>
            <a:ext cx="2979650" cy="86256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as2.</a:t>
            </a:r>
            <a:r>
              <a:rPr lang="en-US" dirty="0">
                <a:solidFill>
                  <a:schemeClr val="tx1"/>
                </a:solidFill>
              </a:rPr>
              <a:t>2.Non-Determinastic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87653" y="261632"/>
            <a:ext cx="78441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Characteristics</a:t>
            </a:r>
            <a:r>
              <a:rPr lang="en-US" sz="3600" b="1" dirty="0"/>
              <a:t> of Parallel Algorithm</a:t>
            </a:r>
            <a:endParaRPr lang="en-US" sz="3600" b="1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170" y="213801"/>
            <a:ext cx="7967902" cy="6373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Example of Parallel Algorithm</a:t>
            </a:r>
            <a:endParaRPr lang="en-US" sz="3200" dirty="0">
              <a:solidFill>
                <a:srgbClr val="7030A0"/>
              </a:solidFill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7744" y="1260764"/>
            <a:ext cx="7933600" cy="3916354"/>
          </a:xfrm>
        </p:spPr>
      </p:pic>
      <p:sp>
        <p:nvSpPr>
          <p:cNvPr id="4" name="TextBox 3"/>
          <p:cNvSpPr txBox="1"/>
          <p:nvPr/>
        </p:nvSpPr>
        <p:spPr>
          <a:xfrm>
            <a:off x="8054789" y="1112846"/>
            <a:ext cx="155985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Step 1: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sz="1400" dirty="0"/>
              <a:t>Split sub-list in two until you reach pair of value.</a:t>
            </a:r>
            <a:endParaRPr lang="en-US" sz="1400" dirty="0"/>
          </a:p>
          <a:p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Step 2: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sz="1400" dirty="0"/>
              <a:t>Sort/swap pair of value if needed.</a:t>
            </a:r>
            <a:endParaRPr lang="en-US" sz="1400" dirty="0"/>
          </a:p>
          <a:p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Step 3: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sz="1400" dirty="0"/>
              <a:t>Merge and sort sub-list and repeat the process till you merge to the full list.</a:t>
            </a:r>
            <a:endParaRPr lang="en-US" sz="1400" dirty="0"/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9588" y="1411939"/>
          <a:ext cx="7799294" cy="536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647"/>
                <a:gridCol w="3899647"/>
              </a:tblGrid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           Serial Algorithm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Parallel Algorithm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1.Steps are performed one another.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1.Steps are performed simultaneously.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2.Simpler to design and implement.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Can be more complex to design.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3.Requires minimum hardware resources.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3.Requires more hardware resources.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4.Can underutilize available resources.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4.Can fully utilize available resources.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5.Less fault tolerant.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5.More fault tolerant.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6.Suitable for small task.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6.Suitable for complicated task.</a:t>
                      </a:r>
                      <a:endParaRPr lang="en-US" dirty="0"/>
                    </a:p>
                  </a:txBody>
                  <a:tcPr/>
                </a:tc>
              </a:tr>
              <a:tr h="632012">
                <a:tc>
                  <a:txBody>
                    <a:bodyPr/>
                    <a:lstStyle/>
                    <a:p>
                      <a:r>
                        <a:rPr lang="en-US" dirty="0"/>
                        <a:t>7.Example :Bubble sort ,Linear search.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7.Example: Matrix multiplications, image processing ,scientific simulations.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9588" y="537883"/>
            <a:ext cx="7395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Serial vs Parallel Algorithm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484" y="1407179"/>
            <a:ext cx="2495550" cy="1838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951" y="1362601"/>
            <a:ext cx="1990725" cy="1990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932" y="1438274"/>
            <a:ext cx="2567875" cy="1990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7830" y="3296769"/>
            <a:ext cx="23683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Finance </a:t>
            </a:r>
            <a:endParaRPr lang="en-US" sz="3600" b="1" dirty="0"/>
          </a:p>
          <a:p>
            <a:r>
              <a:rPr lang="en-US" b="1" dirty="0"/>
              <a:t>Analyze market trends and make predictions. </a:t>
            </a:r>
            <a:endParaRPr lang="en-US" b="1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09682" y="3477475"/>
            <a:ext cx="30480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Healthcare</a:t>
            </a:r>
            <a:r>
              <a:rPr lang="en-US" dirty="0"/>
              <a:t> </a:t>
            </a:r>
            <a:endParaRPr lang="en-US" dirty="0"/>
          </a:p>
          <a:p>
            <a:r>
              <a:rPr lang="en-US" b="1" dirty="0"/>
              <a:t>Analyze patient data and treatment outcomes.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6557682" y="3418789"/>
            <a:ext cx="3464859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Manufacturing </a:t>
            </a:r>
            <a:endParaRPr lang="en-US" sz="3600" b="1" dirty="0"/>
          </a:p>
          <a:p>
            <a:r>
              <a:rPr lang="en-US" b="1" dirty="0"/>
              <a:t>Optimize production processes and reduce errors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3719" y="430306"/>
            <a:ext cx="8041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Application of Serial Algorithm</a:t>
            </a:r>
            <a:endParaRPr lang="en-US" sz="3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4946" y="423295"/>
            <a:ext cx="8318748" cy="788894"/>
          </a:xfrm>
        </p:spPr>
        <p:txBody>
          <a:bodyPr/>
          <a:lstStyle/>
          <a:p>
            <a:r>
              <a:rPr lang="en-US" b="1" dirty="0"/>
              <a:t>Application of Parallel Algorithm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94946" y="1398494"/>
            <a:ext cx="9224681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1. Scientific Simulations: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Simulations study complex phenomena that are hard or costly to replicate physically.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b="1" dirty="0"/>
          </a:p>
          <a:p>
            <a:pPr algn="just"/>
            <a:r>
              <a:rPr lang="en-US" b="1" dirty="0"/>
              <a:t>2. Data Analytics and Big Data: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These involve handling and analyzing data, not data structures themselves.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b="1" dirty="0"/>
          </a:p>
          <a:p>
            <a:pPr algn="just"/>
            <a:r>
              <a:rPr lang="en-US" b="1" dirty="0"/>
              <a:t>3. Image and Video Processing: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Manipulating and enhancing visual data in computer science.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b="1" dirty="0"/>
          </a:p>
          <a:p>
            <a:pPr algn="just"/>
            <a:r>
              <a:rPr lang="en-US" b="1" dirty="0"/>
              <a:t>4. Numerical Simulations: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Solving mathematical models with computer algorithms.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b="1" dirty="0"/>
          </a:p>
          <a:p>
            <a:pPr algn="just"/>
            <a:r>
              <a:rPr lang="en-US" b="1" dirty="0"/>
              <a:t>5. Network Routing and Graph Algorithms: </a:t>
            </a: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Parallel algorithms optimize network tasks and solve graph problems like shortest path efficiently. </a:t>
            </a:r>
            <a:endParaRPr lang="en-US" b="1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20372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7259" y="4182035"/>
            <a:ext cx="5123329" cy="6051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2626</Words>
  <Application>WPS Slides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Wingdings 3</vt:lpstr>
      <vt:lpstr>Arial</vt:lpstr>
      <vt:lpstr>Trebuchet MS</vt:lpstr>
      <vt:lpstr>Microsoft YaHei</vt:lpstr>
      <vt:lpstr>Arial Unicode MS</vt:lpstr>
      <vt:lpstr>Calibri</vt:lpstr>
      <vt:lpstr>Facet</vt:lpstr>
      <vt:lpstr>Serial vs Parallel Algorithm</vt:lpstr>
      <vt:lpstr>Introduction to Algorithm</vt:lpstr>
      <vt:lpstr>Introduction to Serial Algorithm</vt:lpstr>
      <vt:lpstr>PowerPoint 演示文稿</vt:lpstr>
      <vt:lpstr>Example of Serial Algorithm</vt:lpstr>
      <vt:lpstr>Introduction to Parallel Algorithm</vt:lpstr>
      <vt:lpstr>PowerPoint 演示文稿</vt:lpstr>
      <vt:lpstr>Example of Parallel Algorithm</vt:lpstr>
      <vt:lpstr>PowerPoint 演示文稿</vt:lpstr>
      <vt:lpstr>PowerPoint 演示文稿</vt:lpstr>
      <vt:lpstr>Application of Parallel Algorithm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Serial vs Parallel Algorithm</dc:title>
  <dc:creator>PRAJIN BHANDARI</dc:creator>
  <cp:lastModifiedBy>hp</cp:lastModifiedBy>
  <cp:revision>38</cp:revision>
  <dcterms:created xsi:type="dcterms:W3CDTF">2025-04-06T08:58:00Z</dcterms:created>
  <dcterms:modified xsi:type="dcterms:W3CDTF">2025-04-07T08:41:20Z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8C89D5908DDD42FE989C61B316078F22_12</vt:lpwstr>
  </property>
  <property fmtid="{D5CDD505-2E9C-101B-9397-08002B2CF9AE}" pid="3" name="KSOProductBuildVer">
    <vt:lpwstr>1033-12.2.0.20782</vt:lpwstr>
  </property>
</Properties>
</file>