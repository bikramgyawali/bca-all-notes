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57" r:id="rId5"/>
    <p:sldId id="258" r:id="rId6"/>
    <p:sldId id="269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59" d="100"/>
          <a:sy n="59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>
            <a:fillRect/>
          </a:stretch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1">
            <a:alphaModFix amt="40000"/>
          </a:blip>
          <a:srcRect t="6444" r="6" b="18542"/>
          <a:stretch>
            <a:fillRect/>
          </a:stretch>
        </p:blipFill>
        <p:spPr>
          <a:xfrm>
            <a:off x="3068" y="0"/>
            <a:ext cx="12188932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19008" y="-261258"/>
            <a:ext cx="7355114" cy="3820886"/>
          </a:xfrm>
        </p:spPr>
        <p:txBody>
          <a:bodyPr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6200" dirty="0">
                <a:solidFill>
                  <a:srgbClr val="FFFFFF"/>
                </a:solidFill>
              </a:rPr>
              <a:t>Deterministic </a:t>
            </a:r>
            <a:br>
              <a:rPr lang="en-US" sz="6200" dirty="0"/>
            </a:br>
            <a:r>
              <a:rPr lang="en-US" sz="6200" dirty="0"/>
              <a:t>Deterministic</a:t>
            </a:r>
            <a:br>
              <a:rPr lang="en-US" sz="6200" dirty="0"/>
            </a:br>
            <a:r>
              <a:rPr lang="en-US" sz="6200" dirty="0"/>
              <a:t>vs</a:t>
            </a:r>
            <a:br>
              <a:rPr lang="en-US" sz="6200" dirty="0"/>
            </a:br>
            <a:r>
              <a:rPr lang="en-US" sz="6200" dirty="0"/>
              <a:t>   Non-deterministic</a:t>
            </a:r>
            <a:br>
              <a:rPr lang="en-US" sz="6200" dirty="0"/>
            </a:br>
            <a:r>
              <a:rPr lang="en-US" sz="6200" dirty="0">
                <a:solidFill>
                  <a:srgbClr val="FFFFFF"/>
                </a:solidFill>
              </a:rPr>
              <a:t> </a:t>
            </a:r>
            <a:endParaRPr lang="en-US" sz="6200" dirty="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81623" y="4908177"/>
            <a:ext cx="4986084" cy="19498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By Anjana Shrestha</a:t>
            </a:r>
            <a:endParaRPr lang="en-US" sz="24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042" y="1937851"/>
            <a:ext cx="8596668" cy="45489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</a:rPr>
              <a:t>Algorithm</a:t>
            </a:r>
            <a:r>
              <a:rPr lang="en-US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</a:rPr>
              <a:t> is a set of well-defined instructions in sequence to perform a particular task and achieve the desired output.</a:t>
            </a:r>
            <a:endParaRPr lang="en-US" dirty="0">
              <a:solidFill>
                <a:srgbClr val="000000"/>
              </a:solidFill>
              <a:latin typeface="Verdana" panose="020B0604030504040204"/>
              <a:ea typeface="Verdana" panose="020B0604030504040204"/>
            </a:endParaRPr>
          </a:p>
          <a:p>
            <a:r>
              <a:rPr lang="en-US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</a:rPr>
              <a:t>On the basis of the knowledge about outcome of the instructions, there are two types of algorithms namely, </a:t>
            </a:r>
            <a:r>
              <a:rPr lang="en-US" b="1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</a:rPr>
              <a:t>Deterministic</a:t>
            </a:r>
            <a:r>
              <a:rPr lang="en-US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</a:rPr>
              <a:t> and </a:t>
            </a:r>
            <a:r>
              <a:rPr lang="en-US" b="1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</a:rPr>
              <a:t>Non-deterministic Algorithms</a:t>
            </a:r>
            <a:r>
              <a:rPr lang="en-US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</a:rPr>
              <a:t>.</a:t>
            </a:r>
            <a:endParaRPr lang="en-US" dirty="0">
              <a:solidFill>
                <a:srgbClr val="000000"/>
              </a:solidFill>
              <a:latin typeface="Verdana" panose="020B0604030504040204"/>
              <a:ea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000" dirty="0"/>
              <a:t>Deterministic Algorithm</a:t>
            </a:r>
            <a:endParaRPr lang="en-US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836" y="2215198"/>
            <a:ext cx="10040287" cy="40293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Roboto Slab"/>
              </a:rPr>
              <a:t>A </a:t>
            </a:r>
            <a:r>
              <a:rPr lang="en-US" b="1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Roboto Slab"/>
              </a:rPr>
              <a:t>deterministic algorithm</a:t>
            </a:r>
            <a:r>
              <a:rPr lang="en-US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Roboto Slab"/>
              </a:rPr>
              <a:t> is a type of algorithm in which the result of every algorithm is uniquely defined. Hence, a deterministic algorithm performs fixed number of steps and always get finished with accept or reject state with the same result. </a:t>
            </a:r>
            <a:endParaRPr lang="en-US" dirty="0">
              <a:solidFill>
                <a:srgbClr val="000000"/>
              </a:solidFill>
              <a:latin typeface="Verdana" panose="020B0604030504040204"/>
              <a:ea typeface="Verdana" panose="020B0604030504040204"/>
              <a:cs typeface="Roboto Slab"/>
            </a:endParaRPr>
          </a:p>
          <a:p>
            <a:r>
              <a:rPr lang="en-US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Roboto Slab"/>
              </a:rPr>
              <a:t>Deterministic algorithms can solve a problem in polynomial time. A deterministic algorithm always has a single outcome, i.e. the input given to it always results the same output.</a:t>
            </a:r>
            <a:endParaRPr lang="en-US" dirty="0">
              <a:solidFill>
                <a:srgbClr val="000000"/>
              </a:solidFill>
              <a:latin typeface="Verdana" panose="020B0604030504040204"/>
              <a:ea typeface="Verdana" panose="020B0604030504040204"/>
              <a:cs typeface="Roboto Slab"/>
            </a:endParaRPr>
          </a:p>
          <a:p>
            <a:r>
              <a:rPr lang="en-US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Roboto Slab"/>
              </a:rPr>
              <a:t>A mathematical function is a common example of the deterministic algorithm.</a:t>
            </a:r>
            <a:endParaRPr lang="en-US" dirty="0">
              <a:solidFill>
                <a:srgbClr val="000000"/>
              </a:solidFill>
              <a:latin typeface="Verdana" panose="020B0604030504040204"/>
              <a:ea typeface="Verdana" panose="020B0604030504040204"/>
              <a:cs typeface="Roboto Slab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Non-Deterministic algorithm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934" y="2172312"/>
            <a:ext cx="8596668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</a:rPr>
              <a:t>A </a:t>
            </a:r>
            <a:r>
              <a:rPr lang="en-US" b="1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</a:rPr>
              <a:t>non-deterministic algorithm</a:t>
            </a:r>
            <a:r>
              <a:rPr lang="en-US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</a:rPr>
              <a:t> is one in which the output of every algorithm is not uniquely defined and thus the result could be random. Hence, the non-deterministic algorithms have multiple outcomes.</a:t>
            </a:r>
            <a:endParaRPr lang="en-US" dirty="0">
              <a:solidFill>
                <a:srgbClr val="000000"/>
              </a:solidFill>
              <a:latin typeface="Verdana" panose="020B0604030504040204"/>
              <a:ea typeface="Verdana" panose="020B0604030504040204"/>
            </a:endParaRPr>
          </a:p>
          <a:p>
            <a:r>
              <a:rPr lang="en-US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</a:rPr>
              <a:t>Non-deterministic algorithms take multiple execution paths, thus it is quite difficult to determine the next state of the machine. Unlike deterministic algorithms, a non-deterministic algorithm cannot solve problems in polynomial time. </a:t>
            </a:r>
            <a:endParaRPr lang="en-US" dirty="0">
              <a:solidFill>
                <a:srgbClr val="000000"/>
              </a:solidFill>
              <a:latin typeface="Verdana" panose="020B0604030504040204"/>
              <a:ea typeface="Verdana" panose="020B0604030504040204"/>
            </a:endParaRPr>
          </a:p>
          <a:p>
            <a:r>
              <a:rPr lang="en-US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</a:rPr>
              <a:t>Random functions are examples of nondeterministic algorithms.</a:t>
            </a:r>
            <a:endParaRPr lang="en-US"/>
          </a:p>
          <a:p>
            <a:endParaRPr lang="en-US" dirty="0">
              <a:solidFill>
                <a:srgbClr val="000000"/>
              </a:solidFill>
              <a:latin typeface="Verdana" panose="020B0604030504040204"/>
              <a:ea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3200" dirty="0">
                <a:sym typeface="+mn-ea"/>
              </a:rPr>
              <a:t>DIFFERENCE BETWEEN DETERMINISTIC AND NON-DETERMINISTIC ALGORITHM</a:t>
            </a:r>
            <a:endParaRPr lang="en-US" sz="3200" dirty="0"/>
          </a:p>
          <a:p>
            <a:endParaRPr lang="en-US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Execution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</a:rPr>
              <a:t>In Deterministic Algorithms execution, the target machine executes the same instruction and results same outcome which is not dependent on the way or process in which instruction get executed.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</a:rPr>
              <a:t>In case of Non-Deterministic Algorithms, the machine executing each operation is allowed to choose any one of these outcomes subjects to a determination condition to be defined later.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         Type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</a:rPr>
              <a:t>On the basis of execution and outcome in case of Deterministic algorithm, they are also classified as reliable algorithms as for a particular input instructions the machine will give always the same output</a:t>
            </a:r>
            <a:r>
              <a:rPr lang="en-US" sz="1100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</a:rPr>
              <a:t>.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</a:rPr>
              <a:t>Nondeterministic algorithms are classified as non-reliable algorithms for a particular input the machine will give different output on different executions.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Execution time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</a:rPr>
              <a:t>Deterministic algorithms take a polynomial time for their execution.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</a:rPr>
              <a:t>Non-Deterministic algorithms cannot get executed in polynomial time.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Execution path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</a:rPr>
              <a:t>The path of execution for algorithm is same in every execution.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</a:rPr>
              <a:t>The path of execution is not same for algorithm in every execution and could take any random path for its execution.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 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Deterministic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Non-deterministic</a:t>
            </a:r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666240" y="3347085"/>
            <a:ext cx="768985" cy="776605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2435225" y="3173095"/>
            <a:ext cx="774065" cy="3511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2442845" y="4013835"/>
            <a:ext cx="723900" cy="3092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3273425" y="2716530"/>
            <a:ext cx="791845" cy="712470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209925" y="4013835"/>
            <a:ext cx="746760" cy="769620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012940" y="3253740"/>
            <a:ext cx="765810" cy="760095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7777480" y="2875280"/>
            <a:ext cx="607060" cy="5537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7873365" y="3631565"/>
            <a:ext cx="724535" cy="635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7692390" y="3940175"/>
            <a:ext cx="692150" cy="4578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384540" y="2465070"/>
            <a:ext cx="687070" cy="566420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8692515" y="3253740"/>
            <a:ext cx="672465" cy="621030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8438515" y="4295140"/>
            <a:ext cx="633095" cy="601980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Text Box 16"/>
          <p:cNvSpPr txBox="1"/>
          <p:nvPr/>
        </p:nvSpPr>
        <p:spPr>
          <a:xfrm>
            <a:off x="1750060" y="3471545"/>
            <a:ext cx="639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Q1</a:t>
            </a:r>
            <a:endParaRPr lang="en-US"/>
          </a:p>
        </p:txBody>
      </p:sp>
      <p:sp>
        <p:nvSpPr>
          <p:cNvPr id="18" name="Text Box 17"/>
          <p:cNvSpPr txBox="1"/>
          <p:nvPr/>
        </p:nvSpPr>
        <p:spPr>
          <a:xfrm>
            <a:off x="3241040" y="2907030"/>
            <a:ext cx="883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Q2</a:t>
            </a:r>
            <a:endParaRPr lang="en-US"/>
          </a:p>
        </p:txBody>
      </p:sp>
      <p:sp>
        <p:nvSpPr>
          <p:cNvPr id="19" name="Text Box 18"/>
          <p:cNvSpPr txBox="1"/>
          <p:nvPr/>
        </p:nvSpPr>
        <p:spPr>
          <a:xfrm>
            <a:off x="3379470" y="4078605"/>
            <a:ext cx="543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Q3</a:t>
            </a:r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7192010" y="3429000"/>
            <a:ext cx="6178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Q1</a:t>
            </a:r>
            <a:endParaRPr lang="en-US"/>
          </a:p>
        </p:txBody>
      </p:sp>
      <p:sp>
        <p:nvSpPr>
          <p:cNvPr id="21" name="Text Box 20"/>
          <p:cNvSpPr txBox="1"/>
          <p:nvPr/>
        </p:nvSpPr>
        <p:spPr>
          <a:xfrm>
            <a:off x="8555355" y="2524125"/>
            <a:ext cx="574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Q2</a:t>
            </a:r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8747125" y="3333115"/>
            <a:ext cx="617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Q3</a:t>
            </a:r>
            <a:endParaRPr lang="en-US"/>
          </a:p>
        </p:txBody>
      </p:sp>
      <p:sp>
        <p:nvSpPr>
          <p:cNvPr id="23" name="Text Box 22"/>
          <p:cNvSpPr txBox="1"/>
          <p:nvPr/>
        </p:nvSpPr>
        <p:spPr>
          <a:xfrm>
            <a:off x="8533765" y="4377055"/>
            <a:ext cx="542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Q4</a:t>
            </a:r>
            <a:endParaRPr lang="en-US"/>
          </a:p>
        </p:txBody>
      </p:sp>
      <p:sp>
        <p:nvSpPr>
          <p:cNvPr id="24" name="Text Box 23"/>
          <p:cNvSpPr txBox="1"/>
          <p:nvPr/>
        </p:nvSpPr>
        <p:spPr>
          <a:xfrm>
            <a:off x="2591435" y="3103245"/>
            <a:ext cx="447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0</a:t>
            </a:r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2506345" y="4131945"/>
            <a:ext cx="436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1</a:t>
            </a:r>
            <a:endParaRPr lang="en-US"/>
          </a:p>
        </p:txBody>
      </p:sp>
      <p:sp>
        <p:nvSpPr>
          <p:cNvPr id="26" name="Text Box 25"/>
          <p:cNvSpPr txBox="1"/>
          <p:nvPr/>
        </p:nvSpPr>
        <p:spPr>
          <a:xfrm>
            <a:off x="7777480" y="2917825"/>
            <a:ext cx="542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0</a:t>
            </a:r>
            <a:endParaRPr lang="en-US"/>
          </a:p>
        </p:txBody>
      </p:sp>
      <p:sp>
        <p:nvSpPr>
          <p:cNvPr id="27" name="Text Box 26"/>
          <p:cNvSpPr txBox="1"/>
          <p:nvPr/>
        </p:nvSpPr>
        <p:spPr>
          <a:xfrm>
            <a:off x="8076565" y="3347085"/>
            <a:ext cx="447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0</a:t>
            </a:r>
            <a:endParaRPr lang="en-US"/>
          </a:p>
        </p:txBody>
      </p:sp>
      <p:sp>
        <p:nvSpPr>
          <p:cNvPr id="28" name="Text Box 27"/>
          <p:cNvSpPr txBox="1"/>
          <p:nvPr/>
        </p:nvSpPr>
        <p:spPr>
          <a:xfrm>
            <a:off x="7948295" y="3908425"/>
            <a:ext cx="372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0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3502" y="2160590"/>
            <a:ext cx="8470898" cy="34292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latin typeface="Verdana" panose="020B0604030504040204"/>
                <a:ea typeface="Verdana" panose="020B0604030504040204"/>
              </a:rPr>
              <a:t>The most significant difference between these two types of algorithms is that a deterministic algorithm has the same path of execution for every execution, whereas a non-deterministic algorithm can take any random path of execution for different executions.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ank you! - NextGenFarms"/>
          <p:cNvPicPr>
            <a:picLocks noChangeAspect="1"/>
          </p:cNvPicPr>
          <p:nvPr/>
        </p:nvPicPr>
        <p:blipFill>
          <a:blip r:embed="rId1"/>
          <a:srcRect r="3112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3019</Words>
  <Application>WPS Slides</Application>
  <PresentationFormat>Widescreen</PresentationFormat>
  <Paragraphs>83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Verdana</vt:lpstr>
      <vt:lpstr>Roboto Slab</vt:lpstr>
      <vt:lpstr>Segoe Print</vt:lpstr>
      <vt:lpstr>Gill Sans MT</vt:lpstr>
      <vt:lpstr>Microsoft YaHei</vt:lpstr>
      <vt:lpstr>Arial Unicode MS</vt:lpstr>
      <vt:lpstr>Calibri</vt:lpstr>
      <vt:lpstr>Gallery</vt:lpstr>
      <vt:lpstr>Deterministic  Deterministic vs    Non-deterministic  </vt:lpstr>
      <vt:lpstr>Algorithm</vt:lpstr>
      <vt:lpstr>Deterministic Algorithm</vt:lpstr>
      <vt:lpstr>Non-Deterministic algorithm</vt:lpstr>
      <vt:lpstr>PowerPoint 演示文稿</vt:lpstr>
      <vt:lpstr>                      Execution</vt:lpstr>
      <vt:lpstr>                                     Type</vt:lpstr>
      <vt:lpstr>                        Execution time </vt:lpstr>
      <vt:lpstr>                       Execution path</vt:lpstr>
      <vt:lpstr>                              Example</vt:lpstr>
      <vt:lpstr>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Anzana</dc:creator>
  <cp:lastModifiedBy>hp</cp:lastModifiedBy>
  <cp:revision>219</cp:revision>
  <dcterms:created xsi:type="dcterms:W3CDTF">2025-04-06T10:35:00Z</dcterms:created>
  <dcterms:modified xsi:type="dcterms:W3CDTF">2025-04-07T06:46:31Z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634E19662E1048E9AE41B233E220E802_12</vt:lpwstr>
  </property>
  <property fmtid="{D5CDD505-2E9C-101B-9397-08002B2CF9AE}" pid="3" name="KSOProductBuildVer">
    <vt:lpwstr>1033-12.2.0.20782</vt:lpwstr>
  </property>
</Properties>
</file>