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82" r:id="rId3"/>
    <p:sldId id="388" r:id="rId4"/>
    <p:sldId id="383" r:id="rId5"/>
    <p:sldId id="384" r:id="rId6"/>
    <p:sldId id="385" r:id="rId7"/>
    <p:sldId id="386" r:id="rId8"/>
    <p:sldId id="387" r:id="rId9"/>
    <p:sldId id="389" r:id="rId10"/>
    <p:sldId id="390" r:id="rId11"/>
    <p:sldId id="391" r:id="rId12"/>
    <p:sldId id="257" r:id="rId13"/>
    <p:sldId id="258" r:id="rId14"/>
    <p:sldId id="259" r:id="rId15"/>
    <p:sldId id="260" r:id="rId16"/>
    <p:sldId id="265" r:id="rId17"/>
    <p:sldId id="266" r:id="rId18"/>
    <p:sldId id="267" r:id="rId19"/>
    <p:sldId id="268" r:id="rId20"/>
    <p:sldId id="269" r:id="rId21"/>
    <p:sldId id="279" r:id="rId22"/>
    <p:sldId id="280" r:id="rId23"/>
    <p:sldId id="281" r:id="rId24"/>
    <p:sldId id="283" r:id="rId25"/>
    <p:sldId id="284" r:id="rId26"/>
    <p:sldId id="285" r:id="rId27"/>
    <p:sldId id="289" r:id="rId28"/>
    <p:sldId id="286" r:id="rId29"/>
    <p:sldId id="287"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8" r:id="rId48"/>
    <p:sldId id="309" r:id="rId49"/>
    <p:sldId id="310" r:id="rId50"/>
    <p:sldId id="319" r:id="rId51"/>
    <p:sldId id="312" r:id="rId52"/>
    <p:sldId id="313" r:id="rId53"/>
    <p:sldId id="314" r:id="rId54"/>
    <p:sldId id="315" r:id="rId55"/>
    <p:sldId id="320" r:id="rId56"/>
    <p:sldId id="318" r:id="rId57"/>
    <p:sldId id="321" r:id="rId58"/>
    <p:sldId id="322" r:id="rId59"/>
    <p:sldId id="323" r:id="rId60"/>
    <p:sldId id="324" r:id="rId61"/>
    <p:sldId id="325" r:id="rId62"/>
    <p:sldId id="326" r:id="rId63"/>
    <p:sldId id="327" r:id="rId64"/>
    <p:sldId id="328" r:id="rId65"/>
    <p:sldId id="329" r:id="rId66"/>
    <p:sldId id="330" r:id="rId67"/>
    <p:sldId id="331" r:id="rId68"/>
    <p:sldId id="332" r:id="rId69"/>
    <p:sldId id="333" r:id="rId70"/>
    <p:sldId id="334" r:id="rId71"/>
    <p:sldId id="335" r:id="rId72"/>
    <p:sldId id="336" r:id="rId73"/>
    <p:sldId id="337" r:id="rId74"/>
    <p:sldId id="338" r:id="rId75"/>
    <p:sldId id="339" r:id="rId76"/>
    <p:sldId id="340" r:id="rId77"/>
    <p:sldId id="341" r:id="rId78"/>
    <p:sldId id="342" r:id="rId79"/>
    <p:sldId id="343" r:id="rId80"/>
    <p:sldId id="344" r:id="rId81"/>
    <p:sldId id="345" r:id="rId82"/>
    <p:sldId id="346" r:id="rId83"/>
    <p:sldId id="347" r:id="rId84"/>
    <p:sldId id="348" r:id="rId85"/>
    <p:sldId id="349" r:id="rId86"/>
    <p:sldId id="350" r:id="rId87"/>
    <p:sldId id="351" r:id="rId88"/>
    <p:sldId id="352" r:id="rId89"/>
    <p:sldId id="353" r:id="rId90"/>
    <p:sldId id="354" r:id="rId91"/>
    <p:sldId id="355" r:id="rId92"/>
    <p:sldId id="356" r:id="rId93"/>
    <p:sldId id="357" r:id="rId94"/>
    <p:sldId id="358" r:id="rId95"/>
    <p:sldId id="359" r:id="rId96"/>
    <p:sldId id="360" r:id="rId97"/>
    <p:sldId id="361" r:id="rId98"/>
    <p:sldId id="362" r:id="rId99"/>
    <p:sldId id="363" r:id="rId100"/>
    <p:sldId id="365" r:id="rId101"/>
    <p:sldId id="364" r:id="rId102"/>
    <p:sldId id="368" r:id="rId103"/>
    <p:sldId id="372" r:id="rId104"/>
    <p:sldId id="373" r:id="rId105"/>
    <p:sldId id="374" r:id="rId106"/>
    <p:sldId id="375" r:id="rId107"/>
    <p:sldId id="376" r:id="rId108"/>
    <p:sldId id="377" r:id="rId109"/>
    <p:sldId id="378" r:id="rId110"/>
    <p:sldId id="379" r:id="rId111"/>
    <p:sldId id="380" r:id="rId112"/>
    <p:sldId id="381" r:id="rId1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63" d="100"/>
          <a:sy n="63" d="100"/>
        </p:scale>
        <p:origin x="76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98B87-B235-0633-A076-4D005BA5A8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733196B-9352-DA67-30CB-6E4CB2BCF9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CC65468-5B25-EBD0-FB42-6B22DB5909C9}"/>
              </a:ext>
            </a:extLst>
          </p:cNvPr>
          <p:cNvSpPr>
            <a:spLocks noGrp="1"/>
          </p:cNvSpPr>
          <p:nvPr>
            <p:ph type="dt" sz="half" idx="10"/>
          </p:nvPr>
        </p:nvSpPr>
        <p:spPr/>
        <p:txBody>
          <a:bodyPr/>
          <a:lstStyle/>
          <a:p>
            <a:fld id="{51D00CFF-D6C2-4690-A350-A7AE7B417D91}" type="datetimeFigureOut">
              <a:rPr lang="en-IN" smtClean="0"/>
              <a:t>23-03-2025</a:t>
            </a:fld>
            <a:endParaRPr lang="en-IN"/>
          </a:p>
        </p:txBody>
      </p:sp>
      <p:sp>
        <p:nvSpPr>
          <p:cNvPr id="5" name="Footer Placeholder 4">
            <a:extLst>
              <a:ext uri="{FF2B5EF4-FFF2-40B4-BE49-F238E27FC236}">
                <a16:creationId xmlns:a16="http://schemas.microsoft.com/office/drawing/2014/main" id="{614F1FAB-AB9F-2319-A89A-BD6A216CB2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AF8ECE-12F7-2AD7-088A-BBC2D32DA9C7}"/>
              </a:ext>
            </a:extLst>
          </p:cNvPr>
          <p:cNvSpPr>
            <a:spLocks noGrp="1"/>
          </p:cNvSpPr>
          <p:nvPr>
            <p:ph type="sldNum" sz="quarter" idx="12"/>
          </p:nvPr>
        </p:nvSpPr>
        <p:spPr/>
        <p:txBody>
          <a:bodyPr/>
          <a:lstStyle/>
          <a:p>
            <a:fld id="{6744F6E5-7295-404A-9585-1DA3130F9481}" type="slidenum">
              <a:rPr lang="en-IN" smtClean="0"/>
              <a:t>‹#›</a:t>
            </a:fld>
            <a:endParaRPr lang="en-IN"/>
          </a:p>
        </p:txBody>
      </p:sp>
    </p:spTree>
    <p:extLst>
      <p:ext uri="{BB962C8B-B14F-4D97-AF65-F5344CB8AC3E}">
        <p14:creationId xmlns:p14="http://schemas.microsoft.com/office/powerpoint/2010/main" val="537379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9721C-1ECF-A6FC-FFF3-6985BE8B92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53D89A-6A03-CB8B-AD71-F6BF214326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AC8964-C99F-062A-9DC4-688C9E4FEAD3}"/>
              </a:ext>
            </a:extLst>
          </p:cNvPr>
          <p:cNvSpPr>
            <a:spLocks noGrp="1"/>
          </p:cNvSpPr>
          <p:nvPr>
            <p:ph type="dt" sz="half" idx="10"/>
          </p:nvPr>
        </p:nvSpPr>
        <p:spPr/>
        <p:txBody>
          <a:bodyPr/>
          <a:lstStyle/>
          <a:p>
            <a:fld id="{51D00CFF-D6C2-4690-A350-A7AE7B417D91}" type="datetimeFigureOut">
              <a:rPr lang="en-IN" smtClean="0"/>
              <a:t>23-03-2025</a:t>
            </a:fld>
            <a:endParaRPr lang="en-IN"/>
          </a:p>
        </p:txBody>
      </p:sp>
      <p:sp>
        <p:nvSpPr>
          <p:cNvPr id="5" name="Footer Placeholder 4">
            <a:extLst>
              <a:ext uri="{FF2B5EF4-FFF2-40B4-BE49-F238E27FC236}">
                <a16:creationId xmlns:a16="http://schemas.microsoft.com/office/drawing/2014/main" id="{92D764A2-0601-1BE2-8E76-BD312FF7C0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3AA660-49BE-FC92-20FB-917821900785}"/>
              </a:ext>
            </a:extLst>
          </p:cNvPr>
          <p:cNvSpPr>
            <a:spLocks noGrp="1"/>
          </p:cNvSpPr>
          <p:nvPr>
            <p:ph type="sldNum" sz="quarter" idx="12"/>
          </p:nvPr>
        </p:nvSpPr>
        <p:spPr/>
        <p:txBody>
          <a:bodyPr/>
          <a:lstStyle/>
          <a:p>
            <a:fld id="{6744F6E5-7295-404A-9585-1DA3130F9481}" type="slidenum">
              <a:rPr lang="en-IN" smtClean="0"/>
              <a:t>‹#›</a:t>
            </a:fld>
            <a:endParaRPr lang="en-IN"/>
          </a:p>
        </p:txBody>
      </p:sp>
    </p:spTree>
    <p:extLst>
      <p:ext uri="{BB962C8B-B14F-4D97-AF65-F5344CB8AC3E}">
        <p14:creationId xmlns:p14="http://schemas.microsoft.com/office/powerpoint/2010/main" val="4082943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1315A-9F6F-AAD8-5A59-F277F26471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EC1AED-EB22-58D8-5727-3737531968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D7C45A-3A73-7026-A8C4-59AAAFDEBCCA}"/>
              </a:ext>
            </a:extLst>
          </p:cNvPr>
          <p:cNvSpPr>
            <a:spLocks noGrp="1"/>
          </p:cNvSpPr>
          <p:nvPr>
            <p:ph type="dt" sz="half" idx="10"/>
          </p:nvPr>
        </p:nvSpPr>
        <p:spPr/>
        <p:txBody>
          <a:bodyPr/>
          <a:lstStyle/>
          <a:p>
            <a:fld id="{51D00CFF-D6C2-4690-A350-A7AE7B417D91}" type="datetimeFigureOut">
              <a:rPr lang="en-IN" smtClean="0"/>
              <a:t>23-03-2025</a:t>
            </a:fld>
            <a:endParaRPr lang="en-IN"/>
          </a:p>
        </p:txBody>
      </p:sp>
      <p:sp>
        <p:nvSpPr>
          <p:cNvPr id="5" name="Footer Placeholder 4">
            <a:extLst>
              <a:ext uri="{FF2B5EF4-FFF2-40B4-BE49-F238E27FC236}">
                <a16:creationId xmlns:a16="http://schemas.microsoft.com/office/drawing/2014/main" id="{8D389468-F7FE-1FF7-80D5-53897D3707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3D6F31-9C48-372F-03FC-3F79044EFD15}"/>
              </a:ext>
            </a:extLst>
          </p:cNvPr>
          <p:cNvSpPr>
            <a:spLocks noGrp="1"/>
          </p:cNvSpPr>
          <p:nvPr>
            <p:ph type="sldNum" sz="quarter" idx="12"/>
          </p:nvPr>
        </p:nvSpPr>
        <p:spPr/>
        <p:txBody>
          <a:bodyPr/>
          <a:lstStyle/>
          <a:p>
            <a:fld id="{6744F6E5-7295-404A-9585-1DA3130F9481}" type="slidenum">
              <a:rPr lang="en-IN" smtClean="0"/>
              <a:t>‹#›</a:t>
            </a:fld>
            <a:endParaRPr lang="en-IN"/>
          </a:p>
        </p:txBody>
      </p:sp>
    </p:spTree>
    <p:extLst>
      <p:ext uri="{BB962C8B-B14F-4D97-AF65-F5344CB8AC3E}">
        <p14:creationId xmlns:p14="http://schemas.microsoft.com/office/powerpoint/2010/main" val="2535794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12C51-D68F-7C5F-C12F-3362198F1A5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EF957D5-5A8C-6F97-2BFB-8E50ED5941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138BF39-E8F4-EAE7-93A7-26A8974F79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D0B661F-FA3D-4C2F-0E0B-579AA6C13632}"/>
              </a:ext>
            </a:extLst>
          </p:cNvPr>
          <p:cNvSpPr>
            <a:spLocks noGrp="1"/>
          </p:cNvSpPr>
          <p:nvPr>
            <p:ph type="dt" sz="half" idx="10"/>
          </p:nvPr>
        </p:nvSpPr>
        <p:spPr/>
        <p:txBody>
          <a:bodyPr/>
          <a:lstStyle/>
          <a:p>
            <a:fld id="{51D00CFF-D6C2-4690-A350-A7AE7B417D91}" type="datetimeFigureOut">
              <a:rPr lang="en-IN" smtClean="0"/>
              <a:t>23-03-2025</a:t>
            </a:fld>
            <a:endParaRPr lang="en-IN"/>
          </a:p>
        </p:txBody>
      </p:sp>
      <p:sp>
        <p:nvSpPr>
          <p:cNvPr id="6" name="Footer Placeholder 5">
            <a:extLst>
              <a:ext uri="{FF2B5EF4-FFF2-40B4-BE49-F238E27FC236}">
                <a16:creationId xmlns:a16="http://schemas.microsoft.com/office/drawing/2014/main" id="{F6358F1C-F50C-64FF-A1DC-44224F9FDF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566531-E4A5-F24B-FDBF-9208069FA5DB}"/>
              </a:ext>
            </a:extLst>
          </p:cNvPr>
          <p:cNvSpPr>
            <a:spLocks noGrp="1"/>
          </p:cNvSpPr>
          <p:nvPr>
            <p:ph type="sldNum" sz="quarter" idx="12"/>
          </p:nvPr>
        </p:nvSpPr>
        <p:spPr/>
        <p:txBody>
          <a:bodyPr/>
          <a:lstStyle/>
          <a:p>
            <a:fld id="{6744F6E5-7295-404A-9585-1DA3130F9481}" type="slidenum">
              <a:rPr lang="en-IN" smtClean="0"/>
              <a:t>‹#›</a:t>
            </a:fld>
            <a:endParaRPr lang="en-IN"/>
          </a:p>
        </p:txBody>
      </p:sp>
    </p:spTree>
    <p:extLst>
      <p:ext uri="{BB962C8B-B14F-4D97-AF65-F5344CB8AC3E}">
        <p14:creationId xmlns:p14="http://schemas.microsoft.com/office/powerpoint/2010/main" val="288899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440F0-44D3-A492-4067-7846B9FEDCC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6AB391C-5283-70A7-F92E-8439B3EFD7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95D578-E2EC-AAB6-E0A1-AB80A24831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46F1BD-4D47-1A6A-AF16-A2A6FA5C5D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17EA63-7B99-43DC-10F8-175E9DDEE8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06EC774-4D57-6404-762D-58AB637ECD85}"/>
              </a:ext>
            </a:extLst>
          </p:cNvPr>
          <p:cNvSpPr>
            <a:spLocks noGrp="1"/>
          </p:cNvSpPr>
          <p:nvPr>
            <p:ph type="dt" sz="half" idx="10"/>
          </p:nvPr>
        </p:nvSpPr>
        <p:spPr/>
        <p:txBody>
          <a:bodyPr/>
          <a:lstStyle/>
          <a:p>
            <a:fld id="{51D00CFF-D6C2-4690-A350-A7AE7B417D91}" type="datetimeFigureOut">
              <a:rPr lang="en-IN" smtClean="0"/>
              <a:t>23-03-2025</a:t>
            </a:fld>
            <a:endParaRPr lang="en-IN"/>
          </a:p>
        </p:txBody>
      </p:sp>
      <p:sp>
        <p:nvSpPr>
          <p:cNvPr id="8" name="Footer Placeholder 7">
            <a:extLst>
              <a:ext uri="{FF2B5EF4-FFF2-40B4-BE49-F238E27FC236}">
                <a16:creationId xmlns:a16="http://schemas.microsoft.com/office/drawing/2014/main" id="{3422B00D-10AE-432A-C9F1-F119B87E069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47A7FAF-6279-6315-6E7E-21EAB36FF2EB}"/>
              </a:ext>
            </a:extLst>
          </p:cNvPr>
          <p:cNvSpPr>
            <a:spLocks noGrp="1"/>
          </p:cNvSpPr>
          <p:nvPr>
            <p:ph type="sldNum" sz="quarter" idx="12"/>
          </p:nvPr>
        </p:nvSpPr>
        <p:spPr/>
        <p:txBody>
          <a:bodyPr/>
          <a:lstStyle/>
          <a:p>
            <a:fld id="{6744F6E5-7295-404A-9585-1DA3130F9481}" type="slidenum">
              <a:rPr lang="en-IN" smtClean="0"/>
              <a:t>‹#›</a:t>
            </a:fld>
            <a:endParaRPr lang="en-IN"/>
          </a:p>
        </p:txBody>
      </p:sp>
    </p:spTree>
    <p:extLst>
      <p:ext uri="{BB962C8B-B14F-4D97-AF65-F5344CB8AC3E}">
        <p14:creationId xmlns:p14="http://schemas.microsoft.com/office/powerpoint/2010/main" val="185218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6A2C8-E07F-385C-A11D-6F822E6881C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219A5E7-DC1C-ECF7-BA50-35918277F572}"/>
              </a:ext>
            </a:extLst>
          </p:cNvPr>
          <p:cNvSpPr>
            <a:spLocks noGrp="1"/>
          </p:cNvSpPr>
          <p:nvPr>
            <p:ph type="dt" sz="half" idx="10"/>
          </p:nvPr>
        </p:nvSpPr>
        <p:spPr/>
        <p:txBody>
          <a:bodyPr/>
          <a:lstStyle/>
          <a:p>
            <a:fld id="{51D00CFF-D6C2-4690-A350-A7AE7B417D91}" type="datetimeFigureOut">
              <a:rPr lang="en-IN" smtClean="0"/>
              <a:t>23-03-2025</a:t>
            </a:fld>
            <a:endParaRPr lang="en-IN"/>
          </a:p>
        </p:txBody>
      </p:sp>
      <p:sp>
        <p:nvSpPr>
          <p:cNvPr id="4" name="Footer Placeholder 3">
            <a:extLst>
              <a:ext uri="{FF2B5EF4-FFF2-40B4-BE49-F238E27FC236}">
                <a16:creationId xmlns:a16="http://schemas.microsoft.com/office/drawing/2014/main" id="{54EC09BB-9EB5-BA17-5D50-CEFD40D39C1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E693744-663C-4E0D-1477-CBAB15BFD6CF}"/>
              </a:ext>
            </a:extLst>
          </p:cNvPr>
          <p:cNvSpPr>
            <a:spLocks noGrp="1"/>
          </p:cNvSpPr>
          <p:nvPr>
            <p:ph type="sldNum" sz="quarter" idx="12"/>
          </p:nvPr>
        </p:nvSpPr>
        <p:spPr/>
        <p:txBody>
          <a:bodyPr/>
          <a:lstStyle/>
          <a:p>
            <a:fld id="{6744F6E5-7295-404A-9585-1DA3130F9481}" type="slidenum">
              <a:rPr lang="en-IN" smtClean="0"/>
              <a:t>‹#›</a:t>
            </a:fld>
            <a:endParaRPr lang="en-IN"/>
          </a:p>
        </p:txBody>
      </p:sp>
    </p:spTree>
    <p:extLst>
      <p:ext uri="{BB962C8B-B14F-4D97-AF65-F5344CB8AC3E}">
        <p14:creationId xmlns:p14="http://schemas.microsoft.com/office/powerpoint/2010/main" val="3328159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90C5C7-212E-6579-1933-5D73C3BAC3F0}"/>
              </a:ext>
            </a:extLst>
          </p:cNvPr>
          <p:cNvSpPr>
            <a:spLocks noGrp="1"/>
          </p:cNvSpPr>
          <p:nvPr>
            <p:ph type="dt" sz="half" idx="10"/>
          </p:nvPr>
        </p:nvSpPr>
        <p:spPr/>
        <p:txBody>
          <a:bodyPr/>
          <a:lstStyle/>
          <a:p>
            <a:fld id="{51D00CFF-D6C2-4690-A350-A7AE7B417D91}" type="datetimeFigureOut">
              <a:rPr lang="en-IN" smtClean="0"/>
              <a:t>23-03-2025</a:t>
            </a:fld>
            <a:endParaRPr lang="en-IN"/>
          </a:p>
        </p:txBody>
      </p:sp>
      <p:sp>
        <p:nvSpPr>
          <p:cNvPr id="3" name="Footer Placeholder 2">
            <a:extLst>
              <a:ext uri="{FF2B5EF4-FFF2-40B4-BE49-F238E27FC236}">
                <a16:creationId xmlns:a16="http://schemas.microsoft.com/office/drawing/2014/main" id="{FD3D4B7D-057F-D956-6D8F-D413DCE8EDE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9D82C1C-2538-A2E4-E656-EEEA86E97496}"/>
              </a:ext>
            </a:extLst>
          </p:cNvPr>
          <p:cNvSpPr>
            <a:spLocks noGrp="1"/>
          </p:cNvSpPr>
          <p:nvPr>
            <p:ph type="sldNum" sz="quarter" idx="12"/>
          </p:nvPr>
        </p:nvSpPr>
        <p:spPr/>
        <p:txBody>
          <a:bodyPr/>
          <a:lstStyle/>
          <a:p>
            <a:fld id="{6744F6E5-7295-404A-9585-1DA3130F9481}" type="slidenum">
              <a:rPr lang="en-IN" smtClean="0"/>
              <a:t>‹#›</a:t>
            </a:fld>
            <a:endParaRPr lang="en-IN"/>
          </a:p>
        </p:txBody>
      </p:sp>
    </p:spTree>
    <p:extLst>
      <p:ext uri="{BB962C8B-B14F-4D97-AF65-F5344CB8AC3E}">
        <p14:creationId xmlns:p14="http://schemas.microsoft.com/office/powerpoint/2010/main" val="1283844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CFCD9-13E6-0407-91D9-4D86370D35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0B0C71-F259-6FCA-49FB-D0853C1B0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56C82D2-18B2-7272-B976-62234BCF4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093C3A-72FB-CA4E-A254-21D0A60A8526}"/>
              </a:ext>
            </a:extLst>
          </p:cNvPr>
          <p:cNvSpPr>
            <a:spLocks noGrp="1"/>
          </p:cNvSpPr>
          <p:nvPr>
            <p:ph type="dt" sz="half" idx="10"/>
          </p:nvPr>
        </p:nvSpPr>
        <p:spPr/>
        <p:txBody>
          <a:bodyPr/>
          <a:lstStyle/>
          <a:p>
            <a:fld id="{51D00CFF-D6C2-4690-A350-A7AE7B417D91}" type="datetimeFigureOut">
              <a:rPr lang="en-IN" smtClean="0"/>
              <a:t>23-03-2025</a:t>
            </a:fld>
            <a:endParaRPr lang="en-IN"/>
          </a:p>
        </p:txBody>
      </p:sp>
      <p:sp>
        <p:nvSpPr>
          <p:cNvPr id="6" name="Footer Placeholder 5">
            <a:extLst>
              <a:ext uri="{FF2B5EF4-FFF2-40B4-BE49-F238E27FC236}">
                <a16:creationId xmlns:a16="http://schemas.microsoft.com/office/drawing/2014/main" id="{B68D9462-2B16-7B88-B3BD-3CCB179DAD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FDA1C9-7C7D-827D-C3F7-1A4FC7CA78F4}"/>
              </a:ext>
            </a:extLst>
          </p:cNvPr>
          <p:cNvSpPr>
            <a:spLocks noGrp="1"/>
          </p:cNvSpPr>
          <p:nvPr>
            <p:ph type="sldNum" sz="quarter" idx="12"/>
          </p:nvPr>
        </p:nvSpPr>
        <p:spPr/>
        <p:txBody>
          <a:bodyPr/>
          <a:lstStyle/>
          <a:p>
            <a:fld id="{6744F6E5-7295-404A-9585-1DA3130F9481}" type="slidenum">
              <a:rPr lang="en-IN" smtClean="0"/>
              <a:t>‹#›</a:t>
            </a:fld>
            <a:endParaRPr lang="en-IN"/>
          </a:p>
        </p:txBody>
      </p:sp>
    </p:spTree>
    <p:extLst>
      <p:ext uri="{BB962C8B-B14F-4D97-AF65-F5344CB8AC3E}">
        <p14:creationId xmlns:p14="http://schemas.microsoft.com/office/powerpoint/2010/main" val="3755424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708DE-17F7-D944-58E9-F05BACFEA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A7F5227-63E2-794E-9C3D-46A47D33FC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44B80D-0E5E-5A70-BD39-B43EDB03D8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63CE86-168D-6D2F-6F7D-20594488983B}"/>
              </a:ext>
            </a:extLst>
          </p:cNvPr>
          <p:cNvSpPr>
            <a:spLocks noGrp="1"/>
          </p:cNvSpPr>
          <p:nvPr>
            <p:ph type="dt" sz="half" idx="10"/>
          </p:nvPr>
        </p:nvSpPr>
        <p:spPr/>
        <p:txBody>
          <a:bodyPr/>
          <a:lstStyle/>
          <a:p>
            <a:fld id="{51D00CFF-D6C2-4690-A350-A7AE7B417D91}" type="datetimeFigureOut">
              <a:rPr lang="en-IN" smtClean="0"/>
              <a:t>23-03-2025</a:t>
            </a:fld>
            <a:endParaRPr lang="en-IN"/>
          </a:p>
        </p:txBody>
      </p:sp>
      <p:sp>
        <p:nvSpPr>
          <p:cNvPr id="6" name="Footer Placeholder 5">
            <a:extLst>
              <a:ext uri="{FF2B5EF4-FFF2-40B4-BE49-F238E27FC236}">
                <a16:creationId xmlns:a16="http://schemas.microsoft.com/office/drawing/2014/main" id="{B0DF9AB3-A819-F6EC-01A3-4FE10045A4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E800BC-2E73-5F03-8E3D-09AED0B9D1E4}"/>
              </a:ext>
            </a:extLst>
          </p:cNvPr>
          <p:cNvSpPr>
            <a:spLocks noGrp="1"/>
          </p:cNvSpPr>
          <p:nvPr>
            <p:ph type="sldNum" sz="quarter" idx="12"/>
          </p:nvPr>
        </p:nvSpPr>
        <p:spPr/>
        <p:txBody>
          <a:bodyPr/>
          <a:lstStyle/>
          <a:p>
            <a:fld id="{6744F6E5-7295-404A-9585-1DA3130F9481}" type="slidenum">
              <a:rPr lang="en-IN" smtClean="0"/>
              <a:t>‹#›</a:t>
            </a:fld>
            <a:endParaRPr lang="en-IN"/>
          </a:p>
        </p:txBody>
      </p:sp>
    </p:spTree>
    <p:extLst>
      <p:ext uri="{BB962C8B-B14F-4D97-AF65-F5344CB8AC3E}">
        <p14:creationId xmlns:p14="http://schemas.microsoft.com/office/powerpoint/2010/main" val="396136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5972F-9ADD-7902-0C00-E3E1B099B57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B983A6-10A5-3F61-AD52-616AB24213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7E9F8A-F76E-7274-C0E3-F76CCEE13142}"/>
              </a:ext>
            </a:extLst>
          </p:cNvPr>
          <p:cNvSpPr>
            <a:spLocks noGrp="1"/>
          </p:cNvSpPr>
          <p:nvPr>
            <p:ph type="dt" sz="half" idx="10"/>
          </p:nvPr>
        </p:nvSpPr>
        <p:spPr/>
        <p:txBody>
          <a:bodyPr/>
          <a:lstStyle/>
          <a:p>
            <a:fld id="{51D00CFF-D6C2-4690-A350-A7AE7B417D91}" type="datetimeFigureOut">
              <a:rPr lang="en-IN" smtClean="0"/>
              <a:t>23-03-2025</a:t>
            </a:fld>
            <a:endParaRPr lang="en-IN"/>
          </a:p>
        </p:txBody>
      </p:sp>
      <p:sp>
        <p:nvSpPr>
          <p:cNvPr id="5" name="Footer Placeholder 4">
            <a:extLst>
              <a:ext uri="{FF2B5EF4-FFF2-40B4-BE49-F238E27FC236}">
                <a16:creationId xmlns:a16="http://schemas.microsoft.com/office/drawing/2014/main" id="{E4470726-BED5-24BE-F70D-E65EB610A4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6A32B1-D749-D141-BED7-1DDA3FBF5E40}"/>
              </a:ext>
            </a:extLst>
          </p:cNvPr>
          <p:cNvSpPr>
            <a:spLocks noGrp="1"/>
          </p:cNvSpPr>
          <p:nvPr>
            <p:ph type="sldNum" sz="quarter" idx="12"/>
          </p:nvPr>
        </p:nvSpPr>
        <p:spPr/>
        <p:txBody>
          <a:bodyPr/>
          <a:lstStyle/>
          <a:p>
            <a:fld id="{6744F6E5-7295-404A-9585-1DA3130F9481}" type="slidenum">
              <a:rPr lang="en-IN" smtClean="0"/>
              <a:t>‹#›</a:t>
            </a:fld>
            <a:endParaRPr lang="en-IN"/>
          </a:p>
        </p:txBody>
      </p:sp>
    </p:spTree>
    <p:extLst>
      <p:ext uri="{BB962C8B-B14F-4D97-AF65-F5344CB8AC3E}">
        <p14:creationId xmlns:p14="http://schemas.microsoft.com/office/powerpoint/2010/main" val="16844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664D6E-9E60-2EDC-1AD5-3AE16500F1C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F8B969-9B49-4410-CF2D-D70C63F0AF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7816BF-F3C7-FDF9-7BB8-A11C85DB02E2}"/>
              </a:ext>
            </a:extLst>
          </p:cNvPr>
          <p:cNvSpPr>
            <a:spLocks noGrp="1"/>
          </p:cNvSpPr>
          <p:nvPr>
            <p:ph type="dt" sz="half" idx="10"/>
          </p:nvPr>
        </p:nvSpPr>
        <p:spPr/>
        <p:txBody>
          <a:bodyPr/>
          <a:lstStyle/>
          <a:p>
            <a:fld id="{51D00CFF-D6C2-4690-A350-A7AE7B417D91}" type="datetimeFigureOut">
              <a:rPr lang="en-IN" smtClean="0"/>
              <a:t>23-03-2025</a:t>
            </a:fld>
            <a:endParaRPr lang="en-IN"/>
          </a:p>
        </p:txBody>
      </p:sp>
      <p:sp>
        <p:nvSpPr>
          <p:cNvPr id="5" name="Footer Placeholder 4">
            <a:extLst>
              <a:ext uri="{FF2B5EF4-FFF2-40B4-BE49-F238E27FC236}">
                <a16:creationId xmlns:a16="http://schemas.microsoft.com/office/drawing/2014/main" id="{D3F5D67A-ED79-6AFF-F705-734EC3A8A2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0A17B1-6224-8937-7761-30EB1B58BCD1}"/>
              </a:ext>
            </a:extLst>
          </p:cNvPr>
          <p:cNvSpPr>
            <a:spLocks noGrp="1"/>
          </p:cNvSpPr>
          <p:nvPr>
            <p:ph type="sldNum" sz="quarter" idx="12"/>
          </p:nvPr>
        </p:nvSpPr>
        <p:spPr/>
        <p:txBody>
          <a:bodyPr/>
          <a:lstStyle/>
          <a:p>
            <a:fld id="{6744F6E5-7295-404A-9585-1DA3130F9481}" type="slidenum">
              <a:rPr lang="en-IN" smtClean="0"/>
              <a:t>‹#›</a:t>
            </a:fld>
            <a:endParaRPr lang="en-IN"/>
          </a:p>
        </p:txBody>
      </p:sp>
    </p:spTree>
    <p:extLst>
      <p:ext uri="{BB962C8B-B14F-4D97-AF65-F5344CB8AC3E}">
        <p14:creationId xmlns:p14="http://schemas.microsoft.com/office/powerpoint/2010/main" val="2023718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2C4C10-7F8F-D26A-021A-D7FD135BEE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5DD9E4-5AA9-8B76-65E2-2599616234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4ED17A-27EE-7291-AFEA-C88001D60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D00CFF-D6C2-4690-A350-A7AE7B417D91}" type="datetimeFigureOut">
              <a:rPr lang="en-IN" smtClean="0"/>
              <a:t>23-03-2025</a:t>
            </a:fld>
            <a:endParaRPr lang="en-IN"/>
          </a:p>
        </p:txBody>
      </p:sp>
      <p:sp>
        <p:nvSpPr>
          <p:cNvPr id="5" name="Footer Placeholder 4">
            <a:extLst>
              <a:ext uri="{FF2B5EF4-FFF2-40B4-BE49-F238E27FC236}">
                <a16:creationId xmlns:a16="http://schemas.microsoft.com/office/drawing/2014/main" id="{01778D95-70F0-8C8B-5427-1F221759F2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6EE3B58-11D9-E60D-ECFE-3B301EEC87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44F6E5-7295-404A-9585-1DA3130F9481}" type="slidenum">
              <a:rPr lang="en-IN" smtClean="0"/>
              <a:t>‹#›</a:t>
            </a:fld>
            <a:endParaRPr lang="en-IN"/>
          </a:p>
        </p:txBody>
      </p:sp>
    </p:spTree>
    <p:extLst>
      <p:ext uri="{BB962C8B-B14F-4D97-AF65-F5344CB8AC3E}">
        <p14:creationId xmlns:p14="http://schemas.microsoft.com/office/powerpoint/2010/main" val="20944505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simplilearn.com/data-structures-and-algorithms-articl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geeksforgeeks.org/how-to-deallocate-memory-without-using-free-in-c/"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geeksforgeeks.org/recursive-insertion-and-traversal-linked-list/" TargetMode="External"/><Relationship Id="rId2" Type="http://schemas.openxmlformats.org/officeDocument/2006/relationships/hyperlink" Target="https://www.geeksforgeeks.org/pointers-in-c-and-c-set-1-introduction-arithmetic-and-array/" TargetMode="External"/><Relationship Id="rId1" Type="http://schemas.openxmlformats.org/officeDocument/2006/relationships/slideLayout" Target="../slideLayouts/slideLayout2.xml"/><Relationship Id="rId5" Type="http://schemas.openxmlformats.org/officeDocument/2006/relationships/hyperlink" Target="https://www.geeksforgeeks.org/what-is-dynamic-memory-allocation/" TargetMode="External"/><Relationship Id="rId4" Type="http://schemas.openxmlformats.org/officeDocument/2006/relationships/hyperlink" Target="https://www.geeksforgeeks.org/doubly-linked-lis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geeksforgeeks.org/queue-data-structure/" TargetMode="External"/><Relationship Id="rId2" Type="http://schemas.openxmlformats.org/officeDocument/2006/relationships/hyperlink" Target="https://www.geeksforgeeks.org/stack-data-structure/" TargetMode="External"/><Relationship Id="rId1" Type="http://schemas.openxmlformats.org/officeDocument/2006/relationships/slideLayout" Target="../slideLayouts/slideLayout2.xml"/><Relationship Id="rId4" Type="http://schemas.openxmlformats.org/officeDocument/2006/relationships/hyperlink" Target="https://www.geeksforgeeks.org/graph-and-its-representation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76F9-061A-E17D-BBCE-131DF5A1E919}"/>
              </a:ext>
            </a:extLst>
          </p:cNvPr>
          <p:cNvSpPr>
            <a:spLocks noGrp="1"/>
          </p:cNvSpPr>
          <p:nvPr>
            <p:ph type="ctrTitle"/>
          </p:nvPr>
        </p:nvSpPr>
        <p:spPr/>
        <p:txBody>
          <a:bodyPr/>
          <a:lstStyle/>
          <a:p>
            <a:r>
              <a:rPr lang="en-US" dirty="0"/>
              <a:t>LINKED LISTS</a:t>
            </a:r>
            <a:endParaRPr lang="en-IN" dirty="0"/>
          </a:p>
        </p:txBody>
      </p:sp>
      <p:sp>
        <p:nvSpPr>
          <p:cNvPr id="3" name="Subtitle 2">
            <a:extLst>
              <a:ext uri="{FF2B5EF4-FFF2-40B4-BE49-F238E27FC236}">
                <a16:creationId xmlns:a16="http://schemas.microsoft.com/office/drawing/2014/main" id="{4FE1FB99-6790-BA65-DEF5-32F34D6F78B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821139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DE7C1-D20B-99CA-02EC-12E0A17BB69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D999E94-D806-63FB-2FEE-8F09E639E783}"/>
              </a:ext>
            </a:extLst>
          </p:cNvPr>
          <p:cNvSpPr>
            <a:spLocks noGrp="1"/>
          </p:cNvSpPr>
          <p:nvPr>
            <p:ph idx="1"/>
          </p:nvPr>
        </p:nvSpPr>
        <p:spPr/>
        <p:txBody>
          <a:bodyPr>
            <a:normAutofit fontScale="62500" lnSpcReduction="20000"/>
          </a:bodyPr>
          <a:lstStyle/>
          <a:p>
            <a:pPr marL="0" indent="0">
              <a:buNone/>
            </a:pPr>
            <a:r>
              <a:rPr lang="en-US" sz="3600" b="1" dirty="0"/>
              <a:t>Arrays</a:t>
            </a:r>
            <a:r>
              <a:rPr lang="en-US" b="1" dirty="0"/>
              <a:t> </a:t>
            </a:r>
          </a:p>
          <a:p>
            <a:pPr algn="l"/>
            <a:r>
              <a:rPr lang="en-US" b="0" i="0" dirty="0">
                <a:solidFill>
                  <a:srgbClr val="374151"/>
                </a:solidFill>
                <a:effectLst/>
                <a:latin typeface="Söhne"/>
              </a:rPr>
              <a:t>An array is a fundamental data structure that stores a collection of elements, each identified by an index or a key. The elements in an array are typically of the same data type, and they are stored in contiguous memory locations. The use of indices allows for easy and efficient access to individual elements.</a:t>
            </a:r>
          </a:p>
          <a:p>
            <a:pPr algn="l"/>
            <a:r>
              <a:rPr lang="en-US" b="0" i="0" dirty="0">
                <a:solidFill>
                  <a:srgbClr val="374151"/>
                </a:solidFill>
                <a:effectLst/>
                <a:latin typeface="Söhne"/>
              </a:rPr>
              <a:t>Here are some key characteristics and concepts related to arrays:</a:t>
            </a:r>
          </a:p>
          <a:p>
            <a:pPr algn="l">
              <a:buFont typeface="+mj-lt"/>
              <a:buAutoNum type="arabicPeriod"/>
            </a:pPr>
            <a:r>
              <a:rPr lang="en-US" b="1" i="0" dirty="0">
                <a:solidFill>
                  <a:srgbClr val="374151"/>
                </a:solidFill>
                <a:effectLst/>
                <a:latin typeface="Söhne"/>
              </a:rPr>
              <a:t>Indexing:</a:t>
            </a:r>
            <a:r>
              <a:rPr lang="en-US" b="0" i="0" dirty="0">
                <a:solidFill>
                  <a:srgbClr val="374151"/>
                </a:solidFill>
                <a:effectLst/>
                <a:latin typeface="Söhne"/>
              </a:rPr>
              <a:t> Elements in an array are accessed using their index or position within the array. The index usually starts from 0, so the first element is at index 0, the second at index 1, and so on.</a:t>
            </a:r>
          </a:p>
          <a:p>
            <a:pPr algn="l">
              <a:buFont typeface="+mj-lt"/>
              <a:buAutoNum type="arabicPeriod"/>
            </a:pPr>
            <a:r>
              <a:rPr lang="en-US" b="1" i="0" dirty="0">
                <a:solidFill>
                  <a:srgbClr val="374151"/>
                </a:solidFill>
                <a:effectLst/>
                <a:latin typeface="Söhne"/>
              </a:rPr>
              <a:t>Fixed Size:</a:t>
            </a:r>
            <a:r>
              <a:rPr lang="en-US" b="0" i="0" dirty="0">
                <a:solidFill>
                  <a:srgbClr val="374151"/>
                </a:solidFill>
                <a:effectLst/>
                <a:latin typeface="Söhne"/>
              </a:rPr>
              <a:t> In most programming languages, the size of an array is fixed at the time of declaration. Once the size is specified, it typically cannot be changed during the program's execution. However, some languages provide dynamic arrays or resizable arrays to overcome this limitation.</a:t>
            </a:r>
          </a:p>
          <a:p>
            <a:pPr algn="l">
              <a:buFont typeface="+mj-lt"/>
              <a:buAutoNum type="arabicPeriod"/>
            </a:pPr>
            <a:r>
              <a:rPr lang="en-US" b="1" i="0" dirty="0">
                <a:solidFill>
                  <a:srgbClr val="374151"/>
                </a:solidFill>
                <a:effectLst/>
                <a:latin typeface="Söhne"/>
              </a:rPr>
              <a:t>Contiguous Memory Allocation:</a:t>
            </a:r>
            <a:r>
              <a:rPr lang="en-US" b="0" i="0" dirty="0">
                <a:solidFill>
                  <a:srgbClr val="374151"/>
                </a:solidFill>
                <a:effectLst/>
                <a:latin typeface="Söhne"/>
              </a:rPr>
              <a:t> The elements of an array are stored in adjacent memory locations. This contiguous memory allocation allows for efficient access to elements through direct indexing.</a:t>
            </a:r>
          </a:p>
          <a:p>
            <a:pPr algn="l">
              <a:buFont typeface="+mj-lt"/>
              <a:buAutoNum type="arabicPeriod"/>
            </a:pPr>
            <a:r>
              <a:rPr lang="en-US" b="1" i="0" dirty="0">
                <a:solidFill>
                  <a:srgbClr val="374151"/>
                </a:solidFill>
                <a:effectLst/>
                <a:latin typeface="Söhne"/>
              </a:rPr>
              <a:t>Homogeneous Elements:</a:t>
            </a:r>
            <a:r>
              <a:rPr lang="en-US" b="0" i="0" dirty="0">
                <a:solidFill>
                  <a:srgbClr val="374151"/>
                </a:solidFill>
                <a:effectLst/>
                <a:latin typeface="Söhne"/>
              </a:rPr>
              <a:t> Arrays are designed to store elements of the same data type. This means that all elements within an array should be of the same type (e.g., integers, floating-point numbers, characters).</a:t>
            </a:r>
          </a:p>
          <a:p>
            <a:pPr marL="0" indent="0">
              <a:buNone/>
            </a:pPr>
            <a:endParaRPr lang="en-IN" b="1" dirty="0"/>
          </a:p>
        </p:txBody>
      </p:sp>
    </p:spTree>
    <p:extLst>
      <p:ext uri="{BB962C8B-B14F-4D97-AF65-F5344CB8AC3E}">
        <p14:creationId xmlns:p14="http://schemas.microsoft.com/office/powerpoint/2010/main" val="4035315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59FB7-7D9F-84C0-163D-F54CB6F8A21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95DA644-2C81-E920-F8DF-E54946D5408D}"/>
              </a:ext>
            </a:extLst>
          </p:cNvPr>
          <p:cNvSpPr>
            <a:spLocks noGrp="1"/>
          </p:cNvSpPr>
          <p:nvPr>
            <p:ph idx="1"/>
          </p:nvPr>
        </p:nvSpPr>
        <p:spPr/>
        <p:txBody>
          <a:bodyPr>
            <a:normAutofit/>
          </a:bodyPr>
          <a:lstStyle/>
          <a:p>
            <a:pPr marL="0" indent="0">
              <a:buNone/>
            </a:pPr>
            <a:r>
              <a:rPr lang="en-US" sz="3200" b="1" dirty="0"/>
              <a:t>Types of array</a:t>
            </a:r>
          </a:p>
          <a:p>
            <a:pPr marL="0" indent="0">
              <a:buNone/>
            </a:pPr>
            <a:r>
              <a:rPr lang="en-US" sz="2000" b="0" i="0" dirty="0">
                <a:solidFill>
                  <a:srgbClr val="374151"/>
                </a:solidFill>
                <a:effectLst/>
                <a:latin typeface="Söhne"/>
              </a:rPr>
              <a:t>Arrays can be categorized into different types based on their dimensions, data types, and how they are accessed. Here are some common types of arrays:</a:t>
            </a:r>
            <a:endParaRPr lang="en-US" sz="3200" b="1" i="0" dirty="0">
              <a:solidFill>
                <a:srgbClr val="374151"/>
              </a:solidFill>
              <a:effectLst/>
              <a:latin typeface="Söhne"/>
            </a:endParaRPr>
          </a:p>
          <a:p>
            <a:pPr marL="0" indent="0" algn="l">
              <a:buNone/>
            </a:pPr>
            <a:r>
              <a:rPr lang="en-US" sz="2000" b="1" i="0" dirty="0">
                <a:solidFill>
                  <a:srgbClr val="374151"/>
                </a:solidFill>
                <a:effectLst/>
                <a:latin typeface="Söhne"/>
              </a:rPr>
              <a:t>1. One-Dimensional Array:</a:t>
            </a:r>
            <a:endParaRPr lang="en-US" sz="2000" b="0" i="0" dirty="0">
              <a:solidFill>
                <a:srgbClr val="374151"/>
              </a:solidFill>
              <a:effectLst/>
              <a:latin typeface="Söhne"/>
            </a:endParaRPr>
          </a:p>
          <a:p>
            <a:pPr algn="l">
              <a:buFont typeface="Arial" panose="020B0604020202020204" pitchFamily="34" charset="0"/>
              <a:buChar char="•"/>
            </a:pPr>
            <a:r>
              <a:rPr lang="en-US" sz="2000" b="0" i="0" dirty="0">
                <a:solidFill>
                  <a:srgbClr val="374151"/>
                </a:solidFill>
                <a:effectLst/>
                <a:latin typeface="Söhne"/>
              </a:rPr>
              <a:t>An array that stores elements in a linear sequence.</a:t>
            </a:r>
          </a:p>
          <a:p>
            <a:pPr algn="l">
              <a:buFont typeface="Arial" panose="020B0604020202020204" pitchFamily="34" charset="0"/>
              <a:buChar char="•"/>
            </a:pPr>
            <a:r>
              <a:rPr lang="en-US" sz="2000" b="0" i="0" dirty="0">
                <a:solidFill>
                  <a:srgbClr val="374151"/>
                </a:solidFill>
                <a:effectLst/>
                <a:latin typeface="Söhne"/>
              </a:rPr>
              <a:t>Elements are accessed using a single index.</a:t>
            </a:r>
          </a:p>
          <a:p>
            <a:pPr marL="0" indent="0" algn="l">
              <a:buNone/>
            </a:pPr>
            <a:r>
              <a:rPr lang="en-US" sz="2000" b="1" i="0" dirty="0">
                <a:solidFill>
                  <a:srgbClr val="374151"/>
                </a:solidFill>
                <a:effectLst/>
                <a:latin typeface="Söhne"/>
              </a:rPr>
              <a:t>Declaration</a:t>
            </a:r>
            <a:r>
              <a:rPr lang="en-US" sz="2000" b="0" i="0" dirty="0">
                <a:solidFill>
                  <a:srgbClr val="374151"/>
                </a:solidFill>
                <a:effectLst/>
                <a:latin typeface="Söhne"/>
              </a:rPr>
              <a:t> </a:t>
            </a:r>
            <a:r>
              <a:rPr lang="en-US" sz="2000" b="1" i="0" dirty="0">
                <a:solidFill>
                  <a:srgbClr val="374151"/>
                </a:solidFill>
                <a:effectLst/>
                <a:latin typeface="Söhne"/>
              </a:rPr>
              <a:t>and initialization</a:t>
            </a:r>
          </a:p>
          <a:p>
            <a:pPr marL="0" indent="0" algn="l">
              <a:buNone/>
            </a:pPr>
            <a:r>
              <a:rPr lang="en-US" sz="2000" dirty="0" err="1">
                <a:solidFill>
                  <a:srgbClr val="374151"/>
                </a:solidFill>
                <a:latin typeface="Söhne"/>
              </a:rPr>
              <a:t>Data_type</a:t>
            </a:r>
            <a:r>
              <a:rPr lang="en-US" sz="2000" dirty="0">
                <a:solidFill>
                  <a:srgbClr val="374151"/>
                </a:solidFill>
                <a:latin typeface="Söhne"/>
              </a:rPr>
              <a:t>  </a:t>
            </a:r>
            <a:r>
              <a:rPr lang="en-US" sz="2000" dirty="0" err="1">
                <a:solidFill>
                  <a:srgbClr val="374151"/>
                </a:solidFill>
                <a:latin typeface="Söhne"/>
              </a:rPr>
              <a:t>array_name</a:t>
            </a:r>
            <a:r>
              <a:rPr lang="en-US" sz="2000" dirty="0">
                <a:solidFill>
                  <a:srgbClr val="374151"/>
                </a:solidFill>
                <a:latin typeface="Söhne"/>
              </a:rPr>
              <a:t>[size];</a:t>
            </a:r>
          </a:p>
          <a:p>
            <a:pPr marL="0" indent="0" algn="l">
              <a:buNone/>
            </a:pPr>
            <a:r>
              <a:rPr lang="en-US" sz="2000" b="0" i="0" dirty="0">
                <a:solidFill>
                  <a:srgbClr val="374151"/>
                </a:solidFill>
                <a:effectLst/>
                <a:latin typeface="Söhne"/>
              </a:rPr>
              <a:t>Int age[5];</a:t>
            </a:r>
          </a:p>
          <a:p>
            <a:pPr marL="0" indent="0" algn="l">
              <a:buNone/>
            </a:pPr>
            <a:r>
              <a:rPr lang="en-US" sz="2000" dirty="0">
                <a:solidFill>
                  <a:srgbClr val="374151"/>
                </a:solidFill>
                <a:latin typeface="Söhne"/>
              </a:rPr>
              <a:t>Int age[5] = {5,6,7,8,9};</a:t>
            </a:r>
            <a:endParaRPr lang="en-US" sz="2000" b="0" i="0" dirty="0">
              <a:solidFill>
                <a:srgbClr val="374151"/>
              </a:solidFill>
              <a:effectLst/>
              <a:latin typeface="Söhne"/>
            </a:endParaRPr>
          </a:p>
          <a:p>
            <a:pPr marL="0" indent="0">
              <a:buNone/>
            </a:pPr>
            <a:endParaRPr lang="en-IN" sz="3200" b="1" dirty="0"/>
          </a:p>
        </p:txBody>
      </p:sp>
    </p:spTree>
    <p:extLst>
      <p:ext uri="{BB962C8B-B14F-4D97-AF65-F5344CB8AC3E}">
        <p14:creationId xmlns:p14="http://schemas.microsoft.com/office/powerpoint/2010/main" val="2984700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F0459-E58F-593B-018E-5950C875E3D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E46B9F8-A2D1-88A1-8A34-16A6D33E0006}"/>
              </a:ext>
            </a:extLst>
          </p:cNvPr>
          <p:cNvSpPr>
            <a:spLocks noGrp="1"/>
          </p:cNvSpPr>
          <p:nvPr>
            <p:ph idx="1"/>
          </p:nvPr>
        </p:nvSpPr>
        <p:spPr/>
        <p:txBody>
          <a:bodyPr>
            <a:normAutofit lnSpcReduction="10000"/>
          </a:bodyPr>
          <a:lstStyle/>
          <a:p>
            <a:pPr algn="l"/>
            <a:r>
              <a:rPr lang="en-US" b="1" i="0" dirty="0">
                <a:solidFill>
                  <a:srgbClr val="374151"/>
                </a:solidFill>
                <a:effectLst/>
                <a:latin typeface="Söhne"/>
              </a:rPr>
              <a:t>Two-Dimensional Array:</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An array with two dimensions, often represented as a matrix with rows and columns.</a:t>
            </a:r>
          </a:p>
          <a:p>
            <a:pPr algn="l">
              <a:buFont typeface="Arial" panose="020B0604020202020204" pitchFamily="34" charset="0"/>
              <a:buChar char="•"/>
            </a:pPr>
            <a:r>
              <a:rPr lang="en-US" b="0" i="0" dirty="0">
                <a:solidFill>
                  <a:srgbClr val="374151"/>
                </a:solidFill>
                <a:effectLst/>
                <a:latin typeface="Söhne"/>
              </a:rPr>
              <a:t>Elements are accessed using two indices.</a:t>
            </a:r>
          </a:p>
          <a:p>
            <a:pPr marL="0" indent="0">
              <a:buNone/>
            </a:pPr>
            <a:r>
              <a:rPr lang="en-IN" b="1" dirty="0"/>
              <a:t>Declaration and initialization</a:t>
            </a:r>
          </a:p>
          <a:p>
            <a:pPr marL="0" indent="0">
              <a:buNone/>
            </a:pPr>
            <a:r>
              <a:rPr lang="en-IN" dirty="0" err="1"/>
              <a:t>Data_type</a:t>
            </a:r>
            <a:r>
              <a:rPr lang="en-IN" dirty="0"/>
              <a:t>  </a:t>
            </a:r>
            <a:r>
              <a:rPr lang="en-IN" dirty="0" err="1"/>
              <a:t>Array_name</a:t>
            </a:r>
            <a:r>
              <a:rPr lang="en-IN" dirty="0"/>
              <a:t>[</a:t>
            </a:r>
            <a:r>
              <a:rPr lang="en-IN" dirty="0" err="1"/>
              <a:t>rowsize</a:t>
            </a:r>
            <a:r>
              <a:rPr lang="en-IN" dirty="0"/>
              <a:t>][</a:t>
            </a:r>
            <a:r>
              <a:rPr lang="en-IN" dirty="0" err="1"/>
              <a:t>columnsize</a:t>
            </a:r>
            <a:r>
              <a:rPr lang="en-IN" dirty="0"/>
              <a:t>];</a:t>
            </a:r>
          </a:p>
          <a:p>
            <a:pPr marL="0" indent="0">
              <a:buNone/>
            </a:pPr>
            <a:r>
              <a:rPr lang="en-IN" dirty="0"/>
              <a:t>Int a[2][3];</a:t>
            </a:r>
          </a:p>
          <a:p>
            <a:pPr marL="0" indent="0">
              <a:buNone/>
            </a:pPr>
            <a:r>
              <a:rPr lang="en-IN" dirty="0"/>
              <a:t>Int a[2][3] = {{1,2,3},</a:t>
            </a:r>
          </a:p>
          <a:p>
            <a:pPr marL="0" indent="0">
              <a:buNone/>
            </a:pPr>
            <a:r>
              <a:rPr lang="en-IN" dirty="0"/>
              <a:t>                        {4,5,6}};</a:t>
            </a:r>
          </a:p>
          <a:p>
            <a:pPr marL="0" indent="0">
              <a:buNone/>
            </a:pPr>
            <a:endParaRPr lang="en-IN" dirty="0"/>
          </a:p>
        </p:txBody>
      </p:sp>
    </p:spTree>
    <p:extLst>
      <p:ext uri="{BB962C8B-B14F-4D97-AF65-F5344CB8AC3E}">
        <p14:creationId xmlns:p14="http://schemas.microsoft.com/office/powerpoint/2010/main" val="3974466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14E5D-16AC-114C-2471-C3E68C0C67B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9FA8DAF-257B-02C4-1DD6-AC83837745DF}"/>
              </a:ext>
            </a:extLst>
          </p:cNvPr>
          <p:cNvSpPr>
            <a:spLocks noGrp="1"/>
          </p:cNvSpPr>
          <p:nvPr>
            <p:ph idx="1"/>
          </p:nvPr>
        </p:nvSpPr>
        <p:spPr/>
        <p:txBody>
          <a:bodyPr/>
          <a:lstStyle/>
          <a:p>
            <a:pPr algn="l"/>
            <a:r>
              <a:rPr lang="en-US" b="1" i="0" dirty="0">
                <a:solidFill>
                  <a:srgbClr val="374151"/>
                </a:solidFill>
                <a:effectLst/>
                <a:latin typeface="Söhne"/>
              </a:rPr>
              <a:t>Multi-Dimensional Array:</a:t>
            </a: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An array with more than two dimensions.</a:t>
            </a:r>
          </a:p>
          <a:p>
            <a:pPr algn="l">
              <a:buFont typeface="Arial" panose="020B0604020202020204" pitchFamily="34" charset="0"/>
              <a:buChar char="•"/>
            </a:pPr>
            <a:r>
              <a:rPr lang="en-US" b="0" i="0" dirty="0">
                <a:solidFill>
                  <a:srgbClr val="374151"/>
                </a:solidFill>
                <a:effectLst/>
                <a:latin typeface="Söhne"/>
              </a:rPr>
              <a:t>Examples include three-dimensional arrays, four-dimensional arrays, and so on.</a:t>
            </a:r>
          </a:p>
          <a:p>
            <a:pPr algn="l">
              <a:buFont typeface="Arial" panose="020B0604020202020204" pitchFamily="34" charset="0"/>
              <a:buChar char="•"/>
            </a:pPr>
            <a:r>
              <a:rPr lang="en-US" b="0" i="0" dirty="0">
                <a:solidFill>
                  <a:srgbClr val="374151"/>
                </a:solidFill>
                <a:effectLst/>
                <a:latin typeface="Söhne"/>
              </a:rPr>
              <a:t>Accessing elements requires specifying multiple indices.</a:t>
            </a:r>
          </a:p>
          <a:p>
            <a:pPr marL="0" indent="0">
              <a:buNone/>
            </a:pPr>
            <a:r>
              <a:rPr lang="en-IN" dirty="0" err="1"/>
              <a:t>Eg</a:t>
            </a:r>
            <a:r>
              <a:rPr lang="en-IN" dirty="0"/>
              <a:t>;</a:t>
            </a:r>
          </a:p>
          <a:p>
            <a:pPr marL="0" indent="0">
              <a:buNone/>
            </a:pPr>
            <a:r>
              <a:rPr lang="en-IN" dirty="0"/>
              <a:t>         int a[2][3][4];</a:t>
            </a:r>
          </a:p>
          <a:p>
            <a:pPr marL="0" indent="0">
              <a:buNone/>
            </a:pPr>
            <a:r>
              <a:rPr lang="en-IN" sz="1600" dirty="0"/>
              <a:t>                           Plane    row       column</a:t>
            </a:r>
          </a:p>
        </p:txBody>
      </p:sp>
      <p:cxnSp>
        <p:nvCxnSpPr>
          <p:cNvPr id="5" name="Straight Arrow Connector 4">
            <a:extLst>
              <a:ext uri="{FF2B5EF4-FFF2-40B4-BE49-F238E27FC236}">
                <a16:creationId xmlns:a16="http://schemas.microsoft.com/office/drawing/2014/main" id="{D1E43A13-E817-C502-FAE6-76743C53F57D}"/>
              </a:ext>
            </a:extLst>
          </p:cNvPr>
          <p:cNvCxnSpPr>
            <a:cxnSpLocks/>
          </p:cNvCxnSpPr>
          <p:nvPr/>
        </p:nvCxnSpPr>
        <p:spPr>
          <a:xfrm flipV="1">
            <a:off x="2348089" y="5147733"/>
            <a:ext cx="0" cy="259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43C233C-D434-A808-A9FB-E77B0E8E5B58}"/>
              </a:ext>
            </a:extLst>
          </p:cNvPr>
          <p:cNvCxnSpPr>
            <a:cxnSpLocks/>
          </p:cNvCxnSpPr>
          <p:nvPr/>
        </p:nvCxnSpPr>
        <p:spPr>
          <a:xfrm flipV="1">
            <a:off x="2889955" y="5147733"/>
            <a:ext cx="0" cy="248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43C4DCD-C874-2E46-F524-499EB37D5AF1}"/>
              </a:ext>
            </a:extLst>
          </p:cNvPr>
          <p:cNvCxnSpPr>
            <a:cxnSpLocks/>
          </p:cNvCxnSpPr>
          <p:nvPr/>
        </p:nvCxnSpPr>
        <p:spPr>
          <a:xfrm flipV="1">
            <a:off x="3307645" y="5147733"/>
            <a:ext cx="0" cy="282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8696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E15255-2880-0B44-D8A2-A8018D4B3C80}"/>
              </a:ext>
            </a:extLst>
          </p:cNvPr>
          <p:cNvSpPr>
            <a:spLocks noGrp="1"/>
          </p:cNvSpPr>
          <p:nvPr>
            <p:ph idx="1"/>
          </p:nvPr>
        </p:nvSpPr>
        <p:spPr>
          <a:xfrm>
            <a:off x="838200" y="447040"/>
            <a:ext cx="10515600" cy="5729923"/>
          </a:xfrm>
        </p:spPr>
        <p:txBody>
          <a:bodyPr>
            <a:normAutofit fontScale="70000" lnSpcReduction="20000"/>
          </a:bodyPr>
          <a:lstStyle/>
          <a:p>
            <a:pPr marL="0" indent="0">
              <a:buNone/>
            </a:pPr>
            <a:r>
              <a:rPr lang="en-US" b="1" dirty="0"/>
              <a:t>Array as an abstract Data type</a:t>
            </a:r>
          </a:p>
          <a:p>
            <a:pPr algn="l"/>
            <a:r>
              <a:rPr lang="en-US" b="0" i="0" dirty="0">
                <a:solidFill>
                  <a:srgbClr val="374151"/>
                </a:solidFill>
                <a:effectLst/>
                <a:latin typeface="Söhne"/>
              </a:rPr>
              <a:t>An array can be conceptualized as an abstract data type (ADT), providing a high-level description of its functionality without specifying the implementation details. As an abstract data type, an array is defined by its behavior and the operations that can be performed on it, rather than the specific way it is stored in memory. Here are the essential characteristics and operations associated with an array as an abstract data type:</a:t>
            </a:r>
          </a:p>
          <a:p>
            <a:pPr algn="l">
              <a:buFont typeface="+mj-lt"/>
              <a:buAutoNum type="arabicPeriod"/>
            </a:pPr>
            <a:r>
              <a:rPr lang="en-US" b="1" i="0" dirty="0">
                <a:solidFill>
                  <a:srgbClr val="374151"/>
                </a:solidFill>
                <a:effectLst/>
                <a:latin typeface="Söhne"/>
              </a:rPr>
              <a:t>Attributes:</a:t>
            </a:r>
            <a:endParaRPr lang="en-US" b="0" i="0" dirty="0">
              <a:solidFill>
                <a:srgbClr val="374151"/>
              </a:solidFill>
              <a:effectLst/>
              <a:latin typeface="Söhne"/>
            </a:endParaRPr>
          </a:p>
          <a:p>
            <a:pPr marL="742950" lvl="1" indent="-285750" algn="l">
              <a:buFont typeface="+mj-lt"/>
              <a:buAutoNum type="arabicPeriod"/>
            </a:pPr>
            <a:r>
              <a:rPr lang="en-US" b="1" i="0" dirty="0">
                <a:solidFill>
                  <a:srgbClr val="374151"/>
                </a:solidFill>
                <a:effectLst/>
                <a:latin typeface="Söhne"/>
              </a:rPr>
              <a:t>Elements:</a:t>
            </a:r>
            <a:r>
              <a:rPr lang="en-US" b="0" i="0" dirty="0">
                <a:solidFill>
                  <a:srgbClr val="374151"/>
                </a:solidFill>
                <a:effectLst/>
                <a:latin typeface="Söhne"/>
              </a:rPr>
              <a:t> The data values stored in the array.</a:t>
            </a:r>
          </a:p>
          <a:p>
            <a:pPr marL="742950" lvl="1" indent="-285750" algn="l">
              <a:buFont typeface="+mj-lt"/>
              <a:buAutoNum type="arabicPeriod"/>
            </a:pPr>
            <a:r>
              <a:rPr lang="en-US" b="1" i="0" dirty="0">
                <a:solidFill>
                  <a:srgbClr val="374151"/>
                </a:solidFill>
                <a:effectLst/>
                <a:latin typeface="Söhne"/>
              </a:rPr>
              <a:t>Size:</a:t>
            </a:r>
            <a:r>
              <a:rPr lang="en-US" b="0" i="0" dirty="0">
                <a:solidFill>
                  <a:srgbClr val="374151"/>
                </a:solidFill>
                <a:effectLst/>
                <a:latin typeface="Söhne"/>
              </a:rPr>
              <a:t> The number of elements in the array, which is typically fixed at the time of creation for static arrays.</a:t>
            </a:r>
          </a:p>
          <a:p>
            <a:pPr algn="l">
              <a:buFont typeface="+mj-lt"/>
              <a:buAutoNum type="arabicPeriod"/>
            </a:pPr>
            <a:r>
              <a:rPr lang="en-US" b="1" i="0" dirty="0">
                <a:solidFill>
                  <a:srgbClr val="374151"/>
                </a:solidFill>
                <a:effectLst/>
                <a:latin typeface="Söhne"/>
              </a:rPr>
              <a:t>Operations:</a:t>
            </a:r>
            <a:endParaRPr lang="en-US" b="0" i="0" dirty="0">
              <a:solidFill>
                <a:srgbClr val="374151"/>
              </a:solidFill>
              <a:effectLst/>
              <a:latin typeface="Söhne"/>
            </a:endParaRPr>
          </a:p>
          <a:p>
            <a:pPr marL="742950" lvl="1" indent="-285750" algn="l">
              <a:buFont typeface="+mj-lt"/>
              <a:buAutoNum type="arabicPeriod"/>
            </a:pPr>
            <a:r>
              <a:rPr lang="en-US" b="1" i="0" dirty="0">
                <a:solidFill>
                  <a:srgbClr val="374151"/>
                </a:solidFill>
                <a:effectLst/>
                <a:latin typeface="Söhne"/>
              </a:rPr>
              <a:t>Create(</a:t>
            </a:r>
            <a:r>
              <a:rPr lang="en-US" b="1" i="0" dirty="0" err="1">
                <a:solidFill>
                  <a:srgbClr val="374151"/>
                </a:solidFill>
                <a:effectLst/>
                <a:latin typeface="Söhne"/>
              </a:rPr>
              <a:t>ArraySize</a:t>
            </a:r>
            <a:r>
              <a:rPr lang="en-US" b="1" i="0" dirty="0">
                <a:solidFill>
                  <a:srgbClr val="374151"/>
                </a:solidFill>
                <a:effectLst/>
                <a:latin typeface="Söhne"/>
              </a:rPr>
              <a:t>):</a:t>
            </a:r>
            <a:r>
              <a:rPr lang="en-US" b="0" i="0" dirty="0">
                <a:solidFill>
                  <a:srgbClr val="374151"/>
                </a:solidFill>
                <a:effectLst/>
                <a:latin typeface="Söhne"/>
              </a:rPr>
              <a:t> Initializes an array with a specified size.</a:t>
            </a:r>
          </a:p>
          <a:p>
            <a:pPr marL="742950" lvl="1" indent="-285750" algn="l">
              <a:buFont typeface="+mj-lt"/>
              <a:buAutoNum type="arabicPeriod"/>
            </a:pPr>
            <a:r>
              <a:rPr lang="en-US" b="1" i="0" dirty="0">
                <a:solidFill>
                  <a:srgbClr val="374151"/>
                </a:solidFill>
                <a:effectLst/>
                <a:latin typeface="Söhne"/>
              </a:rPr>
              <a:t>Get(index):</a:t>
            </a:r>
            <a:r>
              <a:rPr lang="en-US" b="0" i="0" dirty="0">
                <a:solidFill>
                  <a:srgbClr val="374151"/>
                </a:solidFill>
                <a:effectLst/>
                <a:latin typeface="Söhne"/>
              </a:rPr>
              <a:t> Returns the value at a given index in the array.</a:t>
            </a:r>
          </a:p>
          <a:p>
            <a:pPr marL="742950" lvl="1" indent="-285750" algn="l">
              <a:buFont typeface="+mj-lt"/>
              <a:buAutoNum type="arabicPeriod"/>
            </a:pPr>
            <a:r>
              <a:rPr lang="en-US" b="1" i="0" dirty="0">
                <a:solidFill>
                  <a:srgbClr val="374151"/>
                </a:solidFill>
                <a:effectLst/>
                <a:latin typeface="Söhne"/>
              </a:rPr>
              <a:t>Set(index, value):</a:t>
            </a:r>
            <a:r>
              <a:rPr lang="en-US" b="0" i="0" dirty="0">
                <a:solidFill>
                  <a:srgbClr val="374151"/>
                </a:solidFill>
                <a:effectLst/>
                <a:latin typeface="Söhne"/>
              </a:rPr>
              <a:t> Modifies the value at a specified index.</a:t>
            </a:r>
          </a:p>
          <a:p>
            <a:pPr marL="742950" lvl="1" indent="-285750" algn="l">
              <a:buFont typeface="+mj-lt"/>
              <a:buAutoNum type="arabicPeriod"/>
            </a:pPr>
            <a:r>
              <a:rPr lang="en-US" b="1" i="0" dirty="0">
                <a:solidFill>
                  <a:srgbClr val="374151"/>
                </a:solidFill>
                <a:effectLst/>
                <a:latin typeface="Söhne"/>
              </a:rPr>
              <a:t>Size():</a:t>
            </a:r>
            <a:r>
              <a:rPr lang="en-US" b="0" i="0" dirty="0">
                <a:solidFill>
                  <a:srgbClr val="374151"/>
                </a:solidFill>
                <a:effectLst/>
                <a:latin typeface="Söhne"/>
              </a:rPr>
              <a:t> Returns the size (number of elements) of the array.</a:t>
            </a:r>
          </a:p>
          <a:p>
            <a:pPr marL="742950" lvl="1" indent="-285750" algn="l">
              <a:buFont typeface="+mj-lt"/>
              <a:buAutoNum type="arabicPeriod"/>
            </a:pPr>
            <a:r>
              <a:rPr lang="en-US" b="1" i="0" dirty="0">
                <a:solidFill>
                  <a:srgbClr val="374151"/>
                </a:solidFill>
                <a:effectLst/>
                <a:latin typeface="Söhne"/>
              </a:rPr>
              <a:t>Insert(index, value):</a:t>
            </a:r>
            <a:r>
              <a:rPr lang="en-US" b="0" i="0" dirty="0">
                <a:solidFill>
                  <a:srgbClr val="374151"/>
                </a:solidFill>
                <a:effectLst/>
                <a:latin typeface="Söhne"/>
              </a:rPr>
              <a:t> Inserts a new element at the specified index, shifting existing elements to accommodate the new one.</a:t>
            </a:r>
          </a:p>
          <a:p>
            <a:pPr marL="742950" lvl="1" indent="-285750" algn="l">
              <a:buFont typeface="+mj-lt"/>
              <a:buAutoNum type="arabicPeriod"/>
            </a:pPr>
            <a:r>
              <a:rPr lang="en-US" b="1" i="0" dirty="0">
                <a:solidFill>
                  <a:srgbClr val="374151"/>
                </a:solidFill>
                <a:effectLst/>
                <a:latin typeface="Söhne"/>
              </a:rPr>
              <a:t>Delete(index):</a:t>
            </a:r>
            <a:r>
              <a:rPr lang="en-US" b="0" i="0" dirty="0">
                <a:solidFill>
                  <a:srgbClr val="374151"/>
                </a:solidFill>
                <a:effectLst/>
                <a:latin typeface="Söhne"/>
              </a:rPr>
              <a:t> Removes the element at the specified index, shifting remaining elements to fill the gap.</a:t>
            </a:r>
          </a:p>
          <a:p>
            <a:pPr marL="742950" lvl="1" indent="-285750" algn="l">
              <a:buFont typeface="+mj-lt"/>
              <a:buAutoNum type="arabicPeriod"/>
            </a:pPr>
            <a:r>
              <a:rPr lang="en-US" b="1" i="0" dirty="0">
                <a:solidFill>
                  <a:srgbClr val="374151"/>
                </a:solidFill>
                <a:effectLst/>
                <a:latin typeface="Söhne"/>
              </a:rPr>
              <a:t>Search(value):</a:t>
            </a:r>
            <a:r>
              <a:rPr lang="en-US" b="0" i="0" dirty="0">
                <a:solidFill>
                  <a:srgbClr val="374151"/>
                </a:solidFill>
                <a:effectLst/>
                <a:latin typeface="Söhne"/>
              </a:rPr>
              <a:t> Locates the index of a given value within the array.</a:t>
            </a:r>
          </a:p>
          <a:p>
            <a:pPr marL="742950" lvl="1" indent="-285750" algn="l">
              <a:buFont typeface="+mj-lt"/>
              <a:buAutoNum type="arabicPeriod"/>
            </a:pPr>
            <a:r>
              <a:rPr lang="en-US" b="1" i="0" dirty="0">
                <a:solidFill>
                  <a:srgbClr val="374151"/>
                </a:solidFill>
                <a:effectLst/>
                <a:latin typeface="Söhne"/>
              </a:rPr>
              <a:t>Sort():</a:t>
            </a:r>
            <a:r>
              <a:rPr lang="en-US" b="0" i="0" dirty="0">
                <a:solidFill>
                  <a:srgbClr val="374151"/>
                </a:solidFill>
                <a:effectLst/>
                <a:latin typeface="Söhne"/>
              </a:rPr>
              <a:t> Arranges the elements in a specific order (e.g., ascending or descending).</a:t>
            </a:r>
          </a:p>
          <a:p>
            <a:pPr marL="742950" lvl="1" indent="-285750" algn="l">
              <a:buFont typeface="+mj-lt"/>
              <a:buAutoNum type="arabicPeriod"/>
            </a:pPr>
            <a:r>
              <a:rPr lang="en-US" b="1" i="0" dirty="0">
                <a:solidFill>
                  <a:srgbClr val="374151"/>
                </a:solidFill>
                <a:effectLst/>
                <a:latin typeface="Söhne"/>
              </a:rPr>
              <a:t>Resize(</a:t>
            </a:r>
            <a:r>
              <a:rPr lang="en-US" b="1" i="0" dirty="0" err="1">
                <a:solidFill>
                  <a:srgbClr val="374151"/>
                </a:solidFill>
                <a:effectLst/>
                <a:latin typeface="Söhne"/>
              </a:rPr>
              <a:t>newSize</a:t>
            </a:r>
            <a:r>
              <a:rPr lang="en-US" b="1" i="0" dirty="0">
                <a:solidFill>
                  <a:srgbClr val="374151"/>
                </a:solidFill>
                <a:effectLst/>
                <a:latin typeface="Söhne"/>
              </a:rPr>
              <a:t>):</a:t>
            </a:r>
            <a:r>
              <a:rPr lang="en-US" b="0" i="0" dirty="0">
                <a:solidFill>
                  <a:srgbClr val="374151"/>
                </a:solidFill>
                <a:effectLst/>
                <a:latin typeface="Söhne"/>
              </a:rPr>
              <a:t> Adjusts the size of the array. This operation is common in dynamic arrays.</a:t>
            </a:r>
          </a:p>
          <a:p>
            <a:pPr marL="0" indent="0">
              <a:buNone/>
            </a:pPr>
            <a:endParaRPr lang="en-IN" b="1" dirty="0"/>
          </a:p>
        </p:txBody>
      </p:sp>
    </p:spTree>
    <p:extLst>
      <p:ext uri="{BB962C8B-B14F-4D97-AF65-F5344CB8AC3E}">
        <p14:creationId xmlns:p14="http://schemas.microsoft.com/office/powerpoint/2010/main" val="2005238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3F1E7-F243-DEEC-8047-05A152B7C50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A161337-B9EA-2DF3-9056-B50A11612EEE}"/>
              </a:ext>
            </a:extLst>
          </p:cNvPr>
          <p:cNvSpPr>
            <a:spLocks noGrp="1"/>
          </p:cNvSpPr>
          <p:nvPr>
            <p:ph idx="1"/>
          </p:nvPr>
        </p:nvSpPr>
        <p:spPr/>
        <p:txBody>
          <a:bodyPr>
            <a:normAutofit fontScale="92500" lnSpcReduction="20000"/>
          </a:bodyPr>
          <a:lstStyle/>
          <a:p>
            <a:pPr marL="0" indent="0">
              <a:buNone/>
            </a:pPr>
            <a:r>
              <a:rPr lang="en-US" b="1" dirty="0"/>
              <a:t>List and ADT</a:t>
            </a:r>
          </a:p>
          <a:p>
            <a:pPr marL="0" indent="0">
              <a:buNone/>
            </a:pPr>
            <a:r>
              <a:rPr lang="en-US" b="0" i="0" dirty="0">
                <a:solidFill>
                  <a:srgbClr val="374151"/>
                </a:solidFill>
                <a:effectLst/>
                <a:latin typeface="Söhne"/>
              </a:rPr>
              <a:t>A List is a linear data structure that organizes elements in a sequential order, allowing for easy insertion, deletion, and traversal. </a:t>
            </a:r>
          </a:p>
          <a:p>
            <a:pPr marL="0" indent="0">
              <a:buNone/>
            </a:pPr>
            <a:r>
              <a:rPr lang="en-US" b="0" i="0" dirty="0">
                <a:solidFill>
                  <a:srgbClr val="374151"/>
                </a:solidFill>
                <a:effectLst/>
                <a:latin typeface="Söhne"/>
              </a:rPr>
              <a:t>The Abstract Data Type (ADT) definition for a list describes the behavior and operations of a list without specifying the implementation details. The ADT for a list typically includes the following operations:</a:t>
            </a:r>
          </a:p>
          <a:p>
            <a:pPr>
              <a:buFont typeface="Wingdings" panose="05000000000000000000" pitchFamily="2" charset="2"/>
              <a:buChar char="v"/>
            </a:pPr>
            <a:r>
              <a:rPr lang="en-US" b="1" i="0" dirty="0" err="1">
                <a:solidFill>
                  <a:srgbClr val="374151"/>
                </a:solidFill>
                <a:effectLst/>
                <a:latin typeface="Söhne"/>
              </a:rPr>
              <a:t>CreateList</a:t>
            </a:r>
            <a:r>
              <a:rPr lang="en-US" b="1" i="0" dirty="0">
                <a:solidFill>
                  <a:srgbClr val="374151"/>
                </a:solidFill>
                <a:effectLst/>
                <a:latin typeface="Söhne"/>
              </a:rPr>
              <a:t>:</a:t>
            </a:r>
            <a:endParaRPr lang="en-US" b="0" i="0" dirty="0">
              <a:solidFill>
                <a:srgbClr val="374151"/>
              </a:solidFill>
              <a:effectLst/>
              <a:latin typeface="Söhne"/>
            </a:endParaRPr>
          </a:p>
          <a:p>
            <a:pPr lvl="1">
              <a:buFont typeface="Wingdings" panose="05000000000000000000" pitchFamily="2" charset="2"/>
              <a:buChar char="v"/>
            </a:pPr>
            <a:r>
              <a:rPr lang="en-US" b="0" i="0" dirty="0">
                <a:solidFill>
                  <a:srgbClr val="374151"/>
                </a:solidFill>
                <a:effectLst/>
                <a:latin typeface="Söhne"/>
              </a:rPr>
              <a:t>Creates an empty list.</a:t>
            </a:r>
          </a:p>
          <a:p>
            <a:pPr>
              <a:buFont typeface="Wingdings" panose="05000000000000000000" pitchFamily="2" charset="2"/>
              <a:buChar char="v"/>
            </a:pPr>
            <a:r>
              <a:rPr lang="en-US" b="1" i="0" dirty="0">
                <a:solidFill>
                  <a:srgbClr val="374151"/>
                </a:solidFill>
                <a:effectLst/>
                <a:latin typeface="Söhne"/>
              </a:rPr>
              <a:t>Insert:</a:t>
            </a:r>
            <a:endParaRPr lang="en-US" b="0" i="0" dirty="0">
              <a:solidFill>
                <a:srgbClr val="374151"/>
              </a:solidFill>
              <a:effectLst/>
              <a:latin typeface="Söhne"/>
            </a:endParaRPr>
          </a:p>
          <a:p>
            <a:pPr lvl="1">
              <a:buFont typeface="Wingdings" panose="05000000000000000000" pitchFamily="2" charset="2"/>
              <a:buChar char="v"/>
            </a:pPr>
            <a:r>
              <a:rPr lang="en-US" b="0" i="0" dirty="0">
                <a:solidFill>
                  <a:srgbClr val="374151"/>
                </a:solidFill>
                <a:effectLst/>
                <a:latin typeface="Söhne"/>
              </a:rPr>
              <a:t>Inserts an element at a specified position in the list.</a:t>
            </a:r>
          </a:p>
          <a:p>
            <a:pPr>
              <a:buFont typeface="Wingdings" panose="05000000000000000000" pitchFamily="2" charset="2"/>
              <a:buChar char="v"/>
            </a:pPr>
            <a:r>
              <a:rPr lang="en-US" b="1" i="0" dirty="0">
                <a:solidFill>
                  <a:srgbClr val="374151"/>
                </a:solidFill>
                <a:effectLst/>
                <a:latin typeface="Söhne"/>
              </a:rPr>
              <a:t>Delete:</a:t>
            </a:r>
            <a:endParaRPr lang="en-US" b="0" i="0" dirty="0">
              <a:solidFill>
                <a:srgbClr val="374151"/>
              </a:solidFill>
              <a:effectLst/>
              <a:latin typeface="Söhne"/>
            </a:endParaRPr>
          </a:p>
          <a:p>
            <a:pPr lvl="1">
              <a:buFont typeface="Wingdings" panose="05000000000000000000" pitchFamily="2" charset="2"/>
              <a:buChar char="v"/>
            </a:pPr>
            <a:r>
              <a:rPr lang="en-US" b="0" i="0" dirty="0">
                <a:solidFill>
                  <a:srgbClr val="374151"/>
                </a:solidFill>
                <a:effectLst/>
                <a:latin typeface="Söhne"/>
              </a:rPr>
              <a:t>Removes an element from the list at a specified position.</a:t>
            </a:r>
          </a:p>
          <a:p>
            <a:pPr marL="0" indent="0">
              <a:buNone/>
            </a:pPr>
            <a:endParaRPr lang="en-IN" b="1" dirty="0"/>
          </a:p>
        </p:txBody>
      </p:sp>
    </p:spTree>
    <p:extLst>
      <p:ext uri="{BB962C8B-B14F-4D97-AF65-F5344CB8AC3E}">
        <p14:creationId xmlns:p14="http://schemas.microsoft.com/office/powerpoint/2010/main" val="3693354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F878F-5E00-885D-32D4-6CEA257F2AC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89A254F-245B-7619-975B-ABF608C83480}"/>
              </a:ext>
            </a:extLst>
          </p:cNvPr>
          <p:cNvSpPr>
            <a:spLocks noGrp="1"/>
          </p:cNvSpPr>
          <p:nvPr>
            <p:ph idx="1"/>
          </p:nvPr>
        </p:nvSpPr>
        <p:spPr/>
        <p:txBody>
          <a:bodyPr>
            <a:normAutofit fontScale="77500" lnSpcReduction="20000"/>
          </a:bodyPr>
          <a:lstStyle/>
          <a:p>
            <a:pPr>
              <a:buFont typeface="Wingdings" panose="05000000000000000000" pitchFamily="2" charset="2"/>
              <a:buChar char="v"/>
            </a:pPr>
            <a:r>
              <a:rPr lang="en-US" b="1" i="0" dirty="0">
                <a:solidFill>
                  <a:srgbClr val="374151"/>
                </a:solidFill>
                <a:effectLst/>
                <a:latin typeface="Söhne"/>
              </a:rPr>
              <a:t>Retrieve/Get:</a:t>
            </a:r>
            <a:endParaRPr lang="en-US" b="0" i="0" dirty="0">
              <a:solidFill>
                <a:srgbClr val="374151"/>
              </a:solidFill>
              <a:effectLst/>
              <a:latin typeface="Söhne"/>
            </a:endParaRPr>
          </a:p>
          <a:p>
            <a:pPr lvl="1">
              <a:buFont typeface="Wingdings" panose="05000000000000000000" pitchFamily="2" charset="2"/>
              <a:buChar char="v"/>
            </a:pPr>
            <a:r>
              <a:rPr lang="en-US" b="0" i="0" dirty="0">
                <a:solidFill>
                  <a:srgbClr val="374151"/>
                </a:solidFill>
                <a:effectLst/>
                <a:latin typeface="Söhne"/>
              </a:rPr>
              <a:t>Retrieves the element at a specified position in the list.</a:t>
            </a:r>
          </a:p>
          <a:p>
            <a:pPr>
              <a:buFont typeface="Wingdings" panose="05000000000000000000" pitchFamily="2" charset="2"/>
              <a:buChar char="v"/>
            </a:pPr>
            <a:r>
              <a:rPr lang="en-US" b="1" i="0" dirty="0" err="1">
                <a:solidFill>
                  <a:srgbClr val="374151"/>
                </a:solidFill>
                <a:effectLst/>
                <a:latin typeface="Söhne"/>
              </a:rPr>
              <a:t>IsEmpty</a:t>
            </a:r>
            <a:r>
              <a:rPr lang="en-US" b="1" i="0" dirty="0">
                <a:solidFill>
                  <a:srgbClr val="374151"/>
                </a:solidFill>
                <a:effectLst/>
                <a:latin typeface="Söhne"/>
              </a:rPr>
              <a:t>:</a:t>
            </a:r>
            <a:endParaRPr lang="en-US" b="0" i="0" dirty="0">
              <a:solidFill>
                <a:srgbClr val="374151"/>
              </a:solidFill>
              <a:effectLst/>
              <a:latin typeface="Söhne"/>
            </a:endParaRPr>
          </a:p>
          <a:p>
            <a:pPr lvl="1">
              <a:buFont typeface="Wingdings" panose="05000000000000000000" pitchFamily="2" charset="2"/>
              <a:buChar char="v"/>
            </a:pPr>
            <a:r>
              <a:rPr lang="en-US" b="0" i="0" dirty="0">
                <a:solidFill>
                  <a:srgbClr val="374151"/>
                </a:solidFill>
                <a:effectLst/>
                <a:latin typeface="Söhne"/>
              </a:rPr>
              <a:t>Checks if the list is empty.</a:t>
            </a:r>
          </a:p>
          <a:p>
            <a:pPr>
              <a:buFont typeface="Wingdings" panose="05000000000000000000" pitchFamily="2" charset="2"/>
              <a:buChar char="v"/>
            </a:pPr>
            <a:r>
              <a:rPr lang="en-US" b="1" i="0" dirty="0">
                <a:solidFill>
                  <a:srgbClr val="374151"/>
                </a:solidFill>
                <a:effectLst/>
                <a:latin typeface="Söhne"/>
              </a:rPr>
              <a:t>Size/Length:</a:t>
            </a:r>
            <a:endParaRPr lang="en-US" b="0" i="0" dirty="0">
              <a:solidFill>
                <a:srgbClr val="374151"/>
              </a:solidFill>
              <a:effectLst/>
              <a:latin typeface="Söhne"/>
            </a:endParaRPr>
          </a:p>
          <a:p>
            <a:pPr lvl="1">
              <a:buFont typeface="Wingdings" panose="05000000000000000000" pitchFamily="2" charset="2"/>
              <a:buChar char="v"/>
            </a:pPr>
            <a:r>
              <a:rPr lang="en-US" b="0" i="0" dirty="0">
                <a:solidFill>
                  <a:srgbClr val="374151"/>
                </a:solidFill>
                <a:effectLst/>
                <a:latin typeface="Söhne"/>
              </a:rPr>
              <a:t>Returns the number of elements in the list.</a:t>
            </a:r>
          </a:p>
          <a:p>
            <a:pPr>
              <a:buFont typeface="Wingdings" panose="05000000000000000000" pitchFamily="2" charset="2"/>
              <a:buChar char="v"/>
            </a:pPr>
            <a:r>
              <a:rPr lang="en-US" b="1" i="0" dirty="0">
                <a:solidFill>
                  <a:srgbClr val="374151"/>
                </a:solidFill>
                <a:effectLst/>
                <a:latin typeface="Söhne"/>
              </a:rPr>
              <a:t>Search:</a:t>
            </a:r>
            <a:endParaRPr lang="en-US" b="0" i="0" dirty="0">
              <a:solidFill>
                <a:srgbClr val="374151"/>
              </a:solidFill>
              <a:effectLst/>
              <a:latin typeface="Söhne"/>
            </a:endParaRPr>
          </a:p>
          <a:p>
            <a:pPr lvl="1">
              <a:buFont typeface="Wingdings" panose="05000000000000000000" pitchFamily="2" charset="2"/>
              <a:buChar char="v"/>
            </a:pPr>
            <a:r>
              <a:rPr lang="en-US" b="0" i="0" dirty="0">
                <a:solidFill>
                  <a:srgbClr val="374151"/>
                </a:solidFill>
                <a:effectLst/>
                <a:latin typeface="Söhne"/>
              </a:rPr>
              <a:t>Searches for a specified element in the list and returns its position if found.</a:t>
            </a:r>
          </a:p>
          <a:p>
            <a:pPr>
              <a:buFont typeface="Wingdings" panose="05000000000000000000" pitchFamily="2" charset="2"/>
              <a:buChar char="v"/>
            </a:pPr>
            <a:r>
              <a:rPr lang="en-US" b="1" i="0" dirty="0">
                <a:solidFill>
                  <a:srgbClr val="374151"/>
                </a:solidFill>
                <a:effectLst/>
                <a:latin typeface="Söhne"/>
              </a:rPr>
              <a:t>Traverse:</a:t>
            </a:r>
            <a:endParaRPr lang="en-US" b="0" i="0" dirty="0">
              <a:solidFill>
                <a:srgbClr val="374151"/>
              </a:solidFill>
              <a:effectLst/>
              <a:latin typeface="Söhne"/>
            </a:endParaRPr>
          </a:p>
          <a:p>
            <a:pPr lvl="1">
              <a:buFont typeface="Wingdings" panose="05000000000000000000" pitchFamily="2" charset="2"/>
              <a:buChar char="v"/>
            </a:pPr>
            <a:r>
              <a:rPr lang="en-US" b="0" i="0" dirty="0">
                <a:solidFill>
                  <a:srgbClr val="374151"/>
                </a:solidFill>
                <a:effectLst/>
                <a:latin typeface="Söhne"/>
              </a:rPr>
              <a:t>Visits each element in the list one by one.</a:t>
            </a:r>
          </a:p>
          <a:p>
            <a:pPr marL="457200" lvl="1" indent="0">
              <a:buNone/>
            </a:pPr>
            <a:endParaRPr lang="en-US" b="0" i="0" dirty="0">
              <a:solidFill>
                <a:srgbClr val="374151"/>
              </a:solidFill>
              <a:effectLst/>
              <a:latin typeface="Söhne"/>
            </a:endParaRPr>
          </a:p>
          <a:p>
            <a:pPr marL="457200" lvl="1" indent="0">
              <a:buNone/>
            </a:pPr>
            <a:r>
              <a:rPr lang="en-US" b="0" i="0" dirty="0">
                <a:solidFill>
                  <a:srgbClr val="374151"/>
                </a:solidFill>
                <a:effectLst/>
                <a:latin typeface="Söhne"/>
              </a:rPr>
              <a:t>The ADT definition abstracts away the implementation details and focuses on what operations a list should support and what behavior is expected from those operations. Different implementations, such as arrays, linked lists, or other data structures, can fulfill the requirements of the list ADT.</a:t>
            </a:r>
          </a:p>
        </p:txBody>
      </p:sp>
    </p:spTree>
    <p:extLst>
      <p:ext uri="{BB962C8B-B14F-4D97-AF65-F5344CB8AC3E}">
        <p14:creationId xmlns:p14="http://schemas.microsoft.com/office/powerpoint/2010/main" val="757633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5658C-B50A-0F77-3758-B5061DD86EC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B999BF1-C8AF-6A15-F7B5-02DA861B773C}"/>
              </a:ext>
            </a:extLst>
          </p:cNvPr>
          <p:cNvSpPr>
            <a:spLocks noGrp="1"/>
          </p:cNvSpPr>
          <p:nvPr>
            <p:ph idx="1"/>
          </p:nvPr>
        </p:nvSpPr>
        <p:spPr/>
        <p:txBody>
          <a:bodyPr/>
          <a:lstStyle/>
          <a:p>
            <a:pPr marL="0" indent="0">
              <a:buNone/>
            </a:pPr>
            <a:r>
              <a:rPr lang="en-US" b="1" dirty="0"/>
              <a:t>Array implementation of list</a:t>
            </a:r>
          </a:p>
          <a:p>
            <a:pPr marL="0" indent="0">
              <a:buNone/>
            </a:pPr>
            <a:r>
              <a:rPr lang="en-IN" sz="2400" dirty="0"/>
              <a:t>Inserting a element in a list</a:t>
            </a:r>
          </a:p>
        </p:txBody>
      </p:sp>
      <p:pic>
        <p:nvPicPr>
          <p:cNvPr id="5" name="Picture 4">
            <a:extLst>
              <a:ext uri="{FF2B5EF4-FFF2-40B4-BE49-F238E27FC236}">
                <a16:creationId xmlns:a16="http://schemas.microsoft.com/office/drawing/2014/main" id="{CF81CD70-30A2-6A96-D54A-41E2C549A31D}"/>
              </a:ext>
            </a:extLst>
          </p:cNvPr>
          <p:cNvPicPr>
            <a:picLocks noChangeAspect="1"/>
          </p:cNvPicPr>
          <p:nvPr/>
        </p:nvPicPr>
        <p:blipFill>
          <a:blip r:embed="rId2"/>
          <a:stretch>
            <a:fillRect/>
          </a:stretch>
        </p:blipFill>
        <p:spPr>
          <a:xfrm>
            <a:off x="918104" y="2701925"/>
            <a:ext cx="5343525" cy="1657350"/>
          </a:xfrm>
          <a:prstGeom prst="rect">
            <a:avLst/>
          </a:prstGeom>
        </p:spPr>
      </p:pic>
      <p:pic>
        <p:nvPicPr>
          <p:cNvPr id="7" name="Picture 6">
            <a:extLst>
              <a:ext uri="{FF2B5EF4-FFF2-40B4-BE49-F238E27FC236}">
                <a16:creationId xmlns:a16="http://schemas.microsoft.com/office/drawing/2014/main" id="{F94FFB61-C53C-5666-5AD3-47054D3DE32E}"/>
              </a:ext>
            </a:extLst>
          </p:cNvPr>
          <p:cNvPicPr>
            <a:picLocks noChangeAspect="1"/>
          </p:cNvPicPr>
          <p:nvPr/>
        </p:nvPicPr>
        <p:blipFill>
          <a:blip r:embed="rId3"/>
          <a:stretch>
            <a:fillRect/>
          </a:stretch>
        </p:blipFill>
        <p:spPr>
          <a:xfrm>
            <a:off x="918104" y="4647407"/>
            <a:ext cx="5076825" cy="1733550"/>
          </a:xfrm>
          <a:prstGeom prst="rect">
            <a:avLst/>
          </a:prstGeom>
        </p:spPr>
      </p:pic>
      <p:sp>
        <p:nvSpPr>
          <p:cNvPr id="9" name="TextBox 8">
            <a:extLst>
              <a:ext uri="{FF2B5EF4-FFF2-40B4-BE49-F238E27FC236}">
                <a16:creationId xmlns:a16="http://schemas.microsoft.com/office/drawing/2014/main" id="{F9D2451A-60CA-6382-C146-5E623382982B}"/>
              </a:ext>
            </a:extLst>
          </p:cNvPr>
          <p:cNvSpPr txBox="1"/>
          <p:nvPr/>
        </p:nvSpPr>
        <p:spPr>
          <a:xfrm>
            <a:off x="918104" y="4276606"/>
            <a:ext cx="6096000" cy="369332"/>
          </a:xfrm>
          <a:prstGeom prst="rect">
            <a:avLst/>
          </a:prstGeom>
          <a:noFill/>
        </p:spPr>
        <p:txBody>
          <a:bodyPr wrap="square">
            <a:spAutoFit/>
          </a:bodyPr>
          <a:lstStyle/>
          <a:p>
            <a:pPr marL="0" indent="0">
              <a:buNone/>
            </a:pPr>
            <a:r>
              <a:rPr lang="en-IN" dirty="0"/>
              <a:t>Deleting </a:t>
            </a:r>
            <a:r>
              <a:rPr lang="en-IN" sz="1800" dirty="0"/>
              <a:t> a element in a list</a:t>
            </a:r>
          </a:p>
        </p:txBody>
      </p:sp>
    </p:spTree>
    <p:extLst>
      <p:ext uri="{BB962C8B-B14F-4D97-AF65-F5344CB8AC3E}">
        <p14:creationId xmlns:p14="http://schemas.microsoft.com/office/powerpoint/2010/main" val="3932936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F4F9CC-839F-8450-0177-6EAB238F19E5}"/>
              </a:ext>
            </a:extLst>
          </p:cNvPr>
          <p:cNvSpPr>
            <a:spLocks noGrp="1"/>
          </p:cNvSpPr>
          <p:nvPr>
            <p:ph idx="1"/>
          </p:nvPr>
        </p:nvSpPr>
        <p:spPr/>
        <p:txBody>
          <a:bodyPr/>
          <a:lstStyle/>
          <a:p>
            <a:r>
              <a:rPr lang="en-US" dirty="0"/>
              <a:t>Get the element from the list</a:t>
            </a:r>
          </a:p>
          <a:p>
            <a:endParaRPr lang="en-IN" dirty="0"/>
          </a:p>
        </p:txBody>
      </p:sp>
      <p:pic>
        <p:nvPicPr>
          <p:cNvPr id="5" name="Picture 4">
            <a:extLst>
              <a:ext uri="{FF2B5EF4-FFF2-40B4-BE49-F238E27FC236}">
                <a16:creationId xmlns:a16="http://schemas.microsoft.com/office/drawing/2014/main" id="{D09EB800-51CC-12E7-95B9-478C89FFCACA}"/>
              </a:ext>
            </a:extLst>
          </p:cNvPr>
          <p:cNvPicPr>
            <a:picLocks noChangeAspect="1"/>
          </p:cNvPicPr>
          <p:nvPr/>
        </p:nvPicPr>
        <p:blipFill>
          <a:blip r:embed="rId2"/>
          <a:stretch>
            <a:fillRect/>
          </a:stretch>
        </p:blipFill>
        <p:spPr>
          <a:xfrm>
            <a:off x="1072444" y="2377281"/>
            <a:ext cx="5960181" cy="3799682"/>
          </a:xfrm>
          <a:prstGeom prst="rect">
            <a:avLst/>
          </a:prstGeom>
        </p:spPr>
      </p:pic>
    </p:spTree>
    <p:extLst>
      <p:ext uri="{BB962C8B-B14F-4D97-AF65-F5344CB8AC3E}">
        <p14:creationId xmlns:p14="http://schemas.microsoft.com/office/powerpoint/2010/main" val="600691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950B1-23B5-B6B1-ADD7-51E4717F993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A970E25-3C02-7DD4-876B-3AB86E91455A}"/>
              </a:ext>
            </a:extLst>
          </p:cNvPr>
          <p:cNvSpPr>
            <a:spLocks noGrp="1"/>
          </p:cNvSpPr>
          <p:nvPr>
            <p:ph idx="1"/>
          </p:nvPr>
        </p:nvSpPr>
        <p:spPr/>
        <p:txBody>
          <a:bodyPr/>
          <a:lstStyle/>
          <a:p>
            <a:r>
              <a:rPr lang="en-US" dirty="0"/>
              <a:t>Display the element of the list</a:t>
            </a:r>
          </a:p>
          <a:p>
            <a:pPr marL="0" indent="0">
              <a:buNone/>
            </a:pPr>
            <a:endParaRPr lang="en-IN" dirty="0"/>
          </a:p>
        </p:txBody>
      </p:sp>
      <p:pic>
        <p:nvPicPr>
          <p:cNvPr id="5" name="Picture 4">
            <a:extLst>
              <a:ext uri="{FF2B5EF4-FFF2-40B4-BE49-F238E27FC236}">
                <a16:creationId xmlns:a16="http://schemas.microsoft.com/office/drawing/2014/main" id="{668BF8A2-B6E9-3869-65E2-42BEF92D36C8}"/>
              </a:ext>
            </a:extLst>
          </p:cNvPr>
          <p:cNvPicPr>
            <a:picLocks noChangeAspect="1"/>
          </p:cNvPicPr>
          <p:nvPr/>
        </p:nvPicPr>
        <p:blipFill>
          <a:blip r:embed="rId2"/>
          <a:stretch>
            <a:fillRect/>
          </a:stretch>
        </p:blipFill>
        <p:spPr>
          <a:xfrm>
            <a:off x="838200" y="2519362"/>
            <a:ext cx="5946422" cy="2538060"/>
          </a:xfrm>
          <a:prstGeom prst="rect">
            <a:avLst/>
          </a:prstGeom>
        </p:spPr>
      </p:pic>
    </p:spTree>
    <p:extLst>
      <p:ext uri="{BB962C8B-B14F-4D97-AF65-F5344CB8AC3E}">
        <p14:creationId xmlns:p14="http://schemas.microsoft.com/office/powerpoint/2010/main" val="942632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E3A86-8EEA-4D2F-8D45-76B1453E170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178B610-373C-F345-240F-8DD86F0703B5}"/>
              </a:ext>
            </a:extLst>
          </p:cNvPr>
          <p:cNvSpPr>
            <a:spLocks noGrp="1"/>
          </p:cNvSpPr>
          <p:nvPr>
            <p:ph idx="1"/>
          </p:nvPr>
        </p:nvSpPr>
        <p:spPr/>
        <p:txBody>
          <a:bodyPr>
            <a:normAutofit fontScale="92500" lnSpcReduction="20000"/>
          </a:bodyPr>
          <a:lstStyle/>
          <a:p>
            <a:r>
              <a:rPr lang="en-US" dirty="0"/>
              <a:t>An array is a very useful data structure provided in programming languages. However, it has at least two limitations:</a:t>
            </a:r>
          </a:p>
          <a:p>
            <a:pPr marL="0" indent="0">
              <a:buNone/>
            </a:pPr>
            <a:r>
              <a:rPr lang="en-US" dirty="0"/>
              <a:t> (1) changing the size of the array requires creating a new array and then copying all data from the array with the old size to the array with the new size.</a:t>
            </a:r>
          </a:p>
          <a:p>
            <a:pPr marL="0" indent="0">
              <a:buNone/>
            </a:pPr>
            <a:r>
              <a:rPr lang="en-US" dirty="0"/>
              <a:t>(2) the data in the array are next to each other sequentially in memory, which means that inserting an item inside the array requires shifting some other data in this array. </a:t>
            </a:r>
          </a:p>
          <a:p>
            <a:r>
              <a:rPr lang="en-US" dirty="0"/>
              <a:t>This limitation can be overcome by using linked structures. A linked structure is a collection of nodes storing data and links to other nodes</a:t>
            </a:r>
          </a:p>
          <a:p>
            <a:r>
              <a:rPr lang="en-US" b="1" i="0" dirty="0">
                <a:effectLst/>
                <a:latin typeface="Roboto" panose="02000000000000000000" pitchFamily="2" charset="0"/>
              </a:rPr>
              <a:t>A linked list </a:t>
            </a:r>
            <a:r>
              <a:rPr lang="en-US" b="0" i="0" dirty="0">
                <a:effectLst/>
                <a:latin typeface="Roboto" panose="02000000000000000000" pitchFamily="2" charset="0"/>
              </a:rPr>
              <a:t>is a </a:t>
            </a:r>
            <a:r>
              <a:rPr lang="en-US" b="0" i="0" dirty="0">
                <a:effectLst/>
              </a:rPr>
              <a:t>linear </a:t>
            </a:r>
            <a:r>
              <a:rPr lang="en-US" b="0" i="0" u="none" strike="noStrike" dirty="0">
                <a:effectLst/>
                <a:hlinkClick r:id="rId2" tooltip="data structure">
                  <a:extLst>
                    <a:ext uri="{A12FA001-AC4F-418D-AE19-62706E023703}">
                      <ahyp:hlinkClr xmlns:ahyp="http://schemas.microsoft.com/office/drawing/2018/hyperlinkcolor" val="tx"/>
                    </a:ext>
                  </a:extLst>
                </a:hlinkClick>
              </a:rPr>
              <a:t>data structure</a:t>
            </a:r>
            <a:r>
              <a:rPr lang="en-US" b="0" i="0" dirty="0">
                <a:effectLst/>
              </a:rPr>
              <a:t> that stores a collection of data elements dynamically</a:t>
            </a:r>
            <a:r>
              <a:rPr lang="en-US" b="0" i="0" dirty="0">
                <a:solidFill>
                  <a:srgbClr val="51565E"/>
                </a:solidFill>
                <a:effectLst/>
              </a:rPr>
              <a:t>.</a:t>
            </a:r>
          </a:p>
          <a:p>
            <a:endParaRPr lang="en-IN" dirty="0"/>
          </a:p>
        </p:txBody>
      </p:sp>
    </p:spTree>
    <p:extLst>
      <p:ext uri="{BB962C8B-B14F-4D97-AF65-F5344CB8AC3E}">
        <p14:creationId xmlns:p14="http://schemas.microsoft.com/office/powerpoint/2010/main" val="915991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98A87-D1CE-EE69-8ED2-4580849A2F8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02BE45C-87D2-5EC9-D9E9-CD6377565AD5}"/>
              </a:ext>
            </a:extLst>
          </p:cNvPr>
          <p:cNvSpPr>
            <a:spLocks noGrp="1"/>
          </p:cNvSpPr>
          <p:nvPr>
            <p:ph idx="1"/>
          </p:nvPr>
        </p:nvSpPr>
        <p:spPr/>
        <p:txBody>
          <a:bodyPr>
            <a:normAutofit lnSpcReduction="10000"/>
          </a:bodyPr>
          <a:lstStyle/>
          <a:p>
            <a:r>
              <a:rPr lang="en-US" b="0" i="0" dirty="0">
                <a:solidFill>
                  <a:srgbClr val="51565E"/>
                </a:solidFill>
                <a:effectLst/>
                <a:latin typeface="Roboto" panose="020F0502020204030204" pitchFamily="2" charset="0"/>
              </a:rPr>
              <a:t>A </a:t>
            </a:r>
            <a:r>
              <a:rPr lang="en-US" b="1" i="0" dirty="0">
                <a:solidFill>
                  <a:srgbClr val="51565E"/>
                </a:solidFill>
                <a:effectLst/>
                <a:latin typeface="Roboto" panose="020F0502020204030204" pitchFamily="2" charset="0"/>
              </a:rPr>
              <a:t>linked list </a:t>
            </a:r>
            <a:r>
              <a:rPr lang="en-US" b="0" i="0" dirty="0">
                <a:solidFill>
                  <a:srgbClr val="51565E"/>
                </a:solidFill>
                <a:effectLst/>
                <a:latin typeface="Roboto" panose="020F0502020204030204" pitchFamily="2" charset="0"/>
              </a:rPr>
              <a:t>consists of a data element known as a node. And each node consists of two fields: </a:t>
            </a:r>
          </a:p>
          <a:p>
            <a:pPr>
              <a:buFont typeface="Wingdings" panose="05000000000000000000" pitchFamily="2" charset="2"/>
              <a:buChar char="ü"/>
            </a:pPr>
            <a:r>
              <a:rPr lang="en-US" b="0" i="0" dirty="0">
                <a:solidFill>
                  <a:srgbClr val="51565E"/>
                </a:solidFill>
                <a:effectLst/>
                <a:latin typeface="Roboto" panose="020F0502020204030204" pitchFamily="2" charset="0"/>
              </a:rPr>
              <a:t>one field has data, </a:t>
            </a:r>
          </a:p>
          <a:p>
            <a:pPr>
              <a:buFont typeface="Wingdings" panose="05000000000000000000" pitchFamily="2" charset="2"/>
              <a:buChar char="ü"/>
            </a:pPr>
            <a:r>
              <a:rPr lang="en-US" b="0" i="0" dirty="0">
                <a:solidFill>
                  <a:srgbClr val="51565E"/>
                </a:solidFill>
                <a:effectLst/>
                <a:latin typeface="Roboto" panose="020F0502020204030204" pitchFamily="2" charset="0"/>
              </a:rPr>
              <a:t> second field of the node has an address that keeps a reference to the next node.</a:t>
            </a:r>
          </a:p>
          <a:p>
            <a:pPr algn="l">
              <a:buFont typeface="Arial" panose="020B0604020202020204" pitchFamily="34" charset="0"/>
              <a:buChar char="•"/>
            </a:pPr>
            <a:r>
              <a:rPr lang="en-US" b="0" i="0" dirty="0">
                <a:solidFill>
                  <a:srgbClr val="51565E"/>
                </a:solidFill>
                <a:effectLst/>
                <a:latin typeface="Roboto" panose="02000000000000000000" pitchFamily="2" charset="0"/>
              </a:rPr>
              <a:t>The last node contains null in its second field because it will point to no node.</a:t>
            </a:r>
          </a:p>
          <a:p>
            <a:pPr algn="l">
              <a:buFont typeface="Arial" panose="020B0604020202020204" pitchFamily="34" charset="0"/>
              <a:buChar char="•"/>
            </a:pPr>
            <a:r>
              <a:rPr lang="en-US" b="0" i="0" dirty="0">
                <a:solidFill>
                  <a:srgbClr val="51565E"/>
                </a:solidFill>
                <a:effectLst/>
                <a:latin typeface="Roboto" panose="02000000000000000000" pitchFamily="2" charset="0"/>
              </a:rPr>
              <a:t>A linked list can grow and shrink its size, as per the requirement.</a:t>
            </a:r>
          </a:p>
          <a:p>
            <a:pPr algn="l">
              <a:buFont typeface="Arial" panose="020B0604020202020204" pitchFamily="34" charset="0"/>
              <a:buChar char="•"/>
            </a:pPr>
            <a:r>
              <a:rPr lang="en-US" b="0" i="0" dirty="0">
                <a:solidFill>
                  <a:srgbClr val="51565E"/>
                </a:solidFill>
                <a:effectLst/>
                <a:latin typeface="Roboto" panose="02000000000000000000" pitchFamily="2" charset="0"/>
              </a:rPr>
              <a:t>It does not waste memory space.</a:t>
            </a:r>
          </a:p>
          <a:p>
            <a:endParaRPr lang="en-US" b="0" i="0" dirty="0">
              <a:solidFill>
                <a:srgbClr val="51565E"/>
              </a:solidFill>
              <a:effectLst/>
              <a:latin typeface="Roboto" panose="020F0502020204030204" pitchFamily="2" charset="0"/>
            </a:endParaRPr>
          </a:p>
          <a:p>
            <a:pPr>
              <a:buFont typeface="Wingdings" panose="05000000000000000000" pitchFamily="2" charset="2"/>
              <a:buChar char="ü"/>
            </a:pPr>
            <a:endParaRPr lang="en-IN" dirty="0"/>
          </a:p>
        </p:txBody>
      </p:sp>
    </p:spTree>
    <p:extLst>
      <p:ext uri="{BB962C8B-B14F-4D97-AF65-F5344CB8AC3E}">
        <p14:creationId xmlns:p14="http://schemas.microsoft.com/office/powerpoint/2010/main" val="272018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67BEE-1A2D-2973-EAB9-A19E29BE157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0875A6F-6EEE-9E75-E5AA-EB361FEE5ED1}"/>
              </a:ext>
            </a:extLst>
          </p:cNvPr>
          <p:cNvPicPr>
            <a:picLocks noGrp="1" noChangeAspect="1"/>
          </p:cNvPicPr>
          <p:nvPr>
            <p:ph idx="1"/>
          </p:nvPr>
        </p:nvPicPr>
        <p:blipFill>
          <a:blip r:embed="rId2"/>
          <a:stretch>
            <a:fillRect/>
          </a:stretch>
        </p:blipFill>
        <p:spPr>
          <a:xfrm>
            <a:off x="1436511" y="2431256"/>
            <a:ext cx="7954393" cy="3461543"/>
          </a:xfrm>
        </p:spPr>
      </p:pic>
    </p:spTree>
    <p:extLst>
      <p:ext uri="{BB962C8B-B14F-4D97-AF65-F5344CB8AC3E}">
        <p14:creationId xmlns:p14="http://schemas.microsoft.com/office/powerpoint/2010/main" val="3844034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B2F40-99BC-3A01-A9C0-05CC01549BD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0ED2042-27AC-EA6E-1B6F-91217AD5C827}"/>
              </a:ext>
            </a:extLst>
          </p:cNvPr>
          <p:cNvSpPr>
            <a:spLocks noGrp="1"/>
          </p:cNvSpPr>
          <p:nvPr>
            <p:ph idx="1"/>
          </p:nvPr>
        </p:nvSpPr>
        <p:spPr/>
        <p:txBody>
          <a:bodyPr/>
          <a:lstStyle/>
          <a:p>
            <a:pPr marL="0" indent="0">
              <a:buNone/>
            </a:pPr>
            <a:r>
              <a:rPr lang="en-US" dirty="0"/>
              <a:t>LINK LIST REPRESENTATION</a:t>
            </a:r>
          </a:p>
          <a:p>
            <a:pPr marL="0" indent="0">
              <a:buNone/>
            </a:pPr>
            <a:endParaRPr lang="en-US" dirty="0"/>
          </a:p>
          <a:p>
            <a:pPr marL="0" indent="0">
              <a:buNone/>
            </a:pPr>
            <a:endParaRPr lang="en-US" dirty="0"/>
          </a:p>
          <a:p>
            <a:pPr marL="0" indent="0">
              <a:buNone/>
            </a:pPr>
            <a:endParaRPr lang="en-IN" dirty="0"/>
          </a:p>
        </p:txBody>
      </p:sp>
      <p:pic>
        <p:nvPicPr>
          <p:cNvPr id="5" name="Picture 4">
            <a:extLst>
              <a:ext uri="{FF2B5EF4-FFF2-40B4-BE49-F238E27FC236}">
                <a16:creationId xmlns:a16="http://schemas.microsoft.com/office/drawing/2014/main" id="{26A08232-DEB9-C447-E6CB-4955183E2D7D}"/>
              </a:ext>
            </a:extLst>
          </p:cNvPr>
          <p:cNvPicPr>
            <a:picLocks noChangeAspect="1"/>
          </p:cNvPicPr>
          <p:nvPr/>
        </p:nvPicPr>
        <p:blipFill>
          <a:blip r:embed="rId2"/>
          <a:stretch>
            <a:fillRect/>
          </a:stretch>
        </p:blipFill>
        <p:spPr>
          <a:xfrm>
            <a:off x="838200" y="2434872"/>
            <a:ext cx="5912556" cy="1572683"/>
          </a:xfrm>
          <a:prstGeom prst="rect">
            <a:avLst/>
          </a:prstGeom>
        </p:spPr>
      </p:pic>
      <p:sp>
        <p:nvSpPr>
          <p:cNvPr id="7" name="TextBox 6">
            <a:extLst>
              <a:ext uri="{FF2B5EF4-FFF2-40B4-BE49-F238E27FC236}">
                <a16:creationId xmlns:a16="http://schemas.microsoft.com/office/drawing/2014/main" id="{4CC564E0-F452-B14E-9188-225D6DFC85A4}"/>
              </a:ext>
            </a:extLst>
          </p:cNvPr>
          <p:cNvSpPr txBox="1"/>
          <p:nvPr/>
        </p:nvSpPr>
        <p:spPr>
          <a:xfrm>
            <a:off x="564445" y="4445927"/>
            <a:ext cx="10789354" cy="2585323"/>
          </a:xfrm>
          <a:prstGeom prst="rect">
            <a:avLst/>
          </a:prstGeom>
          <a:noFill/>
        </p:spPr>
        <p:txBody>
          <a:bodyPr wrap="square">
            <a:spAutoFit/>
          </a:bodyPr>
          <a:lstStyle/>
          <a:p>
            <a:pPr marL="285750" indent="-285750">
              <a:buFont typeface="Arial" panose="020B0604020202020204" pitchFamily="34" charset="0"/>
              <a:buChar char="•"/>
            </a:pPr>
            <a:r>
              <a:rPr lang="en-US" dirty="0"/>
              <a:t>The linked list instance must keep a reference to the first node of the list, known as the head.</a:t>
            </a:r>
          </a:p>
          <a:p>
            <a:pPr marL="285750" indent="-285750">
              <a:buFont typeface="Arial" panose="020B0604020202020204" pitchFamily="34" charset="0"/>
              <a:buChar char="•"/>
            </a:pPr>
            <a:r>
              <a:rPr lang="en-US" dirty="0"/>
              <a:t>The last node of the list is known as the tail.</a:t>
            </a:r>
          </a:p>
          <a:p>
            <a:pPr marL="285750" indent="-285750">
              <a:buFont typeface="Arial" panose="020B0604020202020204" pitchFamily="34" charset="0"/>
              <a:buChar char="•"/>
            </a:pPr>
            <a:r>
              <a:rPr lang="en-US" dirty="0"/>
              <a:t>The tail of a list can be found by traversing the linked list— starting at the head and moving from one node to another by following each node’s next reference. We can identify the tail as the node having null as its next reference.</a:t>
            </a:r>
          </a:p>
          <a:p>
            <a:pPr marL="285750" indent="-285750">
              <a:buFont typeface="Arial" panose="020B0604020202020204" pitchFamily="34" charset="0"/>
              <a:buChar char="•"/>
            </a:pPr>
            <a:r>
              <a:rPr lang="en-US" dirty="0"/>
              <a:t>each node consists of the data element and a link to the next node in the list.</a:t>
            </a:r>
          </a:p>
          <a:p>
            <a:pPr marL="285750" indent="-285750">
              <a:buFont typeface="Arial" panose="020B0604020202020204" pitchFamily="34" charset="0"/>
              <a:buChar char="•"/>
            </a:pPr>
            <a:r>
              <a:rPr lang="en-US" dirty="0"/>
              <a:t>A header node is an extra node in a linked list that holds no data but serves to satisfy the requirement that every node containing an item have a previous node in the list.</a:t>
            </a:r>
          </a:p>
          <a:p>
            <a:endParaRPr lang="en-IN" dirty="0"/>
          </a:p>
        </p:txBody>
      </p:sp>
    </p:spTree>
    <p:extLst>
      <p:ext uri="{BB962C8B-B14F-4D97-AF65-F5344CB8AC3E}">
        <p14:creationId xmlns:p14="http://schemas.microsoft.com/office/powerpoint/2010/main" val="4175428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DFE9C-B9B4-B74E-4D57-79E83F070A8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A03002B-114E-F8A1-62EE-61E7D1A61490}"/>
              </a:ext>
            </a:extLst>
          </p:cNvPr>
          <p:cNvSpPr>
            <a:spLocks noGrp="1"/>
          </p:cNvSpPr>
          <p:nvPr>
            <p:ph idx="1"/>
          </p:nvPr>
        </p:nvSpPr>
        <p:spPr/>
        <p:txBody>
          <a:bodyPr>
            <a:normAutofit fontScale="62500" lnSpcReduction="20000"/>
          </a:bodyPr>
          <a:lstStyle/>
          <a:p>
            <a:pPr marL="0" indent="0" algn="l" fontAlgn="base">
              <a:buNone/>
            </a:pPr>
            <a:r>
              <a:rPr lang="en-US" b="1" i="0" u="sng" dirty="0">
                <a:solidFill>
                  <a:srgbClr val="273239"/>
                </a:solidFill>
                <a:effectLst/>
                <a:latin typeface="Nunito" pitchFamily="2" charset="0"/>
              </a:rPr>
              <a:t>Advantages Of Linked List</a:t>
            </a:r>
            <a:r>
              <a:rPr lang="en-US" b="1" i="0" dirty="0">
                <a:solidFill>
                  <a:srgbClr val="273239"/>
                </a:solidFill>
                <a:effectLst/>
                <a:latin typeface="Nunito" pitchFamily="2" charset="0"/>
              </a:rPr>
              <a:t>:</a:t>
            </a:r>
          </a:p>
          <a:p>
            <a:pPr algn="l" fontAlgn="base">
              <a:buFont typeface="Arial" panose="020B0604020202020204" pitchFamily="34" charset="0"/>
              <a:buChar char="•"/>
            </a:pPr>
            <a:r>
              <a:rPr lang="en-US" b="1" i="0" dirty="0">
                <a:solidFill>
                  <a:srgbClr val="273239"/>
                </a:solidFill>
                <a:effectLst/>
                <a:latin typeface="Nunito" pitchFamily="2" charset="0"/>
              </a:rPr>
              <a:t>Dynamic data structure:</a:t>
            </a:r>
            <a:r>
              <a:rPr lang="en-US" b="0" i="0" dirty="0">
                <a:solidFill>
                  <a:srgbClr val="273239"/>
                </a:solidFill>
                <a:effectLst/>
                <a:latin typeface="Nunito" pitchFamily="2" charset="0"/>
              </a:rPr>
              <a:t> A linked list is a dynamic arrangement so it can grow and shrink at runtime by allocating and </a:t>
            </a:r>
            <a:r>
              <a:rPr lang="en-US" b="0" i="0" u="sng" dirty="0">
                <a:solidFill>
                  <a:srgbClr val="273239"/>
                </a:solidFill>
                <a:effectLst/>
                <a:latin typeface="Nunito" pitchFamily="2" charset="0"/>
                <a:hlinkClick r:id="rId2"/>
              </a:rPr>
              <a:t>deallocating memory</a:t>
            </a:r>
            <a:r>
              <a:rPr lang="en-US" b="0" i="0" dirty="0">
                <a:solidFill>
                  <a:srgbClr val="273239"/>
                </a:solidFill>
                <a:effectLst/>
                <a:latin typeface="Nunito" pitchFamily="2" charset="0"/>
              </a:rPr>
              <a:t>. So there is no need to give the initial size of the linked list.</a:t>
            </a:r>
          </a:p>
          <a:p>
            <a:pPr algn="l" fontAlgn="base">
              <a:buFont typeface="Arial" panose="020B0604020202020204" pitchFamily="34" charset="0"/>
              <a:buChar char="•"/>
            </a:pPr>
            <a:r>
              <a:rPr lang="en-US" b="1" i="0" dirty="0">
                <a:solidFill>
                  <a:srgbClr val="273239"/>
                </a:solidFill>
                <a:effectLst/>
                <a:latin typeface="Nunito" pitchFamily="2" charset="0"/>
              </a:rPr>
              <a:t>No memory wastage:</a:t>
            </a:r>
            <a:r>
              <a:rPr lang="en-US" b="0" i="0" dirty="0">
                <a:solidFill>
                  <a:srgbClr val="273239"/>
                </a:solidFill>
                <a:effectLst/>
                <a:latin typeface="Nunito" pitchFamily="2" charset="0"/>
              </a:rPr>
              <a:t> In the Linked list, efficient memory utilization can be achieved since the size of the linked list increase or decrease at run time so there is no memory wastage and there is no need to pre-allocate the memory.</a:t>
            </a:r>
          </a:p>
          <a:p>
            <a:pPr algn="l" fontAlgn="base">
              <a:buFont typeface="Arial" panose="020B0604020202020204" pitchFamily="34" charset="0"/>
              <a:buChar char="•"/>
            </a:pPr>
            <a:r>
              <a:rPr lang="en-US" b="1" i="0" dirty="0">
                <a:solidFill>
                  <a:srgbClr val="273239"/>
                </a:solidFill>
                <a:effectLst/>
                <a:latin typeface="Nunito" pitchFamily="2" charset="0"/>
              </a:rPr>
              <a:t>Implementation:</a:t>
            </a:r>
            <a:r>
              <a:rPr lang="en-US" b="0" i="0" dirty="0">
                <a:solidFill>
                  <a:srgbClr val="273239"/>
                </a:solidFill>
                <a:effectLst/>
                <a:latin typeface="Nunito" pitchFamily="2" charset="0"/>
              </a:rPr>
              <a:t> Linear data structures like stacks and queues are often easily implemented using a linked list.</a:t>
            </a:r>
          </a:p>
          <a:p>
            <a:pPr algn="l" fontAlgn="base">
              <a:buFont typeface="Arial" panose="020B0604020202020204" pitchFamily="34" charset="0"/>
              <a:buChar char="•"/>
            </a:pPr>
            <a:r>
              <a:rPr lang="en-US" b="1" i="0" dirty="0">
                <a:solidFill>
                  <a:srgbClr val="273239"/>
                </a:solidFill>
                <a:effectLst/>
                <a:latin typeface="Nunito" pitchFamily="2" charset="0"/>
              </a:rPr>
              <a:t>Insertion and Deletion Operations:</a:t>
            </a:r>
            <a:r>
              <a:rPr lang="en-US" b="0" i="0" dirty="0">
                <a:solidFill>
                  <a:srgbClr val="273239"/>
                </a:solidFill>
                <a:effectLst/>
                <a:latin typeface="Nunito" pitchFamily="2" charset="0"/>
              </a:rPr>
              <a:t> Insertion and deletion operations are quite easier in the linked list. There is no need to shift elements after the insertion or deletion of an element only the address present in the next pointer needs to be updated. </a:t>
            </a:r>
          </a:p>
          <a:p>
            <a:pPr algn="l" fontAlgn="base">
              <a:buFont typeface="Arial" panose="020B0604020202020204" pitchFamily="34" charset="0"/>
              <a:buChar char="•"/>
            </a:pPr>
            <a:r>
              <a:rPr lang="en-US" b="1" i="0" dirty="0">
                <a:solidFill>
                  <a:srgbClr val="273239"/>
                </a:solidFill>
                <a:effectLst/>
                <a:latin typeface="Nunito" pitchFamily="2" charset="0"/>
              </a:rPr>
              <a:t>Flexible: </a:t>
            </a:r>
            <a:r>
              <a:rPr lang="en-US" b="0" i="0" dirty="0">
                <a:solidFill>
                  <a:srgbClr val="273239"/>
                </a:solidFill>
                <a:effectLst/>
                <a:latin typeface="Nunito" pitchFamily="2" charset="0"/>
              </a:rPr>
              <a:t>This is because the elements in Linked List  are not stored in contiguous memory locations unlike the array.</a:t>
            </a:r>
          </a:p>
          <a:p>
            <a:pPr algn="l" fontAlgn="base">
              <a:buFont typeface="Arial" panose="020B0604020202020204" pitchFamily="34" charset="0"/>
              <a:buChar char="•"/>
            </a:pPr>
            <a:r>
              <a:rPr lang="en-US" b="1" i="0" dirty="0">
                <a:solidFill>
                  <a:srgbClr val="273239"/>
                </a:solidFill>
                <a:effectLst/>
                <a:latin typeface="Nunito" pitchFamily="2" charset="0"/>
              </a:rPr>
              <a:t>Efficient for large data:</a:t>
            </a:r>
            <a:r>
              <a:rPr lang="en-US" b="0" i="0" dirty="0">
                <a:solidFill>
                  <a:srgbClr val="273239"/>
                </a:solidFill>
                <a:effectLst/>
                <a:latin typeface="Nunito" pitchFamily="2" charset="0"/>
              </a:rPr>
              <a:t> When working with large datasets linked lists play a crucial role as it can grow and shrink dynamically.</a:t>
            </a:r>
          </a:p>
          <a:p>
            <a:pPr algn="l" fontAlgn="base">
              <a:buFont typeface="Arial" panose="020B0604020202020204" pitchFamily="34" charset="0"/>
              <a:buChar char="•"/>
            </a:pPr>
            <a:r>
              <a:rPr lang="en-US" b="1" i="0" dirty="0">
                <a:solidFill>
                  <a:srgbClr val="273239"/>
                </a:solidFill>
                <a:effectLst/>
                <a:latin typeface="Nunito" pitchFamily="2" charset="0"/>
              </a:rPr>
              <a:t>Scalability: </a:t>
            </a:r>
            <a:r>
              <a:rPr lang="en-US" b="0" i="0" dirty="0">
                <a:solidFill>
                  <a:srgbClr val="273239"/>
                </a:solidFill>
                <a:effectLst/>
                <a:latin typeface="Nunito" pitchFamily="2" charset="0"/>
              </a:rPr>
              <a:t>Contains the ability to add or remove elements at any position.</a:t>
            </a:r>
          </a:p>
          <a:p>
            <a:endParaRPr lang="en-IN" dirty="0"/>
          </a:p>
        </p:txBody>
      </p:sp>
    </p:spTree>
    <p:extLst>
      <p:ext uri="{BB962C8B-B14F-4D97-AF65-F5344CB8AC3E}">
        <p14:creationId xmlns:p14="http://schemas.microsoft.com/office/powerpoint/2010/main" val="1568078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1B5A7-B9A8-8A45-C28C-4C188212987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5A878C8-D228-198B-130F-474D71FB15F4}"/>
              </a:ext>
            </a:extLst>
          </p:cNvPr>
          <p:cNvSpPr>
            <a:spLocks noGrp="1"/>
          </p:cNvSpPr>
          <p:nvPr>
            <p:ph idx="1"/>
          </p:nvPr>
        </p:nvSpPr>
        <p:spPr/>
        <p:txBody>
          <a:bodyPr>
            <a:normAutofit fontScale="62500" lnSpcReduction="20000"/>
          </a:bodyPr>
          <a:lstStyle/>
          <a:p>
            <a:pPr algn="l" fontAlgn="base"/>
            <a:r>
              <a:rPr lang="en-US" b="1" i="0" u="sng" dirty="0">
                <a:solidFill>
                  <a:srgbClr val="273239"/>
                </a:solidFill>
                <a:effectLst/>
                <a:latin typeface="Nunito" pitchFamily="2" charset="0"/>
              </a:rPr>
              <a:t>Disadvantages Of Linked List</a:t>
            </a:r>
            <a:r>
              <a:rPr lang="en-US" b="1" i="0" dirty="0">
                <a:solidFill>
                  <a:srgbClr val="273239"/>
                </a:solidFill>
                <a:effectLst/>
                <a:latin typeface="Nunito" pitchFamily="2" charset="0"/>
              </a:rPr>
              <a:t>:</a:t>
            </a:r>
          </a:p>
          <a:p>
            <a:pPr algn="l" fontAlgn="base">
              <a:buFont typeface="Arial" panose="020B0604020202020204" pitchFamily="34" charset="0"/>
              <a:buChar char="•"/>
            </a:pPr>
            <a:r>
              <a:rPr lang="en-US" b="1" i="0" dirty="0">
                <a:solidFill>
                  <a:srgbClr val="273239"/>
                </a:solidFill>
                <a:effectLst/>
                <a:latin typeface="Nunito" pitchFamily="2" charset="0"/>
              </a:rPr>
              <a:t>Memory usage:</a:t>
            </a:r>
            <a:r>
              <a:rPr lang="en-US" b="0" i="0" dirty="0">
                <a:solidFill>
                  <a:srgbClr val="273239"/>
                </a:solidFill>
                <a:effectLst/>
                <a:latin typeface="Nunito" pitchFamily="2" charset="0"/>
              </a:rPr>
              <a:t> More memory is required in the linked list as compared to an array. Because in a linked list, a </a:t>
            </a:r>
            <a:r>
              <a:rPr lang="en-US" b="0" i="0" u="sng" dirty="0">
                <a:solidFill>
                  <a:srgbClr val="273239"/>
                </a:solidFill>
                <a:effectLst/>
                <a:latin typeface="Nunito" pitchFamily="2" charset="0"/>
                <a:hlinkClick r:id="rId2"/>
              </a:rPr>
              <a:t>pointer</a:t>
            </a:r>
            <a:r>
              <a:rPr lang="en-US" b="0" i="0" dirty="0">
                <a:solidFill>
                  <a:srgbClr val="273239"/>
                </a:solidFill>
                <a:effectLst/>
                <a:latin typeface="Nunito" pitchFamily="2" charset="0"/>
              </a:rPr>
              <a:t> is also required to store the address of the next element and it requires extra memory for itself.</a:t>
            </a:r>
          </a:p>
          <a:p>
            <a:pPr algn="l" fontAlgn="base">
              <a:buFont typeface="Arial" panose="020B0604020202020204" pitchFamily="34" charset="0"/>
              <a:buChar char="•"/>
            </a:pPr>
            <a:r>
              <a:rPr lang="en-US" b="1" i="0" dirty="0">
                <a:solidFill>
                  <a:srgbClr val="273239"/>
                </a:solidFill>
                <a:effectLst/>
                <a:latin typeface="Nunito" pitchFamily="2" charset="0"/>
              </a:rPr>
              <a:t>Traversal:</a:t>
            </a:r>
            <a:r>
              <a:rPr lang="en-US" b="0" i="0" dirty="0">
                <a:solidFill>
                  <a:srgbClr val="273239"/>
                </a:solidFill>
                <a:effectLst/>
                <a:latin typeface="Nunito" pitchFamily="2" charset="0"/>
              </a:rPr>
              <a:t> In a </a:t>
            </a:r>
            <a:r>
              <a:rPr lang="en-US" b="0" i="0" u="sng" dirty="0">
                <a:solidFill>
                  <a:srgbClr val="273239"/>
                </a:solidFill>
                <a:effectLst/>
                <a:latin typeface="Nunito" pitchFamily="2" charset="0"/>
                <a:hlinkClick r:id="rId3"/>
              </a:rPr>
              <a:t>Linked list traversal</a:t>
            </a:r>
            <a:r>
              <a:rPr lang="en-US" b="0" i="0" dirty="0">
                <a:solidFill>
                  <a:srgbClr val="273239"/>
                </a:solidFill>
                <a:effectLst/>
                <a:latin typeface="Nunito" pitchFamily="2" charset="0"/>
              </a:rPr>
              <a:t> is more time-consuming as compared to an array. Direct access to an element is not possible in a linked list as in an array by index. For example, for accessing a node at position n, one has to traverse all the nodes before it.</a:t>
            </a:r>
          </a:p>
          <a:p>
            <a:pPr algn="l" fontAlgn="base">
              <a:buFont typeface="Arial" panose="020B0604020202020204" pitchFamily="34" charset="0"/>
              <a:buChar char="•"/>
            </a:pPr>
            <a:r>
              <a:rPr lang="en-US" b="1" i="0" dirty="0">
                <a:solidFill>
                  <a:srgbClr val="273239"/>
                </a:solidFill>
                <a:effectLst/>
                <a:latin typeface="Nunito" pitchFamily="2" charset="0"/>
              </a:rPr>
              <a:t>Reverse Traversing:</a:t>
            </a:r>
            <a:r>
              <a:rPr lang="en-US" b="0" i="0" dirty="0">
                <a:solidFill>
                  <a:srgbClr val="273239"/>
                </a:solidFill>
                <a:effectLst/>
                <a:latin typeface="Nunito" pitchFamily="2" charset="0"/>
              </a:rPr>
              <a:t> In a singly linked list reverse traversing is not possible, but in the case of a </a:t>
            </a:r>
            <a:r>
              <a:rPr lang="en-US" b="0" i="0" u="sng" dirty="0">
                <a:solidFill>
                  <a:srgbClr val="273239"/>
                </a:solidFill>
                <a:effectLst/>
                <a:latin typeface="Nunito" pitchFamily="2" charset="0"/>
                <a:hlinkClick r:id="rId4"/>
              </a:rPr>
              <a:t>doubly-linked list</a:t>
            </a:r>
            <a:r>
              <a:rPr lang="en-US" b="0" i="0" dirty="0">
                <a:solidFill>
                  <a:srgbClr val="273239"/>
                </a:solidFill>
                <a:effectLst/>
                <a:latin typeface="Nunito" pitchFamily="2" charset="0"/>
              </a:rPr>
              <a:t>, it can be possible as it contains a pointer to the previously connected nodes with each node. For performing this extra memory is required for the back pointer hence, there is a wastage of memory.</a:t>
            </a:r>
          </a:p>
          <a:p>
            <a:pPr algn="l" fontAlgn="base">
              <a:buFont typeface="Arial" panose="020B0604020202020204" pitchFamily="34" charset="0"/>
              <a:buChar char="•"/>
            </a:pPr>
            <a:r>
              <a:rPr lang="en-US" b="1" i="0" dirty="0">
                <a:solidFill>
                  <a:srgbClr val="273239"/>
                </a:solidFill>
                <a:effectLst/>
                <a:latin typeface="Nunito" pitchFamily="2" charset="0"/>
              </a:rPr>
              <a:t>Random Access:</a:t>
            </a:r>
            <a:r>
              <a:rPr lang="en-US" b="0" i="0" dirty="0">
                <a:solidFill>
                  <a:srgbClr val="273239"/>
                </a:solidFill>
                <a:effectLst/>
                <a:latin typeface="Nunito" pitchFamily="2" charset="0"/>
              </a:rPr>
              <a:t> Random access is not possible in a linked list due to its </a:t>
            </a:r>
            <a:r>
              <a:rPr lang="en-US" b="0" i="0" u="sng" dirty="0">
                <a:solidFill>
                  <a:srgbClr val="273239"/>
                </a:solidFill>
                <a:effectLst/>
                <a:latin typeface="Nunito" pitchFamily="2" charset="0"/>
                <a:hlinkClick r:id="rId5"/>
              </a:rPr>
              <a:t>dynamic memory allocation</a:t>
            </a:r>
            <a:r>
              <a:rPr lang="en-US" b="0" i="0" dirty="0">
                <a:solidFill>
                  <a:srgbClr val="273239"/>
                </a:solidFill>
                <a:effectLst/>
                <a:latin typeface="Nunito" pitchFamily="2" charset="0"/>
              </a:rPr>
              <a:t>.</a:t>
            </a:r>
          </a:p>
          <a:p>
            <a:pPr algn="l" fontAlgn="base">
              <a:buFont typeface="Arial" panose="020B0604020202020204" pitchFamily="34" charset="0"/>
              <a:buChar char="•"/>
            </a:pPr>
            <a:r>
              <a:rPr lang="en-US" b="1" i="0" dirty="0">
                <a:solidFill>
                  <a:srgbClr val="273239"/>
                </a:solidFill>
                <a:effectLst/>
                <a:latin typeface="Nunito" pitchFamily="2" charset="0"/>
              </a:rPr>
              <a:t>Lower efficiency at times:</a:t>
            </a:r>
            <a:r>
              <a:rPr lang="en-US" b="0" i="0" dirty="0">
                <a:solidFill>
                  <a:srgbClr val="273239"/>
                </a:solidFill>
                <a:effectLst/>
                <a:latin typeface="Nunito" pitchFamily="2" charset="0"/>
              </a:rPr>
              <a:t> For certain operations, such as searching for an element or iterating through the list, can be slower in a linked list.</a:t>
            </a:r>
          </a:p>
          <a:p>
            <a:pPr algn="l" fontAlgn="base">
              <a:buFont typeface="Arial" panose="020B0604020202020204" pitchFamily="34" charset="0"/>
              <a:buChar char="•"/>
            </a:pPr>
            <a:r>
              <a:rPr lang="en-US" b="1" i="0" dirty="0">
                <a:solidFill>
                  <a:srgbClr val="273239"/>
                </a:solidFill>
                <a:effectLst/>
                <a:latin typeface="Nunito" pitchFamily="2" charset="0"/>
              </a:rPr>
              <a:t>Complex implementation: </a:t>
            </a:r>
            <a:r>
              <a:rPr lang="en-US" b="0" i="0" dirty="0">
                <a:solidFill>
                  <a:srgbClr val="273239"/>
                </a:solidFill>
                <a:effectLst/>
                <a:latin typeface="Nunito" pitchFamily="2" charset="0"/>
              </a:rPr>
              <a:t> The linked list implementation is more complex when compared to array. It requires a complex programming understanding.</a:t>
            </a:r>
          </a:p>
          <a:p>
            <a:pPr marL="0" indent="0">
              <a:buNone/>
            </a:pPr>
            <a:endParaRPr lang="en-IN" dirty="0"/>
          </a:p>
        </p:txBody>
      </p:sp>
    </p:spTree>
    <p:extLst>
      <p:ext uri="{BB962C8B-B14F-4D97-AF65-F5344CB8AC3E}">
        <p14:creationId xmlns:p14="http://schemas.microsoft.com/office/powerpoint/2010/main" val="3276222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89A2B-8B1C-AE66-ED81-7A8F2163BFB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B7860C6-9124-0460-8B76-3B19B890D1DB}"/>
              </a:ext>
            </a:extLst>
          </p:cNvPr>
          <p:cNvSpPr>
            <a:spLocks noGrp="1"/>
          </p:cNvSpPr>
          <p:nvPr>
            <p:ph idx="1"/>
          </p:nvPr>
        </p:nvSpPr>
        <p:spPr/>
        <p:txBody>
          <a:bodyPr/>
          <a:lstStyle/>
          <a:p>
            <a:r>
              <a:rPr lang="en-US" b="1" i="0" dirty="0">
                <a:solidFill>
                  <a:srgbClr val="444444"/>
                </a:solidFill>
                <a:effectLst/>
                <a:latin typeface="Poppins" panose="020B0502040204020203" pitchFamily="2" charset="0"/>
              </a:rPr>
              <a:t>Difference between Array and Linked List</a:t>
            </a:r>
          </a:p>
          <a:p>
            <a:endParaRPr lang="en-IN" dirty="0"/>
          </a:p>
        </p:txBody>
      </p:sp>
      <p:graphicFrame>
        <p:nvGraphicFramePr>
          <p:cNvPr id="5" name="Table 4">
            <a:extLst>
              <a:ext uri="{FF2B5EF4-FFF2-40B4-BE49-F238E27FC236}">
                <a16:creationId xmlns:a16="http://schemas.microsoft.com/office/drawing/2014/main" id="{DE60ED74-E41E-C94C-18D0-401331901F69}"/>
              </a:ext>
            </a:extLst>
          </p:cNvPr>
          <p:cNvGraphicFramePr>
            <a:graphicFrameLocks noGrp="1"/>
          </p:cNvGraphicFramePr>
          <p:nvPr>
            <p:extLst>
              <p:ext uri="{D42A27DB-BD31-4B8C-83A1-F6EECF244321}">
                <p14:modId xmlns:p14="http://schemas.microsoft.com/office/powerpoint/2010/main" val="739494555"/>
              </p:ext>
            </p:extLst>
          </p:nvPr>
        </p:nvGraphicFramePr>
        <p:xfrm>
          <a:off x="838200" y="2213133"/>
          <a:ext cx="10769600" cy="4691004"/>
        </p:xfrm>
        <a:graphic>
          <a:graphicData uri="http://schemas.openxmlformats.org/drawingml/2006/table">
            <a:tbl>
              <a:tblPr firstRow="1" bandRow="1">
                <a:tableStyleId>{5C22544A-7EE6-4342-B048-85BDC9FD1C3A}</a:tableStyleId>
              </a:tblPr>
              <a:tblGrid>
                <a:gridCol w="5384800">
                  <a:extLst>
                    <a:ext uri="{9D8B030D-6E8A-4147-A177-3AD203B41FA5}">
                      <a16:colId xmlns:a16="http://schemas.microsoft.com/office/drawing/2014/main" val="1735850609"/>
                    </a:ext>
                  </a:extLst>
                </a:gridCol>
                <a:gridCol w="5384800">
                  <a:extLst>
                    <a:ext uri="{9D8B030D-6E8A-4147-A177-3AD203B41FA5}">
                      <a16:colId xmlns:a16="http://schemas.microsoft.com/office/drawing/2014/main" val="3577911112"/>
                    </a:ext>
                  </a:extLst>
                </a:gridCol>
              </a:tblGrid>
              <a:tr h="496868">
                <a:tc>
                  <a:txBody>
                    <a:bodyPr/>
                    <a:lstStyle/>
                    <a:p>
                      <a:r>
                        <a:rPr lang="en-US" dirty="0"/>
                        <a:t>ARRAY</a:t>
                      </a:r>
                      <a:endParaRPr lang="en-IN" dirty="0"/>
                    </a:p>
                  </a:txBody>
                  <a:tcPr/>
                </a:tc>
                <a:tc>
                  <a:txBody>
                    <a:bodyPr/>
                    <a:lstStyle/>
                    <a:p>
                      <a:r>
                        <a:rPr lang="en-US" dirty="0"/>
                        <a:t>LINKED LIST</a:t>
                      </a:r>
                      <a:endParaRPr lang="en-IN" dirty="0"/>
                    </a:p>
                  </a:txBody>
                  <a:tcPr/>
                </a:tc>
                <a:extLst>
                  <a:ext uri="{0D108BD9-81ED-4DB2-BD59-A6C34878D82A}">
                    <a16:rowId xmlns:a16="http://schemas.microsoft.com/office/drawing/2014/main" val="273013582"/>
                  </a:ext>
                </a:extLst>
              </a:tr>
              <a:tr h="496868">
                <a:tc>
                  <a:txBody>
                    <a:bodyPr/>
                    <a:lstStyle/>
                    <a:p>
                      <a:r>
                        <a:rPr lang="en-US" sz="1800" b="0" i="0" kern="1200" dirty="0">
                          <a:solidFill>
                            <a:schemeClr val="dk1"/>
                          </a:solidFill>
                          <a:effectLst/>
                          <a:latin typeface="+mn-lt"/>
                          <a:ea typeface="+mn-ea"/>
                          <a:cs typeface="+mn-cs"/>
                        </a:rPr>
                        <a:t>An array is a grouping of data elements of equivalent data type.</a:t>
                      </a:r>
                      <a:endParaRPr lang="en-IN" dirty="0"/>
                    </a:p>
                  </a:txBody>
                  <a:tcPr/>
                </a:tc>
                <a:tc>
                  <a:txBody>
                    <a:bodyPr/>
                    <a:lstStyle/>
                    <a:p>
                      <a:r>
                        <a:rPr lang="en-US" sz="1800" b="0" i="0" kern="1200" dirty="0">
                          <a:solidFill>
                            <a:schemeClr val="dk1"/>
                          </a:solidFill>
                          <a:effectLst/>
                          <a:latin typeface="+mn-lt"/>
                          <a:ea typeface="+mn-ea"/>
                          <a:cs typeface="+mn-cs"/>
                        </a:rPr>
                        <a:t>A linked list is a group of entities called a node. The node includes two segments: data and address.</a:t>
                      </a:r>
                      <a:endParaRPr lang="en-IN" dirty="0"/>
                    </a:p>
                  </a:txBody>
                  <a:tcPr/>
                </a:tc>
                <a:extLst>
                  <a:ext uri="{0D108BD9-81ED-4DB2-BD59-A6C34878D82A}">
                    <a16:rowId xmlns:a16="http://schemas.microsoft.com/office/drawing/2014/main" val="1249467925"/>
                  </a:ext>
                </a:extLst>
              </a:tr>
              <a:tr h="496868">
                <a:tc>
                  <a:txBody>
                    <a:bodyPr/>
                    <a:lstStyle/>
                    <a:p>
                      <a:r>
                        <a:rPr lang="en-US" sz="1800" b="0" i="0" kern="1200" dirty="0">
                          <a:solidFill>
                            <a:schemeClr val="dk1"/>
                          </a:solidFill>
                          <a:effectLst/>
                          <a:latin typeface="+mn-lt"/>
                          <a:ea typeface="+mn-ea"/>
                          <a:cs typeface="+mn-cs"/>
                        </a:rPr>
                        <a:t>It stores the data elements in a contiguous memory zone.</a:t>
                      </a:r>
                      <a:endParaRPr lang="en-IN" dirty="0"/>
                    </a:p>
                  </a:txBody>
                  <a:tcPr/>
                </a:tc>
                <a:tc>
                  <a:txBody>
                    <a:bodyPr/>
                    <a:lstStyle/>
                    <a:p>
                      <a:r>
                        <a:rPr lang="en-US" sz="1800" b="0" i="0" kern="1200" dirty="0">
                          <a:solidFill>
                            <a:schemeClr val="dk1"/>
                          </a:solidFill>
                          <a:effectLst/>
                          <a:latin typeface="+mn-lt"/>
                          <a:ea typeface="+mn-ea"/>
                          <a:cs typeface="+mn-cs"/>
                        </a:rPr>
                        <a:t>It stores elements randomly, or we can say anywhere in the memory zone.</a:t>
                      </a:r>
                      <a:endParaRPr lang="en-IN" dirty="0"/>
                    </a:p>
                  </a:txBody>
                  <a:tcPr/>
                </a:tc>
                <a:extLst>
                  <a:ext uri="{0D108BD9-81ED-4DB2-BD59-A6C34878D82A}">
                    <a16:rowId xmlns:a16="http://schemas.microsoft.com/office/drawing/2014/main" val="1376957473"/>
                  </a:ext>
                </a:extLst>
              </a:tr>
              <a:tr h="496868">
                <a:tc>
                  <a:txBody>
                    <a:bodyPr/>
                    <a:lstStyle/>
                    <a:p>
                      <a:r>
                        <a:rPr lang="en-US" sz="1800" b="0" i="0" kern="1200" dirty="0">
                          <a:solidFill>
                            <a:schemeClr val="dk1"/>
                          </a:solidFill>
                          <a:effectLst/>
                          <a:latin typeface="+mn-lt"/>
                          <a:ea typeface="+mn-ea"/>
                          <a:cs typeface="+mn-cs"/>
                        </a:rPr>
                        <a:t>In the case of an array, memory size is fixed, and it is not possible to change it during the run time.</a:t>
                      </a:r>
                      <a:endParaRPr lang="en-IN" dirty="0"/>
                    </a:p>
                  </a:txBody>
                  <a:tcPr/>
                </a:tc>
                <a:tc>
                  <a:txBody>
                    <a:bodyPr/>
                    <a:lstStyle/>
                    <a:p>
                      <a:r>
                        <a:rPr lang="en-US" sz="1800" b="0" i="0" kern="1200" dirty="0">
                          <a:solidFill>
                            <a:schemeClr val="dk1"/>
                          </a:solidFill>
                          <a:effectLst/>
                          <a:latin typeface="+mn-lt"/>
                          <a:ea typeface="+mn-ea"/>
                          <a:cs typeface="+mn-cs"/>
                        </a:rPr>
                        <a:t>In the linked list, the placement of elements is allocated during the run time.</a:t>
                      </a:r>
                      <a:endParaRPr lang="en-IN" dirty="0"/>
                    </a:p>
                  </a:txBody>
                  <a:tcPr/>
                </a:tc>
                <a:extLst>
                  <a:ext uri="{0D108BD9-81ED-4DB2-BD59-A6C34878D82A}">
                    <a16:rowId xmlns:a16="http://schemas.microsoft.com/office/drawing/2014/main" val="1897103363"/>
                  </a:ext>
                </a:extLst>
              </a:tr>
              <a:tr h="496868">
                <a:tc>
                  <a:txBody>
                    <a:bodyPr/>
                    <a:lstStyle/>
                    <a:p>
                      <a:r>
                        <a:rPr lang="en-US" sz="1800" b="0" i="0" kern="1200" dirty="0">
                          <a:solidFill>
                            <a:schemeClr val="dk1"/>
                          </a:solidFill>
                          <a:effectLst/>
                          <a:latin typeface="+mn-lt"/>
                          <a:ea typeface="+mn-ea"/>
                          <a:cs typeface="+mn-cs"/>
                        </a:rPr>
                        <a:t>The elements are not dependent on each other.</a:t>
                      </a:r>
                      <a:endParaRPr lang="en-IN" dirty="0"/>
                    </a:p>
                  </a:txBody>
                  <a:tcPr/>
                </a:tc>
                <a:tc>
                  <a:txBody>
                    <a:bodyPr/>
                    <a:lstStyle/>
                    <a:p>
                      <a:r>
                        <a:rPr lang="en-US" sz="1800" b="0" i="0" kern="1200" dirty="0">
                          <a:solidFill>
                            <a:schemeClr val="dk1"/>
                          </a:solidFill>
                          <a:effectLst/>
                          <a:latin typeface="+mn-lt"/>
                          <a:ea typeface="+mn-ea"/>
                          <a:cs typeface="+mn-cs"/>
                        </a:rPr>
                        <a:t>The data elements are dependent on each other</a:t>
                      </a:r>
                      <a:endParaRPr lang="en-IN" dirty="0"/>
                    </a:p>
                  </a:txBody>
                  <a:tcPr/>
                </a:tc>
                <a:extLst>
                  <a:ext uri="{0D108BD9-81ED-4DB2-BD59-A6C34878D82A}">
                    <a16:rowId xmlns:a16="http://schemas.microsoft.com/office/drawing/2014/main" val="1462501078"/>
                  </a:ext>
                </a:extLst>
              </a:tr>
              <a:tr h="496868">
                <a:tc>
                  <a:txBody>
                    <a:bodyPr/>
                    <a:lstStyle/>
                    <a:p>
                      <a:r>
                        <a:rPr lang="en-US" sz="1800" b="0" i="0" kern="1200" dirty="0">
                          <a:solidFill>
                            <a:schemeClr val="dk1"/>
                          </a:solidFill>
                          <a:effectLst/>
                          <a:latin typeface="+mn-lt"/>
                          <a:ea typeface="+mn-ea"/>
                          <a:cs typeface="+mn-cs"/>
                        </a:rPr>
                        <a:t>The memory is assigned at compile time.</a:t>
                      </a:r>
                      <a:endParaRPr lang="en-IN" dirty="0"/>
                    </a:p>
                  </a:txBody>
                  <a:tcPr/>
                </a:tc>
                <a:tc>
                  <a:txBody>
                    <a:bodyPr/>
                    <a:lstStyle/>
                    <a:p>
                      <a:r>
                        <a:rPr lang="en-US" sz="1800" b="0" i="0" kern="1200" dirty="0">
                          <a:solidFill>
                            <a:schemeClr val="dk1"/>
                          </a:solidFill>
                          <a:effectLst/>
                          <a:latin typeface="+mn-lt"/>
                          <a:ea typeface="+mn-ea"/>
                          <a:cs typeface="+mn-cs"/>
                        </a:rPr>
                        <a:t>The memory is assigned at run time</a:t>
                      </a:r>
                      <a:endParaRPr lang="en-IN" dirty="0"/>
                    </a:p>
                  </a:txBody>
                  <a:tcPr/>
                </a:tc>
                <a:extLst>
                  <a:ext uri="{0D108BD9-81ED-4DB2-BD59-A6C34878D82A}">
                    <a16:rowId xmlns:a16="http://schemas.microsoft.com/office/drawing/2014/main" val="508656145"/>
                  </a:ext>
                </a:extLst>
              </a:tr>
              <a:tr h="496868">
                <a:tc>
                  <a:txBody>
                    <a:bodyPr/>
                    <a:lstStyle/>
                    <a:p>
                      <a:r>
                        <a:rPr lang="en-US" sz="1800" b="0" i="0" kern="1200" dirty="0">
                          <a:solidFill>
                            <a:schemeClr val="dk1"/>
                          </a:solidFill>
                          <a:effectLst/>
                          <a:latin typeface="+mn-lt"/>
                          <a:ea typeface="+mn-ea"/>
                          <a:cs typeface="+mn-cs"/>
                        </a:rPr>
                        <a:t>It is easier and faster to access the element in an array.</a:t>
                      </a:r>
                      <a:endParaRPr lang="en-IN" dirty="0"/>
                    </a:p>
                  </a:txBody>
                  <a:tcPr/>
                </a:tc>
                <a:tc>
                  <a:txBody>
                    <a:bodyPr/>
                    <a:lstStyle/>
                    <a:p>
                      <a:r>
                        <a:rPr lang="en-US" sz="1800" b="0" i="0" kern="1200" dirty="0">
                          <a:solidFill>
                            <a:schemeClr val="dk1"/>
                          </a:solidFill>
                          <a:effectLst/>
                          <a:latin typeface="+mn-lt"/>
                          <a:ea typeface="+mn-ea"/>
                          <a:cs typeface="+mn-cs"/>
                        </a:rPr>
                        <a:t>In a linked list, the process of accessing elements takes more time</a:t>
                      </a:r>
                      <a:endParaRPr lang="en-IN" dirty="0"/>
                    </a:p>
                  </a:txBody>
                  <a:tcPr/>
                </a:tc>
                <a:extLst>
                  <a:ext uri="{0D108BD9-81ED-4DB2-BD59-A6C34878D82A}">
                    <a16:rowId xmlns:a16="http://schemas.microsoft.com/office/drawing/2014/main" val="2661575409"/>
                  </a:ext>
                </a:extLst>
              </a:tr>
              <a:tr h="496868">
                <a:tc>
                  <a:txBody>
                    <a:bodyPr/>
                    <a:lstStyle/>
                    <a:p>
                      <a:r>
                        <a:rPr lang="en-US" sz="1800" b="0" i="0" kern="1200" dirty="0">
                          <a:solidFill>
                            <a:schemeClr val="dk1"/>
                          </a:solidFill>
                          <a:effectLst/>
                          <a:latin typeface="+mn-lt"/>
                          <a:ea typeface="+mn-ea"/>
                          <a:cs typeface="+mn-cs"/>
                        </a:rPr>
                        <a:t>In the case of an array, memory utilization is ineffective</a:t>
                      </a:r>
                      <a:endParaRPr lang="en-IN" dirty="0"/>
                    </a:p>
                  </a:txBody>
                  <a:tcPr/>
                </a:tc>
                <a:tc>
                  <a:txBody>
                    <a:bodyPr/>
                    <a:lstStyle/>
                    <a:p>
                      <a:r>
                        <a:rPr lang="en-US" sz="1800" b="0" i="0" kern="1200" dirty="0">
                          <a:solidFill>
                            <a:schemeClr val="dk1"/>
                          </a:solidFill>
                          <a:effectLst/>
                          <a:latin typeface="+mn-lt"/>
                          <a:ea typeface="+mn-ea"/>
                          <a:cs typeface="+mn-cs"/>
                        </a:rPr>
                        <a:t>In the case of the linked list, memory utilization is effective</a:t>
                      </a:r>
                      <a:endParaRPr lang="en-IN" dirty="0"/>
                    </a:p>
                  </a:txBody>
                  <a:tcPr/>
                </a:tc>
                <a:extLst>
                  <a:ext uri="{0D108BD9-81ED-4DB2-BD59-A6C34878D82A}">
                    <a16:rowId xmlns:a16="http://schemas.microsoft.com/office/drawing/2014/main" val="4259584128"/>
                  </a:ext>
                </a:extLst>
              </a:tr>
            </a:tbl>
          </a:graphicData>
        </a:graphic>
      </p:graphicFrame>
    </p:spTree>
    <p:extLst>
      <p:ext uri="{BB962C8B-B14F-4D97-AF65-F5344CB8AC3E}">
        <p14:creationId xmlns:p14="http://schemas.microsoft.com/office/powerpoint/2010/main" val="2919430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D8134-C485-92C2-9131-BC2EA50CD01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F4FA6EA-FF64-AF20-5A29-D40058D3E17A}"/>
              </a:ext>
            </a:extLst>
          </p:cNvPr>
          <p:cNvSpPr>
            <a:spLocks noGrp="1"/>
          </p:cNvSpPr>
          <p:nvPr>
            <p:ph idx="1"/>
          </p:nvPr>
        </p:nvSpPr>
        <p:spPr/>
        <p:txBody>
          <a:bodyPr>
            <a:normAutofit fontScale="92500" lnSpcReduction="10000"/>
          </a:bodyPr>
          <a:lstStyle/>
          <a:p>
            <a:pPr algn="l" fontAlgn="base"/>
            <a:r>
              <a:rPr lang="en-US" b="1" i="0" dirty="0">
                <a:solidFill>
                  <a:srgbClr val="273239"/>
                </a:solidFill>
                <a:effectLst/>
                <a:latin typeface="Nunito" pitchFamily="2" charset="0"/>
              </a:rPr>
              <a:t>Applications of linked list in computer science:</a:t>
            </a:r>
          </a:p>
          <a:p>
            <a:pPr algn="l" fontAlgn="base">
              <a:buFont typeface="+mj-lt"/>
              <a:buAutoNum type="arabicPeriod"/>
            </a:pPr>
            <a:r>
              <a:rPr lang="en-US" b="0" i="0" dirty="0">
                <a:solidFill>
                  <a:srgbClr val="273239"/>
                </a:solidFill>
                <a:effectLst/>
                <a:latin typeface="Nunito" pitchFamily="2" charset="0"/>
              </a:rPr>
              <a:t>Implementation of </a:t>
            </a:r>
            <a:r>
              <a:rPr lang="en-US" b="0" i="0" u="sng" dirty="0">
                <a:solidFill>
                  <a:srgbClr val="273239"/>
                </a:solidFill>
                <a:effectLst/>
                <a:latin typeface="Nunito" pitchFamily="2" charset="0"/>
                <a:hlinkClick r:id="rId2"/>
              </a:rPr>
              <a:t>stacks</a:t>
            </a:r>
            <a:r>
              <a:rPr lang="en-US" b="0" i="0" dirty="0">
                <a:solidFill>
                  <a:srgbClr val="273239"/>
                </a:solidFill>
                <a:effectLst/>
                <a:latin typeface="Nunito" pitchFamily="2" charset="0"/>
              </a:rPr>
              <a:t> and </a:t>
            </a:r>
            <a:r>
              <a:rPr lang="en-US" b="0" i="0" u="sng" dirty="0">
                <a:solidFill>
                  <a:srgbClr val="273239"/>
                </a:solidFill>
                <a:effectLst/>
                <a:latin typeface="Nunito" pitchFamily="2" charset="0"/>
                <a:hlinkClick r:id="rId3"/>
              </a:rPr>
              <a:t>queues</a:t>
            </a:r>
            <a:endParaRPr lang="en-US" b="0" i="0" dirty="0">
              <a:solidFill>
                <a:srgbClr val="273239"/>
              </a:solidFill>
              <a:effectLst/>
              <a:latin typeface="Nunito" pitchFamily="2" charset="0"/>
            </a:endParaRPr>
          </a:p>
          <a:p>
            <a:pPr algn="l" fontAlgn="base">
              <a:buFont typeface="+mj-lt"/>
              <a:buAutoNum type="arabicPeriod"/>
            </a:pPr>
            <a:r>
              <a:rPr lang="en-US" b="0" i="0" dirty="0">
                <a:solidFill>
                  <a:srgbClr val="273239"/>
                </a:solidFill>
                <a:effectLst/>
                <a:latin typeface="Nunito" pitchFamily="2" charset="0"/>
              </a:rPr>
              <a:t>Implementation of graphs: </a:t>
            </a:r>
            <a:r>
              <a:rPr lang="en-US" b="0" i="0" u="sng" dirty="0">
                <a:solidFill>
                  <a:srgbClr val="273239"/>
                </a:solidFill>
                <a:effectLst/>
                <a:latin typeface="Nunito" pitchFamily="2" charset="0"/>
                <a:hlinkClick r:id="rId4"/>
              </a:rPr>
              <a:t>Adjacency list representation of graphs</a:t>
            </a:r>
            <a:r>
              <a:rPr lang="en-US" b="0" i="0" dirty="0">
                <a:solidFill>
                  <a:srgbClr val="273239"/>
                </a:solidFill>
                <a:effectLst/>
                <a:latin typeface="Nunito" pitchFamily="2" charset="0"/>
              </a:rPr>
              <a:t> is the most popular which uses a linked list to store adjacent vertices.</a:t>
            </a:r>
          </a:p>
          <a:p>
            <a:pPr algn="l" fontAlgn="base">
              <a:buFont typeface="+mj-lt"/>
              <a:buAutoNum type="arabicPeriod"/>
            </a:pPr>
            <a:r>
              <a:rPr lang="en-US" b="0" i="0" dirty="0">
                <a:solidFill>
                  <a:srgbClr val="273239"/>
                </a:solidFill>
                <a:effectLst/>
                <a:latin typeface="Nunito" pitchFamily="2" charset="0"/>
              </a:rPr>
              <a:t>Dynamic memory allocation: We use a linked list of free blocks.</a:t>
            </a:r>
          </a:p>
          <a:p>
            <a:pPr algn="l" fontAlgn="base">
              <a:buFont typeface="+mj-lt"/>
              <a:buAutoNum type="arabicPeriod"/>
            </a:pPr>
            <a:r>
              <a:rPr lang="en-US" b="0" i="0" dirty="0">
                <a:solidFill>
                  <a:srgbClr val="273239"/>
                </a:solidFill>
                <a:effectLst/>
                <a:latin typeface="Nunito" pitchFamily="2" charset="0"/>
              </a:rPr>
              <a:t>Maintaining a directory of names</a:t>
            </a:r>
          </a:p>
          <a:p>
            <a:pPr algn="l" fontAlgn="base">
              <a:buFont typeface="+mj-lt"/>
              <a:buAutoNum type="arabicPeriod"/>
            </a:pPr>
            <a:r>
              <a:rPr lang="en-US" b="0" i="0" dirty="0">
                <a:solidFill>
                  <a:srgbClr val="273239"/>
                </a:solidFill>
                <a:effectLst/>
                <a:latin typeface="Nunito" pitchFamily="2" charset="0"/>
              </a:rPr>
              <a:t>Performing arithmetic operations on long integers</a:t>
            </a:r>
          </a:p>
          <a:p>
            <a:pPr algn="l" fontAlgn="base">
              <a:buFont typeface="+mj-lt"/>
              <a:buAutoNum type="arabicPeriod"/>
            </a:pPr>
            <a:r>
              <a:rPr lang="en-US" b="0" i="0" dirty="0">
                <a:solidFill>
                  <a:srgbClr val="273239"/>
                </a:solidFill>
                <a:effectLst/>
                <a:latin typeface="Nunito" pitchFamily="2" charset="0"/>
              </a:rPr>
              <a:t>Manipulation of polynomials by storing constants in the node of the linked list</a:t>
            </a:r>
          </a:p>
          <a:p>
            <a:pPr marL="0" indent="0" algn="l" fontAlgn="base">
              <a:buNone/>
            </a:pPr>
            <a:endParaRPr lang="en-US" b="0" i="0" dirty="0">
              <a:solidFill>
                <a:srgbClr val="273239"/>
              </a:solidFill>
              <a:effectLst/>
              <a:latin typeface="Nunito" pitchFamily="2" charset="0"/>
            </a:endParaRPr>
          </a:p>
          <a:p>
            <a:endParaRPr lang="en-IN" dirty="0"/>
          </a:p>
        </p:txBody>
      </p:sp>
    </p:spTree>
    <p:extLst>
      <p:ext uri="{BB962C8B-B14F-4D97-AF65-F5344CB8AC3E}">
        <p14:creationId xmlns:p14="http://schemas.microsoft.com/office/powerpoint/2010/main" val="2949608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B12090-058B-AB2C-C73B-637CF6B2254C}"/>
              </a:ext>
            </a:extLst>
          </p:cNvPr>
          <p:cNvSpPr>
            <a:spLocks noGrp="1"/>
          </p:cNvSpPr>
          <p:nvPr>
            <p:ph idx="1"/>
          </p:nvPr>
        </p:nvSpPr>
        <p:spPr/>
        <p:txBody>
          <a:bodyPr>
            <a:normAutofit fontScale="62500" lnSpcReduction="20000"/>
          </a:bodyPr>
          <a:lstStyle/>
          <a:p>
            <a:pPr algn="l" fontAlgn="base"/>
            <a:r>
              <a:rPr lang="en-US" b="1" i="0" dirty="0">
                <a:solidFill>
                  <a:srgbClr val="273239"/>
                </a:solidFill>
                <a:effectLst/>
                <a:latin typeface="Nunito" pitchFamily="2" charset="0"/>
              </a:rPr>
              <a:t>Applications of linked list in the real world:</a:t>
            </a:r>
          </a:p>
          <a:p>
            <a:pPr algn="l" fontAlgn="base">
              <a:buFont typeface="+mj-lt"/>
              <a:buAutoNum type="arabicPeriod"/>
            </a:pPr>
            <a:r>
              <a:rPr lang="en-US" b="0" i="0" dirty="0">
                <a:solidFill>
                  <a:srgbClr val="273239"/>
                </a:solidFill>
                <a:effectLst/>
                <a:latin typeface="Nunito" pitchFamily="2" charset="0"/>
              </a:rPr>
              <a:t>Image viewer – Previous and next images are linked and can be accessed by the next and previous buttons.</a:t>
            </a:r>
          </a:p>
          <a:p>
            <a:pPr algn="l" fontAlgn="base">
              <a:buFont typeface="+mj-lt"/>
              <a:buAutoNum type="arabicPeriod"/>
            </a:pPr>
            <a:r>
              <a:rPr lang="en-US" b="0" i="0" dirty="0">
                <a:solidFill>
                  <a:srgbClr val="273239"/>
                </a:solidFill>
                <a:effectLst/>
                <a:latin typeface="Nunito" pitchFamily="2" charset="0"/>
              </a:rPr>
              <a:t>Previous and next page in a web browser – We can access the previous and next URL searched in a web browser by pressing the back and next buttons since they are linked as a linked list.</a:t>
            </a:r>
          </a:p>
          <a:p>
            <a:pPr algn="l" fontAlgn="base">
              <a:buFont typeface="+mj-lt"/>
              <a:buAutoNum type="arabicPeriod"/>
            </a:pPr>
            <a:r>
              <a:rPr lang="en-US" b="0" i="0" dirty="0">
                <a:solidFill>
                  <a:srgbClr val="273239"/>
                </a:solidFill>
                <a:effectLst/>
                <a:latin typeface="Nunito" pitchFamily="2" charset="0"/>
              </a:rPr>
              <a:t>Music Player – Songs in the music player are linked to the previous and next songs. So you can play songs either from starting or ending of the list.</a:t>
            </a:r>
          </a:p>
          <a:p>
            <a:pPr algn="l" fontAlgn="base">
              <a:buFont typeface="+mj-lt"/>
              <a:buAutoNum type="arabicPeriod"/>
            </a:pPr>
            <a:r>
              <a:rPr lang="en-US" b="0" i="0" dirty="0">
                <a:solidFill>
                  <a:srgbClr val="273239"/>
                </a:solidFill>
                <a:effectLst/>
                <a:latin typeface="Nunito" pitchFamily="2" charset="0"/>
              </a:rPr>
              <a:t>GPS navigation systems- Linked lists can be used to store and manage a list of locations and routes, allowing users to easily navigate to their desired destination.</a:t>
            </a:r>
          </a:p>
          <a:p>
            <a:pPr algn="l" fontAlgn="base">
              <a:buFont typeface="+mj-lt"/>
              <a:buAutoNum type="arabicPeriod"/>
            </a:pPr>
            <a:r>
              <a:rPr lang="en-US" b="0" i="0" dirty="0">
                <a:solidFill>
                  <a:srgbClr val="273239"/>
                </a:solidFill>
                <a:effectLst/>
                <a:latin typeface="Nunito" pitchFamily="2" charset="0"/>
              </a:rPr>
              <a:t>Robotics- Linked lists can be used to implement control systems for robots, allowing them to navigate and interact with their environment.</a:t>
            </a:r>
          </a:p>
          <a:p>
            <a:pPr algn="l" fontAlgn="base">
              <a:buFont typeface="+mj-lt"/>
              <a:buAutoNum type="arabicPeriod"/>
            </a:pPr>
            <a:r>
              <a:rPr lang="en-US" b="0" i="0" dirty="0">
                <a:solidFill>
                  <a:srgbClr val="273239"/>
                </a:solidFill>
                <a:effectLst/>
                <a:latin typeface="Nunito" pitchFamily="2" charset="0"/>
              </a:rPr>
              <a:t>Task Scheduling- Operating systems use linked lists to manage task scheduling, where each process waiting to be executed is represented as a node in the list.</a:t>
            </a:r>
          </a:p>
          <a:p>
            <a:pPr algn="l" fontAlgn="base">
              <a:buFont typeface="+mj-lt"/>
              <a:buAutoNum type="arabicPeriod"/>
            </a:pPr>
            <a:r>
              <a:rPr lang="en-US" b="0" i="0" dirty="0">
                <a:solidFill>
                  <a:srgbClr val="273239"/>
                </a:solidFill>
                <a:effectLst/>
                <a:latin typeface="Nunito" pitchFamily="2" charset="0"/>
              </a:rPr>
              <a:t>Image Processing- Linked lists can be used to represent images, where each pixel is represented as a node in the list.</a:t>
            </a:r>
          </a:p>
          <a:p>
            <a:endParaRPr lang="en-IN" dirty="0"/>
          </a:p>
        </p:txBody>
      </p:sp>
    </p:spTree>
    <p:extLst>
      <p:ext uri="{BB962C8B-B14F-4D97-AF65-F5344CB8AC3E}">
        <p14:creationId xmlns:p14="http://schemas.microsoft.com/office/powerpoint/2010/main" val="2115144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77C00-F027-9260-A632-AE584F37A3E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355DF07-A0A4-8D27-4DA2-00D40E12D118}"/>
              </a:ext>
            </a:extLst>
          </p:cNvPr>
          <p:cNvSpPr>
            <a:spLocks noGrp="1"/>
          </p:cNvSpPr>
          <p:nvPr>
            <p:ph idx="1"/>
          </p:nvPr>
        </p:nvSpPr>
        <p:spPr/>
        <p:txBody>
          <a:bodyPr/>
          <a:lstStyle/>
          <a:p>
            <a:pPr marL="0" indent="0">
              <a:buNone/>
            </a:pPr>
            <a:r>
              <a:rPr lang="en-US" b="1" dirty="0"/>
              <a:t>Types of Linked List</a:t>
            </a:r>
            <a:r>
              <a:rPr lang="en-US" dirty="0"/>
              <a:t>: </a:t>
            </a:r>
          </a:p>
          <a:p>
            <a:pPr marL="0" indent="0">
              <a:buNone/>
            </a:pPr>
            <a:r>
              <a:rPr lang="en-US" dirty="0"/>
              <a:t>basically, we can put linked list into the following  types: </a:t>
            </a:r>
          </a:p>
          <a:p>
            <a:r>
              <a:rPr lang="en-US" dirty="0"/>
              <a:t>Singly linked list </a:t>
            </a:r>
          </a:p>
          <a:p>
            <a:r>
              <a:rPr lang="en-US" dirty="0"/>
              <a:t>doubly linked list </a:t>
            </a:r>
          </a:p>
          <a:p>
            <a:r>
              <a:rPr lang="en-US" dirty="0"/>
              <a:t>circular linked list </a:t>
            </a:r>
          </a:p>
          <a:p>
            <a:pPr>
              <a:buFont typeface="Wingdings" panose="05000000000000000000" pitchFamily="2" charset="2"/>
              <a:buChar char="ü"/>
            </a:pPr>
            <a:r>
              <a:rPr lang="en-US" dirty="0"/>
              <a:t>         Singly circular link list</a:t>
            </a:r>
          </a:p>
          <a:p>
            <a:pPr>
              <a:buFont typeface="Wingdings" panose="05000000000000000000" pitchFamily="2" charset="2"/>
              <a:buChar char="ü"/>
            </a:pPr>
            <a:r>
              <a:rPr lang="en-US" dirty="0"/>
              <a:t>         Doubly circular linked list</a:t>
            </a:r>
            <a:endParaRPr lang="en-IN" dirty="0"/>
          </a:p>
        </p:txBody>
      </p:sp>
    </p:spTree>
    <p:extLst>
      <p:ext uri="{BB962C8B-B14F-4D97-AF65-F5344CB8AC3E}">
        <p14:creationId xmlns:p14="http://schemas.microsoft.com/office/powerpoint/2010/main" val="3139987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4D1B-859A-8242-3A3A-87AF28CC7BD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E34F894-39E4-EFF6-4438-090ABC239425}"/>
              </a:ext>
            </a:extLst>
          </p:cNvPr>
          <p:cNvSpPr>
            <a:spLocks noGrp="1"/>
          </p:cNvSpPr>
          <p:nvPr>
            <p:ph idx="1"/>
          </p:nvPr>
        </p:nvSpPr>
        <p:spPr/>
        <p:txBody>
          <a:bodyPr>
            <a:normAutofit lnSpcReduction="10000"/>
          </a:bodyPr>
          <a:lstStyle/>
          <a:p>
            <a:pPr marL="0" indent="0">
              <a:buNone/>
            </a:pPr>
            <a:r>
              <a:rPr lang="en-US" b="1" dirty="0"/>
              <a:t>SINGLY LINKED LIST</a:t>
            </a:r>
          </a:p>
          <a:p>
            <a:r>
              <a:rPr lang="en-US" dirty="0"/>
              <a:t>A singly linked list is a dynamic data structure which may grow or shrink, and growing and shrinking depends on the operation made.</a:t>
            </a:r>
          </a:p>
          <a:p>
            <a:r>
              <a:rPr lang="en-US" dirty="0"/>
              <a:t> In this type of linked list each node contains two fields one is info field which is used to store the data items and another is link field that is used to point the next node in the list. The last node has a NULL pointer.</a:t>
            </a:r>
          </a:p>
          <a:p>
            <a:r>
              <a:rPr lang="en-US" dirty="0"/>
              <a:t>The NULL value of the next field of the linked list indicates the last node and we define macro for NULL and set it to 0 as below: </a:t>
            </a:r>
          </a:p>
          <a:p>
            <a:pPr marL="0" indent="0">
              <a:buNone/>
            </a:pPr>
            <a:r>
              <a:rPr lang="en-US" dirty="0"/>
              <a:t>    #define NULL 0</a:t>
            </a:r>
          </a:p>
          <a:p>
            <a:endParaRPr lang="en-IN" b="1" dirty="0"/>
          </a:p>
        </p:txBody>
      </p:sp>
    </p:spTree>
    <p:extLst>
      <p:ext uri="{BB962C8B-B14F-4D97-AF65-F5344CB8AC3E}">
        <p14:creationId xmlns:p14="http://schemas.microsoft.com/office/powerpoint/2010/main" val="12835003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3D2B2-6A4B-7860-B51F-603E19DC1ED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51908C8-257E-7D73-E8EE-BC9C09A3D2A2}"/>
              </a:ext>
            </a:extLst>
          </p:cNvPr>
          <p:cNvSpPr>
            <a:spLocks noGrp="1"/>
          </p:cNvSpPr>
          <p:nvPr>
            <p:ph idx="1"/>
          </p:nvPr>
        </p:nvSpPr>
        <p:spPr/>
        <p:txBody>
          <a:bodyPr/>
          <a:lstStyle/>
          <a:p>
            <a:r>
              <a:rPr lang="en-US" dirty="0"/>
              <a:t>The following example is a singly linked list that contains three elements 5, 3, 8.</a:t>
            </a:r>
          </a:p>
          <a:p>
            <a:endParaRPr lang="en-IN" dirty="0"/>
          </a:p>
        </p:txBody>
      </p:sp>
      <p:pic>
        <p:nvPicPr>
          <p:cNvPr id="5" name="Picture 4">
            <a:extLst>
              <a:ext uri="{FF2B5EF4-FFF2-40B4-BE49-F238E27FC236}">
                <a16:creationId xmlns:a16="http://schemas.microsoft.com/office/drawing/2014/main" id="{805AF03F-D406-22FC-4725-545E204ED355}"/>
              </a:ext>
            </a:extLst>
          </p:cNvPr>
          <p:cNvPicPr>
            <a:picLocks noChangeAspect="1"/>
          </p:cNvPicPr>
          <p:nvPr/>
        </p:nvPicPr>
        <p:blipFill>
          <a:blip r:embed="rId2"/>
          <a:stretch>
            <a:fillRect/>
          </a:stretch>
        </p:blipFill>
        <p:spPr>
          <a:xfrm>
            <a:off x="214489" y="2833511"/>
            <a:ext cx="11525956" cy="3883378"/>
          </a:xfrm>
          <a:prstGeom prst="rect">
            <a:avLst/>
          </a:prstGeom>
        </p:spPr>
      </p:pic>
    </p:spTree>
    <p:extLst>
      <p:ext uri="{BB962C8B-B14F-4D97-AF65-F5344CB8AC3E}">
        <p14:creationId xmlns:p14="http://schemas.microsoft.com/office/powerpoint/2010/main" val="31382456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355C8-4E42-EA27-7B57-B0B60D62DDC8}"/>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943FA0E5-EAB6-C769-FFDE-0294AE0CE1EE}"/>
              </a:ext>
            </a:extLst>
          </p:cNvPr>
          <p:cNvSpPr>
            <a:spLocks noGrp="1"/>
          </p:cNvSpPr>
          <p:nvPr>
            <p:ph idx="1"/>
          </p:nvPr>
        </p:nvSpPr>
        <p:spPr/>
        <p:txBody>
          <a:bodyPr>
            <a:normAutofit fontScale="25000" lnSpcReduction="20000"/>
          </a:bodyPr>
          <a:lstStyle/>
          <a:p>
            <a:pPr marL="0" indent="0">
              <a:buNone/>
            </a:pPr>
            <a:r>
              <a:rPr lang="en-US" sz="8000" dirty="0"/>
              <a:t>OPERATIONS ON SINGLY LINKED LIST</a:t>
            </a:r>
          </a:p>
          <a:p>
            <a:r>
              <a:rPr lang="en-IN" sz="8000" dirty="0"/>
              <a:t>Node creation</a:t>
            </a:r>
          </a:p>
          <a:p>
            <a:pPr marL="0" indent="0">
              <a:buNone/>
            </a:pPr>
            <a:endParaRPr lang="en-IN" sz="8000" dirty="0"/>
          </a:p>
          <a:p>
            <a:r>
              <a:rPr lang="en-IN" sz="8000" dirty="0"/>
              <a:t>Node insertion</a:t>
            </a:r>
          </a:p>
          <a:p>
            <a:pPr>
              <a:buFont typeface="Wingdings" panose="05000000000000000000" pitchFamily="2" charset="2"/>
              <a:buChar char="ü"/>
            </a:pPr>
            <a:r>
              <a:rPr lang="en-IN" sz="8000" dirty="0"/>
              <a:t>From the Beginning</a:t>
            </a:r>
          </a:p>
          <a:p>
            <a:pPr>
              <a:buFont typeface="Wingdings" panose="05000000000000000000" pitchFamily="2" charset="2"/>
              <a:buChar char="ü"/>
            </a:pPr>
            <a:r>
              <a:rPr lang="en-IN" sz="8000" dirty="0"/>
              <a:t>From the specified position</a:t>
            </a:r>
          </a:p>
          <a:p>
            <a:pPr>
              <a:buFont typeface="Wingdings" panose="05000000000000000000" pitchFamily="2" charset="2"/>
              <a:buChar char="ü"/>
            </a:pPr>
            <a:r>
              <a:rPr lang="en-IN" sz="8000" dirty="0"/>
              <a:t>From the end</a:t>
            </a:r>
          </a:p>
          <a:p>
            <a:pPr marL="0" indent="0">
              <a:buNone/>
            </a:pPr>
            <a:endParaRPr lang="en-IN" sz="8000" dirty="0"/>
          </a:p>
          <a:p>
            <a:r>
              <a:rPr lang="en-IN" sz="8000" dirty="0"/>
              <a:t>Node deletion</a:t>
            </a:r>
          </a:p>
          <a:p>
            <a:pPr>
              <a:buFont typeface="Wingdings" panose="05000000000000000000" pitchFamily="2" charset="2"/>
              <a:buChar char="ü"/>
            </a:pPr>
            <a:r>
              <a:rPr lang="en-IN" sz="8000" dirty="0"/>
              <a:t>From the Beginning</a:t>
            </a:r>
          </a:p>
          <a:p>
            <a:pPr>
              <a:buFont typeface="Wingdings" panose="05000000000000000000" pitchFamily="2" charset="2"/>
              <a:buChar char="ü"/>
            </a:pPr>
            <a:r>
              <a:rPr lang="en-IN" sz="8000" dirty="0"/>
              <a:t>From the specified position</a:t>
            </a:r>
          </a:p>
          <a:p>
            <a:pPr>
              <a:buFont typeface="Wingdings" panose="05000000000000000000" pitchFamily="2" charset="2"/>
              <a:buChar char="ü"/>
            </a:pPr>
            <a:r>
              <a:rPr lang="en-IN" sz="8000" dirty="0"/>
              <a:t>From the end</a:t>
            </a:r>
          </a:p>
          <a:p>
            <a:pPr marL="0" indent="0">
              <a:buNone/>
            </a:pPr>
            <a:endParaRPr lang="en-IN" dirty="0"/>
          </a:p>
          <a:p>
            <a:pPr marL="0" indent="0">
              <a:buNone/>
            </a:pPr>
            <a:r>
              <a:rPr lang="en-IN" dirty="0"/>
              <a:t>       </a:t>
            </a:r>
          </a:p>
        </p:txBody>
      </p:sp>
    </p:spTree>
    <p:extLst>
      <p:ext uri="{BB962C8B-B14F-4D97-AF65-F5344CB8AC3E}">
        <p14:creationId xmlns:p14="http://schemas.microsoft.com/office/powerpoint/2010/main" val="23219352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A256D-B5D5-1669-075F-C26DFC064E3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F74C57D-1FA8-DFE2-522E-79EF665B1647}"/>
              </a:ext>
            </a:extLst>
          </p:cNvPr>
          <p:cNvSpPr>
            <a:spLocks noGrp="1"/>
          </p:cNvSpPr>
          <p:nvPr>
            <p:ph idx="1"/>
          </p:nvPr>
        </p:nvSpPr>
        <p:spPr/>
        <p:txBody>
          <a:bodyPr/>
          <a:lstStyle/>
          <a:p>
            <a:pPr marL="0" indent="0">
              <a:buNone/>
            </a:pPr>
            <a:r>
              <a:rPr lang="en-US" b="1" dirty="0"/>
              <a:t>Node creation</a:t>
            </a:r>
          </a:p>
          <a:p>
            <a:pPr marL="0" indent="0">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Algorithm:</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Create a class Node with fields for data and a reference to the next node.</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 the Node class, create a constructor to initialize the data and set the next node reference to null.</a:t>
            </a:r>
          </a:p>
          <a:p>
            <a:pPr marL="0" indent="0">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Function to create a node</a:t>
            </a:r>
          </a:p>
          <a:p>
            <a:pPr marL="0" indent="0">
              <a:lnSpc>
                <a:spcPct val="107000"/>
              </a:lnSpc>
              <a:spcAft>
                <a:spcPts val="800"/>
              </a:spcAft>
              <a:buNone/>
            </a:pP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b="1" dirty="0"/>
          </a:p>
        </p:txBody>
      </p:sp>
      <p:pic>
        <p:nvPicPr>
          <p:cNvPr id="6" name="Picture 5">
            <a:extLst>
              <a:ext uri="{FF2B5EF4-FFF2-40B4-BE49-F238E27FC236}">
                <a16:creationId xmlns:a16="http://schemas.microsoft.com/office/drawing/2014/main" id="{46FDB665-5575-C51B-9B75-8F0B10A42715}"/>
              </a:ext>
            </a:extLst>
          </p:cNvPr>
          <p:cNvPicPr>
            <a:picLocks noChangeAspect="1"/>
          </p:cNvPicPr>
          <p:nvPr/>
        </p:nvPicPr>
        <p:blipFill>
          <a:blip r:embed="rId2"/>
          <a:stretch>
            <a:fillRect/>
          </a:stretch>
        </p:blipFill>
        <p:spPr>
          <a:xfrm>
            <a:off x="925690" y="4289778"/>
            <a:ext cx="4865510" cy="1887185"/>
          </a:xfrm>
          <a:prstGeom prst="rect">
            <a:avLst/>
          </a:prstGeom>
        </p:spPr>
      </p:pic>
    </p:spTree>
    <p:extLst>
      <p:ext uri="{BB962C8B-B14F-4D97-AF65-F5344CB8AC3E}">
        <p14:creationId xmlns:p14="http://schemas.microsoft.com/office/powerpoint/2010/main" val="13160434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30A68-8B0B-A3AC-3AD5-46ABE5D33A8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0370E95-2ECF-D8D7-8921-2C7547D47AC0}"/>
              </a:ext>
            </a:extLst>
          </p:cNvPr>
          <p:cNvSpPr>
            <a:spLocks noGrp="1"/>
          </p:cNvSpPr>
          <p:nvPr>
            <p:ph idx="1"/>
          </p:nvPr>
        </p:nvSpPr>
        <p:spPr/>
        <p:txBody>
          <a:bodyPr/>
          <a:lstStyle/>
          <a:p>
            <a:pPr marL="0" indent="0">
              <a:buNone/>
            </a:pPr>
            <a:r>
              <a:rPr lang="en-US" b="1" dirty="0"/>
              <a:t>NODE INSERTION</a:t>
            </a:r>
          </a:p>
          <a:p>
            <a:pPr marL="514350" indent="-514350">
              <a:buFont typeface="+mj-lt"/>
              <a:buAutoNum type="arabicPeriod"/>
            </a:pPr>
            <a:r>
              <a:rPr lang="en-US" b="1" dirty="0"/>
              <a:t>At  the beginning</a:t>
            </a:r>
          </a:p>
          <a:p>
            <a:pPr marL="0" indent="0">
              <a:buNone/>
            </a:pPr>
            <a:r>
              <a:rPr lang="en-US" dirty="0"/>
              <a:t>Algorithm to insert node at the beginning:</a:t>
            </a:r>
          </a:p>
          <a:p>
            <a:pPr algn="l">
              <a:buFont typeface="+mj-lt"/>
              <a:buAutoNum type="arabicPeriod"/>
            </a:pPr>
            <a:r>
              <a:rPr lang="en-US" b="0" i="0" dirty="0">
                <a:solidFill>
                  <a:srgbClr val="374151"/>
                </a:solidFill>
                <a:effectLst/>
                <a:latin typeface="Söhne"/>
              </a:rPr>
              <a:t>Create a new node with the given data.</a:t>
            </a:r>
          </a:p>
          <a:p>
            <a:pPr algn="l">
              <a:buFont typeface="+mj-lt"/>
              <a:buAutoNum type="arabicPeriod"/>
            </a:pPr>
            <a:r>
              <a:rPr lang="en-US" b="0" i="0" dirty="0">
                <a:solidFill>
                  <a:srgbClr val="374151"/>
                </a:solidFill>
                <a:effectLst/>
                <a:latin typeface="Söhne"/>
              </a:rPr>
              <a:t>If the linked list is empty (head is null):</a:t>
            </a:r>
          </a:p>
          <a:p>
            <a:pPr marL="742950" lvl="1" indent="-285750" algn="l">
              <a:buFont typeface="+mj-lt"/>
              <a:buAutoNum type="arabicPeriod"/>
            </a:pPr>
            <a:r>
              <a:rPr lang="en-US" b="0" i="0" dirty="0">
                <a:solidFill>
                  <a:srgbClr val="374151"/>
                </a:solidFill>
                <a:effectLst/>
                <a:latin typeface="Söhne"/>
              </a:rPr>
              <a:t>Set the new node as the head.</a:t>
            </a:r>
          </a:p>
          <a:p>
            <a:pPr algn="l">
              <a:buFont typeface="+mj-lt"/>
              <a:buAutoNum type="arabicPeriod"/>
            </a:pPr>
            <a:r>
              <a:rPr lang="en-US" b="0" i="0" dirty="0">
                <a:solidFill>
                  <a:srgbClr val="374151"/>
                </a:solidFill>
                <a:effectLst/>
                <a:latin typeface="Söhne"/>
              </a:rPr>
              <a:t>If the linked list is not empty:</a:t>
            </a:r>
          </a:p>
          <a:p>
            <a:pPr marL="742950" lvl="1" indent="-285750" algn="l">
              <a:buFont typeface="+mj-lt"/>
              <a:buAutoNum type="arabicPeriod"/>
            </a:pPr>
            <a:r>
              <a:rPr lang="en-US" b="0" i="0" dirty="0">
                <a:solidFill>
                  <a:srgbClr val="374151"/>
                </a:solidFill>
                <a:effectLst/>
                <a:latin typeface="Söhne"/>
              </a:rPr>
              <a:t>Set the next field of the new node to the current head.</a:t>
            </a:r>
          </a:p>
          <a:p>
            <a:pPr marL="742950" lvl="1" indent="-285750" algn="l">
              <a:buFont typeface="+mj-lt"/>
              <a:buAutoNum type="arabicPeriod"/>
            </a:pPr>
            <a:r>
              <a:rPr lang="en-US" b="0" i="0" dirty="0">
                <a:solidFill>
                  <a:srgbClr val="374151"/>
                </a:solidFill>
                <a:effectLst/>
                <a:latin typeface="Söhne"/>
              </a:rPr>
              <a:t>Update the head to be the new node.</a:t>
            </a:r>
          </a:p>
          <a:p>
            <a:pPr marL="0" indent="0">
              <a:buNone/>
            </a:pPr>
            <a:endParaRPr lang="en-US" b="1" dirty="0"/>
          </a:p>
          <a:p>
            <a:pPr marL="0" indent="0">
              <a:buNone/>
            </a:pPr>
            <a:endParaRPr lang="en-IN" b="1" dirty="0"/>
          </a:p>
        </p:txBody>
      </p:sp>
    </p:spTree>
    <p:extLst>
      <p:ext uri="{BB962C8B-B14F-4D97-AF65-F5344CB8AC3E}">
        <p14:creationId xmlns:p14="http://schemas.microsoft.com/office/powerpoint/2010/main" val="7400467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6C969-9BFF-8FDF-2CD6-2749EDBABDE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D8D1280-52F1-FE2C-7007-DB3556E07554}"/>
              </a:ext>
            </a:extLst>
          </p:cNvPr>
          <p:cNvPicPr>
            <a:picLocks noGrp="1" noChangeAspect="1"/>
          </p:cNvPicPr>
          <p:nvPr>
            <p:ph idx="1"/>
          </p:nvPr>
        </p:nvPicPr>
        <p:blipFill>
          <a:blip r:embed="rId2"/>
          <a:stretch>
            <a:fillRect/>
          </a:stretch>
        </p:blipFill>
        <p:spPr>
          <a:xfrm>
            <a:off x="838200" y="1952978"/>
            <a:ext cx="8391525" cy="3793066"/>
          </a:xfrm>
        </p:spPr>
      </p:pic>
    </p:spTree>
    <p:extLst>
      <p:ext uri="{BB962C8B-B14F-4D97-AF65-F5344CB8AC3E}">
        <p14:creationId xmlns:p14="http://schemas.microsoft.com/office/powerpoint/2010/main" val="27572674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F4473-76BD-B847-EA26-789C61D017EF}"/>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06EFA60E-0E41-FCE7-7FCB-78020B8286F3}"/>
              </a:ext>
            </a:extLst>
          </p:cNvPr>
          <p:cNvSpPr>
            <a:spLocks noGrp="1"/>
          </p:cNvSpPr>
          <p:nvPr>
            <p:ph idx="1"/>
          </p:nvPr>
        </p:nvSpPr>
        <p:spPr/>
        <p:txBody>
          <a:bodyPr/>
          <a:lstStyle/>
          <a:p>
            <a:pPr marL="0" indent="0">
              <a:buNone/>
            </a:pPr>
            <a:r>
              <a:rPr lang="en-US" dirty="0"/>
              <a:t>Function to add node at the beginning</a:t>
            </a:r>
          </a:p>
          <a:p>
            <a:pPr marL="0" indent="0">
              <a:buNone/>
            </a:pPr>
            <a:endParaRPr lang="en-IN" dirty="0"/>
          </a:p>
        </p:txBody>
      </p:sp>
      <p:pic>
        <p:nvPicPr>
          <p:cNvPr id="5" name="Picture 4">
            <a:extLst>
              <a:ext uri="{FF2B5EF4-FFF2-40B4-BE49-F238E27FC236}">
                <a16:creationId xmlns:a16="http://schemas.microsoft.com/office/drawing/2014/main" id="{896C232E-545E-6231-E855-5DFEF75DFD21}"/>
              </a:ext>
            </a:extLst>
          </p:cNvPr>
          <p:cNvPicPr>
            <a:picLocks noChangeAspect="1"/>
          </p:cNvPicPr>
          <p:nvPr/>
        </p:nvPicPr>
        <p:blipFill>
          <a:blip r:embed="rId2"/>
          <a:stretch>
            <a:fillRect/>
          </a:stretch>
        </p:blipFill>
        <p:spPr>
          <a:xfrm>
            <a:off x="598311" y="2233612"/>
            <a:ext cx="9652000" cy="3943351"/>
          </a:xfrm>
          <a:prstGeom prst="rect">
            <a:avLst/>
          </a:prstGeom>
        </p:spPr>
      </p:pic>
    </p:spTree>
    <p:extLst>
      <p:ext uri="{BB962C8B-B14F-4D97-AF65-F5344CB8AC3E}">
        <p14:creationId xmlns:p14="http://schemas.microsoft.com/office/powerpoint/2010/main" val="4129147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FFF4D-64CF-0FC2-39AA-B7434914F5B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258D4B2-DFBC-4228-734F-5EFF80E7B85F}"/>
              </a:ext>
            </a:extLst>
          </p:cNvPr>
          <p:cNvSpPr>
            <a:spLocks noGrp="1"/>
          </p:cNvSpPr>
          <p:nvPr>
            <p:ph idx="1"/>
          </p:nvPr>
        </p:nvSpPr>
        <p:spPr/>
        <p:txBody>
          <a:bodyPr/>
          <a:lstStyle/>
          <a:p>
            <a:pPr marL="0" indent="0">
              <a:buNone/>
            </a:pPr>
            <a:r>
              <a:rPr lang="en-US" dirty="0"/>
              <a:t>2. </a:t>
            </a:r>
            <a:r>
              <a:rPr lang="en-US" b="1" dirty="0"/>
              <a:t>At the end </a:t>
            </a:r>
          </a:p>
          <a:p>
            <a:pPr marL="0" indent="0">
              <a:buNone/>
            </a:pPr>
            <a:r>
              <a:rPr lang="en-US" dirty="0"/>
              <a:t>Algorithm to insert node at the end</a:t>
            </a:r>
          </a:p>
          <a:p>
            <a:pPr algn="l">
              <a:buFont typeface="+mj-lt"/>
              <a:buAutoNum type="arabicPeriod"/>
            </a:pPr>
            <a:r>
              <a:rPr lang="en-US" b="0" i="0" dirty="0">
                <a:solidFill>
                  <a:srgbClr val="374151"/>
                </a:solidFill>
                <a:effectLst/>
                <a:latin typeface="Söhne"/>
              </a:rPr>
              <a:t>Create a new node with the given data.</a:t>
            </a:r>
          </a:p>
          <a:p>
            <a:pPr algn="l">
              <a:buFont typeface="+mj-lt"/>
              <a:buAutoNum type="arabicPeriod"/>
            </a:pPr>
            <a:r>
              <a:rPr lang="en-US" b="0" i="0" dirty="0">
                <a:solidFill>
                  <a:srgbClr val="374151"/>
                </a:solidFill>
                <a:effectLst/>
                <a:latin typeface="Söhne"/>
              </a:rPr>
              <a:t>If the linked list is empty (head is null):</a:t>
            </a:r>
          </a:p>
          <a:p>
            <a:pPr marL="742950" lvl="1" indent="-285750" algn="l">
              <a:buFont typeface="+mj-lt"/>
              <a:buAutoNum type="arabicPeriod"/>
            </a:pPr>
            <a:r>
              <a:rPr lang="en-US" b="0" i="0" dirty="0">
                <a:solidFill>
                  <a:srgbClr val="374151"/>
                </a:solidFill>
                <a:effectLst/>
                <a:latin typeface="Söhne"/>
              </a:rPr>
              <a:t>Set the new node as the head.</a:t>
            </a:r>
          </a:p>
          <a:p>
            <a:pPr algn="l">
              <a:buFont typeface="+mj-lt"/>
              <a:buAutoNum type="arabicPeriod"/>
            </a:pPr>
            <a:r>
              <a:rPr lang="en-US" b="0" i="0" dirty="0">
                <a:solidFill>
                  <a:srgbClr val="374151"/>
                </a:solidFill>
                <a:effectLst/>
                <a:latin typeface="Söhne"/>
              </a:rPr>
              <a:t>If the linked list is not empty:</a:t>
            </a:r>
          </a:p>
          <a:p>
            <a:pPr marL="742950" lvl="1" indent="-285750" algn="l">
              <a:buFont typeface="+mj-lt"/>
              <a:buAutoNum type="arabicPeriod"/>
            </a:pPr>
            <a:r>
              <a:rPr lang="en-US" b="0" i="0" dirty="0">
                <a:solidFill>
                  <a:srgbClr val="374151"/>
                </a:solidFill>
                <a:effectLst/>
                <a:latin typeface="Söhne"/>
              </a:rPr>
              <a:t>Traverse the list to find the last node.</a:t>
            </a:r>
          </a:p>
          <a:p>
            <a:pPr marL="742950" lvl="1" indent="-285750" algn="l">
              <a:buFont typeface="+mj-lt"/>
              <a:buAutoNum type="arabicPeriod"/>
            </a:pPr>
            <a:r>
              <a:rPr lang="en-US" b="0" i="0" dirty="0">
                <a:solidFill>
                  <a:srgbClr val="374151"/>
                </a:solidFill>
                <a:effectLst/>
                <a:latin typeface="Söhne"/>
              </a:rPr>
              <a:t>Set the next field of the last node to the new node.</a:t>
            </a:r>
          </a:p>
          <a:p>
            <a:pPr marL="0" indent="0">
              <a:buNone/>
            </a:pPr>
            <a:endParaRPr lang="en-US" dirty="0"/>
          </a:p>
        </p:txBody>
      </p:sp>
    </p:spTree>
    <p:extLst>
      <p:ext uri="{BB962C8B-B14F-4D97-AF65-F5344CB8AC3E}">
        <p14:creationId xmlns:p14="http://schemas.microsoft.com/office/powerpoint/2010/main" val="14038641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2D0EB-F1C9-83F9-EDFB-9A57188A728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3A74FA8-2A77-7DBA-4A26-EE7AF5697374}"/>
              </a:ext>
            </a:extLst>
          </p:cNvPr>
          <p:cNvPicPr>
            <a:picLocks noGrp="1" noChangeAspect="1"/>
          </p:cNvPicPr>
          <p:nvPr>
            <p:ph idx="1"/>
          </p:nvPr>
        </p:nvPicPr>
        <p:blipFill>
          <a:blip r:embed="rId2"/>
          <a:stretch>
            <a:fillRect/>
          </a:stretch>
        </p:blipFill>
        <p:spPr>
          <a:xfrm>
            <a:off x="609600" y="1690687"/>
            <a:ext cx="10744200" cy="4802187"/>
          </a:xfrm>
        </p:spPr>
      </p:pic>
    </p:spTree>
    <p:extLst>
      <p:ext uri="{BB962C8B-B14F-4D97-AF65-F5344CB8AC3E}">
        <p14:creationId xmlns:p14="http://schemas.microsoft.com/office/powerpoint/2010/main" val="759050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26928-95BA-0E1B-A3AF-3738CDCB9E7B}"/>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D170E98-D6E2-C98D-9D75-02C53ED4C24B}"/>
              </a:ext>
            </a:extLst>
          </p:cNvPr>
          <p:cNvSpPr>
            <a:spLocks noGrp="1"/>
          </p:cNvSpPr>
          <p:nvPr>
            <p:ph idx="1"/>
          </p:nvPr>
        </p:nvSpPr>
        <p:spPr/>
        <p:txBody>
          <a:bodyPr/>
          <a:lstStyle/>
          <a:p>
            <a:pPr marL="0" indent="0">
              <a:buNone/>
            </a:pPr>
            <a:r>
              <a:rPr lang="en-US" dirty="0"/>
              <a:t>Function to add node at the end</a:t>
            </a:r>
          </a:p>
          <a:p>
            <a:pPr marL="0" indent="0">
              <a:buNone/>
            </a:pPr>
            <a:endParaRPr lang="en-US" dirty="0"/>
          </a:p>
          <a:p>
            <a:pPr marL="0" indent="0">
              <a:buNone/>
            </a:pPr>
            <a:endParaRPr lang="en-IN" dirty="0"/>
          </a:p>
        </p:txBody>
      </p:sp>
      <p:pic>
        <p:nvPicPr>
          <p:cNvPr id="5" name="Picture 4">
            <a:extLst>
              <a:ext uri="{FF2B5EF4-FFF2-40B4-BE49-F238E27FC236}">
                <a16:creationId xmlns:a16="http://schemas.microsoft.com/office/drawing/2014/main" id="{62CFC91B-8D87-CE70-FA75-F58B409FB9FE}"/>
              </a:ext>
            </a:extLst>
          </p:cNvPr>
          <p:cNvPicPr>
            <a:picLocks noChangeAspect="1"/>
          </p:cNvPicPr>
          <p:nvPr/>
        </p:nvPicPr>
        <p:blipFill>
          <a:blip r:embed="rId2"/>
          <a:stretch>
            <a:fillRect/>
          </a:stretch>
        </p:blipFill>
        <p:spPr>
          <a:xfrm>
            <a:off x="1095023" y="2178756"/>
            <a:ext cx="9640712" cy="4133144"/>
          </a:xfrm>
          <a:prstGeom prst="rect">
            <a:avLst/>
          </a:prstGeom>
        </p:spPr>
      </p:pic>
    </p:spTree>
    <p:extLst>
      <p:ext uri="{BB962C8B-B14F-4D97-AF65-F5344CB8AC3E}">
        <p14:creationId xmlns:p14="http://schemas.microsoft.com/office/powerpoint/2010/main" val="41646098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DB000-D0A1-E167-11DB-A14C26E657D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B289201-138E-E404-4700-8B779D916766}"/>
              </a:ext>
            </a:extLst>
          </p:cNvPr>
          <p:cNvSpPr>
            <a:spLocks noGrp="1"/>
          </p:cNvSpPr>
          <p:nvPr>
            <p:ph idx="1"/>
          </p:nvPr>
        </p:nvSpPr>
        <p:spPr/>
        <p:txBody>
          <a:bodyPr>
            <a:normAutofit lnSpcReduction="10000"/>
          </a:bodyPr>
          <a:lstStyle/>
          <a:p>
            <a:pPr marL="0" indent="0">
              <a:buNone/>
            </a:pPr>
            <a:r>
              <a:rPr lang="en-US" b="1" dirty="0"/>
              <a:t>3. At the specified position</a:t>
            </a:r>
          </a:p>
          <a:p>
            <a:pPr marL="0" indent="0">
              <a:buNone/>
            </a:pPr>
            <a:r>
              <a:rPr lang="en-US" dirty="0"/>
              <a:t>Algorithm to insert node at specified position</a:t>
            </a:r>
            <a:endParaRPr lang="en-US" b="0" i="0" dirty="0">
              <a:solidFill>
                <a:srgbClr val="374151"/>
              </a:solidFill>
              <a:effectLst/>
              <a:latin typeface="Söhne"/>
            </a:endParaRPr>
          </a:p>
          <a:p>
            <a:pPr algn="l">
              <a:buFont typeface="+mj-lt"/>
              <a:buAutoNum type="arabicPeriod"/>
            </a:pPr>
            <a:r>
              <a:rPr lang="en-US" b="0" i="0" dirty="0">
                <a:solidFill>
                  <a:srgbClr val="374151"/>
                </a:solidFill>
                <a:effectLst/>
                <a:latin typeface="Söhne"/>
              </a:rPr>
              <a:t>Create a new node with the given data.</a:t>
            </a:r>
          </a:p>
          <a:p>
            <a:pPr algn="l">
              <a:buFont typeface="+mj-lt"/>
              <a:buAutoNum type="arabicPeriod"/>
            </a:pPr>
            <a:r>
              <a:rPr lang="en-US" b="0" i="0" dirty="0">
                <a:solidFill>
                  <a:srgbClr val="374151"/>
                </a:solidFill>
                <a:effectLst/>
                <a:latin typeface="Söhne"/>
              </a:rPr>
              <a:t>If the specified position is 0:</a:t>
            </a:r>
          </a:p>
          <a:p>
            <a:pPr marL="742950" lvl="1" indent="-285750" algn="l">
              <a:buFont typeface="+mj-lt"/>
              <a:buAutoNum type="arabicPeriod"/>
            </a:pPr>
            <a:r>
              <a:rPr lang="en-US" b="0" i="0" dirty="0">
                <a:solidFill>
                  <a:srgbClr val="374151"/>
                </a:solidFill>
                <a:effectLst/>
                <a:latin typeface="Söhne"/>
              </a:rPr>
              <a:t>Set the next field of the new node to the current head.</a:t>
            </a:r>
          </a:p>
          <a:p>
            <a:pPr marL="742950" lvl="1" indent="-285750" algn="l">
              <a:buFont typeface="+mj-lt"/>
              <a:buAutoNum type="arabicPeriod"/>
            </a:pPr>
            <a:r>
              <a:rPr lang="en-US" b="0" i="0" dirty="0">
                <a:solidFill>
                  <a:srgbClr val="374151"/>
                </a:solidFill>
                <a:effectLst/>
                <a:latin typeface="Söhne"/>
              </a:rPr>
              <a:t>Update the head to be the new node.</a:t>
            </a:r>
          </a:p>
          <a:p>
            <a:pPr algn="l">
              <a:buFont typeface="+mj-lt"/>
              <a:buAutoNum type="arabicPeriod"/>
            </a:pPr>
            <a:r>
              <a:rPr lang="en-US" b="0" i="0" dirty="0">
                <a:solidFill>
                  <a:srgbClr val="374151"/>
                </a:solidFill>
                <a:effectLst/>
                <a:latin typeface="Söhne"/>
              </a:rPr>
              <a:t>If the specified position is greater than 0:</a:t>
            </a:r>
          </a:p>
          <a:p>
            <a:pPr marL="742950" lvl="1" indent="-285750" algn="l">
              <a:buFont typeface="+mj-lt"/>
              <a:buAutoNum type="arabicPeriod"/>
            </a:pPr>
            <a:r>
              <a:rPr lang="en-US" b="0" i="0" dirty="0">
                <a:solidFill>
                  <a:srgbClr val="374151"/>
                </a:solidFill>
                <a:effectLst/>
                <a:latin typeface="Söhne"/>
              </a:rPr>
              <a:t>Traverse the list to find the node at position - 1.</a:t>
            </a:r>
          </a:p>
          <a:p>
            <a:pPr marL="742950" lvl="1" indent="-285750" algn="l">
              <a:buFont typeface="+mj-lt"/>
              <a:buAutoNum type="arabicPeriod"/>
            </a:pPr>
            <a:r>
              <a:rPr lang="en-US" b="0" i="0" dirty="0">
                <a:solidFill>
                  <a:srgbClr val="374151"/>
                </a:solidFill>
                <a:effectLst/>
                <a:latin typeface="Söhne"/>
              </a:rPr>
              <a:t>Set the next field of the new node to the next field of the node at position - 1.</a:t>
            </a:r>
          </a:p>
          <a:p>
            <a:pPr marL="742950" lvl="1" indent="-285750" algn="l">
              <a:buFont typeface="+mj-lt"/>
              <a:buAutoNum type="arabicPeriod"/>
            </a:pPr>
            <a:r>
              <a:rPr lang="en-US" b="0" i="0" dirty="0">
                <a:solidFill>
                  <a:srgbClr val="374151"/>
                </a:solidFill>
                <a:effectLst/>
                <a:latin typeface="Söhne"/>
              </a:rPr>
              <a:t>Set the next field of the node at position - 1 to the new node.</a:t>
            </a:r>
          </a:p>
          <a:p>
            <a:pPr marL="0" indent="0">
              <a:buNone/>
            </a:pPr>
            <a:endParaRPr lang="en-IN" dirty="0"/>
          </a:p>
        </p:txBody>
      </p:sp>
    </p:spTree>
    <p:extLst>
      <p:ext uri="{BB962C8B-B14F-4D97-AF65-F5344CB8AC3E}">
        <p14:creationId xmlns:p14="http://schemas.microsoft.com/office/powerpoint/2010/main" val="14246117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78768-AA34-2133-4304-F9265C43B1D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3C76159-9800-8D49-C748-2E17E96ED2E8}"/>
              </a:ext>
            </a:extLst>
          </p:cNvPr>
          <p:cNvPicPr>
            <a:picLocks noGrp="1" noChangeAspect="1"/>
          </p:cNvPicPr>
          <p:nvPr>
            <p:ph idx="1"/>
          </p:nvPr>
        </p:nvPicPr>
        <p:blipFill>
          <a:blip r:embed="rId2"/>
          <a:stretch>
            <a:fillRect/>
          </a:stretch>
        </p:blipFill>
        <p:spPr>
          <a:xfrm>
            <a:off x="1569156" y="1690688"/>
            <a:ext cx="9324621" cy="4664955"/>
          </a:xfrm>
        </p:spPr>
      </p:pic>
    </p:spTree>
    <p:extLst>
      <p:ext uri="{BB962C8B-B14F-4D97-AF65-F5344CB8AC3E}">
        <p14:creationId xmlns:p14="http://schemas.microsoft.com/office/powerpoint/2010/main" val="29881094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171A1-920A-21B9-D117-3F91233021CC}"/>
              </a:ext>
            </a:extLst>
          </p:cNvPr>
          <p:cNvSpPr>
            <a:spLocks noGrp="1"/>
          </p:cNvSpPr>
          <p:nvPr>
            <p:ph type="title"/>
          </p:nvPr>
        </p:nvSpPr>
        <p:spPr>
          <a:xfrm>
            <a:off x="838200" y="365125"/>
            <a:ext cx="10515600" cy="5811838"/>
          </a:xfrm>
        </p:spPr>
        <p:txBody>
          <a:bodyPr/>
          <a:lstStyle/>
          <a:p>
            <a:endParaRPr lang="en-IN" dirty="0"/>
          </a:p>
        </p:txBody>
      </p:sp>
      <p:pic>
        <p:nvPicPr>
          <p:cNvPr id="5" name="Content Placeholder 4">
            <a:extLst>
              <a:ext uri="{FF2B5EF4-FFF2-40B4-BE49-F238E27FC236}">
                <a16:creationId xmlns:a16="http://schemas.microsoft.com/office/drawing/2014/main" id="{637BEE41-B50F-3494-871F-872F790E2F40}"/>
              </a:ext>
            </a:extLst>
          </p:cNvPr>
          <p:cNvPicPr>
            <a:picLocks noGrp="1" noChangeAspect="1"/>
          </p:cNvPicPr>
          <p:nvPr>
            <p:ph idx="1"/>
          </p:nvPr>
        </p:nvPicPr>
        <p:blipFill>
          <a:blip r:embed="rId2"/>
          <a:stretch>
            <a:fillRect/>
          </a:stretch>
        </p:blipFill>
        <p:spPr>
          <a:xfrm>
            <a:off x="838200" y="365126"/>
            <a:ext cx="10515600" cy="5811838"/>
          </a:xfrm>
        </p:spPr>
      </p:pic>
    </p:spTree>
    <p:extLst>
      <p:ext uri="{BB962C8B-B14F-4D97-AF65-F5344CB8AC3E}">
        <p14:creationId xmlns:p14="http://schemas.microsoft.com/office/powerpoint/2010/main" val="6317895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4CA5B-7ADA-9B7A-FCF0-9E5C824BCC9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9CA2582-649A-5AA0-9C20-FEBB03667FAB}"/>
              </a:ext>
            </a:extLst>
          </p:cNvPr>
          <p:cNvSpPr>
            <a:spLocks noGrp="1"/>
          </p:cNvSpPr>
          <p:nvPr>
            <p:ph idx="1"/>
          </p:nvPr>
        </p:nvSpPr>
        <p:spPr/>
        <p:txBody>
          <a:bodyPr>
            <a:normAutofit/>
          </a:bodyPr>
          <a:lstStyle/>
          <a:p>
            <a:pPr marL="0" indent="0">
              <a:buNone/>
            </a:pPr>
            <a:r>
              <a:rPr lang="en-US" sz="3200" b="1" dirty="0"/>
              <a:t>NODE DELETION</a:t>
            </a:r>
          </a:p>
          <a:p>
            <a:pPr marL="514350" indent="-514350">
              <a:buAutoNum type="arabicPeriod"/>
            </a:pPr>
            <a:r>
              <a:rPr lang="en-US" sz="3200" b="1" dirty="0"/>
              <a:t>At the beginning of the linked list</a:t>
            </a:r>
          </a:p>
          <a:p>
            <a:pPr algn="l"/>
            <a:r>
              <a:rPr lang="en-US" b="0" i="0" dirty="0">
                <a:solidFill>
                  <a:srgbClr val="374151"/>
                </a:solidFill>
                <a:effectLst/>
                <a:latin typeface="Söhne"/>
              </a:rPr>
              <a:t>Algorithm:</a:t>
            </a:r>
          </a:p>
          <a:p>
            <a:pPr algn="l">
              <a:buFont typeface="+mj-lt"/>
              <a:buAutoNum type="arabicPeriod"/>
            </a:pPr>
            <a:r>
              <a:rPr lang="en-US" b="0" i="0" dirty="0">
                <a:solidFill>
                  <a:srgbClr val="374151"/>
                </a:solidFill>
                <a:effectLst/>
                <a:latin typeface="Söhne"/>
              </a:rPr>
              <a:t>If the linked list is empty (head is null):</a:t>
            </a:r>
          </a:p>
          <a:p>
            <a:pPr marL="742950" lvl="1" indent="-285750" algn="l">
              <a:buFont typeface="+mj-lt"/>
              <a:buAutoNum type="arabicPeriod"/>
            </a:pPr>
            <a:r>
              <a:rPr lang="en-US" b="0" i="0" dirty="0">
                <a:solidFill>
                  <a:srgbClr val="374151"/>
                </a:solidFill>
                <a:effectLst/>
                <a:latin typeface="Söhne"/>
              </a:rPr>
              <a:t>Display an error message (optional, depends on the design).</a:t>
            </a:r>
          </a:p>
          <a:p>
            <a:pPr algn="l">
              <a:buFont typeface="+mj-lt"/>
              <a:buAutoNum type="arabicPeriod"/>
            </a:pPr>
            <a:r>
              <a:rPr lang="en-US" b="0" i="0" dirty="0">
                <a:solidFill>
                  <a:srgbClr val="374151"/>
                </a:solidFill>
                <a:effectLst/>
                <a:latin typeface="Söhne"/>
              </a:rPr>
              <a:t>If the linked list is not empty:</a:t>
            </a:r>
          </a:p>
          <a:p>
            <a:pPr marL="742950" lvl="1" indent="-285750" algn="l">
              <a:buFont typeface="+mj-lt"/>
              <a:buAutoNum type="arabicPeriod"/>
            </a:pPr>
            <a:r>
              <a:rPr lang="en-US" b="0" i="0" dirty="0">
                <a:solidFill>
                  <a:srgbClr val="374151"/>
                </a:solidFill>
                <a:effectLst/>
                <a:latin typeface="Söhne"/>
              </a:rPr>
              <a:t>Update the head to be the next node of the current head.</a:t>
            </a:r>
          </a:p>
          <a:p>
            <a:pPr marL="0" indent="0">
              <a:buNone/>
            </a:pPr>
            <a:endParaRPr lang="en-US" sz="3200" b="1" dirty="0"/>
          </a:p>
        </p:txBody>
      </p:sp>
    </p:spTree>
    <p:extLst>
      <p:ext uri="{BB962C8B-B14F-4D97-AF65-F5344CB8AC3E}">
        <p14:creationId xmlns:p14="http://schemas.microsoft.com/office/powerpoint/2010/main" val="8605463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A430E-2A6D-1FDB-AD29-487FFCFC25B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F568F38-2889-DE0D-ADE3-5C9784D9F6F7}"/>
              </a:ext>
            </a:extLst>
          </p:cNvPr>
          <p:cNvPicPr>
            <a:picLocks noGrp="1" noChangeAspect="1"/>
          </p:cNvPicPr>
          <p:nvPr>
            <p:ph idx="1"/>
          </p:nvPr>
        </p:nvPicPr>
        <p:blipFill>
          <a:blip r:embed="rId2"/>
          <a:stretch>
            <a:fillRect/>
          </a:stretch>
        </p:blipFill>
        <p:spPr>
          <a:xfrm>
            <a:off x="1682044" y="2325510"/>
            <a:ext cx="7366706" cy="3567289"/>
          </a:xfrm>
        </p:spPr>
      </p:pic>
    </p:spTree>
    <p:extLst>
      <p:ext uri="{BB962C8B-B14F-4D97-AF65-F5344CB8AC3E}">
        <p14:creationId xmlns:p14="http://schemas.microsoft.com/office/powerpoint/2010/main" val="544324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25392-7DE4-C19D-7407-A32FE402DB8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8A6E76A-D936-7CA7-A5CF-DC86E995F6D3}"/>
              </a:ext>
            </a:extLst>
          </p:cNvPr>
          <p:cNvSpPr>
            <a:spLocks noGrp="1"/>
          </p:cNvSpPr>
          <p:nvPr>
            <p:ph idx="1"/>
          </p:nvPr>
        </p:nvSpPr>
        <p:spPr/>
        <p:txBody>
          <a:bodyPr/>
          <a:lstStyle/>
          <a:p>
            <a:pPr marL="0" indent="0">
              <a:buNone/>
            </a:pPr>
            <a:r>
              <a:rPr lang="en-US" dirty="0"/>
              <a:t>Function to delete from beginning</a:t>
            </a:r>
          </a:p>
          <a:p>
            <a:pPr marL="0" indent="0">
              <a:buNone/>
            </a:pPr>
            <a:endParaRPr lang="en-IN" dirty="0"/>
          </a:p>
        </p:txBody>
      </p:sp>
      <p:pic>
        <p:nvPicPr>
          <p:cNvPr id="5" name="Picture 4">
            <a:extLst>
              <a:ext uri="{FF2B5EF4-FFF2-40B4-BE49-F238E27FC236}">
                <a16:creationId xmlns:a16="http://schemas.microsoft.com/office/drawing/2014/main" id="{5722CFFE-D054-A827-8525-20626F1CC19C}"/>
              </a:ext>
            </a:extLst>
          </p:cNvPr>
          <p:cNvPicPr>
            <a:picLocks noChangeAspect="1"/>
          </p:cNvPicPr>
          <p:nvPr/>
        </p:nvPicPr>
        <p:blipFill>
          <a:blip r:embed="rId2"/>
          <a:stretch>
            <a:fillRect/>
          </a:stretch>
        </p:blipFill>
        <p:spPr>
          <a:xfrm>
            <a:off x="688622" y="2348089"/>
            <a:ext cx="10137422" cy="3828873"/>
          </a:xfrm>
          <a:prstGeom prst="rect">
            <a:avLst/>
          </a:prstGeom>
        </p:spPr>
      </p:pic>
    </p:spTree>
    <p:extLst>
      <p:ext uri="{BB962C8B-B14F-4D97-AF65-F5344CB8AC3E}">
        <p14:creationId xmlns:p14="http://schemas.microsoft.com/office/powerpoint/2010/main" val="41508372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80591-4AAD-4A24-7755-23C23147B19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537E35F-8AD8-51DB-6CFC-7E4F805070A3}"/>
              </a:ext>
            </a:extLst>
          </p:cNvPr>
          <p:cNvSpPr>
            <a:spLocks noGrp="1"/>
          </p:cNvSpPr>
          <p:nvPr>
            <p:ph idx="1"/>
          </p:nvPr>
        </p:nvSpPr>
        <p:spPr/>
        <p:txBody>
          <a:bodyPr/>
          <a:lstStyle/>
          <a:p>
            <a:r>
              <a:rPr lang="en-US" b="1" dirty="0"/>
              <a:t>FROM THE END</a:t>
            </a:r>
          </a:p>
          <a:p>
            <a:pPr algn="l"/>
            <a:r>
              <a:rPr lang="en-US" b="0" i="0" dirty="0">
                <a:solidFill>
                  <a:srgbClr val="374151"/>
                </a:solidFill>
                <a:effectLst/>
                <a:latin typeface="Söhne"/>
              </a:rPr>
              <a:t>Algorithm:</a:t>
            </a:r>
          </a:p>
          <a:p>
            <a:pPr algn="l">
              <a:buFont typeface="+mj-lt"/>
              <a:buAutoNum type="arabicPeriod"/>
            </a:pPr>
            <a:r>
              <a:rPr lang="en-US" b="0" i="0" dirty="0">
                <a:solidFill>
                  <a:srgbClr val="374151"/>
                </a:solidFill>
                <a:effectLst/>
                <a:latin typeface="Söhne"/>
              </a:rPr>
              <a:t>If the linked list is empty (head is null):</a:t>
            </a:r>
          </a:p>
          <a:p>
            <a:pPr marL="742950" lvl="1" indent="-285750" algn="l">
              <a:buFont typeface="+mj-lt"/>
              <a:buAutoNum type="arabicPeriod"/>
            </a:pPr>
            <a:r>
              <a:rPr lang="en-US" b="0" i="0" dirty="0">
                <a:solidFill>
                  <a:srgbClr val="374151"/>
                </a:solidFill>
                <a:effectLst/>
                <a:latin typeface="Söhne"/>
              </a:rPr>
              <a:t>Display an error message (optional, depends on the design).</a:t>
            </a:r>
          </a:p>
          <a:p>
            <a:pPr algn="l">
              <a:buFont typeface="+mj-lt"/>
              <a:buAutoNum type="arabicPeriod"/>
            </a:pPr>
            <a:r>
              <a:rPr lang="en-US" b="0" i="0" dirty="0">
                <a:solidFill>
                  <a:srgbClr val="374151"/>
                </a:solidFill>
                <a:effectLst/>
                <a:latin typeface="Söhne"/>
              </a:rPr>
              <a:t>If the linked list has only one node:</a:t>
            </a:r>
          </a:p>
          <a:p>
            <a:pPr marL="742950" lvl="1" indent="-285750" algn="l">
              <a:buFont typeface="+mj-lt"/>
              <a:buAutoNum type="arabicPeriod"/>
            </a:pPr>
            <a:r>
              <a:rPr lang="en-US" b="0" i="0" dirty="0">
                <a:solidFill>
                  <a:srgbClr val="374151"/>
                </a:solidFill>
                <a:effectLst/>
                <a:latin typeface="Söhne"/>
              </a:rPr>
              <a:t>Set the head to null.</a:t>
            </a:r>
          </a:p>
          <a:p>
            <a:pPr algn="l">
              <a:buFont typeface="+mj-lt"/>
              <a:buAutoNum type="arabicPeriod"/>
            </a:pPr>
            <a:r>
              <a:rPr lang="en-US" b="0" i="0" dirty="0">
                <a:solidFill>
                  <a:srgbClr val="374151"/>
                </a:solidFill>
                <a:effectLst/>
                <a:latin typeface="Söhne"/>
              </a:rPr>
              <a:t>If the linked list has more than one node:</a:t>
            </a:r>
          </a:p>
          <a:p>
            <a:pPr marL="742950" lvl="1" indent="-285750" algn="l">
              <a:buFont typeface="+mj-lt"/>
              <a:buAutoNum type="arabicPeriod"/>
            </a:pPr>
            <a:r>
              <a:rPr lang="en-US" b="0" i="0" dirty="0">
                <a:solidFill>
                  <a:srgbClr val="374151"/>
                </a:solidFill>
                <a:effectLst/>
                <a:latin typeface="Söhne"/>
              </a:rPr>
              <a:t>Traverse the list to find the second-to-last node.</a:t>
            </a:r>
          </a:p>
          <a:p>
            <a:pPr marL="742950" lvl="1" indent="-285750" algn="l">
              <a:buFont typeface="+mj-lt"/>
              <a:buAutoNum type="arabicPeriod"/>
            </a:pPr>
            <a:r>
              <a:rPr lang="en-US" b="0" i="0" dirty="0">
                <a:solidFill>
                  <a:srgbClr val="374151"/>
                </a:solidFill>
                <a:effectLst/>
                <a:latin typeface="Söhne"/>
              </a:rPr>
              <a:t>Set the next field of the second-to-last node to null.</a:t>
            </a:r>
          </a:p>
          <a:p>
            <a:pPr marL="0" indent="0">
              <a:buNone/>
            </a:pPr>
            <a:endParaRPr lang="en-IN" b="1" dirty="0"/>
          </a:p>
        </p:txBody>
      </p:sp>
    </p:spTree>
    <p:extLst>
      <p:ext uri="{BB962C8B-B14F-4D97-AF65-F5344CB8AC3E}">
        <p14:creationId xmlns:p14="http://schemas.microsoft.com/office/powerpoint/2010/main" val="6125684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C319A-A34C-CE88-BD62-F7444C9048C7}"/>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id="{0173AA44-3777-B64F-2E60-17F59E15F97E}"/>
              </a:ext>
            </a:extLst>
          </p:cNvPr>
          <p:cNvPicPr>
            <a:picLocks noGrp="1" noChangeAspect="1"/>
          </p:cNvPicPr>
          <p:nvPr>
            <p:ph idx="1"/>
          </p:nvPr>
        </p:nvPicPr>
        <p:blipFill>
          <a:blip r:embed="rId2"/>
          <a:stretch>
            <a:fillRect/>
          </a:stretch>
        </p:blipFill>
        <p:spPr>
          <a:xfrm>
            <a:off x="1478843" y="2291644"/>
            <a:ext cx="9460089" cy="3341511"/>
          </a:xfrm>
        </p:spPr>
      </p:pic>
    </p:spTree>
    <p:extLst>
      <p:ext uri="{BB962C8B-B14F-4D97-AF65-F5344CB8AC3E}">
        <p14:creationId xmlns:p14="http://schemas.microsoft.com/office/powerpoint/2010/main" val="604198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6CFE6-0695-A5F0-2130-CFC2BEACB71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ECC08A4-6ADE-A723-3B72-D9741DF33AA8}"/>
              </a:ext>
            </a:extLst>
          </p:cNvPr>
          <p:cNvPicPr>
            <a:picLocks noGrp="1" noChangeAspect="1"/>
          </p:cNvPicPr>
          <p:nvPr>
            <p:ph idx="1"/>
          </p:nvPr>
        </p:nvPicPr>
        <p:blipFill>
          <a:blip r:embed="rId2"/>
          <a:stretch>
            <a:fillRect/>
          </a:stretch>
        </p:blipFill>
        <p:spPr>
          <a:xfrm>
            <a:off x="838200" y="1806222"/>
            <a:ext cx="10515599" cy="4594577"/>
          </a:xfrm>
        </p:spPr>
      </p:pic>
    </p:spTree>
    <p:extLst>
      <p:ext uri="{BB962C8B-B14F-4D97-AF65-F5344CB8AC3E}">
        <p14:creationId xmlns:p14="http://schemas.microsoft.com/office/powerpoint/2010/main" val="6323074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3DA94-5A76-BCBD-C4E1-B91ED4E9D38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C610E89-0845-CF7E-77DD-26BDC9B446E7}"/>
              </a:ext>
            </a:extLst>
          </p:cNvPr>
          <p:cNvSpPr>
            <a:spLocks noGrp="1"/>
          </p:cNvSpPr>
          <p:nvPr>
            <p:ph idx="1"/>
          </p:nvPr>
        </p:nvSpPr>
        <p:spPr/>
        <p:txBody>
          <a:bodyPr>
            <a:normAutofit fontScale="92500" lnSpcReduction="20000"/>
          </a:bodyPr>
          <a:lstStyle/>
          <a:p>
            <a:r>
              <a:rPr lang="en-US" b="1" dirty="0"/>
              <a:t>FROM THE SPECIFIED POSITION</a:t>
            </a:r>
          </a:p>
          <a:p>
            <a:pPr algn="l"/>
            <a:r>
              <a:rPr lang="en-US" b="0" i="0" dirty="0">
                <a:solidFill>
                  <a:srgbClr val="374151"/>
                </a:solidFill>
                <a:effectLst/>
                <a:latin typeface="Söhne"/>
              </a:rPr>
              <a:t>Algorithm:</a:t>
            </a:r>
          </a:p>
          <a:p>
            <a:pPr algn="l">
              <a:buFont typeface="+mj-lt"/>
              <a:buAutoNum type="arabicPeriod"/>
            </a:pPr>
            <a:r>
              <a:rPr lang="en-US" b="0" i="0" dirty="0">
                <a:solidFill>
                  <a:srgbClr val="374151"/>
                </a:solidFill>
                <a:effectLst/>
                <a:latin typeface="Söhne"/>
              </a:rPr>
              <a:t>If the linked list is empty (head is null):</a:t>
            </a:r>
          </a:p>
          <a:p>
            <a:pPr marL="742950" lvl="1" indent="-285750" algn="l">
              <a:buFont typeface="+mj-lt"/>
              <a:buAutoNum type="arabicPeriod"/>
            </a:pPr>
            <a:r>
              <a:rPr lang="en-US" b="0" i="0" dirty="0">
                <a:solidFill>
                  <a:srgbClr val="374151"/>
                </a:solidFill>
                <a:effectLst/>
                <a:latin typeface="Söhne"/>
              </a:rPr>
              <a:t>Display an error message (optional, depends on the design).</a:t>
            </a:r>
          </a:p>
          <a:p>
            <a:pPr algn="l">
              <a:buFont typeface="+mj-lt"/>
              <a:buAutoNum type="arabicPeriod"/>
            </a:pPr>
            <a:r>
              <a:rPr lang="en-US" b="0" i="0" dirty="0">
                <a:solidFill>
                  <a:srgbClr val="374151"/>
                </a:solidFill>
                <a:effectLst/>
                <a:latin typeface="Söhne"/>
              </a:rPr>
              <a:t>If the specified position is 0:</a:t>
            </a:r>
          </a:p>
          <a:p>
            <a:pPr marL="742950" lvl="1" indent="-285750" algn="l">
              <a:buFont typeface="+mj-lt"/>
              <a:buAutoNum type="arabicPeriod"/>
            </a:pPr>
            <a:r>
              <a:rPr lang="en-US" b="0" i="0" dirty="0">
                <a:solidFill>
                  <a:srgbClr val="374151"/>
                </a:solidFill>
                <a:effectLst/>
                <a:latin typeface="Söhne"/>
              </a:rPr>
              <a:t>Update the head to be the next node of the current head.</a:t>
            </a:r>
          </a:p>
          <a:p>
            <a:pPr algn="l">
              <a:buFont typeface="+mj-lt"/>
              <a:buAutoNum type="arabicPeriod"/>
            </a:pPr>
            <a:r>
              <a:rPr lang="en-US" b="0" i="0" dirty="0">
                <a:solidFill>
                  <a:srgbClr val="374151"/>
                </a:solidFill>
                <a:effectLst/>
                <a:latin typeface="Söhne"/>
              </a:rPr>
              <a:t>If the specified position is greater than 0:</a:t>
            </a:r>
          </a:p>
          <a:p>
            <a:pPr marL="742950" lvl="1" indent="-285750" algn="l">
              <a:buFont typeface="+mj-lt"/>
              <a:buAutoNum type="arabicPeriod"/>
            </a:pPr>
            <a:r>
              <a:rPr lang="en-US" b="0" i="0" dirty="0">
                <a:solidFill>
                  <a:srgbClr val="374151"/>
                </a:solidFill>
                <a:effectLst/>
                <a:latin typeface="Söhne"/>
              </a:rPr>
              <a:t>Traverse the list to find the node at position - 1.</a:t>
            </a:r>
          </a:p>
          <a:p>
            <a:pPr marL="742950" lvl="1" indent="-285750" algn="l">
              <a:buFont typeface="+mj-lt"/>
              <a:buAutoNum type="arabicPeriod"/>
            </a:pPr>
            <a:r>
              <a:rPr lang="en-US" b="0" i="0" dirty="0">
                <a:solidFill>
                  <a:srgbClr val="374151"/>
                </a:solidFill>
                <a:effectLst/>
                <a:latin typeface="Söhne"/>
              </a:rPr>
              <a:t>If the node at position - 1 is null (invalid position), display an error message (optional).</a:t>
            </a:r>
          </a:p>
          <a:p>
            <a:pPr marL="742950" lvl="1" indent="-285750" algn="l">
              <a:buFont typeface="+mj-lt"/>
              <a:buAutoNum type="arabicPeriod"/>
            </a:pPr>
            <a:r>
              <a:rPr lang="en-US" b="0" i="0" dirty="0">
                <a:solidFill>
                  <a:srgbClr val="374151"/>
                </a:solidFill>
                <a:effectLst/>
                <a:latin typeface="Söhne"/>
              </a:rPr>
              <a:t>If the node at position - 1 is not null, set its next field to the next field of the node at position - 1.</a:t>
            </a:r>
          </a:p>
          <a:p>
            <a:pPr marL="0" indent="0">
              <a:buNone/>
            </a:pPr>
            <a:endParaRPr lang="en-IN" b="1" dirty="0"/>
          </a:p>
        </p:txBody>
      </p:sp>
    </p:spTree>
    <p:extLst>
      <p:ext uri="{BB962C8B-B14F-4D97-AF65-F5344CB8AC3E}">
        <p14:creationId xmlns:p14="http://schemas.microsoft.com/office/powerpoint/2010/main" val="201785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2D598-085A-CFB8-5BFD-98541EA2ECE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C024A51-2FA8-300C-44F4-2F3BC5A2B36B}"/>
              </a:ext>
            </a:extLst>
          </p:cNvPr>
          <p:cNvPicPr>
            <a:picLocks noGrp="1" noChangeAspect="1"/>
          </p:cNvPicPr>
          <p:nvPr>
            <p:ph idx="1"/>
          </p:nvPr>
        </p:nvPicPr>
        <p:blipFill>
          <a:blip r:embed="rId2"/>
          <a:stretch>
            <a:fillRect/>
          </a:stretch>
        </p:blipFill>
        <p:spPr>
          <a:xfrm>
            <a:off x="1388533" y="2122310"/>
            <a:ext cx="8873067" cy="4176889"/>
          </a:xfrm>
        </p:spPr>
      </p:pic>
    </p:spTree>
    <p:extLst>
      <p:ext uri="{BB962C8B-B14F-4D97-AF65-F5344CB8AC3E}">
        <p14:creationId xmlns:p14="http://schemas.microsoft.com/office/powerpoint/2010/main" val="19295396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24CE5-99BB-0CC0-ADE9-B909C59E081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B274497-4225-DF56-2044-EA325B622D76}"/>
              </a:ext>
            </a:extLst>
          </p:cNvPr>
          <p:cNvPicPr>
            <a:picLocks noGrp="1" noChangeAspect="1"/>
          </p:cNvPicPr>
          <p:nvPr>
            <p:ph idx="1"/>
          </p:nvPr>
        </p:nvPicPr>
        <p:blipFill>
          <a:blip r:embed="rId2"/>
          <a:stretch>
            <a:fillRect/>
          </a:stretch>
        </p:blipFill>
        <p:spPr>
          <a:xfrm>
            <a:off x="383822" y="485422"/>
            <a:ext cx="10969978" cy="5892799"/>
          </a:xfrm>
        </p:spPr>
      </p:pic>
    </p:spTree>
    <p:extLst>
      <p:ext uri="{BB962C8B-B14F-4D97-AF65-F5344CB8AC3E}">
        <p14:creationId xmlns:p14="http://schemas.microsoft.com/office/powerpoint/2010/main" val="24478807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C13C-CD79-2819-EDF6-8E889487030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B662AD8-511E-B745-84F1-4617AFB0B0A3}"/>
              </a:ext>
            </a:extLst>
          </p:cNvPr>
          <p:cNvSpPr>
            <a:spLocks noGrp="1"/>
          </p:cNvSpPr>
          <p:nvPr>
            <p:ph idx="1"/>
          </p:nvPr>
        </p:nvSpPr>
        <p:spPr/>
        <p:txBody>
          <a:bodyPr>
            <a:normAutofit/>
          </a:bodyPr>
          <a:lstStyle/>
          <a:p>
            <a:pPr marL="0" indent="0">
              <a:buNone/>
            </a:pPr>
            <a:r>
              <a:rPr lang="en-US" sz="3600" b="1" dirty="0"/>
              <a:t>DOUBLY LINKED LIST/</a:t>
            </a:r>
            <a:r>
              <a:rPr lang="en-IN" sz="3200" b="1" dirty="0"/>
              <a:t>TWO WAY LINKED LIST</a:t>
            </a:r>
            <a:endParaRPr lang="en-US" sz="3600" b="1" dirty="0"/>
          </a:p>
          <a:p>
            <a:r>
              <a:rPr lang="en-US" sz="3200" dirty="0"/>
              <a:t>A doubly linked list is a data structure in which each element, known as a node, contains a data part and two pointers.</a:t>
            </a:r>
          </a:p>
          <a:p>
            <a:r>
              <a:rPr lang="en-US" sz="3200" dirty="0"/>
              <a:t> The two pointers are typically named "next" and "</a:t>
            </a:r>
            <a:r>
              <a:rPr lang="en-US" sz="3200" dirty="0" err="1"/>
              <a:t>prev</a:t>
            </a:r>
            <a:r>
              <a:rPr lang="en-US" sz="3200" dirty="0"/>
              <a:t>," and they point to the next and previous nodes in the sequence, respectively</a:t>
            </a:r>
            <a:r>
              <a:rPr lang="en-US" b="0" i="0" dirty="0">
                <a:solidFill>
                  <a:srgbClr val="374151"/>
                </a:solidFill>
                <a:effectLst/>
                <a:latin typeface="Söhne"/>
              </a:rPr>
              <a:t>. </a:t>
            </a:r>
          </a:p>
          <a:p>
            <a:r>
              <a:rPr lang="en-US" sz="3200" dirty="0"/>
              <a:t>This structure allows traversal in both forward and backward directions.</a:t>
            </a:r>
          </a:p>
          <a:p>
            <a:endParaRPr lang="en-US" dirty="0"/>
          </a:p>
          <a:p>
            <a:endParaRPr lang="en-US" sz="3600" b="1" dirty="0"/>
          </a:p>
          <a:p>
            <a:pPr marL="0" indent="0">
              <a:buNone/>
            </a:pPr>
            <a:endParaRPr lang="en-IN" sz="3600" b="1" dirty="0"/>
          </a:p>
        </p:txBody>
      </p:sp>
    </p:spTree>
    <p:extLst>
      <p:ext uri="{BB962C8B-B14F-4D97-AF65-F5344CB8AC3E}">
        <p14:creationId xmlns:p14="http://schemas.microsoft.com/office/powerpoint/2010/main" val="17982345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334B6-B93C-3D94-C32D-28586264DB06}"/>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5C66A234-3AC4-9528-D4BC-D664D752C0C7}"/>
              </a:ext>
            </a:extLst>
          </p:cNvPr>
          <p:cNvPicPr>
            <a:picLocks noGrp="1" noChangeAspect="1"/>
          </p:cNvPicPr>
          <p:nvPr>
            <p:ph idx="1"/>
          </p:nvPr>
        </p:nvPicPr>
        <p:blipFill>
          <a:blip r:embed="rId2"/>
          <a:stretch>
            <a:fillRect/>
          </a:stretch>
        </p:blipFill>
        <p:spPr>
          <a:xfrm>
            <a:off x="838200" y="1690687"/>
            <a:ext cx="10684304" cy="4613123"/>
          </a:xfrm>
        </p:spPr>
      </p:pic>
      <p:sp>
        <p:nvSpPr>
          <p:cNvPr id="7" name="TextBox 6">
            <a:extLst>
              <a:ext uri="{FF2B5EF4-FFF2-40B4-BE49-F238E27FC236}">
                <a16:creationId xmlns:a16="http://schemas.microsoft.com/office/drawing/2014/main" id="{C42D2798-3556-6ED1-0706-54C13B1D725B}"/>
              </a:ext>
            </a:extLst>
          </p:cNvPr>
          <p:cNvSpPr txBox="1"/>
          <p:nvPr/>
        </p:nvSpPr>
        <p:spPr>
          <a:xfrm>
            <a:off x="2223656" y="5380480"/>
            <a:ext cx="9130144" cy="923330"/>
          </a:xfrm>
          <a:prstGeom prst="rect">
            <a:avLst/>
          </a:prstGeom>
          <a:noFill/>
        </p:spPr>
        <p:txBody>
          <a:bodyPr wrap="square">
            <a:spAutoFit/>
          </a:bodyPr>
          <a:lstStyle/>
          <a:p>
            <a:pPr algn="l">
              <a:buFont typeface="Arial" panose="020B0604020202020204" pitchFamily="34" charset="0"/>
              <a:buChar char="•"/>
            </a:pPr>
            <a:r>
              <a:rPr lang="en-US" dirty="0"/>
              <a:t>Data: The actual data or value stored in the node.</a:t>
            </a:r>
          </a:p>
          <a:p>
            <a:pPr algn="l">
              <a:buFont typeface="Arial" panose="020B0604020202020204" pitchFamily="34" charset="0"/>
              <a:buChar char="•"/>
            </a:pPr>
            <a:r>
              <a:rPr lang="en-US" dirty="0"/>
              <a:t>Prev: A pointer to the previous node in the sequence.</a:t>
            </a:r>
          </a:p>
          <a:p>
            <a:pPr algn="l">
              <a:buFont typeface="Arial" panose="020B0604020202020204" pitchFamily="34" charset="0"/>
              <a:buChar char="•"/>
            </a:pPr>
            <a:r>
              <a:rPr lang="en-US" dirty="0"/>
              <a:t>Next: A pointer to the next node in the sequence.</a:t>
            </a:r>
          </a:p>
        </p:txBody>
      </p:sp>
    </p:spTree>
    <p:extLst>
      <p:ext uri="{BB962C8B-B14F-4D97-AF65-F5344CB8AC3E}">
        <p14:creationId xmlns:p14="http://schemas.microsoft.com/office/powerpoint/2010/main" val="37438003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23D7E-D5E7-F44C-5022-0B83C4190E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54F5208-805C-A810-B6E5-92B4B3E48B41}"/>
              </a:ext>
            </a:extLst>
          </p:cNvPr>
          <p:cNvSpPr>
            <a:spLocks noGrp="1"/>
          </p:cNvSpPr>
          <p:nvPr>
            <p:ph idx="1"/>
          </p:nvPr>
        </p:nvSpPr>
        <p:spPr/>
        <p:txBody>
          <a:bodyPr>
            <a:normAutofit fontScale="85000" lnSpcReduction="20000"/>
          </a:bodyPr>
          <a:lstStyle/>
          <a:p>
            <a:pPr marL="0" indent="0" algn="just" fontAlgn="base">
              <a:buNone/>
            </a:pPr>
            <a:r>
              <a:rPr lang="en-US" b="1" i="0" dirty="0">
                <a:effectLst/>
                <a:latin typeface="Roboto" panose="02000000000000000000" pitchFamily="2" charset="0"/>
              </a:rPr>
              <a:t>Advantages of Doubly Linked List over the singly linked list:</a:t>
            </a:r>
          </a:p>
          <a:p>
            <a:pPr algn="l" fontAlgn="base">
              <a:buFont typeface="Arial" panose="020B0604020202020204" pitchFamily="34" charset="0"/>
              <a:buChar char="•"/>
            </a:pPr>
            <a:r>
              <a:rPr lang="en-US" b="0" i="0" dirty="0">
                <a:effectLst/>
                <a:latin typeface="var(--font-secondary)"/>
              </a:rPr>
              <a:t>A DLL can be traversed in both forward and backward directions. </a:t>
            </a:r>
          </a:p>
          <a:p>
            <a:pPr algn="l" fontAlgn="base">
              <a:buFont typeface="Arial" panose="020B0604020202020204" pitchFamily="34" charset="0"/>
              <a:buChar char="•"/>
            </a:pPr>
            <a:r>
              <a:rPr lang="en-US" b="0" i="0" dirty="0">
                <a:effectLst/>
                <a:latin typeface="var(--font-secondary)"/>
              </a:rPr>
              <a:t>The delete operation in DLL is more efficient if a pointer to the node to be deleted is given. </a:t>
            </a:r>
          </a:p>
          <a:p>
            <a:pPr algn="l" fontAlgn="base">
              <a:buFont typeface="Arial" panose="020B0604020202020204" pitchFamily="34" charset="0"/>
              <a:buChar char="•"/>
            </a:pPr>
            <a:r>
              <a:rPr lang="en-US" b="0" i="0" dirty="0">
                <a:effectLst/>
                <a:latin typeface="var(--font-secondary)"/>
              </a:rPr>
              <a:t>We can quickly insert a new node before a given node. </a:t>
            </a:r>
          </a:p>
          <a:p>
            <a:pPr algn="l" fontAlgn="base">
              <a:buFont typeface="Arial" panose="020B0604020202020204" pitchFamily="34" charset="0"/>
              <a:buChar char="•"/>
            </a:pPr>
            <a:r>
              <a:rPr lang="en-US" b="0" i="0" dirty="0">
                <a:effectLst/>
                <a:latin typeface="var(--font-secondary)"/>
              </a:rPr>
              <a:t>In a singly linked list, to delete a node, a pointer to the previous node is needed. To get this previous node, sometimes the list is traversed. In DLL, we can get the previous node using the previous pointer. </a:t>
            </a:r>
          </a:p>
          <a:p>
            <a:pPr marL="0" indent="0" algn="just" fontAlgn="base">
              <a:buNone/>
            </a:pPr>
            <a:r>
              <a:rPr lang="en-US" b="1" i="0" dirty="0">
                <a:effectLst/>
                <a:latin typeface="Roboto" panose="02000000000000000000" pitchFamily="2" charset="0"/>
              </a:rPr>
              <a:t>Disadvantages of Doubly Linked List over the singly linked list:</a:t>
            </a:r>
          </a:p>
          <a:p>
            <a:pPr algn="l" fontAlgn="base">
              <a:buFont typeface="Arial" panose="020B0604020202020204" pitchFamily="34" charset="0"/>
              <a:buChar char="•"/>
            </a:pPr>
            <a:r>
              <a:rPr lang="en-US" b="0" i="0" dirty="0">
                <a:effectLst/>
                <a:latin typeface="var(--font-secondary)"/>
              </a:rPr>
              <a:t>Every node of DLL Requires extra space for a previous pointer. </a:t>
            </a:r>
          </a:p>
          <a:p>
            <a:pPr algn="l" fontAlgn="base">
              <a:buFont typeface="Arial" panose="020B0604020202020204" pitchFamily="34" charset="0"/>
              <a:buChar char="•"/>
            </a:pPr>
            <a:r>
              <a:rPr lang="en-US" b="0" i="0" dirty="0">
                <a:effectLst/>
                <a:latin typeface="var(--font-secondary)"/>
              </a:rPr>
              <a:t>All operations require an extra pointer previous to be maintained. For example, in insertion, we need to modify previous pointers together with the next pointers. </a:t>
            </a:r>
          </a:p>
          <a:p>
            <a:pPr algn="l" fontAlgn="base">
              <a:buFont typeface="Arial" panose="020B0604020202020204" pitchFamily="34" charset="0"/>
              <a:buChar char="•"/>
            </a:pPr>
            <a:endParaRPr lang="en-US" b="0" i="0" dirty="0">
              <a:effectLst/>
              <a:latin typeface="var(--font-secondary)"/>
            </a:endParaRPr>
          </a:p>
          <a:p>
            <a:pPr marL="0" indent="0">
              <a:buNone/>
            </a:pPr>
            <a:endParaRPr lang="en-IN" dirty="0"/>
          </a:p>
        </p:txBody>
      </p:sp>
    </p:spTree>
    <p:extLst>
      <p:ext uri="{BB962C8B-B14F-4D97-AF65-F5344CB8AC3E}">
        <p14:creationId xmlns:p14="http://schemas.microsoft.com/office/powerpoint/2010/main" val="15842744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20928-261D-21E0-C7DE-9854972223C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17A4B3A-34D0-AFC4-056A-D83C83C104EE}"/>
              </a:ext>
            </a:extLst>
          </p:cNvPr>
          <p:cNvSpPr>
            <a:spLocks noGrp="1"/>
          </p:cNvSpPr>
          <p:nvPr>
            <p:ph idx="1"/>
          </p:nvPr>
        </p:nvSpPr>
        <p:spPr/>
        <p:txBody>
          <a:bodyPr>
            <a:normAutofit lnSpcReduction="10000"/>
          </a:bodyPr>
          <a:lstStyle/>
          <a:p>
            <a:pPr marL="0" indent="0" algn="just" fontAlgn="base">
              <a:buNone/>
            </a:pPr>
            <a:r>
              <a:rPr lang="en-US" b="1" i="0" dirty="0">
                <a:effectLst/>
                <a:latin typeface="Roboto" panose="02000000000000000000" pitchFamily="2" charset="0"/>
              </a:rPr>
              <a:t>Applications of Doubly Linked List:</a:t>
            </a:r>
          </a:p>
          <a:p>
            <a:pPr algn="l" fontAlgn="base">
              <a:buFont typeface="Arial" panose="020B0604020202020204" pitchFamily="34" charset="0"/>
              <a:buChar char="•"/>
            </a:pPr>
            <a:r>
              <a:rPr lang="en-US" b="0" i="0" dirty="0">
                <a:effectLst/>
                <a:latin typeface="var(--font-secondary)"/>
              </a:rPr>
              <a:t>It is used by web browsers for backward and forward navigation of web pages </a:t>
            </a:r>
          </a:p>
          <a:p>
            <a:pPr algn="l" fontAlgn="base">
              <a:buFont typeface="Arial" panose="020B0604020202020204" pitchFamily="34" charset="0"/>
              <a:buChar char="•"/>
            </a:pPr>
            <a:r>
              <a:rPr lang="en-US" b="0" i="0" dirty="0">
                <a:effectLst/>
                <a:latin typeface="var(--font-secondary)"/>
              </a:rPr>
              <a:t>LRU ( Least Recently Used ) / MRU ( Most Recently Used ) Cache are constructed using Doubly Linked Lists. </a:t>
            </a:r>
          </a:p>
          <a:p>
            <a:pPr algn="l" fontAlgn="base">
              <a:buFont typeface="Arial" panose="020B0604020202020204" pitchFamily="34" charset="0"/>
              <a:buChar char="•"/>
            </a:pPr>
            <a:r>
              <a:rPr lang="en-US" b="0" i="0" dirty="0">
                <a:effectLst/>
                <a:latin typeface="var(--font-secondary)"/>
              </a:rPr>
              <a:t>Used by various applications to maintain undo and redo functionalities. </a:t>
            </a:r>
          </a:p>
          <a:p>
            <a:pPr algn="l" fontAlgn="base">
              <a:buFont typeface="Arial" panose="020B0604020202020204" pitchFamily="34" charset="0"/>
              <a:buChar char="•"/>
            </a:pPr>
            <a:r>
              <a:rPr lang="en-US" b="0" i="0" dirty="0">
                <a:effectLst/>
                <a:latin typeface="var(--font-secondary)"/>
              </a:rPr>
              <a:t>In Operating Systems, a doubly linked list is maintained by thread scheduler to keep track of processes that are being executed at that time.</a:t>
            </a:r>
          </a:p>
          <a:p>
            <a:pPr marL="0" indent="0">
              <a:buNone/>
            </a:pPr>
            <a:endParaRPr lang="en-IN" dirty="0"/>
          </a:p>
        </p:txBody>
      </p:sp>
    </p:spTree>
    <p:extLst>
      <p:ext uri="{BB962C8B-B14F-4D97-AF65-F5344CB8AC3E}">
        <p14:creationId xmlns:p14="http://schemas.microsoft.com/office/powerpoint/2010/main" val="20370448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27217-0028-89BA-60AE-09763A801A6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CA8486A-2F5D-BA9E-FBD1-DBE1D9CA6888}"/>
              </a:ext>
            </a:extLst>
          </p:cNvPr>
          <p:cNvSpPr>
            <a:spLocks noGrp="1"/>
          </p:cNvSpPr>
          <p:nvPr>
            <p:ph idx="1"/>
          </p:nvPr>
        </p:nvSpPr>
        <p:spPr/>
        <p:txBody>
          <a:bodyPr/>
          <a:lstStyle/>
          <a:p>
            <a:r>
              <a:rPr lang="en-US" sz="3200" b="1" dirty="0"/>
              <a:t>Representation</a:t>
            </a:r>
          </a:p>
          <a:p>
            <a:pPr marL="0" indent="0">
              <a:buNone/>
            </a:pPr>
            <a:r>
              <a:rPr lang="en-US" dirty="0"/>
              <a:t> </a:t>
            </a:r>
          </a:p>
          <a:p>
            <a:pPr marL="0" indent="0">
              <a:buNone/>
            </a:pPr>
            <a:endParaRPr lang="en-IN" dirty="0"/>
          </a:p>
        </p:txBody>
      </p:sp>
      <p:pic>
        <p:nvPicPr>
          <p:cNvPr id="5" name="Picture 4">
            <a:extLst>
              <a:ext uri="{FF2B5EF4-FFF2-40B4-BE49-F238E27FC236}">
                <a16:creationId xmlns:a16="http://schemas.microsoft.com/office/drawing/2014/main" id="{5F1098B8-28D1-D31E-3771-BBFE91F2C76D}"/>
              </a:ext>
            </a:extLst>
          </p:cNvPr>
          <p:cNvPicPr>
            <a:picLocks noChangeAspect="1"/>
          </p:cNvPicPr>
          <p:nvPr/>
        </p:nvPicPr>
        <p:blipFill>
          <a:blip r:embed="rId2"/>
          <a:stretch>
            <a:fillRect/>
          </a:stretch>
        </p:blipFill>
        <p:spPr>
          <a:xfrm>
            <a:off x="838200" y="2444573"/>
            <a:ext cx="8421510" cy="3470805"/>
          </a:xfrm>
          <a:prstGeom prst="rect">
            <a:avLst/>
          </a:prstGeom>
        </p:spPr>
      </p:pic>
    </p:spTree>
    <p:extLst>
      <p:ext uri="{BB962C8B-B14F-4D97-AF65-F5344CB8AC3E}">
        <p14:creationId xmlns:p14="http://schemas.microsoft.com/office/powerpoint/2010/main" val="23715952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67A71-87DD-5D4A-6EDF-FA8D010F0FB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706E085-5403-E15C-827F-43E65022BFF3}"/>
              </a:ext>
            </a:extLst>
          </p:cNvPr>
          <p:cNvSpPr>
            <a:spLocks noGrp="1"/>
          </p:cNvSpPr>
          <p:nvPr>
            <p:ph idx="1"/>
          </p:nvPr>
        </p:nvSpPr>
        <p:spPr/>
        <p:txBody>
          <a:bodyPr>
            <a:normAutofit fontScale="85000" lnSpcReduction="10000"/>
          </a:bodyPr>
          <a:lstStyle/>
          <a:p>
            <a:pPr marL="0" indent="0">
              <a:buNone/>
            </a:pPr>
            <a:r>
              <a:rPr lang="en-US" b="1" dirty="0"/>
              <a:t>NODE INSERTION</a:t>
            </a:r>
          </a:p>
          <a:p>
            <a:r>
              <a:rPr lang="en-US" dirty="0"/>
              <a:t>At the beginning</a:t>
            </a:r>
          </a:p>
          <a:p>
            <a:pPr marL="0" indent="0">
              <a:buNone/>
            </a:pPr>
            <a:r>
              <a:rPr lang="en-US" b="1" dirty="0"/>
              <a:t>algorithm</a:t>
            </a:r>
          </a:p>
          <a:p>
            <a:pPr marL="342900" lvl="0" indent="-342900">
              <a:lnSpc>
                <a:spcPct val="107000"/>
              </a:lnSpc>
              <a:spcAft>
                <a:spcPts val="800"/>
              </a:spcAft>
              <a:buFont typeface="+mj-lt"/>
              <a:buAutoNum type="arabicPeriod"/>
              <a:tabLst>
                <a:tab pos="457200" algn="l"/>
              </a:tabLst>
            </a:pPr>
            <a:r>
              <a:rPr lang="en-IN" kern="0" dirty="0">
                <a:solidFill>
                  <a:srgbClr val="374151"/>
                </a:solidFill>
                <a:effectLst/>
                <a:latin typeface="+mj-lt"/>
                <a:ea typeface="Times New Roman" panose="02020603050405020304" pitchFamily="18" charset="0"/>
                <a:cs typeface="Times New Roman" panose="02020603050405020304" pitchFamily="18" charset="0"/>
              </a:rPr>
              <a:t>Create a new node with the given data.</a:t>
            </a:r>
            <a:endParaRPr lang="en-IN" kern="100" dirty="0">
              <a:solidFill>
                <a:srgbClr val="374151"/>
              </a:solidFill>
              <a:effectLst/>
              <a:latin typeface="+mj-lt"/>
              <a:ea typeface="Calibri" panose="020F0502020204030204" pitchFamily="34" charset="0"/>
              <a:cs typeface="Times New Roman" panose="02020603050405020304" pitchFamily="18" charset="0"/>
            </a:endParaRPr>
          </a:p>
          <a:p>
            <a:pPr algn="just">
              <a:buFont typeface="+mj-lt"/>
              <a:buAutoNum type="arabicPeriod"/>
            </a:pPr>
            <a:r>
              <a:rPr lang="en-US" b="0" i="0" dirty="0">
                <a:solidFill>
                  <a:srgbClr val="000000"/>
                </a:solidFill>
                <a:effectLst/>
                <a:latin typeface="+mj-lt"/>
              </a:rPr>
              <a:t>first checks whether the head is null, then  insert the node as the head.</a:t>
            </a:r>
          </a:p>
          <a:p>
            <a:pPr algn="just">
              <a:buFont typeface="+mj-lt"/>
              <a:buAutoNum type="arabicPeriod"/>
            </a:pPr>
            <a:r>
              <a:rPr lang="en-US" b="0" i="0" dirty="0">
                <a:solidFill>
                  <a:srgbClr val="000000"/>
                </a:solidFill>
                <a:effectLst/>
                <a:latin typeface="+mj-lt"/>
              </a:rPr>
              <a:t>Both head and tail will point to a newly added node.</a:t>
            </a:r>
          </a:p>
          <a:p>
            <a:pPr algn="just">
              <a:buFont typeface="+mj-lt"/>
              <a:buAutoNum type="arabicPeriod"/>
            </a:pPr>
            <a:r>
              <a:rPr lang="en-US" b="0" i="0" dirty="0">
                <a:solidFill>
                  <a:srgbClr val="000000"/>
                </a:solidFill>
                <a:effectLst/>
                <a:latin typeface="+mj-lt"/>
              </a:rPr>
              <a:t>Head's previous pointer will point to null and tail's next pointer will point to null.</a:t>
            </a:r>
          </a:p>
          <a:p>
            <a:pPr algn="just">
              <a:buFont typeface="+mj-lt"/>
              <a:buAutoNum type="arabicPeriod"/>
            </a:pPr>
            <a:r>
              <a:rPr lang="en-US" b="0" i="0" dirty="0">
                <a:solidFill>
                  <a:srgbClr val="000000"/>
                </a:solidFill>
                <a:effectLst/>
                <a:latin typeface="+mj-lt"/>
              </a:rPr>
              <a:t>If the head is not null, head's previous will point to new node.</a:t>
            </a:r>
          </a:p>
          <a:p>
            <a:pPr algn="just">
              <a:buFont typeface="+mj-lt"/>
              <a:buAutoNum type="arabicPeriod"/>
            </a:pPr>
            <a:r>
              <a:rPr lang="en-US" b="0" i="0" dirty="0">
                <a:solidFill>
                  <a:srgbClr val="000000"/>
                </a:solidFill>
                <a:effectLst/>
                <a:latin typeface="+mj-lt"/>
              </a:rPr>
              <a:t>Make new node as head of the list.</a:t>
            </a:r>
          </a:p>
          <a:p>
            <a:pPr algn="just">
              <a:buFont typeface="+mj-lt"/>
              <a:buAutoNum type="arabicPeriod"/>
            </a:pPr>
            <a:r>
              <a:rPr lang="en-US" b="0" i="0" dirty="0">
                <a:solidFill>
                  <a:srgbClr val="000000"/>
                </a:solidFill>
                <a:effectLst/>
                <a:latin typeface="+mj-lt"/>
              </a:rPr>
              <a:t>Since new node became head so its previous should point to null.</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19485438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0DF6D-AB66-B211-0F9F-2F48DF7EC8F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F442235-C2EC-2CCD-CD7D-35C11B775201}"/>
              </a:ext>
            </a:extLst>
          </p:cNvPr>
          <p:cNvPicPr>
            <a:picLocks noGrp="1" noChangeAspect="1"/>
          </p:cNvPicPr>
          <p:nvPr>
            <p:ph idx="1"/>
          </p:nvPr>
        </p:nvPicPr>
        <p:blipFill>
          <a:blip r:embed="rId2"/>
          <a:stretch>
            <a:fillRect/>
          </a:stretch>
        </p:blipFill>
        <p:spPr>
          <a:xfrm>
            <a:off x="553156" y="1783644"/>
            <a:ext cx="10800644" cy="4876800"/>
          </a:xfrm>
        </p:spPr>
      </p:pic>
    </p:spTree>
    <p:extLst>
      <p:ext uri="{BB962C8B-B14F-4D97-AF65-F5344CB8AC3E}">
        <p14:creationId xmlns:p14="http://schemas.microsoft.com/office/powerpoint/2010/main" val="20337321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3B25F-5EB4-F546-B951-728C33EBF3B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ED542FC-D779-94D3-6827-0FE3DDAA6F78}"/>
              </a:ext>
            </a:extLst>
          </p:cNvPr>
          <p:cNvSpPr>
            <a:spLocks noGrp="1"/>
          </p:cNvSpPr>
          <p:nvPr>
            <p:ph idx="1"/>
          </p:nvPr>
        </p:nvSpPr>
        <p:spPr/>
        <p:txBody>
          <a:bodyPr>
            <a:normAutofit fontScale="92500" lnSpcReduction="10000"/>
          </a:bodyPr>
          <a:lstStyle/>
          <a:p>
            <a:r>
              <a:rPr lang="en-US" b="1" dirty="0"/>
              <a:t>At the end</a:t>
            </a:r>
          </a:p>
          <a:p>
            <a:pPr marL="0" indent="0">
              <a:buNone/>
            </a:pPr>
            <a:r>
              <a:rPr lang="en-IN" b="1" dirty="0"/>
              <a:t>Algorithms</a:t>
            </a:r>
          </a:p>
          <a:p>
            <a:pPr algn="l" fontAlgn="base">
              <a:buFont typeface="+mj-lt"/>
              <a:buAutoNum type="arabicPeriod"/>
            </a:pPr>
            <a:r>
              <a:rPr lang="en-US" b="0" i="0" dirty="0">
                <a:solidFill>
                  <a:srgbClr val="273239"/>
                </a:solidFill>
                <a:effectLst/>
                <a:latin typeface="Nunito" pitchFamily="2" charset="0"/>
              </a:rPr>
              <a:t>Create a new node (say </a:t>
            </a:r>
            <a:r>
              <a:rPr lang="en-US" b="1" i="0" dirty="0" err="1">
                <a:solidFill>
                  <a:srgbClr val="273239"/>
                </a:solidFill>
                <a:effectLst/>
                <a:latin typeface="Nunito" pitchFamily="2" charset="0"/>
              </a:rPr>
              <a:t>new_node</a:t>
            </a:r>
            <a:r>
              <a:rPr lang="en-US" b="0" i="0" dirty="0">
                <a:solidFill>
                  <a:srgbClr val="273239"/>
                </a:solidFill>
                <a:effectLst/>
                <a:latin typeface="Nunito" pitchFamily="2" charset="0"/>
              </a:rPr>
              <a:t>).</a:t>
            </a:r>
          </a:p>
          <a:p>
            <a:pPr algn="l" fontAlgn="base">
              <a:buFont typeface="+mj-lt"/>
              <a:buAutoNum type="arabicPeriod"/>
            </a:pPr>
            <a:r>
              <a:rPr lang="en-US" b="0" i="0" dirty="0">
                <a:solidFill>
                  <a:srgbClr val="273239"/>
                </a:solidFill>
                <a:effectLst/>
                <a:latin typeface="Nunito" pitchFamily="2" charset="0"/>
              </a:rPr>
              <a:t>Put the value in the new node.</a:t>
            </a:r>
          </a:p>
          <a:p>
            <a:pPr algn="l" fontAlgn="base">
              <a:buFont typeface="+mj-lt"/>
              <a:buAutoNum type="arabicPeriod"/>
            </a:pPr>
            <a:r>
              <a:rPr lang="en-US" b="0" i="0" dirty="0">
                <a:solidFill>
                  <a:srgbClr val="273239"/>
                </a:solidFill>
                <a:effectLst/>
                <a:latin typeface="Nunito" pitchFamily="2" charset="0"/>
              </a:rPr>
              <a:t>Make the next pointer of </a:t>
            </a:r>
            <a:r>
              <a:rPr lang="en-US" b="1" i="0" dirty="0" err="1">
                <a:solidFill>
                  <a:srgbClr val="273239"/>
                </a:solidFill>
                <a:effectLst/>
                <a:latin typeface="Nunito" pitchFamily="2" charset="0"/>
              </a:rPr>
              <a:t>new_node</a:t>
            </a:r>
            <a:r>
              <a:rPr lang="en-US" b="0" i="0" dirty="0">
                <a:solidFill>
                  <a:srgbClr val="273239"/>
                </a:solidFill>
                <a:effectLst/>
                <a:latin typeface="Nunito" pitchFamily="2" charset="0"/>
              </a:rPr>
              <a:t> as null.</a:t>
            </a:r>
          </a:p>
          <a:p>
            <a:pPr algn="l" fontAlgn="base">
              <a:buFont typeface="+mj-lt"/>
              <a:buAutoNum type="arabicPeriod"/>
            </a:pPr>
            <a:r>
              <a:rPr lang="en-US" b="0" i="0" dirty="0">
                <a:solidFill>
                  <a:srgbClr val="273239"/>
                </a:solidFill>
                <a:effectLst/>
                <a:latin typeface="Nunito" pitchFamily="2" charset="0"/>
              </a:rPr>
              <a:t>If the list is empty, make </a:t>
            </a:r>
            <a:r>
              <a:rPr lang="en-US" b="1" i="0" dirty="0" err="1">
                <a:solidFill>
                  <a:srgbClr val="273239"/>
                </a:solidFill>
                <a:effectLst/>
                <a:latin typeface="Nunito" pitchFamily="2" charset="0"/>
              </a:rPr>
              <a:t>new_node</a:t>
            </a:r>
            <a:r>
              <a:rPr lang="en-US" b="0" i="0" dirty="0">
                <a:solidFill>
                  <a:srgbClr val="273239"/>
                </a:solidFill>
                <a:effectLst/>
                <a:latin typeface="Nunito" pitchFamily="2" charset="0"/>
              </a:rPr>
              <a:t> as the head.</a:t>
            </a:r>
          </a:p>
          <a:p>
            <a:pPr algn="l" fontAlgn="base">
              <a:buFont typeface="+mj-lt"/>
              <a:buAutoNum type="arabicPeriod"/>
            </a:pPr>
            <a:r>
              <a:rPr lang="en-US" b="0" i="0" dirty="0">
                <a:solidFill>
                  <a:srgbClr val="273239"/>
                </a:solidFill>
                <a:effectLst/>
                <a:latin typeface="Nunito" pitchFamily="2" charset="0"/>
              </a:rPr>
              <a:t>Otherwise, travel to the end of the linked list.</a:t>
            </a:r>
          </a:p>
          <a:p>
            <a:pPr algn="l" fontAlgn="base">
              <a:buFont typeface="+mj-lt"/>
              <a:buAutoNum type="arabicPeriod"/>
            </a:pPr>
            <a:r>
              <a:rPr lang="en-US" b="0" i="0" dirty="0">
                <a:solidFill>
                  <a:srgbClr val="273239"/>
                </a:solidFill>
                <a:effectLst/>
                <a:latin typeface="Nunito" pitchFamily="2" charset="0"/>
              </a:rPr>
              <a:t>Now make the next pointer of last node point to </a:t>
            </a:r>
            <a:r>
              <a:rPr lang="en-US" b="1" i="0" dirty="0" err="1">
                <a:solidFill>
                  <a:srgbClr val="273239"/>
                </a:solidFill>
                <a:effectLst/>
                <a:latin typeface="Nunito" pitchFamily="2" charset="0"/>
              </a:rPr>
              <a:t>new_node</a:t>
            </a:r>
            <a:r>
              <a:rPr lang="en-US" b="0" i="0" dirty="0">
                <a:solidFill>
                  <a:srgbClr val="273239"/>
                </a:solidFill>
                <a:effectLst/>
                <a:latin typeface="Nunito" pitchFamily="2" charset="0"/>
              </a:rPr>
              <a:t>.</a:t>
            </a:r>
          </a:p>
          <a:p>
            <a:pPr algn="l" fontAlgn="base">
              <a:buFont typeface="+mj-lt"/>
              <a:buAutoNum type="arabicPeriod"/>
            </a:pPr>
            <a:r>
              <a:rPr lang="en-US" b="0" i="0" dirty="0">
                <a:solidFill>
                  <a:srgbClr val="273239"/>
                </a:solidFill>
                <a:effectLst/>
                <a:latin typeface="Nunito" pitchFamily="2" charset="0"/>
              </a:rPr>
              <a:t>Change the previous pointer of </a:t>
            </a:r>
            <a:r>
              <a:rPr lang="en-US" b="1" i="0" dirty="0" err="1">
                <a:solidFill>
                  <a:srgbClr val="273239"/>
                </a:solidFill>
                <a:effectLst/>
                <a:latin typeface="Nunito" pitchFamily="2" charset="0"/>
              </a:rPr>
              <a:t>new_node</a:t>
            </a:r>
            <a:r>
              <a:rPr lang="en-US" b="0" i="0" dirty="0">
                <a:solidFill>
                  <a:srgbClr val="273239"/>
                </a:solidFill>
                <a:effectLst/>
                <a:latin typeface="Nunito" pitchFamily="2" charset="0"/>
              </a:rPr>
              <a:t> to the last node of the list.</a:t>
            </a:r>
          </a:p>
          <a:p>
            <a:pPr algn="l" fontAlgn="base"/>
            <a:endParaRPr lang="en-US" b="0" i="0" dirty="0">
              <a:solidFill>
                <a:srgbClr val="273239"/>
              </a:solidFill>
              <a:effectLst/>
              <a:latin typeface="Nunito" pitchFamily="2" charset="0"/>
            </a:endParaRPr>
          </a:p>
          <a:p>
            <a:pPr marL="0" indent="0">
              <a:buNone/>
            </a:pPr>
            <a:endParaRPr lang="en-IN" b="1" dirty="0"/>
          </a:p>
        </p:txBody>
      </p:sp>
    </p:spTree>
    <p:extLst>
      <p:ext uri="{BB962C8B-B14F-4D97-AF65-F5344CB8AC3E}">
        <p14:creationId xmlns:p14="http://schemas.microsoft.com/office/powerpoint/2010/main" val="2571714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325B5-85BD-A2E8-DF21-ED28DCFD10D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B14C05F-B80C-D1C5-96C0-28781C0F1BAD}"/>
              </a:ext>
            </a:extLst>
          </p:cNvPr>
          <p:cNvPicPr>
            <a:picLocks noGrp="1" noChangeAspect="1"/>
          </p:cNvPicPr>
          <p:nvPr>
            <p:ph idx="1"/>
          </p:nvPr>
        </p:nvPicPr>
        <p:blipFill>
          <a:blip r:embed="rId2"/>
          <a:stretch>
            <a:fillRect/>
          </a:stretch>
        </p:blipFill>
        <p:spPr>
          <a:xfrm>
            <a:off x="936978" y="801510"/>
            <a:ext cx="7484533" cy="5949245"/>
          </a:xfrm>
        </p:spPr>
      </p:pic>
    </p:spTree>
    <p:extLst>
      <p:ext uri="{BB962C8B-B14F-4D97-AF65-F5344CB8AC3E}">
        <p14:creationId xmlns:p14="http://schemas.microsoft.com/office/powerpoint/2010/main" val="4335886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D3F60-69D3-D60A-CBF9-022C9163011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2F0EB55-AE7E-935C-943A-F5F4A3EB5FA0}"/>
              </a:ext>
            </a:extLst>
          </p:cNvPr>
          <p:cNvSpPr>
            <a:spLocks noGrp="1"/>
          </p:cNvSpPr>
          <p:nvPr>
            <p:ph idx="1"/>
          </p:nvPr>
        </p:nvSpPr>
        <p:spPr/>
        <p:txBody>
          <a:bodyPr>
            <a:normAutofit/>
          </a:bodyPr>
          <a:lstStyle/>
          <a:p>
            <a:pPr marL="0" indent="0">
              <a:buNone/>
            </a:pPr>
            <a:r>
              <a:rPr lang="en-US" dirty="0"/>
              <a:t>At the specified position</a:t>
            </a:r>
          </a:p>
          <a:p>
            <a:pPr marL="0" indent="0">
              <a:buNone/>
            </a:pPr>
            <a:r>
              <a:rPr lang="en-US" dirty="0"/>
              <a:t>Algorithm</a:t>
            </a:r>
          </a:p>
          <a:p>
            <a:pPr marL="0" indent="0">
              <a:buNone/>
            </a:pPr>
            <a:endParaRPr lang="en-US" sz="4800" dirty="0"/>
          </a:p>
          <a:p>
            <a:pPr marL="0" indent="0">
              <a:buNone/>
            </a:pPr>
            <a:endParaRPr lang="en-IN" dirty="0"/>
          </a:p>
        </p:txBody>
      </p:sp>
      <p:pic>
        <p:nvPicPr>
          <p:cNvPr id="6" name="Picture 5">
            <a:extLst>
              <a:ext uri="{FF2B5EF4-FFF2-40B4-BE49-F238E27FC236}">
                <a16:creationId xmlns:a16="http://schemas.microsoft.com/office/drawing/2014/main" id="{02D10609-6741-F76E-E13B-7D39F99DBEA0}"/>
              </a:ext>
            </a:extLst>
          </p:cNvPr>
          <p:cNvPicPr>
            <a:picLocks noChangeAspect="1"/>
          </p:cNvPicPr>
          <p:nvPr/>
        </p:nvPicPr>
        <p:blipFill>
          <a:blip r:embed="rId2"/>
          <a:stretch>
            <a:fillRect/>
          </a:stretch>
        </p:blipFill>
        <p:spPr>
          <a:xfrm>
            <a:off x="721959" y="2833511"/>
            <a:ext cx="7936619" cy="3489678"/>
          </a:xfrm>
          <a:prstGeom prst="rect">
            <a:avLst/>
          </a:prstGeom>
        </p:spPr>
      </p:pic>
    </p:spTree>
    <p:extLst>
      <p:ext uri="{BB962C8B-B14F-4D97-AF65-F5344CB8AC3E}">
        <p14:creationId xmlns:p14="http://schemas.microsoft.com/office/powerpoint/2010/main" val="42468697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120C5-4105-A5CC-C06D-9C507FDDFEDC}"/>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AA07166E-2B0F-249C-0728-81EE58C943CB}"/>
              </a:ext>
            </a:extLst>
          </p:cNvPr>
          <p:cNvPicPr>
            <a:picLocks noGrp="1" noChangeAspect="1"/>
          </p:cNvPicPr>
          <p:nvPr>
            <p:ph idx="1"/>
          </p:nvPr>
        </p:nvPicPr>
        <p:blipFill>
          <a:blip r:embed="rId2"/>
          <a:stretch>
            <a:fillRect/>
          </a:stretch>
        </p:blipFill>
        <p:spPr>
          <a:xfrm>
            <a:off x="1151467" y="1930400"/>
            <a:ext cx="7687733" cy="4425244"/>
          </a:xfrm>
        </p:spPr>
      </p:pic>
    </p:spTree>
    <p:extLst>
      <p:ext uri="{BB962C8B-B14F-4D97-AF65-F5344CB8AC3E}">
        <p14:creationId xmlns:p14="http://schemas.microsoft.com/office/powerpoint/2010/main" val="2166885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8460A-9F4D-AFDD-CC0C-704FC1CE79D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E9B667C-70C7-009A-47BF-E6A993952967}"/>
              </a:ext>
            </a:extLst>
          </p:cNvPr>
          <p:cNvPicPr>
            <a:picLocks noGrp="1" noChangeAspect="1"/>
          </p:cNvPicPr>
          <p:nvPr>
            <p:ph idx="1"/>
          </p:nvPr>
        </p:nvPicPr>
        <p:blipFill>
          <a:blip r:embed="rId2"/>
          <a:stretch>
            <a:fillRect/>
          </a:stretch>
        </p:blipFill>
        <p:spPr>
          <a:xfrm>
            <a:off x="838200" y="1772355"/>
            <a:ext cx="7962900" cy="4538133"/>
          </a:xfrm>
        </p:spPr>
      </p:pic>
    </p:spTree>
    <p:extLst>
      <p:ext uri="{BB962C8B-B14F-4D97-AF65-F5344CB8AC3E}">
        <p14:creationId xmlns:p14="http://schemas.microsoft.com/office/powerpoint/2010/main" val="2882494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D46D2-147C-F8C3-2075-BB5BED94F4D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CAF1B31-DB63-A711-A60B-20EACFEE0AEE}"/>
              </a:ext>
            </a:extLst>
          </p:cNvPr>
          <p:cNvSpPr>
            <a:spLocks noGrp="1"/>
          </p:cNvSpPr>
          <p:nvPr>
            <p:ph idx="1"/>
          </p:nvPr>
        </p:nvSpPr>
        <p:spPr/>
        <p:txBody>
          <a:bodyPr>
            <a:normAutofit fontScale="92500" lnSpcReduction="10000"/>
          </a:bodyPr>
          <a:lstStyle/>
          <a:p>
            <a:r>
              <a:rPr lang="en-US" b="1" dirty="0"/>
              <a:t>DELETION</a:t>
            </a:r>
          </a:p>
          <a:p>
            <a:pPr marL="0" indent="0">
              <a:buNone/>
            </a:pPr>
            <a:r>
              <a:rPr lang="en-US" b="1" dirty="0"/>
              <a:t>From the beginning</a:t>
            </a:r>
          </a:p>
          <a:p>
            <a:pPr>
              <a:lnSpc>
                <a:spcPct val="107000"/>
              </a:lnSpc>
              <a:spcAft>
                <a:spcPts val="800"/>
              </a:spcAft>
            </a:pPr>
            <a:r>
              <a:rPr lang="en-IN" sz="1800" b="1" kern="0" dirty="0">
                <a:effectLst/>
                <a:latin typeface="Segoe UI" panose="020B0502040204020203" pitchFamily="34" charset="0"/>
                <a:ea typeface="Times New Roman" panose="02020603050405020304" pitchFamily="18" charset="0"/>
                <a:cs typeface="Times New Roman" panose="02020603050405020304" pitchFamily="18" charset="0"/>
              </a:rPr>
              <a:t>Algorithm:</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If the list is empty, there is nothing to delete. Return.</a:t>
            </a:r>
            <a:endParaRPr lang="en-IN" sz="18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If the list has only one node, set the </a:t>
            </a:r>
            <a:r>
              <a:rPr lang="en-IN" sz="18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head</a:t>
            </a:r>
            <a:r>
              <a:rPr lang="en-IN"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to </a:t>
            </a:r>
            <a:r>
              <a:rPr lang="en-IN" sz="18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null</a:t>
            </a:r>
            <a:r>
              <a:rPr lang="en-IN"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8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If the list has more than one node: </a:t>
            </a:r>
          </a:p>
          <a:p>
            <a:pPr marL="342900" lvl="0" indent="-342900">
              <a:lnSpc>
                <a:spcPct val="107000"/>
              </a:lnSpc>
              <a:spcAft>
                <a:spcPts val="800"/>
              </a:spcAft>
              <a:buAutoNum type="alphaLcPeriod"/>
              <a:tabLst>
                <a:tab pos="457200" algn="l"/>
              </a:tabLst>
            </a:pPr>
            <a:r>
              <a:rPr lang="en-IN"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Update the </a:t>
            </a:r>
            <a:r>
              <a:rPr lang="en-IN" sz="18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next</a:t>
            </a:r>
            <a:r>
              <a:rPr lang="en-IN"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reference of the second node (new head) to </a:t>
            </a:r>
            <a:r>
              <a:rPr lang="en-IN" sz="18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null</a:t>
            </a:r>
            <a:r>
              <a:rPr lang="en-IN"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t>
            </a:r>
          </a:p>
          <a:p>
            <a:pPr marL="342900" lvl="0" indent="-342900">
              <a:lnSpc>
                <a:spcPct val="107000"/>
              </a:lnSpc>
              <a:spcAft>
                <a:spcPts val="800"/>
              </a:spcAft>
              <a:buAutoNum type="alphaLcPeriod"/>
              <a:tabLst>
                <a:tab pos="457200" algn="l"/>
              </a:tabLst>
            </a:pPr>
            <a:r>
              <a:rPr lang="en-IN"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b. Update the </a:t>
            </a:r>
            <a:r>
              <a:rPr lang="en-IN" sz="1800" b="1" kern="0" dirty="0" err="1">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prev</a:t>
            </a:r>
            <a:r>
              <a:rPr lang="en-IN"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reference of the new head to </a:t>
            </a:r>
            <a:r>
              <a:rPr lang="en-IN" sz="18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null</a:t>
            </a:r>
            <a:r>
              <a:rPr lang="en-IN"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a:t>
            </a:r>
          </a:p>
          <a:p>
            <a:pPr marL="342900" lvl="0" indent="-342900">
              <a:lnSpc>
                <a:spcPct val="107000"/>
              </a:lnSpc>
              <a:spcAft>
                <a:spcPts val="800"/>
              </a:spcAft>
              <a:buAutoNum type="alphaLcPeriod"/>
              <a:tabLst>
                <a:tab pos="457200" algn="l"/>
              </a:tabLst>
            </a:pPr>
            <a:r>
              <a:rPr lang="en-IN"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 Update the </a:t>
            </a:r>
            <a:r>
              <a:rPr lang="en-IN" sz="18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head</a:t>
            </a:r>
            <a:r>
              <a:rPr lang="en-IN" sz="18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to be the second node.</a:t>
            </a:r>
            <a:endParaRPr lang="en-IN" sz="18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b="1" dirty="0"/>
          </a:p>
          <a:p>
            <a:pPr marL="0" indent="0">
              <a:buNone/>
            </a:pPr>
            <a:endParaRPr lang="en-IN" b="1" dirty="0"/>
          </a:p>
        </p:txBody>
      </p:sp>
    </p:spTree>
    <p:extLst>
      <p:ext uri="{BB962C8B-B14F-4D97-AF65-F5344CB8AC3E}">
        <p14:creationId xmlns:p14="http://schemas.microsoft.com/office/powerpoint/2010/main" val="24673691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3FBFE-2B9F-7BE1-5012-D497D685B65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9C7D98A-B21C-B428-6668-AA261CE1AEDC}"/>
              </a:ext>
            </a:extLst>
          </p:cNvPr>
          <p:cNvPicPr>
            <a:picLocks noGrp="1" noChangeAspect="1"/>
          </p:cNvPicPr>
          <p:nvPr>
            <p:ph idx="1"/>
          </p:nvPr>
        </p:nvPicPr>
        <p:blipFill>
          <a:blip r:embed="rId2"/>
          <a:stretch>
            <a:fillRect/>
          </a:stretch>
        </p:blipFill>
        <p:spPr>
          <a:xfrm>
            <a:off x="711200" y="2111022"/>
            <a:ext cx="8827911" cy="4143022"/>
          </a:xfrm>
        </p:spPr>
      </p:pic>
    </p:spTree>
    <p:extLst>
      <p:ext uri="{BB962C8B-B14F-4D97-AF65-F5344CB8AC3E}">
        <p14:creationId xmlns:p14="http://schemas.microsoft.com/office/powerpoint/2010/main" val="1664121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1CE1B-C0BA-1486-A916-23BD56D1424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6F76FD4-3905-9DB2-38C2-253DF72E837D}"/>
              </a:ext>
            </a:extLst>
          </p:cNvPr>
          <p:cNvSpPr>
            <a:spLocks noGrp="1"/>
          </p:cNvSpPr>
          <p:nvPr>
            <p:ph idx="1"/>
          </p:nvPr>
        </p:nvSpPr>
        <p:spPr/>
        <p:txBody>
          <a:bodyPr>
            <a:normAutofit fontScale="70000" lnSpcReduction="20000"/>
          </a:bodyPr>
          <a:lstStyle/>
          <a:p>
            <a:pPr marL="0" indent="0">
              <a:buNone/>
            </a:pPr>
            <a:r>
              <a:rPr lang="en-US" sz="2400" b="1" dirty="0"/>
              <a:t>From the end</a:t>
            </a:r>
          </a:p>
          <a:p>
            <a:pPr marL="0" indent="0">
              <a:buNone/>
            </a:pPr>
            <a:r>
              <a:rPr lang="en-US" sz="2400" b="1" dirty="0"/>
              <a:t>Algorithm </a:t>
            </a:r>
          </a:p>
          <a:p>
            <a:pPr marL="342900" lvl="0" indent="-342900">
              <a:lnSpc>
                <a:spcPct val="107000"/>
              </a:lnSpc>
              <a:spcAft>
                <a:spcPts val="800"/>
              </a:spcAft>
              <a:buFont typeface="+mj-lt"/>
              <a:buAutoNum type="arabicPeriod"/>
              <a:tabLst>
                <a:tab pos="457200" algn="l"/>
              </a:tabLst>
            </a:pPr>
            <a:r>
              <a:rPr lang="en-IN" sz="16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Check if the list is empty:</a:t>
            </a:r>
            <a:endParaRPr lang="en-IN"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If </a:t>
            </a:r>
            <a:r>
              <a:rPr lang="en-IN" sz="14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head</a:t>
            </a: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is </a:t>
            </a:r>
            <a:r>
              <a:rPr lang="en-IN" sz="14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null</a:t>
            </a: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the list is empty, and there is nothing to delete. Return from the function.</a:t>
            </a:r>
            <a:endParaRPr lang="en-IN"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2"/>
              <a:tabLst>
                <a:tab pos="457200" algn="l"/>
              </a:tabLst>
            </a:pPr>
            <a:r>
              <a:rPr lang="en-IN" sz="16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Check if there is only one node in the list:</a:t>
            </a:r>
            <a:endParaRPr lang="en-IN"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If </a:t>
            </a:r>
            <a:r>
              <a:rPr lang="en-IN" sz="14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head</a:t>
            </a: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is equal to </a:t>
            </a:r>
            <a:r>
              <a:rPr lang="en-IN" sz="14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tail</a:t>
            </a: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there is only one node in the list. Set both </a:t>
            </a:r>
            <a:r>
              <a:rPr lang="en-IN" sz="14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head</a:t>
            </a: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and </a:t>
            </a:r>
            <a:r>
              <a:rPr lang="en-IN" sz="14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tail</a:t>
            </a: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to </a:t>
            </a:r>
            <a:r>
              <a:rPr lang="en-IN" sz="14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null</a:t>
            </a: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and return from the function.</a:t>
            </a:r>
            <a:endParaRPr lang="en-IN"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3"/>
              <a:tabLst>
                <a:tab pos="457200" algn="l"/>
              </a:tabLst>
            </a:pPr>
            <a:r>
              <a:rPr lang="en-IN" sz="16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Traverse the list to find the last node:</a:t>
            </a:r>
            <a:endParaRPr lang="en-IN"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Initialize a pointer </a:t>
            </a:r>
            <a:r>
              <a:rPr lang="en-IN" sz="14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current</a:t>
            </a: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to the head of the list.</a:t>
            </a:r>
            <a:endParaRPr lang="en-IN"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Move </a:t>
            </a:r>
            <a:r>
              <a:rPr lang="en-IN" sz="14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current</a:t>
            </a: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to the next node until </a:t>
            </a:r>
            <a:r>
              <a:rPr lang="en-IN" sz="1400" b="1" kern="0" dirty="0" err="1">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current.next</a:t>
            </a: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is </a:t>
            </a:r>
            <a:r>
              <a:rPr lang="en-IN" sz="14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null</a:t>
            </a: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This will make </a:t>
            </a:r>
            <a:r>
              <a:rPr lang="en-IN" sz="14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current</a:t>
            </a: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point to the last node.</a:t>
            </a:r>
            <a:endParaRPr lang="en-IN"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4"/>
              <a:tabLst>
                <a:tab pos="457200" algn="l"/>
              </a:tabLst>
            </a:pPr>
            <a:r>
              <a:rPr lang="en-IN" sz="16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Delete the last node:</a:t>
            </a:r>
            <a:endParaRPr lang="en-IN"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Set </a:t>
            </a:r>
            <a:r>
              <a:rPr lang="en-IN" sz="1400" b="1" kern="0" dirty="0" err="1">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current.prev.next</a:t>
            </a: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to </a:t>
            </a:r>
            <a:r>
              <a:rPr lang="en-IN" sz="14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null</a:t>
            </a: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to detach the last node from the list.</a:t>
            </a:r>
            <a:endParaRPr lang="en-IN"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5"/>
              <a:tabLst>
                <a:tab pos="457200" algn="l"/>
              </a:tabLst>
            </a:pPr>
            <a:r>
              <a:rPr lang="en-IN" sz="16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Update the tail pointer:</a:t>
            </a:r>
            <a:endParaRPr lang="en-IN"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Set </a:t>
            </a:r>
            <a:r>
              <a:rPr lang="en-IN" sz="1400" b="1" kern="0" dirty="0">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tail</a:t>
            </a: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to </a:t>
            </a:r>
            <a:r>
              <a:rPr lang="en-IN" sz="1400" b="1" kern="0" dirty="0" err="1">
                <a:solidFill>
                  <a:srgbClr val="374151"/>
                </a:solidFill>
                <a:effectLst/>
                <a:latin typeface="Ubuntu Mono" panose="020B0509030602030204" pitchFamily="49" charset="0"/>
                <a:ea typeface="Times New Roman" panose="02020603050405020304" pitchFamily="18" charset="0"/>
                <a:cs typeface="Courier New" panose="02070309020205020404" pitchFamily="49" charset="0"/>
              </a:rPr>
              <a:t>current.prev</a:t>
            </a:r>
            <a:r>
              <a:rPr lang="en-IN"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to make the previous node the new last node.</a:t>
            </a:r>
            <a:endParaRPr lang="en-IN"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b="1" dirty="0"/>
          </a:p>
          <a:p>
            <a:endParaRPr lang="en-IN" b="1" dirty="0"/>
          </a:p>
        </p:txBody>
      </p:sp>
    </p:spTree>
    <p:extLst>
      <p:ext uri="{BB962C8B-B14F-4D97-AF65-F5344CB8AC3E}">
        <p14:creationId xmlns:p14="http://schemas.microsoft.com/office/powerpoint/2010/main" val="17810066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FC93D-C6E7-F56E-4CFD-CFEA6C8A6C7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AC105FF-066A-205E-260F-B2AF388D7346}"/>
              </a:ext>
            </a:extLst>
          </p:cNvPr>
          <p:cNvPicPr>
            <a:picLocks noGrp="1" noChangeAspect="1"/>
          </p:cNvPicPr>
          <p:nvPr>
            <p:ph idx="1"/>
          </p:nvPr>
        </p:nvPicPr>
        <p:blipFill>
          <a:blip r:embed="rId2"/>
          <a:stretch>
            <a:fillRect/>
          </a:stretch>
        </p:blipFill>
        <p:spPr>
          <a:xfrm>
            <a:off x="620889" y="1975556"/>
            <a:ext cx="8470724" cy="4517319"/>
          </a:xfrm>
        </p:spPr>
      </p:pic>
    </p:spTree>
    <p:extLst>
      <p:ext uri="{BB962C8B-B14F-4D97-AF65-F5344CB8AC3E}">
        <p14:creationId xmlns:p14="http://schemas.microsoft.com/office/powerpoint/2010/main" val="5889876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1CDAD-9C54-C4CE-7978-143EB55F745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A87C06D-07C7-24CA-A0F4-8D973D8385DE}"/>
              </a:ext>
            </a:extLst>
          </p:cNvPr>
          <p:cNvPicPr>
            <a:picLocks noGrp="1" noChangeAspect="1"/>
          </p:cNvPicPr>
          <p:nvPr>
            <p:ph idx="1"/>
          </p:nvPr>
        </p:nvPicPr>
        <p:blipFill>
          <a:blip r:embed="rId2"/>
          <a:stretch>
            <a:fillRect/>
          </a:stretch>
        </p:blipFill>
        <p:spPr>
          <a:xfrm>
            <a:off x="2043289" y="3105943"/>
            <a:ext cx="7315199" cy="3102945"/>
          </a:xfrm>
        </p:spPr>
      </p:pic>
      <p:sp>
        <p:nvSpPr>
          <p:cNvPr id="7" name="TextBox 6">
            <a:extLst>
              <a:ext uri="{FF2B5EF4-FFF2-40B4-BE49-F238E27FC236}">
                <a16:creationId xmlns:a16="http://schemas.microsoft.com/office/drawing/2014/main" id="{232ED49D-F2BC-58A8-DB25-3292B90F729A}"/>
              </a:ext>
            </a:extLst>
          </p:cNvPr>
          <p:cNvSpPr txBox="1"/>
          <p:nvPr/>
        </p:nvSpPr>
        <p:spPr>
          <a:xfrm>
            <a:off x="2269066" y="2210539"/>
            <a:ext cx="6096000" cy="375552"/>
          </a:xfrm>
          <a:prstGeom prst="rect">
            <a:avLst/>
          </a:prstGeom>
          <a:noFill/>
        </p:spPr>
        <p:txBody>
          <a:bodyPr wrap="square">
            <a:spAutoFit/>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Note: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When traversing from back</a:t>
            </a:r>
          </a:p>
        </p:txBody>
      </p:sp>
    </p:spTree>
    <p:extLst>
      <p:ext uri="{BB962C8B-B14F-4D97-AF65-F5344CB8AC3E}">
        <p14:creationId xmlns:p14="http://schemas.microsoft.com/office/powerpoint/2010/main" val="27427596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6C1F2-9003-9BFD-2970-FBF483F6B74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FCB7AA0-62A5-BADF-5ADE-8A6BFFA76579}"/>
              </a:ext>
            </a:extLst>
          </p:cNvPr>
          <p:cNvSpPr>
            <a:spLocks noGrp="1"/>
          </p:cNvSpPr>
          <p:nvPr>
            <p:ph idx="1"/>
          </p:nvPr>
        </p:nvSpPr>
        <p:spPr/>
        <p:txBody>
          <a:bodyPr/>
          <a:lstStyle/>
          <a:p>
            <a:r>
              <a:rPr lang="en-US" dirty="0"/>
              <a:t>From specified position</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If the doubly linked list is empty, print "The list is empty" and return.</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2. If the specified position is less than or equal to 0, print "Invalid position" and return.</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3. Set a pointer 'current' to the head of the list.</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4. Traverse to the specified position in the list:</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 Iterate from 1 to (position - 1):</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i</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Move 'current' to the next node.</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ii. If 'current' becomes null, print "Position out of bounds" and return.</a:t>
            </a:r>
          </a:p>
          <a:p>
            <a:pPr marL="0" indent="0">
              <a:buNone/>
            </a:pPr>
            <a:endParaRPr lang="en-IN" dirty="0"/>
          </a:p>
        </p:txBody>
      </p:sp>
    </p:spTree>
    <p:extLst>
      <p:ext uri="{BB962C8B-B14F-4D97-AF65-F5344CB8AC3E}">
        <p14:creationId xmlns:p14="http://schemas.microsoft.com/office/powerpoint/2010/main" val="26327914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96C7A-D8E4-EE65-05DB-90E969091EB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B704374-BA1D-8340-93D3-48BBA804BC4C}"/>
              </a:ext>
            </a:extLst>
          </p:cNvPr>
          <p:cNvSpPr>
            <a:spLocks noGrp="1"/>
          </p:cNvSpPr>
          <p:nvPr>
            <p:ph idx="1"/>
          </p:nvPr>
        </p:nvSpPr>
        <p:spPr/>
        <p:txBody>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5. Adjust pointers to delete the node at the specified position:</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 If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current.prev</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is not null, set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current.prev.next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to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current.next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b. If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current.next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is not null, set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current.next.prev</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to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current.prev</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 If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current.prev</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is null, update the head of the list to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current.next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d. If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current.next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is null, update the tail of the list to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current.prev</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endParaRPr lang="en-IN" dirty="0"/>
          </a:p>
        </p:txBody>
      </p:sp>
    </p:spTree>
    <p:extLst>
      <p:ext uri="{BB962C8B-B14F-4D97-AF65-F5344CB8AC3E}">
        <p14:creationId xmlns:p14="http://schemas.microsoft.com/office/powerpoint/2010/main" val="40977533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C3EF0-909A-CCE8-7CFF-85AA65606CA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BFCA3E0-86DF-9E09-F906-EE63B28B8A30}"/>
              </a:ext>
            </a:extLst>
          </p:cNvPr>
          <p:cNvPicPr>
            <a:picLocks noGrp="1" noChangeAspect="1"/>
          </p:cNvPicPr>
          <p:nvPr>
            <p:ph idx="1"/>
          </p:nvPr>
        </p:nvPicPr>
        <p:blipFill>
          <a:blip r:embed="rId2"/>
          <a:stretch>
            <a:fillRect/>
          </a:stretch>
        </p:blipFill>
        <p:spPr>
          <a:xfrm>
            <a:off x="1490134" y="2031999"/>
            <a:ext cx="7153804" cy="4334933"/>
          </a:xfrm>
        </p:spPr>
      </p:pic>
    </p:spTree>
    <p:extLst>
      <p:ext uri="{BB962C8B-B14F-4D97-AF65-F5344CB8AC3E}">
        <p14:creationId xmlns:p14="http://schemas.microsoft.com/office/powerpoint/2010/main" val="42178065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58227-112E-F0D0-041C-1B5C0E6BE44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5EDF84B-CE79-D06B-5F30-A95CA5B713E9}"/>
              </a:ext>
            </a:extLst>
          </p:cNvPr>
          <p:cNvPicPr>
            <a:picLocks noGrp="1" noChangeAspect="1"/>
          </p:cNvPicPr>
          <p:nvPr>
            <p:ph idx="1"/>
          </p:nvPr>
        </p:nvPicPr>
        <p:blipFill>
          <a:blip r:embed="rId2"/>
          <a:stretch>
            <a:fillRect/>
          </a:stretch>
        </p:blipFill>
        <p:spPr>
          <a:xfrm>
            <a:off x="1264356" y="1930400"/>
            <a:ext cx="6698544" cy="3860800"/>
          </a:xfrm>
        </p:spPr>
      </p:pic>
    </p:spTree>
    <p:extLst>
      <p:ext uri="{BB962C8B-B14F-4D97-AF65-F5344CB8AC3E}">
        <p14:creationId xmlns:p14="http://schemas.microsoft.com/office/powerpoint/2010/main" val="7490273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8A205-09E5-6A5D-1269-F96E07836D5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E6DB290-C261-AB25-EF39-9D072C8D7F08}"/>
              </a:ext>
            </a:extLst>
          </p:cNvPr>
          <p:cNvSpPr>
            <a:spLocks noGrp="1"/>
          </p:cNvSpPr>
          <p:nvPr>
            <p:ph idx="1"/>
          </p:nvPr>
        </p:nvSpPr>
        <p:spPr/>
        <p:txBody>
          <a:bodyPr>
            <a:normAutofit/>
          </a:bodyPr>
          <a:lstStyle/>
          <a:p>
            <a:r>
              <a:rPr lang="en-US" sz="4400" b="1" dirty="0"/>
              <a:t>Circular linked list</a:t>
            </a:r>
          </a:p>
          <a:p>
            <a:r>
              <a:rPr lang="en-IN" sz="2000" kern="100" dirty="0">
                <a:effectLst/>
                <a:latin typeface="Calibri" panose="020F0502020204030204" pitchFamily="34" charset="0"/>
                <a:ea typeface="Calibri" panose="020F0502020204030204" pitchFamily="34" charset="0"/>
                <a:cs typeface="Times New Roman" panose="02020603050405020304" pitchFamily="18" charset="0"/>
              </a:rPr>
              <a:t>A circular linked list is a variation of a linked list in which the last node of the list points back to the first node, forming a loop or circle. </a:t>
            </a:r>
          </a:p>
          <a:p>
            <a:r>
              <a:rPr lang="en-IN" sz="2000" kern="100" dirty="0">
                <a:effectLst/>
                <a:latin typeface="Calibri" panose="020F0502020204030204" pitchFamily="34" charset="0"/>
                <a:ea typeface="Calibri" panose="020F0502020204030204" pitchFamily="34" charset="0"/>
                <a:cs typeface="Times New Roman" panose="02020603050405020304" pitchFamily="18" charset="0"/>
              </a:rPr>
              <a:t>Unlike a regular linked list, where the last node typically points to NULL or is considered the end of the list, a circular linked list has no distinct end.</a:t>
            </a:r>
          </a:p>
          <a:p>
            <a:pPr algn="l" fontAlgn="base"/>
            <a:r>
              <a:rPr lang="en-US" sz="1600" b="1" i="0" dirty="0">
                <a:solidFill>
                  <a:srgbClr val="273239"/>
                </a:solidFill>
                <a:effectLst/>
                <a:latin typeface="Nunito" pitchFamily="2" charset="0"/>
              </a:rPr>
              <a:t>There are generally two types of circular linked lists:</a:t>
            </a:r>
            <a:endParaRPr lang="en-US" sz="1600" b="0" i="0" dirty="0">
              <a:solidFill>
                <a:srgbClr val="273239"/>
              </a:solidFill>
              <a:effectLst/>
              <a:latin typeface="Nunito" pitchFamily="2" charset="0"/>
            </a:endParaRPr>
          </a:p>
          <a:p>
            <a:pPr algn="l" fontAlgn="base">
              <a:buFont typeface="Arial" panose="020B0604020202020204" pitchFamily="34" charset="0"/>
              <a:buChar char="•"/>
            </a:pPr>
            <a:r>
              <a:rPr lang="en-US" sz="1600" b="1" i="0" dirty="0">
                <a:solidFill>
                  <a:srgbClr val="273239"/>
                </a:solidFill>
                <a:effectLst/>
                <a:latin typeface="Nunito" pitchFamily="2" charset="0"/>
              </a:rPr>
              <a:t>Circular singly linked list: </a:t>
            </a:r>
            <a:r>
              <a:rPr lang="en-US" sz="1600" b="0" i="0" dirty="0">
                <a:solidFill>
                  <a:srgbClr val="273239"/>
                </a:solidFill>
                <a:effectLst/>
                <a:latin typeface="Nunito" pitchFamily="2" charset="0"/>
              </a:rPr>
              <a:t>In a circular Singly linked list, the last node of the list contains a pointer to the first node of the list. We traverse the circular singly linked list until we reach the same node where we started. The circular singly linked list has no beginning or end. No null value is present in the next part of any of the nodes.</a:t>
            </a:r>
          </a:p>
          <a:p>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4400" b="1" dirty="0"/>
          </a:p>
        </p:txBody>
      </p:sp>
      <p:pic>
        <p:nvPicPr>
          <p:cNvPr id="7" name="Picture 6">
            <a:extLst>
              <a:ext uri="{FF2B5EF4-FFF2-40B4-BE49-F238E27FC236}">
                <a16:creationId xmlns:a16="http://schemas.microsoft.com/office/drawing/2014/main" id="{D7BA47CD-8C84-8F28-B103-25531F954322}"/>
              </a:ext>
            </a:extLst>
          </p:cNvPr>
          <p:cNvPicPr>
            <a:picLocks noChangeAspect="1"/>
          </p:cNvPicPr>
          <p:nvPr/>
        </p:nvPicPr>
        <p:blipFill>
          <a:blip r:embed="rId2"/>
          <a:stretch>
            <a:fillRect/>
          </a:stretch>
        </p:blipFill>
        <p:spPr>
          <a:xfrm>
            <a:off x="1570390" y="5005388"/>
            <a:ext cx="6657975" cy="1171575"/>
          </a:xfrm>
          <a:prstGeom prst="rect">
            <a:avLst/>
          </a:prstGeom>
        </p:spPr>
      </p:pic>
    </p:spTree>
    <p:extLst>
      <p:ext uri="{BB962C8B-B14F-4D97-AF65-F5344CB8AC3E}">
        <p14:creationId xmlns:p14="http://schemas.microsoft.com/office/powerpoint/2010/main" val="5350931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5FCDB-709E-84CE-5347-CC5422146B8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C6E762E-1E09-5477-ADE3-229BEA8E1803}"/>
              </a:ext>
            </a:extLst>
          </p:cNvPr>
          <p:cNvSpPr>
            <a:spLocks noGrp="1"/>
          </p:cNvSpPr>
          <p:nvPr>
            <p:ph idx="1"/>
          </p:nvPr>
        </p:nvSpPr>
        <p:spPr/>
        <p:txBody>
          <a:bodyPr>
            <a:normAutofit/>
          </a:bodyPr>
          <a:lstStyle/>
          <a:p>
            <a:r>
              <a:rPr lang="en-US" sz="2000" b="1" i="0" dirty="0">
                <a:solidFill>
                  <a:srgbClr val="273239"/>
                </a:solidFill>
                <a:effectLst/>
                <a:latin typeface="Nunito" pitchFamily="2" charset="0"/>
              </a:rPr>
              <a:t>Circular Doubly linked list: </a:t>
            </a:r>
            <a:r>
              <a:rPr lang="en-US" sz="2000" b="0" i="0" dirty="0">
                <a:solidFill>
                  <a:srgbClr val="273239"/>
                </a:solidFill>
                <a:effectLst/>
                <a:latin typeface="Nunito" pitchFamily="2" charset="0"/>
              </a:rPr>
              <a:t>Circular Doubly Linked List has properties of both doubly linked list and circular linked list in which two consecutive elements are linked or connected by the previous and next pointer and the last node points to the first node by the next pointer and also the first node points to the last node by the previous pointer</a:t>
            </a:r>
          </a:p>
          <a:p>
            <a:endParaRPr lang="en-US" sz="2000" b="0" i="0" dirty="0">
              <a:solidFill>
                <a:srgbClr val="273239"/>
              </a:solidFill>
              <a:effectLst/>
              <a:latin typeface="Nunito" pitchFamily="2" charset="0"/>
            </a:endParaRPr>
          </a:p>
          <a:p>
            <a:endParaRPr lang="en-IN" sz="2000" dirty="0"/>
          </a:p>
          <a:p>
            <a:endParaRPr lang="en-IN" sz="2000" dirty="0"/>
          </a:p>
          <a:p>
            <a:endParaRPr lang="en-IN" sz="2000" dirty="0"/>
          </a:p>
          <a:p>
            <a:endParaRPr lang="en-IN" sz="2000" dirty="0"/>
          </a:p>
        </p:txBody>
      </p:sp>
      <p:pic>
        <p:nvPicPr>
          <p:cNvPr id="5" name="Picture 4">
            <a:extLst>
              <a:ext uri="{FF2B5EF4-FFF2-40B4-BE49-F238E27FC236}">
                <a16:creationId xmlns:a16="http://schemas.microsoft.com/office/drawing/2014/main" id="{5AF05B66-3A4E-3359-CBB2-16EAA8954294}"/>
              </a:ext>
            </a:extLst>
          </p:cNvPr>
          <p:cNvPicPr>
            <a:picLocks noChangeAspect="1"/>
          </p:cNvPicPr>
          <p:nvPr/>
        </p:nvPicPr>
        <p:blipFill>
          <a:blip r:embed="rId2"/>
          <a:stretch>
            <a:fillRect/>
          </a:stretch>
        </p:blipFill>
        <p:spPr>
          <a:xfrm>
            <a:off x="1025701" y="3589867"/>
            <a:ext cx="8795633" cy="2418645"/>
          </a:xfrm>
          <a:prstGeom prst="rect">
            <a:avLst/>
          </a:prstGeom>
        </p:spPr>
      </p:pic>
    </p:spTree>
    <p:extLst>
      <p:ext uri="{BB962C8B-B14F-4D97-AF65-F5344CB8AC3E}">
        <p14:creationId xmlns:p14="http://schemas.microsoft.com/office/powerpoint/2010/main" val="2302993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90E01-2FF9-56D6-825C-D65CB92BD8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01EDE7C-1EB3-F4F3-B614-98581A2D5C7E}"/>
              </a:ext>
            </a:extLst>
          </p:cNvPr>
          <p:cNvSpPr>
            <a:spLocks noGrp="1"/>
          </p:cNvSpPr>
          <p:nvPr>
            <p:ph idx="1"/>
          </p:nvPr>
        </p:nvSpPr>
        <p:spPr/>
        <p:txBody>
          <a:bodyPr>
            <a:normAutofit fontScale="92500" lnSpcReduction="20000"/>
          </a:bodyPr>
          <a:lstStyle/>
          <a:p>
            <a:r>
              <a:rPr lang="en-US" b="0" i="0" dirty="0">
                <a:solidFill>
                  <a:srgbClr val="374151"/>
                </a:solidFill>
                <a:effectLst/>
                <a:latin typeface="Söhne"/>
              </a:rPr>
              <a:t>In a circular linked list, there isn't a distinct "start" or "end" as you would find in a traditional linked list. Instead, you can arbitrarily choose any node as the starting point, and the list continues in a circular manner. Similarly, there is no unique "end" because the last node in the list points back to the first node, forming a loop.</a:t>
            </a:r>
          </a:p>
          <a:p>
            <a:r>
              <a:rPr lang="en-US" b="0" i="0" dirty="0">
                <a:solidFill>
                  <a:srgbClr val="374151"/>
                </a:solidFill>
                <a:effectLst/>
                <a:latin typeface="Söhne"/>
              </a:rPr>
              <a:t>However, in programming, it's common to designate one node as the starting point, often called the "head" of the circular linked list.</a:t>
            </a:r>
            <a:endParaRPr lang="en-US" dirty="0">
              <a:solidFill>
                <a:srgbClr val="374151"/>
              </a:solidFill>
              <a:latin typeface="Söhne"/>
            </a:endParaRPr>
          </a:p>
          <a:p>
            <a:r>
              <a:rPr lang="en-US" b="0" i="0" dirty="0">
                <a:solidFill>
                  <a:srgbClr val="374151"/>
                </a:solidFill>
                <a:effectLst/>
                <a:latin typeface="Söhne"/>
              </a:rPr>
              <a:t>When traversing or manipulating a circular linked list, it's essential to decide on a starting point (head) and use that as a reference to navigate through the rest of the nodes in the circular manner.</a:t>
            </a:r>
          </a:p>
          <a:p>
            <a:r>
              <a:rPr lang="en-US" b="0" i="0" dirty="0">
                <a:solidFill>
                  <a:srgbClr val="374151"/>
                </a:solidFill>
                <a:effectLst/>
                <a:latin typeface="Söhne"/>
              </a:rPr>
              <a:t>Since a circular linked list forms a loop, there isn't a distinct "end" as you would find in a linear list. However, you can set a condition to stop traversing when you reach the starting point (head) again.</a:t>
            </a:r>
            <a:endParaRPr lang="en-IN" dirty="0"/>
          </a:p>
        </p:txBody>
      </p:sp>
    </p:spTree>
    <p:extLst>
      <p:ext uri="{BB962C8B-B14F-4D97-AF65-F5344CB8AC3E}">
        <p14:creationId xmlns:p14="http://schemas.microsoft.com/office/powerpoint/2010/main" val="11098107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EBE27-4AC0-78BF-9EBF-A767810AFEA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D37D155-4F3B-15D7-B7CF-2EFCD7B69F19}"/>
              </a:ext>
            </a:extLst>
          </p:cNvPr>
          <p:cNvSpPr>
            <a:spLocks noGrp="1"/>
          </p:cNvSpPr>
          <p:nvPr>
            <p:ph idx="1"/>
          </p:nvPr>
        </p:nvSpPr>
        <p:spPr/>
        <p:txBody>
          <a:bodyPr>
            <a:normAutofit fontScale="77500" lnSpcReduction="20000"/>
          </a:bodyPr>
          <a:lstStyle/>
          <a:p>
            <a:pPr algn="l"/>
            <a:r>
              <a:rPr lang="en-US" b="1" i="0" dirty="0">
                <a:solidFill>
                  <a:srgbClr val="374151"/>
                </a:solidFill>
                <a:effectLst/>
                <a:latin typeface="Söhne"/>
              </a:rPr>
              <a:t>Advantages of Circular Linked Lists:</a:t>
            </a:r>
            <a:endParaRPr lang="en-US" b="0" i="0" dirty="0">
              <a:solidFill>
                <a:srgbClr val="374151"/>
              </a:solidFill>
              <a:effectLst/>
              <a:latin typeface="Söhne"/>
            </a:endParaRPr>
          </a:p>
          <a:p>
            <a:pPr algn="l">
              <a:buFont typeface="+mj-lt"/>
              <a:buAutoNum type="arabicPeriod"/>
            </a:pPr>
            <a:r>
              <a:rPr lang="en-US" b="0" i="0" dirty="0">
                <a:solidFill>
                  <a:srgbClr val="374151"/>
                </a:solidFill>
                <a:effectLst/>
                <a:latin typeface="Söhne"/>
              </a:rPr>
              <a:t>Circular Structure: Easy traversal from the last node back to the first.</a:t>
            </a:r>
          </a:p>
          <a:p>
            <a:pPr algn="l">
              <a:buFont typeface="+mj-lt"/>
              <a:buAutoNum type="arabicPeriod"/>
            </a:pPr>
            <a:r>
              <a:rPr lang="en-US" b="0" i="0" dirty="0">
                <a:solidFill>
                  <a:srgbClr val="374151"/>
                </a:solidFill>
                <a:effectLst/>
                <a:latin typeface="Söhne"/>
              </a:rPr>
              <a:t>Efficient Insertion/Deletion: Particularly at the beginning of the list.</a:t>
            </a:r>
          </a:p>
          <a:p>
            <a:pPr algn="l">
              <a:buFont typeface="+mj-lt"/>
              <a:buAutoNum type="arabicPeriod"/>
            </a:pPr>
            <a:r>
              <a:rPr lang="en-US" b="0" i="0" dirty="0">
                <a:solidFill>
                  <a:srgbClr val="374151"/>
                </a:solidFill>
                <a:effectLst/>
                <a:latin typeface="Söhne"/>
              </a:rPr>
              <a:t>Implementation of Circular Buffer: Useful for managing fixed-size buffers.</a:t>
            </a:r>
          </a:p>
          <a:p>
            <a:pPr algn="l">
              <a:buFont typeface="+mj-lt"/>
              <a:buAutoNum type="arabicPeriod"/>
            </a:pPr>
            <a:r>
              <a:rPr lang="en-US" b="0" i="0" dirty="0">
                <a:solidFill>
                  <a:srgbClr val="374151"/>
                </a:solidFill>
                <a:effectLst/>
                <a:latin typeface="Söhne"/>
              </a:rPr>
              <a:t>Memory Utilization: Can be more memory-efficient in specific situations.</a:t>
            </a:r>
          </a:p>
          <a:p>
            <a:pPr algn="l"/>
            <a:r>
              <a:rPr lang="en-US" b="1" i="0" dirty="0">
                <a:solidFill>
                  <a:srgbClr val="374151"/>
                </a:solidFill>
                <a:effectLst/>
                <a:latin typeface="Söhne"/>
              </a:rPr>
              <a:t>Disadvantages of Circular Linked Lists:</a:t>
            </a:r>
            <a:endParaRPr lang="en-US" b="0" i="0" dirty="0">
              <a:solidFill>
                <a:srgbClr val="374151"/>
              </a:solidFill>
              <a:effectLst/>
              <a:latin typeface="Söhne"/>
            </a:endParaRPr>
          </a:p>
          <a:p>
            <a:pPr algn="l">
              <a:buFont typeface="+mj-lt"/>
              <a:buAutoNum type="arabicPeriod"/>
            </a:pPr>
            <a:r>
              <a:rPr lang="en-US" b="0" i="0" dirty="0">
                <a:solidFill>
                  <a:srgbClr val="374151"/>
                </a:solidFill>
                <a:effectLst/>
                <a:latin typeface="Söhne"/>
              </a:rPr>
              <a:t>Complexity in Traversal: Traversal requires careful handling to avoid infinite loops.</a:t>
            </a:r>
          </a:p>
          <a:p>
            <a:pPr algn="l">
              <a:buFont typeface="+mj-lt"/>
              <a:buAutoNum type="arabicPeriod"/>
            </a:pPr>
            <a:r>
              <a:rPr lang="en-US" b="0" i="0" dirty="0">
                <a:solidFill>
                  <a:srgbClr val="374151"/>
                </a:solidFill>
                <a:effectLst/>
                <a:latin typeface="Söhne"/>
              </a:rPr>
              <a:t>Lack of Direct Access: No direct access to nodes; traversal is necessary.</a:t>
            </a:r>
          </a:p>
          <a:p>
            <a:pPr algn="l">
              <a:buFont typeface="+mj-lt"/>
              <a:buAutoNum type="arabicPeriod"/>
            </a:pPr>
            <a:r>
              <a:rPr lang="en-US" b="0" i="0" dirty="0">
                <a:solidFill>
                  <a:srgbClr val="374151"/>
                </a:solidFill>
                <a:effectLst/>
                <a:latin typeface="Söhne"/>
              </a:rPr>
              <a:t>Increased Overhead: Circular connections add implementation complexity.</a:t>
            </a:r>
          </a:p>
          <a:p>
            <a:pPr algn="l">
              <a:buFont typeface="+mj-lt"/>
              <a:buAutoNum type="arabicPeriod"/>
            </a:pPr>
            <a:r>
              <a:rPr lang="en-US" b="0" i="0" dirty="0">
                <a:solidFill>
                  <a:srgbClr val="374151"/>
                </a:solidFill>
                <a:effectLst/>
                <a:latin typeface="Söhne"/>
              </a:rPr>
              <a:t>Difficulty in Reversing: Reversing the list is more complex than in linear linked lists.</a:t>
            </a:r>
          </a:p>
          <a:p>
            <a:pPr algn="l">
              <a:buFont typeface="+mj-lt"/>
              <a:buAutoNum type="arabicPeriod"/>
            </a:pPr>
            <a:r>
              <a:rPr lang="en-US" b="0" i="0" dirty="0">
                <a:solidFill>
                  <a:srgbClr val="374151"/>
                </a:solidFill>
                <a:effectLst/>
                <a:latin typeface="Söhne"/>
              </a:rPr>
              <a:t>Potential for Infinite Loop: Incorrect stopping conditions can lead to infinite loops.</a:t>
            </a:r>
          </a:p>
          <a:p>
            <a:pPr marL="0" indent="0">
              <a:buNone/>
            </a:pPr>
            <a:endParaRPr lang="en-IN" dirty="0"/>
          </a:p>
        </p:txBody>
      </p:sp>
    </p:spTree>
    <p:extLst>
      <p:ext uri="{BB962C8B-B14F-4D97-AF65-F5344CB8AC3E}">
        <p14:creationId xmlns:p14="http://schemas.microsoft.com/office/powerpoint/2010/main" val="9629107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ECAA2-C9BC-5A22-D5DF-E0A55D4E507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95130D5-2162-A595-80AB-158231D42FD3}"/>
              </a:ext>
            </a:extLst>
          </p:cNvPr>
          <p:cNvSpPr>
            <a:spLocks noGrp="1"/>
          </p:cNvSpPr>
          <p:nvPr>
            <p:ph idx="1"/>
          </p:nvPr>
        </p:nvSpPr>
        <p:spPr/>
        <p:txBody>
          <a:bodyPr>
            <a:normAutofit fontScale="55000" lnSpcReduction="20000"/>
          </a:bodyPr>
          <a:lstStyle/>
          <a:p>
            <a:pPr algn="l"/>
            <a:r>
              <a:rPr lang="en-US" b="1" i="0" dirty="0">
                <a:solidFill>
                  <a:srgbClr val="374151"/>
                </a:solidFill>
                <a:effectLst/>
                <a:latin typeface="Söhne"/>
              </a:rPr>
              <a:t>Applications of Circular Linked Lists:</a:t>
            </a:r>
            <a:endParaRPr lang="en-US" b="0" i="0" dirty="0">
              <a:solidFill>
                <a:srgbClr val="374151"/>
              </a:solidFill>
              <a:effectLst/>
              <a:latin typeface="Söhne"/>
            </a:endParaRPr>
          </a:p>
          <a:p>
            <a:pPr algn="l">
              <a:buFont typeface="+mj-lt"/>
              <a:buAutoNum type="arabicPeriod"/>
            </a:pPr>
            <a:r>
              <a:rPr lang="en-US" b="1" i="0" dirty="0">
                <a:solidFill>
                  <a:srgbClr val="374151"/>
                </a:solidFill>
                <a:effectLst/>
                <a:latin typeface="Söhne"/>
              </a:rPr>
              <a:t>Round-Robin Scheduling:</a:t>
            </a:r>
            <a:endParaRPr lang="en-US" b="0" i="0" dirty="0">
              <a:solidFill>
                <a:srgbClr val="374151"/>
              </a:solidFill>
              <a:effectLst/>
              <a:latin typeface="Söhne"/>
            </a:endParaRPr>
          </a:p>
          <a:p>
            <a:pPr marL="457200" lvl="1" indent="0" algn="l">
              <a:buNone/>
            </a:pPr>
            <a:r>
              <a:rPr lang="en-US" b="0" i="0" dirty="0">
                <a:solidFill>
                  <a:srgbClr val="374151"/>
                </a:solidFill>
                <a:effectLst/>
                <a:latin typeface="Söhne"/>
              </a:rPr>
              <a:t>Used in operating systems for fair process scheduling.</a:t>
            </a:r>
          </a:p>
          <a:p>
            <a:pPr algn="l">
              <a:buFont typeface="+mj-lt"/>
              <a:buAutoNum type="arabicPeriod"/>
            </a:pPr>
            <a:r>
              <a:rPr lang="en-US" b="1" i="0" dirty="0">
                <a:solidFill>
                  <a:srgbClr val="374151"/>
                </a:solidFill>
                <a:effectLst/>
                <a:latin typeface="Söhne"/>
              </a:rPr>
              <a:t>Managing Players in a Game:</a:t>
            </a:r>
            <a:endParaRPr lang="en-US" b="0" i="0" dirty="0">
              <a:solidFill>
                <a:srgbClr val="374151"/>
              </a:solidFill>
              <a:effectLst/>
              <a:latin typeface="Söhne"/>
            </a:endParaRPr>
          </a:p>
          <a:p>
            <a:pPr marL="457200" lvl="1" indent="0" algn="l">
              <a:buNone/>
            </a:pPr>
            <a:r>
              <a:rPr lang="en-US" b="0" i="0" dirty="0">
                <a:solidFill>
                  <a:srgbClr val="374151"/>
                </a:solidFill>
                <a:effectLst/>
                <a:latin typeface="Söhne"/>
              </a:rPr>
              <a:t>Represents a sequence of players in turn-based games.</a:t>
            </a:r>
          </a:p>
          <a:p>
            <a:pPr algn="l">
              <a:buFont typeface="+mj-lt"/>
              <a:buAutoNum type="arabicPeriod"/>
            </a:pPr>
            <a:r>
              <a:rPr lang="en-US" b="1" i="0" dirty="0">
                <a:solidFill>
                  <a:srgbClr val="374151"/>
                </a:solidFill>
                <a:effectLst/>
                <a:latin typeface="Söhne"/>
              </a:rPr>
              <a:t>Music Playlist:</a:t>
            </a:r>
            <a:endParaRPr lang="en-US" b="0" i="0" dirty="0">
              <a:solidFill>
                <a:srgbClr val="374151"/>
              </a:solidFill>
              <a:effectLst/>
              <a:latin typeface="Söhne"/>
            </a:endParaRPr>
          </a:p>
          <a:p>
            <a:pPr marL="457200" lvl="1" indent="0" algn="l">
              <a:buNone/>
            </a:pPr>
            <a:r>
              <a:rPr lang="en-US" b="0" i="0" dirty="0">
                <a:solidFill>
                  <a:srgbClr val="374151"/>
                </a:solidFill>
                <a:effectLst/>
                <a:latin typeface="Söhne"/>
              </a:rPr>
              <a:t>Suitable for continuous playback of songs in playlists.</a:t>
            </a:r>
          </a:p>
          <a:p>
            <a:pPr algn="l">
              <a:buFont typeface="+mj-lt"/>
              <a:buAutoNum type="arabicPeriod"/>
            </a:pPr>
            <a:r>
              <a:rPr lang="en-US" b="1" i="0" dirty="0">
                <a:solidFill>
                  <a:srgbClr val="374151"/>
                </a:solidFill>
                <a:effectLst/>
                <a:latin typeface="Söhne"/>
              </a:rPr>
              <a:t>Cyclic Buffer in Data Streaming:</a:t>
            </a:r>
            <a:endParaRPr lang="en-US" b="0" i="0" dirty="0">
              <a:solidFill>
                <a:srgbClr val="374151"/>
              </a:solidFill>
              <a:effectLst/>
              <a:latin typeface="Söhne"/>
            </a:endParaRPr>
          </a:p>
          <a:p>
            <a:pPr marL="457200" lvl="1" indent="0" algn="l">
              <a:buNone/>
            </a:pPr>
            <a:r>
              <a:rPr lang="en-US" b="0" i="0" dirty="0">
                <a:solidFill>
                  <a:srgbClr val="374151"/>
                </a:solidFill>
                <a:effectLst/>
                <a:latin typeface="Söhne"/>
              </a:rPr>
              <a:t>Implements cyclic buffers for data streaming or communication.</a:t>
            </a:r>
          </a:p>
          <a:p>
            <a:pPr algn="l">
              <a:buFont typeface="+mj-lt"/>
              <a:buAutoNum type="arabicPeriod"/>
            </a:pPr>
            <a:r>
              <a:rPr lang="en-US" b="1" i="0" dirty="0">
                <a:solidFill>
                  <a:srgbClr val="374151"/>
                </a:solidFill>
                <a:effectLst/>
                <a:latin typeface="Söhne"/>
              </a:rPr>
              <a:t>Resource Allocation in Networking:</a:t>
            </a:r>
            <a:endParaRPr lang="en-US" b="0" i="0" dirty="0">
              <a:solidFill>
                <a:srgbClr val="374151"/>
              </a:solidFill>
              <a:effectLst/>
              <a:latin typeface="Söhne"/>
            </a:endParaRPr>
          </a:p>
          <a:p>
            <a:pPr marL="457200" lvl="1" indent="0" algn="l">
              <a:buNone/>
            </a:pPr>
            <a:r>
              <a:rPr lang="en-US" b="0" i="0" dirty="0">
                <a:solidFill>
                  <a:srgbClr val="374151"/>
                </a:solidFill>
                <a:effectLst/>
                <a:latin typeface="Söhne"/>
              </a:rPr>
              <a:t>Manages resource allocation in networking scenarios.</a:t>
            </a:r>
          </a:p>
          <a:p>
            <a:pPr algn="l">
              <a:buFont typeface="+mj-lt"/>
              <a:buAutoNum type="arabicPeriod"/>
            </a:pPr>
            <a:r>
              <a:rPr lang="en-US" b="1" i="0" dirty="0">
                <a:solidFill>
                  <a:srgbClr val="374151"/>
                </a:solidFill>
                <a:effectLst/>
                <a:latin typeface="Söhne"/>
              </a:rPr>
              <a:t>Undo/Redo Functionality:</a:t>
            </a:r>
            <a:endParaRPr lang="en-US" b="0" i="0" dirty="0">
              <a:solidFill>
                <a:srgbClr val="374151"/>
              </a:solidFill>
              <a:effectLst/>
              <a:latin typeface="Söhne"/>
            </a:endParaRPr>
          </a:p>
          <a:p>
            <a:pPr marL="457200" lvl="1" indent="0" algn="l">
              <a:buNone/>
            </a:pPr>
            <a:r>
              <a:rPr lang="en-US" b="0" i="0" dirty="0">
                <a:solidFill>
                  <a:srgbClr val="374151"/>
                </a:solidFill>
                <a:effectLst/>
                <a:latin typeface="Söhne"/>
              </a:rPr>
              <a:t>Used for implementing undo/redo functionality in applications.</a:t>
            </a:r>
          </a:p>
          <a:p>
            <a:pPr algn="l">
              <a:buFont typeface="+mj-lt"/>
              <a:buAutoNum type="arabicPeriod"/>
            </a:pPr>
            <a:r>
              <a:rPr lang="en-US" b="1" i="0" dirty="0">
                <a:solidFill>
                  <a:srgbClr val="374151"/>
                </a:solidFill>
                <a:effectLst/>
                <a:latin typeface="Söhne"/>
              </a:rPr>
              <a:t>Clockwise and Anticlockwise Navigation:</a:t>
            </a:r>
            <a:endParaRPr lang="en-US" b="0" i="0" dirty="0">
              <a:solidFill>
                <a:srgbClr val="374151"/>
              </a:solidFill>
              <a:effectLst/>
              <a:latin typeface="Söhne"/>
            </a:endParaRPr>
          </a:p>
          <a:p>
            <a:pPr marL="457200" lvl="1" indent="0" algn="l">
              <a:buNone/>
            </a:pPr>
            <a:r>
              <a:rPr lang="en-US" b="0" i="0" dirty="0">
                <a:solidFill>
                  <a:srgbClr val="374151"/>
                </a:solidFill>
                <a:effectLst/>
                <a:latin typeface="Söhne"/>
              </a:rPr>
              <a:t>Enables navigation in both directions, e.g., in image viewers.</a:t>
            </a:r>
          </a:p>
          <a:p>
            <a:pPr algn="l">
              <a:buFont typeface="+mj-lt"/>
              <a:buAutoNum type="arabicPeriod"/>
            </a:pPr>
            <a:r>
              <a:rPr lang="en-US" b="1" i="0" dirty="0">
                <a:solidFill>
                  <a:srgbClr val="374151"/>
                </a:solidFill>
                <a:effectLst/>
                <a:latin typeface="Söhne"/>
              </a:rPr>
              <a:t>Memory Allocation Algorithms:</a:t>
            </a:r>
            <a:endParaRPr lang="en-US" b="0" i="0" dirty="0">
              <a:solidFill>
                <a:srgbClr val="374151"/>
              </a:solidFill>
              <a:effectLst/>
              <a:latin typeface="Söhne"/>
            </a:endParaRPr>
          </a:p>
          <a:p>
            <a:pPr marL="457200" lvl="1" indent="0" algn="l">
              <a:buNone/>
            </a:pPr>
            <a:r>
              <a:rPr lang="en-US" b="0" i="0" dirty="0">
                <a:solidFill>
                  <a:srgbClr val="374151"/>
                </a:solidFill>
                <a:effectLst/>
                <a:latin typeface="Söhne"/>
              </a:rPr>
              <a:t>Applied in memory allocation algorithms, especially in garbage collection.</a:t>
            </a:r>
          </a:p>
          <a:p>
            <a:endParaRPr lang="en-IN" dirty="0"/>
          </a:p>
        </p:txBody>
      </p:sp>
    </p:spTree>
    <p:extLst>
      <p:ext uri="{BB962C8B-B14F-4D97-AF65-F5344CB8AC3E}">
        <p14:creationId xmlns:p14="http://schemas.microsoft.com/office/powerpoint/2010/main" val="33670282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D6883-8722-3831-C3B1-BFC805B8B26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BA58B47-FAC0-78BF-1040-7A88C4BE8052}"/>
              </a:ext>
            </a:extLst>
          </p:cNvPr>
          <p:cNvSpPr>
            <a:spLocks noGrp="1"/>
          </p:cNvSpPr>
          <p:nvPr>
            <p:ph idx="1"/>
          </p:nvPr>
        </p:nvSpPr>
        <p:spPr/>
        <p:txBody>
          <a:bodyPr>
            <a:normAutofit fontScale="47500" lnSpcReduction="20000"/>
          </a:bodyPr>
          <a:lstStyle/>
          <a:p>
            <a:pPr marL="0" indent="0">
              <a:buNone/>
            </a:pPr>
            <a:r>
              <a:rPr lang="en-US" b="1" dirty="0"/>
              <a:t>Operations on singly circular linked list</a:t>
            </a:r>
          </a:p>
          <a:p>
            <a:r>
              <a:rPr lang="en-US" sz="2400" b="1" dirty="0"/>
              <a:t>Insertion at the beginning</a:t>
            </a:r>
          </a:p>
          <a:p>
            <a:pPr marL="0" indent="0">
              <a:buNone/>
            </a:pPr>
            <a:r>
              <a:rPr lang="en-US" sz="2400" b="1" dirty="0"/>
              <a:t>Algorithm</a:t>
            </a:r>
          </a:p>
          <a:p>
            <a:pPr>
              <a:lnSpc>
                <a:spcPct val="120000"/>
              </a:lnSpc>
              <a:spcAft>
                <a:spcPts val="800"/>
              </a:spcAft>
            </a:pP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1. Create a new node </a:t>
            </a:r>
            <a:r>
              <a:rPr lang="en-IN" sz="2300" kern="1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 and set its data to the given value.</a:t>
            </a:r>
          </a:p>
          <a:p>
            <a:pPr>
              <a:lnSpc>
                <a:spcPct val="120000"/>
              </a:lnSpc>
              <a:spcAft>
                <a:spcPts val="800"/>
              </a:spcAft>
            </a:pP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    2. If the list is empty (head is null):</a:t>
            </a:r>
          </a:p>
          <a:p>
            <a:pPr>
              <a:lnSpc>
                <a:spcPct val="120000"/>
              </a:lnSpc>
              <a:spcAft>
                <a:spcPts val="800"/>
              </a:spcAft>
            </a:pP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        a. Set </a:t>
            </a:r>
            <a:r>
              <a:rPr lang="en-IN" sz="2300" kern="100" dirty="0" err="1">
                <a:effectLst/>
                <a:latin typeface="Calibri" panose="020F0502020204030204" pitchFamily="34" charset="0"/>
                <a:ea typeface="Calibri" panose="020F0502020204030204" pitchFamily="34" charset="0"/>
                <a:cs typeface="Times New Roman" panose="02020603050405020304" pitchFamily="18" charset="0"/>
              </a:rPr>
              <a:t>newNode's</a:t>
            </a: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 next pointer to itself.</a:t>
            </a:r>
          </a:p>
          <a:p>
            <a:pPr>
              <a:lnSpc>
                <a:spcPct val="120000"/>
              </a:lnSpc>
              <a:spcAft>
                <a:spcPts val="800"/>
              </a:spcAft>
            </a:pP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        b. Set the head of the list to </a:t>
            </a:r>
            <a:r>
              <a:rPr lang="en-IN" sz="2300" kern="1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20000"/>
              </a:lnSpc>
              <a:spcAft>
                <a:spcPts val="800"/>
              </a:spcAft>
            </a:pP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    3. Else:</a:t>
            </a:r>
          </a:p>
          <a:p>
            <a:pPr>
              <a:lnSpc>
                <a:spcPct val="120000"/>
              </a:lnSpc>
              <a:spcAft>
                <a:spcPts val="800"/>
              </a:spcAft>
            </a:pP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        a. Traverse the list to find the last node (</a:t>
            </a:r>
            <a:r>
              <a:rPr lang="en-IN" sz="2300" kern="100" dirty="0" err="1">
                <a:effectLst/>
                <a:latin typeface="Calibri" panose="020F0502020204030204" pitchFamily="34" charset="0"/>
                <a:ea typeface="Calibri" panose="020F0502020204030204" pitchFamily="34" charset="0"/>
                <a:cs typeface="Times New Roman" panose="02020603050405020304" pitchFamily="18" charset="0"/>
              </a:rPr>
              <a:t>lastNode</a:t>
            </a: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20000"/>
              </a:lnSpc>
              <a:spcAft>
                <a:spcPts val="800"/>
              </a:spcAft>
            </a:pP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        b. Set </a:t>
            </a:r>
            <a:r>
              <a:rPr lang="en-IN" sz="2300" kern="100" dirty="0" err="1">
                <a:effectLst/>
                <a:latin typeface="Calibri" panose="020F0502020204030204" pitchFamily="34" charset="0"/>
                <a:ea typeface="Calibri" panose="020F0502020204030204" pitchFamily="34" charset="0"/>
                <a:cs typeface="Times New Roman" panose="02020603050405020304" pitchFamily="18" charset="0"/>
              </a:rPr>
              <a:t>newNode's</a:t>
            </a: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 next pointer to the current head.</a:t>
            </a:r>
          </a:p>
          <a:p>
            <a:pPr>
              <a:lnSpc>
                <a:spcPct val="120000"/>
              </a:lnSpc>
              <a:spcAft>
                <a:spcPts val="800"/>
              </a:spcAft>
            </a:pP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        c. Set </a:t>
            </a:r>
            <a:r>
              <a:rPr lang="en-IN" sz="2300" kern="100" dirty="0" err="1">
                <a:effectLst/>
                <a:latin typeface="Calibri" panose="020F0502020204030204" pitchFamily="34" charset="0"/>
                <a:ea typeface="Calibri" panose="020F0502020204030204" pitchFamily="34" charset="0"/>
                <a:cs typeface="Times New Roman" panose="02020603050405020304" pitchFamily="18" charset="0"/>
              </a:rPr>
              <a:t>lastNode's</a:t>
            </a: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 next pointer to </a:t>
            </a:r>
            <a:r>
              <a:rPr lang="en-IN" sz="2300" kern="1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20000"/>
              </a:lnSpc>
              <a:spcAft>
                <a:spcPts val="800"/>
              </a:spcAft>
            </a:pP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        d. Set the head of the list to </a:t>
            </a:r>
            <a:r>
              <a:rPr lang="en-IN" sz="2300" kern="1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2300" kern="100" dirty="0">
                <a:effectLst/>
                <a:latin typeface="Calibri" panose="020F0502020204030204" pitchFamily="34" charset="0"/>
                <a:ea typeface="Calibri" panose="020F0502020204030204" pitchFamily="34" charset="0"/>
                <a:cs typeface="Times New Roman" panose="02020603050405020304" pitchFamily="18" charset="0"/>
              </a:rPr>
              <a:t>.</a:t>
            </a:r>
            <a:endParaRPr lang="en-US" sz="3400" b="1" dirty="0"/>
          </a:p>
          <a:p>
            <a:pPr marL="0" indent="0">
              <a:buNone/>
            </a:pPr>
            <a:endParaRPr lang="en-US" b="1" dirty="0"/>
          </a:p>
          <a:p>
            <a:endParaRPr lang="en-IN" b="1" dirty="0"/>
          </a:p>
        </p:txBody>
      </p:sp>
    </p:spTree>
    <p:extLst>
      <p:ext uri="{BB962C8B-B14F-4D97-AF65-F5344CB8AC3E}">
        <p14:creationId xmlns:p14="http://schemas.microsoft.com/office/powerpoint/2010/main" val="14897859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D1C46-32E8-F840-55C1-34D448EC75A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81A9B49-E533-C3B1-CCAD-98B0A7A008D0}"/>
              </a:ext>
            </a:extLst>
          </p:cNvPr>
          <p:cNvPicPr>
            <a:picLocks noGrp="1" noChangeAspect="1"/>
          </p:cNvPicPr>
          <p:nvPr>
            <p:ph idx="1"/>
          </p:nvPr>
        </p:nvPicPr>
        <p:blipFill>
          <a:blip r:embed="rId2"/>
          <a:stretch>
            <a:fillRect/>
          </a:stretch>
        </p:blipFill>
        <p:spPr>
          <a:xfrm>
            <a:off x="838200" y="1794933"/>
            <a:ext cx="7610828" cy="4233334"/>
          </a:xfrm>
        </p:spPr>
      </p:pic>
    </p:spTree>
    <p:extLst>
      <p:ext uri="{BB962C8B-B14F-4D97-AF65-F5344CB8AC3E}">
        <p14:creationId xmlns:p14="http://schemas.microsoft.com/office/powerpoint/2010/main" val="37138512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30A9D-7FF9-BCD7-9BC7-E47CA69CEC4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C065E5A-9846-252F-D55A-F236EF3696FB}"/>
              </a:ext>
            </a:extLst>
          </p:cNvPr>
          <p:cNvSpPr>
            <a:spLocks noGrp="1"/>
          </p:cNvSpPr>
          <p:nvPr>
            <p:ph idx="1"/>
          </p:nvPr>
        </p:nvSpPr>
        <p:spPr/>
        <p:txBody>
          <a:bodyPr>
            <a:normAutofit fontScale="92500" lnSpcReduction="20000"/>
          </a:bodyPr>
          <a:lstStyle/>
          <a:p>
            <a:r>
              <a:rPr lang="en-US" dirty="0"/>
              <a:t>Insertion at the end</a:t>
            </a:r>
          </a:p>
          <a:p>
            <a:pPr marL="0" indent="0">
              <a:buNone/>
            </a:pPr>
            <a:r>
              <a:rPr lang="en-US" dirty="0"/>
              <a:t>ALGORITHM</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1. Create a new node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and set its data to the given value.</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2. If the list is empty (head is null):</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 Set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newNode's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next pointer to itself.</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b. Set the head of the list to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3. Else:</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 Traverse the list to find the last node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lastNode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b. Set the next pointer of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lastNode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to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 Set the next pointer of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newNode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to the head.</a:t>
            </a:r>
          </a:p>
        </p:txBody>
      </p:sp>
    </p:spTree>
    <p:extLst>
      <p:ext uri="{BB962C8B-B14F-4D97-AF65-F5344CB8AC3E}">
        <p14:creationId xmlns:p14="http://schemas.microsoft.com/office/powerpoint/2010/main" val="39347865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60951-0E9D-0ED2-732B-69D37FB13A5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9183C8A-E906-69B3-BB75-4420CC65DEAB}"/>
              </a:ext>
            </a:extLst>
          </p:cNvPr>
          <p:cNvPicPr>
            <a:picLocks noGrp="1" noChangeAspect="1"/>
          </p:cNvPicPr>
          <p:nvPr>
            <p:ph idx="1"/>
          </p:nvPr>
        </p:nvPicPr>
        <p:blipFill>
          <a:blip r:embed="rId2"/>
          <a:stretch>
            <a:fillRect/>
          </a:stretch>
        </p:blipFill>
        <p:spPr>
          <a:xfrm>
            <a:off x="948267" y="1896533"/>
            <a:ext cx="8081433" cy="4052711"/>
          </a:xfrm>
        </p:spPr>
      </p:pic>
    </p:spTree>
    <p:extLst>
      <p:ext uri="{BB962C8B-B14F-4D97-AF65-F5344CB8AC3E}">
        <p14:creationId xmlns:p14="http://schemas.microsoft.com/office/powerpoint/2010/main" val="22577932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609E7-1F66-5029-D1D6-254059586D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DA8E3CB-5CAA-8E23-D8D8-F86F311BDF30}"/>
              </a:ext>
            </a:extLst>
          </p:cNvPr>
          <p:cNvSpPr>
            <a:spLocks noGrp="1"/>
          </p:cNvSpPr>
          <p:nvPr>
            <p:ph idx="1"/>
          </p:nvPr>
        </p:nvSpPr>
        <p:spPr/>
        <p:txBody>
          <a:bodyPr/>
          <a:lstStyle/>
          <a:p>
            <a:r>
              <a:rPr lang="en-US" dirty="0"/>
              <a:t>Insertion at specified position</a:t>
            </a:r>
          </a:p>
          <a:p>
            <a:pPr marL="0" indent="0">
              <a:buNone/>
            </a:pPr>
            <a:endParaRPr lang="en-US" dirty="0"/>
          </a:p>
          <a:p>
            <a:endParaRPr lang="en-IN" dirty="0"/>
          </a:p>
        </p:txBody>
      </p:sp>
      <p:pic>
        <p:nvPicPr>
          <p:cNvPr id="5" name="Picture 4">
            <a:extLst>
              <a:ext uri="{FF2B5EF4-FFF2-40B4-BE49-F238E27FC236}">
                <a16:creationId xmlns:a16="http://schemas.microsoft.com/office/drawing/2014/main" id="{C7233B9C-39BE-A7A1-778B-98AC6D23E0E7}"/>
              </a:ext>
            </a:extLst>
          </p:cNvPr>
          <p:cNvPicPr>
            <a:picLocks noChangeAspect="1"/>
          </p:cNvPicPr>
          <p:nvPr/>
        </p:nvPicPr>
        <p:blipFill>
          <a:blip r:embed="rId2"/>
          <a:stretch>
            <a:fillRect/>
          </a:stretch>
        </p:blipFill>
        <p:spPr>
          <a:xfrm>
            <a:off x="838200" y="2414588"/>
            <a:ext cx="7312378" cy="3762375"/>
          </a:xfrm>
          <a:prstGeom prst="rect">
            <a:avLst/>
          </a:prstGeom>
        </p:spPr>
      </p:pic>
    </p:spTree>
    <p:extLst>
      <p:ext uri="{BB962C8B-B14F-4D97-AF65-F5344CB8AC3E}">
        <p14:creationId xmlns:p14="http://schemas.microsoft.com/office/powerpoint/2010/main" val="20031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20449-32FF-5A46-B62D-0B2E5ED9452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FA4C9E6-D6C7-EFE5-0C00-08E631D661E7}"/>
              </a:ext>
            </a:extLst>
          </p:cNvPr>
          <p:cNvPicPr>
            <a:picLocks noGrp="1" noChangeAspect="1"/>
          </p:cNvPicPr>
          <p:nvPr>
            <p:ph idx="1"/>
          </p:nvPr>
        </p:nvPicPr>
        <p:blipFill>
          <a:blip r:embed="rId2"/>
          <a:stretch>
            <a:fillRect/>
          </a:stretch>
        </p:blipFill>
        <p:spPr>
          <a:xfrm>
            <a:off x="838200" y="1975555"/>
            <a:ext cx="7927269" cy="4131734"/>
          </a:xfrm>
        </p:spPr>
      </p:pic>
    </p:spTree>
    <p:extLst>
      <p:ext uri="{BB962C8B-B14F-4D97-AF65-F5344CB8AC3E}">
        <p14:creationId xmlns:p14="http://schemas.microsoft.com/office/powerpoint/2010/main" val="4224582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A3F2D-0CF0-12B9-ECB1-47CAC328ED5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999AD95-F68E-C1D0-EEBD-FD504A83C98B}"/>
              </a:ext>
            </a:extLst>
          </p:cNvPr>
          <p:cNvPicPr>
            <a:picLocks noGrp="1" noChangeAspect="1"/>
          </p:cNvPicPr>
          <p:nvPr>
            <p:ph idx="1"/>
          </p:nvPr>
        </p:nvPicPr>
        <p:blipFill>
          <a:blip r:embed="rId2"/>
          <a:stretch>
            <a:fillRect/>
          </a:stretch>
        </p:blipFill>
        <p:spPr>
          <a:xfrm>
            <a:off x="711200" y="2223911"/>
            <a:ext cx="8613775" cy="3759200"/>
          </a:xfrm>
        </p:spPr>
      </p:pic>
    </p:spTree>
    <p:extLst>
      <p:ext uri="{BB962C8B-B14F-4D97-AF65-F5344CB8AC3E}">
        <p14:creationId xmlns:p14="http://schemas.microsoft.com/office/powerpoint/2010/main" val="19044539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927C41-5D67-540A-842B-62F2C5771860}"/>
              </a:ext>
            </a:extLst>
          </p:cNvPr>
          <p:cNvSpPr>
            <a:spLocks noGrp="1"/>
          </p:cNvSpPr>
          <p:nvPr>
            <p:ph idx="1"/>
          </p:nvPr>
        </p:nvSpPr>
        <p:spPr>
          <a:xfrm>
            <a:off x="555978" y="583096"/>
            <a:ext cx="10515600" cy="5298416"/>
          </a:xfrm>
        </p:spPr>
        <p:txBody>
          <a:bodyPr/>
          <a:lstStyle/>
          <a:p>
            <a:pPr marL="0" indent="0">
              <a:buNone/>
            </a:pPr>
            <a:r>
              <a:rPr lang="en-US" b="1" dirty="0"/>
              <a:t>DELETING A NODE A SINGLY CIRCULAR LINKED LIST</a:t>
            </a:r>
          </a:p>
          <a:p>
            <a:r>
              <a:rPr lang="en-US" b="1" dirty="0"/>
              <a:t>FROM THE BEGINNING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374151"/>
                </a:solidFill>
                <a:effectLst/>
                <a:latin typeface="Söhne"/>
              </a:rPr>
              <a:t>Algorithm:</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rgbClr val="374151"/>
                </a:solidFill>
                <a:effectLst/>
                <a:latin typeface="Söhne"/>
              </a:rPr>
              <a:t>Check if the list is empty. If true, print an error message and return.</a:t>
            </a:r>
            <a:endParaRPr kumimoji="0" lang="en-US" altLang="en-US" sz="1800" b="0" i="0" u="none" strike="noStrike" cap="none" normalizeH="0" baseline="0" dirty="0">
              <a:ln>
                <a:noFill/>
              </a:ln>
              <a:solidFill>
                <a:srgbClr val="374151"/>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rgbClr val="374151"/>
                </a:solidFill>
                <a:effectLst/>
                <a:latin typeface="Söhne"/>
              </a:rPr>
              <a:t>If the list has only one node:</a:t>
            </a:r>
            <a:endParaRPr kumimoji="0" lang="en-US" altLang="en-US" sz="1800" b="0" i="0" u="none" strike="noStrike" cap="none" normalizeH="0" baseline="0" dirty="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74151"/>
                </a:solidFill>
                <a:effectLst/>
                <a:latin typeface="Söhne"/>
              </a:rPr>
              <a:t>Set the head to null.</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rgbClr val="374151"/>
                </a:solidFill>
                <a:effectLst/>
                <a:latin typeface="Söhne"/>
              </a:rPr>
              <a:t>Otherwise:</a:t>
            </a:r>
            <a:endParaRPr kumimoji="0" lang="en-US" altLang="en-US" sz="1800" b="0" i="0" u="none" strike="noStrike" cap="none" normalizeH="0" baseline="0" dirty="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74151"/>
                </a:solidFill>
                <a:effectLst/>
                <a:latin typeface="Söhne"/>
              </a:rPr>
              <a:t>Traverse the list to find the last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74151"/>
                </a:solidFill>
                <a:effectLst/>
                <a:latin typeface="Söhne"/>
              </a:rPr>
              <a:t>Update the </a:t>
            </a:r>
            <a:r>
              <a:rPr kumimoji="0" lang="en-US" altLang="en-US" sz="2000" b="1" i="0" u="none" strike="noStrike" cap="none" normalizeH="0" baseline="0" dirty="0">
                <a:ln>
                  <a:noFill/>
                </a:ln>
                <a:solidFill>
                  <a:srgbClr val="374151"/>
                </a:solidFill>
                <a:effectLst/>
                <a:latin typeface="Söhne Mono"/>
              </a:rPr>
              <a:t>next</a:t>
            </a:r>
            <a:r>
              <a:rPr kumimoji="0" lang="en-US" altLang="en-US" sz="3600" b="1" i="0" u="none" strike="noStrike" cap="none" normalizeH="0" baseline="0" dirty="0">
                <a:ln>
                  <a:noFill/>
                </a:ln>
                <a:solidFill>
                  <a:srgbClr val="374151"/>
                </a:solidFill>
                <a:effectLst/>
                <a:latin typeface="Söhne Mono"/>
              </a:rPr>
              <a:t> </a:t>
            </a:r>
            <a:r>
              <a:rPr kumimoji="0" lang="en-US" altLang="en-US" sz="1800" b="0" i="0" u="none" strike="noStrike" cap="none" normalizeH="0" baseline="0" dirty="0">
                <a:ln>
                  <a:noFill/>
                </a:ln>
                <a:solidFill>
                  <a:srgbClr val="374151"/>
                </a:solidFill>
                <a:effectLst/>
                <a:latin typeface="Söhne"/>
              </a:rPr>
              <a:t>pointer of the last node to point to the second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374151"/>
                </a:solidFill>
                <a:effectLst/>
                <a:latin typeface="Söhne"/>
              </a:rPr>
              <a:t>Set the head to the next node of the current head.</a:t>
            </a:r>
            <a:endParaRPr lang="en-US" sz="3600" b="1" dirty="0"/>
          </a:p>
          <a:p>
            <a:endParaRPr lang="en-IN" b="1" dirty="0"/>
          </a:p>
        </p:txBody>
      </p:sp>
    </p:spTree>
    <p:extLst>
      <p:ext uri="{BB962C8B-B14F-4D97-AF65-F5344CB8AC3E}">
        <p14:creationId xmlns:p14="http://schemas.microsoft.com/office/powerpoint/2010/main" val="7357223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FC2B-9DEC-1374-687D-133FD7E3893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CA0C97F-84F6-F343-D9A0-D5E71711499F}"/>
              </a:ext>
            </a:extLst>
          </p:cNvPr>
          <p:cNvPicPr>
            <a:picLocks noGrp="1" noChangeAspect="1"/>
          </p:cNvPicPr>
          <p:nvPr>
            <p:ph idx="1"/>
          </p:nvPr>
        </p:nvPicPr>
        <p:blipFill>
          <a:blip r:embed="rId2"/>
          <a:stretch>
            <a:fillRect/>
          </a:stretch>
        </p:blipFill>
        <p:spPr>
          <a:xfrm>
            <a:off x="838200" y="1885686"/>
            <a:ext cx="7191551" cy="4368358"/>
          </a:xfrm>
        </p:spPr>
      </p:pic>
    </p:spTree>
    <p:extLst>
      <p:ext uri="{BB962C8B-B14F-4D97-AF65-F5344CB8AC3E}">
        <p14:creationId xmlns:p14="http://schemas.microsoft.com/office/powerpoint/2010/main" val="11545225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BABA5-0CE3-3F8A-87D1-2B7A3DC9B2E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88D7C9D-24F2-678B-945B-4FBFB7F64502}"/>
              </a:ext>
            </a:extLst>
          </p:cNvPr>
          <p:cNvSpPr>
            <a:spLocks noGrp="1"/>
          </p:cNvSpPr>
          <p:nvPr>
            <p:ph idx="1"/>
          </p:nvPr>
        </p:nvSpPr>
        <p:spPr/>
        <p:txBody>
          <a:bodyPr/>
          <a:lstStyle/>
          <a:p>
            <a:r>
              <a:rPr lang="en-US" dirty="0"/>
              <a:t>At the end</a:t>
            </a:r>
          </a:p>
          <a:p>
            <a:endParaRPr lang="en-IN" dirty="0"/>
          </a:p>
        </p:txBody>
      </p:sp>
      <p:sp>
        <p:nvSpPr>
          <p:cNvPr id="5" name="Rectangle 2">
            <a:extLst>
              <a:ext uri="{FF2B5EF4-FFF2-40B4-BE49-F238E27FC236}">
                <a16:creationId xmlns:a16="http://schemas.microsoft.com/office/drawing/2014/main" id="{9BB379D2-9553-EB5F-9C7A-C803E0B169D6}"/>
              </a:ext>
            </a:extLst>
          </p:cNvPr>
          <p:cNvSpPr>
            <a:spLocks noChangeArrowheads="1"/>
          </p:cNvSpPr>
          <p:nvPr/>
        </p:nvSpPr>
        <p:spPr bwMode="auto">
          <a:xfrm>
            <a:off x="998853" y="2284974"/>
            <a:ext cx="6640536" cy="3078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74151"/>
                </a:solidFill>
                <a:effectLst/>
                <a:latin typeface="Söhne"/>
              </a:rPr>
              <a:t>Algorithm:</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rgbClr val="374151"/>
                </a:solidFill>
                <a:effectLst/>
                <a:latin typeface="Söhne"/>
              </a:rPr>
              <a:t>Check if the list is empty. If true, print an error message and return.</a:t>
            </a:r>
            <a:endParaRPr kumimoji="0" lang="en-US" altLang="en-US" b="0" i="0" u="none" strike="noStrike" cap="none" normalizeH="0" baseline="0" dirty="0">
              <a:ln>
                <a:noFill/>
              </a:ln>
              <a:solidFill>
                <a:srgbClr val="374151"/>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rgbClr val="374151"/>
                </a:solidFill>
                <a:effectLst/>
                <a:latin typeface="Söhne"/>
              </a:rPr>
              <a:t>If the list has only one node:</a:t>
            </a:r>
            <a:endParaRPr kumimoji="0" lang="en-US" altLang="en-US" b="0" i="0" u="none" strike="noStrike" cap="none" normalizeH="0" baseline="0" dirty="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374151"/>
                </a:solidFill>
                <a:effectLst/>
                <a:latin typeface="Söhne"/>
              </a:rPr>
              <a:t>Set the head to null.</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rgbClr val="374151"/>
                </a:solidFill>
                <a:effectLst/>
                <a:latin typeface="Söhne"/>
              </a:rPr>
              <a:t>Otherwise:</a:t>
            </a:r>
            <a:endParaRPr kumimoji="0" lang="en-US" altLang="en-US" b="0" i="0" u="none" strike="noStrike" cap="none" normalizeH="0" baseline="0" dirty="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374151"/>
                </a:solidFill>
                <a:effectLst/>
                <a:latin typeface="Söhne"/>
              </a:rPr>
              <a:t>Traverse the list to find the node just before the last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374151"/>
                </a:solidFill>
                <a:effectLst/>
                <a:latin typeface="Söhne"/>
              </a:rPr>
              <a:t>Update the </a:t>
            </a:r>
            <a:r>
              <a:rPr kumimoji="0" lang="en-US" altLang="en-US" sz="2000" b="1" i="0" u="none" strike="noStrike" cap="none" normalizeH="0" baseline="0" dirty="0">
                <a:ln>
                  <a:noFill/>
                </a:ln>
                <a:solidFill>
                  <a:srgbClr val="374151"/>
                </a:solidFill>
                <a:effectLst/>
                <a:latin typeface="Söhne Mono"/>
              </a:rPr>
              <a:t>next</a:t>
            </a:r>
            <a:r>
              <a:rPr kumimoji="0" lang="en-US" altLang="en-US" b="0" i="0" u="none" strike="noStrike" cap="none" normalizeH="0" baseline="0" dirty="0">
                <a:ln>
                  <a:noFill/>
                </a:ln>
                <a:solidFill>
                  <a:srgbClr val="374151"/>
                </a:solidFill>
                <a:effectLst/>
                <a:latin typeface="Söhne"/>
              </a:rPr>
              <a:t> pointer of the found node to point to the head.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374151"/>
                </a:solidFill>
                <a:effectLst/>
                <a:latin typeface="Söhne"/>
              </a:rPr>
              <a:t>Update the head to be the node following the found node.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911237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B7581-12B3-257D-2B4E-77FC727DFBC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966BDE2-BA5F-0016-D142-3B737CF21440}"/>
              </a:ext>
            </a:extLst>
          </p:cNvPr>
          <p:cNvPicPr>
            <a:picLocks noGrp="1" noChangeAspect="1"/>
          </p:cNvPicPr>
          <p:nvPr>
            <p:ph idx="1"/>
          </p:nvPr>
        </p:nvPicPr>
        <p:blipFill>
          <a:blip r:embed="rId2"/>
          <a:stretch>
            <a:fillRect/>
          </a:stretch>
        </p:blipFill>
        <p:spPr>
          <a:xfrm>
            <a:off x="838200" y="1772356"/>
            <a:ext cx="7684206" cy="4323644"/>
          </a:xfrm>
        </p:spPr>
      </p:pic>
    </p:spTree>
    <p:extLst>
      <p:ext uri="{BB962C8B-B14F-4D97-AF65-F5344CB8AC3E}">
        <p14:creationId xmlns:p14="http://schemas.microsoft.com/office/powerpoint/2010/main" val="222512115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5064A-1503-F847-8247-1BCF312946E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438CD5-7C17-216D-9791-2208E68CF455}"/>
              </a:ext>
            </a:extLst>
          </p:cNvPr>
          <p:cNvSpPr>
            <a:spLocks noGrp="1"/>
          </p:cNvSpPr>
          <p:nvPr>
            <p:ph idx="1"/>
          </p:nvPr>
        </p:nvSpPr>
        <p:spPr/>
        <p:txBody>
          <a:bodyPr/>
          <a:lstStyle/>
          <a:p>
            <a:r>
              <a:rPr lang="en-US" dirty="0"/>
              <a:t>From the specified position</a:t>
            </a:r>
          </a:p>
          <a:p>
            <a:endParaRPr lang="en-IN" dirty="0"/>
          </a:p>
        </p:txBody>
      </p:sp>
      <p:sp>
        <p:nvSpPr>
          <p:cNvPr id="5" name="Rectangle 2">
            <a:extLst>
              <a:ext uri="{FF2B5EF4-FFF2-40B4-BE49-F238E27FC236}">
                <a16:creationId xmlns:a16="http://schemas.microsoft.com/office/drawing/2014/main" id="{6858BEA3-5A90-6028-25BC-A683CC003F9C}"/>
              </a:ext>
            </a:extLst>
          </p:cNvPr>
          <p:cNvSpPr>
            <a:spLocks noChangeArrowheads="1"/>
          </p:cNvSpPr>
          <p:nvPr/>
        </p:nvSpPr>
        <p:spPr bwMode="auto">
          <a:xfrm>
            <a:off x="745352" y="2452352"/>
            <a:ext cx="10872977" cy="3632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74151"/>
                </a:solidFill>
                <a:effectLst/>
                <a:latin typeface="Söhne"/>
              </a:rPr>
              <a:t>Algorithm:</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rgbClr val="374151"/>
                </a:solidFill>
                <a:effectLst/>
                <a:latin typeface="Söhne"/>
              </a:rPr>
              <a:t>Check if the list is empty. If true, print an error message and return.</a:t>
            </a:r>
            <a:endParaRPr kumimoji="0" lang="en-US" altLang="en-US" sz="2000" b="0" i="0" u="none" strike="noStrike" cap="none" normalizeH="0" baseline="0" dirty="0">
              <a:ln>
                <a:noFill/>
              </a:ln>
              <a:solidFill>
                <a:srgbClr val="374151"/>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rgbClr val="374151"/>
                </a:solidFill>
                <a:effectLst/>
                <a:latin typeface="Söhne"/>
              </a:rPr>
              <a:t>If the specified position is 0:</a:t>
            </a:r>
            <a:endParaRPr kumimoji="0" lang="en-US" altLang="en-US" sz="2000" b="0" i="0" u="none" strike="noStrike" cap="none" normalizeH="0" baseline="0" dirty="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74151"/>
                </a:solidFill>
                <a:effectLst/>
                <a:latin typeface="Söhne"/>
              </a:rPr>
              <a:t>If the list has only one node, set the head to null.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74151"/>
                </a:solidFill>
                <a:effectLst/>
                <a:latin typeface="Söhne"/>
              </a:rPr>
              <a:t>Otherwise, find the last node, update its </a:t>
            </a:r>
            <a:r>
              <a:rPr kumimoji="0" lang="en-US" altLang="en-US" sz="2000" b="1" i="0" u="none" strike="noStrike" cap="none" normalizeH="0" baseline="0" dirty="0">
                <a:ln>
                  <a:noFill/>
                </a:ln>
                <a:solidFill>
                  <a:srgbClr val="374151"/>
                </a:solidFill>
                <a:effectLst/>
                <a:latin typeface="Söhne Mono"/>
              </a:rPr>
              <a:t>next</a:t>
            </a:r>
            <a:r>
              <a:rPr kumimoji="0" lang="en-US" altLang="en-US" sz="2000" b="0" i="0" u="none" strike="noStrike" cap="none" normalizeH="0" baseline="0" dirty="0">
                <a:ln>
                  <a:noFill/>
                </a:ln>
                <a:solidFill>
                  <a:srgbClr val="374151"/>
                </a:solidFill>
                <a:effectLst/>
                <a:latin typeface="Söhne"/>
              </a:rPr>
              <a:t> pointer, and set the head to the next node.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a:ln>
                  <a:noFill/>
                </a:ln>
                <a:solidFill>
                  <a:srgbClr val="374151"/>
                </a:solidFill>
                <a:effectLst/>
                <a:latin typeface="Söhne"/>
              </a:rPr>
              <a:t>Otherwise:</a:t>
            </a:r>
            <a:endParaRPr kumimoji="0" lang="en-US" altLang="en-US" sz="2000" b="0" i="0" u="none" strike="noStrike" cap="none" normalizeH="0" baseline="0" dirty="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74151"/>
                </a:solidFill>
                <a:effectLst/>
                <a:latin typeface="Söhne"/>
              </a:rPr>
              <a:t>Traverse the list to find the node at the specified position - 1.</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74151"/>
                </a:solidFill>
                <a:effectLst/>
                <a:latin typeface="Söhne"/>
              </a:rPr>
              <a:t>If the traversal reaches the head, print an error message as the position exceeds the size of the list.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74151"/>
                </a:solidFill>
                <a:effectLst/>
                <a:latin typeface="Söhne"/>
              </a:rPr>
              <a:t>Update the </a:t>
            </a:r>
            <a:r>
              <a:rPr kumimoji="0" lang="en-US" altLang="en-US" sz="2400" b="1" i="0" u="none" strike="noStrike" cap="none" normalizeH="0" baseline="0" dirty="0">
                <a:ln>
                  <a:noFill/>
                </a:ln>
                <a:solidFill>
                  <a:srgbClr val="374151"/>
                </a:solidFill>
                <a:effectLst/>
                <a:latin typeface="Söhne Mono"/>
              </a:rPr>
              <a:t>next</a:t>
            </a:r>
            <a:r>
              <a:rPr kumimoji="0" lang="en-US" altLang="en-US" sz="1600" b="0" i="0" u="none" strike="noStrike" cap="none" normalizeH="0" baseline="0" dirty="0">
                <a:ln>
                  <a:noFill/>
                </a:ln>
                <a:solidFill>
                  <a:srgbClr val="374151"/>
                </a:solidFill>
                <a:effectLst/>
                <a:latin typeface="Söhne"/>
              </a:rPr>
              <a:t> </a:t>
            </a:r>
            <a:r>
              <a:rPr kumimoji="0" lang="en-US" altLang="en-US" sz="2000" b="0" i="0" u="none" strike="noStrike" cap="none" normalizeH="0" baseline="0" dirty="0">
                <a:ln>
                  <a:noFill/>
                </a:ln>
                <a:solidFill>
                  <a:srgbClr val="374151"/>
                </a:solidFill>
                <a:effectLst/>
                <a:latin typeface="Söhne"/>
              </a:rPr>
              <a:t>pointer of the found node to skip the node at the specified position.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902782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3548B-98CB-8519-73F7-5F110938B10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A3EF9A9-80AB-39E4-13CE-4BE08379B963}"/>
              </a:ext>
            </a:extLst>
          </p:cNvPr>
          <p:cNvPicPr>
            <a:picLocks noGrp="1" noChangeAspect="1"/>
          </p:cNvPicPr>
          <p:nvPr>
            <p:ph idx="1"/>
          </p:nvPr>
        </p:nvPicPr>
        <p:blipFill>
          <a:blip r:embed="rId2"/>
          <a:stretch>
            <a:fillRect/>
          </a:stretch>
        </p:blipFill>
        <p:spPr>
          <a:xfrm>
            <a:off x="838200" y="1806222"/>
            <a:ext cx="7757936" cy="4504267"/>
          </a:xfrm>
        </p:spPr>
      </p:pic>
    </p:spTree>
    <p:extLst>
      <p:ext uri="{BB962C8B-B14F-4D97-AF65-F5344CB8AC3E}">
        <p14:creationId xmlns:p14="http://schemas.microsoft.com/office/powerpoint/2010/main" val="27325561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8E01D-919A-E727-8C7D-4440DA56FEE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75F17D2-CDBC-F742-42CD-148715865C69}"/>
              </a:ext>
            </a:extLst>
          </p:cNvPr>
          <p:cNvPicPr>
            <a:picLocks noGrp="1" noChangeAspect="1"/>
          </p:cNvPicPr>
          <p:nvPr>
            <p:ph idx="1"/>
          </p:nvPr>
        </p:nvPicPr>
        <p:blipFill>
          <a:blip r:embed="rId2"/>
          <a:stretch>
            <a:fillRect/>
          </a:stretch>
        </p:blipFill>
        <p:spPr>
          <a:xfrm>
            <a:off x="970844" y="1952978"/>
            <a:ext cx="8284633" cy="4222044"/>
          </a:xfrm>
        </p:spPr>
      </p:pic>
    </p:spTree>
    <p:extLst>
      <p:ext uri="{BB962C8B-B14F-4D97-AF65-F5344CB8AC3E}">
        <p14:creationId xmlns:p14="http://schemas.microsoft.com/office/powerpoint/2010/main" val="37042012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D06AD-3D7F-1F3B-A421-6D200CEE6BA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3885FEF-DBCC-6DE1-3301-2265249787D1}"/>
              </a:ext>
            </a:extLst>
          </p:cNvPr>
          <p:cNvSpPr>
            <a:spLocks noGrp="1"/>
          </p:cNvSpPr>
          <p:nvPr>
            <p:ph idx="1"/>
          </p:nvPr>
        </p:nvSpPr>
        <p:spPr/>
        <p:txBody>
          <a:bodyPr>
            <a:normAutofit/>
          </a:bodyPr>
          <a:lstStyle/>
          <a:p>
            <a:r>
              <a:rPr lang="en-US" sz="3200" b="1" dirty="0"/>
              <a:t>Operations on doubly circular linked list</a:t>
            </a:r>
          </a:p>
          <a:p>
            <a:r>
              <a:rPr lang="en-US" sz="2000" b="1" dirty="0"/>
              <a:t>Insertion at beginning</a:t>
            </a:r>
          </a:p>
          <a:p>
            <a:endParaRPr lang="en-US" sz="2000" b="1" dirty="0"/>
          </a:p>
          <a:p>
            <a:endParaRPr lang="en-US" sz="2000" b="1" dirty="0"/>
          </a:p>
          <a:p>
            <a:endParaRPr lang="en-IN" sz="3200" b="1" dirty="0"/>
          </a:p>
        </p:txBody>
      </p:sp>
      <p:sp>
        <p:nvSpPr>
          <p:cNvPr id="5" name="Rectangle 2">
            <a:extLst>
              <a:ext uri="{FF2B5EF4-FFF2-40B4-BE49-F238E27FC236}">
                <a16:creationId xmlns:a16="http://schemas.microsoft.com/office/drawing/2014/main" id="{DC4A6F77-EEBB-FE7A-8003-4097EAD80D4E}"/>
              </a:ext>
            </a:extLst>
          </p:cNvPr>
          <p:cNvSpPr>
            <a:spLocks noChangeArrowheads="1"/>
          </p:cNvSpPr>
          <p:nvPr/>
        </p:nvSpPr>
        <p:spPr bwMode="auto">
          <a:xfrm>
            <a:off x="1064585" y="2491265"/>
            <a:ext cx="6990760" cy="400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374151"/>
                </a:solidFill>
                <a:effectLst/>
                <a:latin typeface="Söhne"/>
              </a:rPr>
              <a:t>Algorithm:</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rgbClr val="374151"/>
                </a:solidFill>
                <a:effectLst/>
                <a:latin typeface="Söhne"/>
              </a:rPr>
              <a:t>Create a new node with the given data.</a:t>
            </a:r>
            <a:endParaRPr kumimoji="0" lang="en-US" altLang="en-US" sz="1600" b="0" i="0" u="none" strike="noStrike" cap="none" normalizeH="0" baseline="0" dirty="0">
              <a:ln>
                <a:noFill/>
              </a:ln>
              <a:solidFill>
                <a:srgbClr val="374151"/>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rgbClr val="374151"/>
                </a:solidFill>
                <a:effectLst/>
                <a:latin typeface="Söhne"/>
              </a:rPr>
              <a:t>If the list is empty:</a:t>
            </a:r>
            <a:endParaRPr kumimoji="0" lang="en-US" altLang="en-US" sz="1600" b="0" i="0" u="none" strike="noStrike" cap="none" normalizeH="0" baseline="0" dirty="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Set the </a:t>
            </a:r>
            <a:r>
              <a:rPr kumimoji="0" lang="en-US" altLang="en-US" sz="2400" b="1" i="0" u="none" strike="noStrike" cap="none" normalizeH="0" baseline="0" dirty="0">
                <a:ln>
                  <a:noFill/>
                </a:ln>
                <a:solidFill>
                  <a:srgbClr val="374151"/>
                </a:solidFill>
                <a:effectLst/>
                <a:latin typeface="Söhne Mono"/>
              </a:rPr>
              <a:t>next</a:t>
            </a:r>
            <a:r>
              <a:rPr kumimoji="0" lang="en-US" altLang="en-US" sz="1600" b="0" i="0" u="none" strike="noStrike" cap="none" normalizeH="0" baseline="0" dirty="0">
                <a:ln>
                  <a:noFill/>
                </a:ln>
                <a:solidFill>
                  <a:srgbClr val="374151"/>
                </a:solidFill>
                <a:effectLst/>
                <a:latin typeface="Söhne"/>
              </a:rPr>
              <a:t> and </a:t>
            </a:r>
            <a:r>
              <a:rPr kumimoji="0" lang="en-US" altLang="en-US" sz="2400" b="1" i="0" u="none" strike="noStrike" cap="none" normalizeH="0" baseline="0" dirty="0">
                <a:ln>
                  <a:noFill/>
                </a:ln>
                <a:solidFill>
                  <a:srgbClr val="374151"/>
                </a:solidFill>
                <a:effectLst/>
                <a:latin typeface="Söhne Mono"/>
              </a:rPr>
              <a:t>previous</a:t>
            </a:r>
            <a:r>
              <a:rPr kumimoji="0" lang="en-US" altLang="en-US" sz="1600" b="0" i="0" u="none" strike="noStrike" cap="none" normalizeH="0" baseline="0" dirty="0">
                <a:ln>
                  <a:noFill/>
                </a:ln>
                <a:solidFill>
                  <a:srgbClr val="374151"/>
                </a:solidFill>
                <a:effectLst/>
                <a:latin typeface="Söhne"/>
              </a:rPr>
              <a:t> pointers of the new node to itself.</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Set the head and tail to the new node.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rgbClr val="374151"/>
                </a:solidFill>
                <a:effectLst/>
                <a:latin typeface="Söhne"/>
              </a:rPr>
              <a:t>If the list is not empty:</a:t>
            </a:r>
            <a:endParaRPr kumimoji="0" lang="en-US" altLang="en-US" sz="1600" b="0" i="0" u="none" strike="noStrike" cap="none" normalizeH="0" baseline="0" dirty="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Set the </a:t>
            </a:r>
            <a:r>
              <a:rPr kumimoji="0" lang="en-US" altLang="en-US" sz="2400" b="1" i="0" u="none" strike="noStrike" cap="none" normalizeH="0" baseline="0" dirty="0">
                <a:ln>
                  <a:noFill/>
                </a:ln>
                <a:solidFill>
                  <a:srgbClr val="374151"/>
                </a:solidFill>
                <a:effectLst/>
                <a:latin typeface="Söhne Mono"/>
              </a:rPr>
              <a:t>next</a:t>
            </a:r>
            <a:r>
              <a:rPr kumimoji="0" lang="en-US" altLang="en-US" sz="1600" b="0" i="0" u="none" strike="noStrike" cap="none" normalizeH="0" baseline="0" dirty="0">
                <a:ln>
                  <a:noFill/>
                </a:ln>
                <a:solidFill>
                  <a:srgbClr val="374151"/>
                </a:solidFill>
                <a:effectLst/>
                <a:latin typeface="Söhne"/>
              </a:rPr>
              <a:t> pointer of the new node to the current head.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Set the </a:t>
            </a:r>
            <a:r>
              <a:rPr kumimoji="0" lang="en-US" altLang="en-US" sz="2400" b="1" i="0" u="none" strike="noStrike" cap="none" normalizeH="0" baseline="0" dirty="0">
                <a:ln>
                  <a:noFill/>
                </a:ln>
                <a:solidFill>
                  <a:srgbClr val="374151"/>
                </a:solidFill>
                <a:effectLst/>
                <a:latin typeface="Söhne Mono"/>
              </a:rPr>
              <a:t>previous</a:t>
            </a:r>
            <a:r>
              <a:rPr kumimoji="0" lang="en-US" altLang="en-US" sz="1600" b="0" i="0" u="none" strike="noStrike" cap="none" normalizeH="0" baseline="0" dirty="0">
                <a:ln>
                  <a:noFill/>
                </a:ln>
                <a:solidFill>
                  <a:srgbClr val="374151"/>
                </a:solidFill>
                <a:effectLst/>
                <a:latin typeface="Söhne"/>
              </a:rPr>
              <a:t> pointer of the new node to the current tail.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Update the </a:t>
            </a:r>
            <a:r>
              <a:rPr kumimoji="0" lang="en-US" altLang="en-US" sz="2400" b="1" i="0" u="none" strike="noStrike" cap="none" normalizeH="0" baseline="0" dirty="0">
                <a:ln>
                  <a:noFill/>
                </a:ln>
                <a:solidFill>
                  <a:srgbClr val="374151"/>
                </a:solidFill>
                <a:effectLst/>
                <a:latin typeface="Söhne Mono"/>
              </a:rPr>
              <a:t>next</a:t>
            </a:r>
            <a:r>
              <a:rPr kumimoji="0" lang="en-US" altLang="en-US" sz="1600" b="0" i="0" u="none" strike="noStrike" cap="none" normalizeH="0" baseline="0" dirty="0">
                <a:ln>
                  <a:noFill/>
                </a:ln>
                <a:solidFill>
                  <a:srgbClr val="374151"/>
                </a:solidFill>
                <a:effectLst/>
                <a:latin typeface="Söhne"/>
              </a:rPr>
              <a:t> pointer of the current head to point to the new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Update the </a:t>
            </a:r>
            <a:r>
              <a:rPr kumimoji="0" lang="en-US" altLang="en-US" sz="2400" b="1" i="0" u="none" strike="noStrike" cap="none" normalizeH="0" baseline="0" dirty="0">
                <a:ln>
                  <a:noFill/>
                </a:ln>
                <a:solidFill>
                  <a:srgbClr val="374151"/>
                </a:solidFill>
                <a:effectLst/>
                <a:latin typeface="Söhne Mono"/>
              </a:rPr>
              <a:t>previous</a:t>
            </a:r>
            <a:r>
              <a:rPr kumimoji="0" lang="en-US" altLang="en-US" sz="1600" b="0" i="0" u="none" strike="noStrike" cap="none" normalizeH="0" baseline="0" dirty="0">
                <a:ln>
                  <a:noFill/>
                </a:ln>
                <a:solidFill>
                  <a:srgbClr val="374151"/>
                </a:solidFill>
                <a:effectLst/>
                <a:latin typeface="Söhne"/>
              </a:rPr>
              <a:t> pointer of the current tail to point to the new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Set the head to the new node.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6629550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25CC6-3DD2-9CE6-DC1A-CBB0F29340E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BBCE395-DA33-0A52-67E6-D678ECFD4172}"/>
              </a:ext>
            </a:extLst>
          </p:cNvPr>
          <p:cNvPicPr>
            <a:picLocks noGrp="1" noChangeAspect="1"/>
          </p:cNvPicPr>
          <p:nvPr>
            <p:ph idx="1"/>
          </p:nvPr>
        </p:nvPicPr>
        <p:blipFill>
          <a:blip r:embed="rId2"/>
          <a:stretch>
            <a:fillRect/>
          </a:stretch>
        </p:blipFill>
        <p:spPr>
          <a:xfrm>
            <a:off x="838200" y="1690689"/>
            <a:ext cx="6199717" cy="4802186"/>
          </a:xfrm>
        </p:spPr>
      </p:pic>
    </p:spTree>
    <p:extLst>
      <p:ext uri="{BB962C8B-B14F-4D97-AF65-F5344CB8AC3E}">
        <p14:creationId xmlns:p14="http://schemas.microsoft.com/office/powerpoint/2010/main" val="41102735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24FE-4F54-6B84-10DF-87E170AA932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38CF4F9-F715-6F22-B914-CD632CB53D3A}"/>
              </a:ext>
            </a:extLst>
          </p:cNvPr>
          <p:cNvSpPr>
            <a:spLocks noGrp="1"/>
          </p:cNvSpPr>
          <p:nvPr>
            <p:ph idx="1"/>
          </p:nvPr>
        </p:nvSpPr>
        <p:spPr/>
        <p:txBody>
          <a:bodyPr/>
          <a:lstStyle/>
          <a:p>
            <a:r>
              <a:rPr lang="en-US" b="1" dirty="0"/>
              <a:t>Insertion at the end </a:t>
            </a:r>
          </a:p>
          <a:p>
            <a:endParaRPr lang="en-IN" b="1" dirty="0"/>
          </a:p>
        </p:txBody>
      </p:sp>
      <p:sp>
        <p:nvSpPr>
          <p:cNvPr id="4" name="Rectangle 1">
            <a:extLst>
              <a:ext uri="{FF2B5EF4-FFF2-40B4-BE49-F238E27FC236}">
                <a16:creationId xmlns:a16="http://schemas.microsoft.com/office/drawing/2014/main" id="{02F45FEE-4480-3550-6B24-29A91EF6D4A9}"/>
              </a:ext>
            </a:extLst>
          </p:cNvPr>
          <p:cNvSpPr>
            <a:spLocks noChangeArrowheads="1"/>
          </p:cNvSpPr>
          <p:nvPr/>
        </p:nvSpPr>
        <p:spPr bwMode="auto">
          <a:xfrm>
            <a:off x="1027289" y="2206130"/>
            <a:ext cx="6575646" cy="3970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374151"/>
                </a:solidFill>
                <a:effectLst/>
                <a:latin typeface="Söhne"/>
              </a:rPr>
              <a:t>Algorithm:</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rgbClr val="374151"/>
                </a:solidFill>
                <a:effectLst/>
                <a:latin typeface="Söhne"/>
              </a:rPr>
              <a:t>Create a new node with the given data.</a:t>
            </a:r>
            <a:endParaRPr kumimoji="0" lang="en-US" altLang="en-US" sz="1600" b="0" i="0" u="none" strike="noStrike" cap="none" normalizeH="0" baseline="0" dirty="0">
              <a:ln>
                <a:noFill/>
              </a:ln>
              <a:solidFill>
                <a:srgbClr val="374151"/>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rgbClr val="374151"/>
                </a:solidFill>
                <a:effectLst/>
                <a:latin typeface="Söhne"/>
              </a:rPr>
              <a:t>If the list is empty:</a:t>
            </a:r>
            <a:endParaRPr kumimoji="0" lang="en-US" altLang="en-US" sz="1600" b="0" i="0" u="none" strike="noStrike" cap="none" normalizeH="0" baseline="0" dirty="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Set both the </a:t>
            </a:r>
            <a:r>
              <a:rPr kumimoji="0" lang="en-US" altLang="en-US" sz="2400" b="1" i="0" u="none" strike="noStrike" cap="none" normalizeH="0" baseline="0" dirty="0">
                <a:ln>
                  <a:noFill/>
                </a:ln>
                <a:solidFill>
                  <a:srgbClr val="374151"/>
                </a:solidFill>
                <a:effectLst/>
                <a:latin typeface="Söhne Mono"/>
              </a:rPr>
              <a:t>next</a:t>
            </a:r>
            <a:r>
              <a:rPr kumimoji="0" lang="en-US" altLang="en-US" sz="1600" b="0" i="0" u="none" strike="noStrike" cap="none" normalizeH="0" baseline="0" dirty="0">
                <a:ln>
                  <a:noFill/>
                </a:ln>
                <a:solidFill>
                  <a:srgbClr val="374151"/>
                </a:solidFill>
                <a:effectLst/>
                <a:latin typeface="Söhne"/>
              </a:rPr>
              <a:t> and </a:t>
            </a:r>
            <a:r>
              <a:rPr kumimoji="0" lang="en-US" altLang="en-US" sz="2400" b="1" i="0" u="none" strike="noStrike" cap="none" normalizeH="0" baseline="0" dirty="0">
                <a:ln>
                  <a:noFill/>
                </a:ln>
                <a:solidFill>
                  <a:srgbClr val="374151"/>
                </a:solidFill>
                <a:effectLst/>
                <a:latin typeface="Söhne Mono"/>
              </a:rPr>
              <a:t>previous</a:t>
            </a:r>
            <a:r>
              <a:rPr kumimoji="0" lang="en-US" altLang="en-US" sz="1600" b="0" i="0" u="none" strike="noStrike" cap="none" normalizeH="0" baseline="0" dirty="0">
                <a:ln>
                  <a:noFill/>
                </a:ln>
                <a:solidFill>
                  <a:srgbClr val="374151"/>
                </a:solidFill>
                <a:effectLst/>
                <a:latin typeface="Söhne"/>
              </a:rPr>
              <a:t> pointers of the new node to itself.</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Set the head and tail to the new node.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rgbClr val="374151"/>
                </a:solidFill>
                <a:effectLst/>
                <a:latin typeface="Söhne"/>
              </a:rPr>
              <a:t>If the list is not empty:</a:t>
            </a:r>
            <a:endParaRPr kumimoji="0" lang="en-US" altLang="en-US" sz="1600" b="0" i="0" u="none" strike="noStrike" cap="none" normalizeH="0" baseline="0" dirty="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Set the </a:t>
            </a:r>
            <a:r>
              <a:rPr kumimoji="0" lang="en-US" altLang="en-US" sz="2400" b="1" i="0" u="none" strike="noStrike" cap="none" normalizeH="0" baseline="0" dirty="0">
                <a:ln>
                  <a:noFill/>
                </a:ln>
                <a:solidFill>
                  <a:srgbClr val="374151"/>
                </a:solidFill>
                <a:effectLst/>
                <a:latin typeface="Söhne Mono"/>
              </a:rPr>
              <a:t>next</a:t>
            </a:r>
            <a:r>
              <a:rPr kumimoji="0" lang="en-US" altLang="en-US" sz="1600" b="0" i="0" u="none" strike="noStrike" cap="none" normalizeH="0" baseline="0" dirty="0">
                <a:ln>
                  <a:noFill/>
                </a:ln>
                <a:solidFill>
                  <a:srgbClr val="374151"/>
                </a:solidFill>
                <a:effectLst/>
                <a:latin typeface="Söhne"/>
              </a:rPr>
              <a:t> pointer of the new node to the head.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Set the </a:t>
            </a:r>
            <a:r>
              <a:rPr kumimoji="0" lang="en-US" altLang="en-US" sz="2400" b="1" i="0" u="none" strike="noStrike" cap="none" normalizeH="0" baseline="0" dirty="0">
                <a:ln>
                  <a:noFill/>
                </a:ln>
                <a:solidFill>
                  <a:srgbClr val="374151"/>
                </a:solidFill>
                <a:effectLst/>
                <a:latin typeface="Söhne Mono"/>
              </a:rPr>
              <a:t>previous</a:t>
            </a:r>
            <a:r>
              <a:rPr kumimoji="0" lang="en-US" altLang="en-US" sz="1600" b="0" i="0" u="none" strike="noStrike" cap="none" normalizeH="0" baseline="0" dirty="0">
                <a:ln>
                  <a:noFill/>
                </a:ln>
                <a:solidFill>
                  <a:srgbClr val="374151"/>
                </a:solidFill>
                <a:effectLst/>
                <a:latin typeface="Söhne"/>
              </a:rPr>
              <a:t> pointer of the new node to the current tail.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Update the </a:t>
            </a:r>
            <a:r>
              <a:rPr kumimoji="0" lang="en-US" altLang="en-US" sz="2400" b="1" i="0" u="none" strike="noStrike" cap="none" normalizeH="0" baseline="0" dirty="0">
                <a:ln>
                  <a:noFill/>
                </a:ln>
                <a:solidFill>
                  <a:srgbClr val="374151"/>
                </a:solidFill>
                <a:effectLst/>
                <a:latin typeface="Söhne Mono"/>
              </a:rPr>
              <a:t>next</a:t>
            </a:r>
            <a:r>
              <a:rPr kumimoji="0" lang="en-US" altLang="en-US" sz="1600" b="0" i="0" u="none" strike="noStrike" cap="none" normalizeH="0" baseline="0" dirty="0">
                <a:ln>
                  <a:noFill/>
                </a:ln>
                <a:solidFill>
                  <a:srgbClr val="374151"/>
                </a:solidFill>
                <a:effectLst/>
                <a:latin typeface="Söhne"/>
              </a:rPr>
              <a:t> pointer of the current tail to point to the new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Update the </a:t>
            </a:r>
            <a:r>
              <a:rPr kumimoji="0" lang="en-US" altLang="en-US" sz="2400" b="1" i="0" u="none" strike="noStrike" cap="none" normalizeH="0" baseline="0" dirty="0">
                <a:ln>
                  <a:noFill/>
                </a:ln>
                <a:solidFill>
                  <a:srgbClr val="374151"/>
                </a:solidFill>
                <a:effectLst/>
                <a:latin typeface="Söhne Mono"/>
              </a:rPr>
              <a:t>previous</a:t>
            </a:r>
            <a:r>
              <a:rPr kumimoji="0" lang="en-US" altLang="en-US" sz="1600" b="0" i="0" u="none" strike="noStrike" cap="none" normalizeH="0" baseline="0" dirty="0">
                <a:ln>
                  <a:noFill/>
                </a:ln>
                <a:solidFill>
                  <a:srgbClr val="374151"/>
                </a:solidFill>
                <a:effectLst/>
                <a:latin typeface="Söhne"/>
              </a:rPr>
              <a:t> pointer of the head to point to the new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Update the tail to the new node.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3220993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0D041-6CC3-7FC8-3822-F17F648B429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5244981-EA2C-30C0-1890-3C577E47C94C}"/>
              </a:ext>
            </a:extLst>
          </p:cNvPr>
          <p:cNvPicPr>
            <a:picLocks noGrp="1" noChangeAspect="1"/>
          </p:cNvPicPr>
          <p:nvPr>
            <p:ph idx="1"/>
          </p:nvPr>
        </p:nvPicPr>
        <p:blipFill>
          <a:blip r:embed="rId2"/>
          <a:stretch>
            <a:fillRect/>
          </a:stretch>
        </p:blipFill>
        <p:spPr>
          <a:xfrm>
            <a:off x="838200" y="1690688"/>
            <a:ext cx="5586941" cy="4439179"/>
          </a:xfrm>
        </p:spPr>
      </p:pic>
    </p:spTree>
    <p:extLst>
      <p:ext uri="{BB962C8B-B14F-4D97-AF65-F5344CB8AC3E}">
        <p14:creationId xmlns:p14="http://schemas.microsoft.com/office/powerpoint/2010/main" val="63406332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C2C0-15BF-CAA4-A607-A6DCC67724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5C0CC47-F56E-6AF6-9CAE-19F17F83AD50}"/>
              </a:ext>
            </a:extLst>
          </p:cNvPr>
          <p:cNvSpPr>
            <a:spLocks noGrp="1"/>
          </p:cNvSpPr>
          <p:nvPr>
            <p:ph idx="1"/>
          </p:nvPr>
        </p:nvSpPr>
        <p:spPr/>
        <p:txBody>
          <a:bodyPr/>
          <a:lstStyle/>
          <a:p>
            <a:r>
              <a:rPr lang="en-US" dirty="0"/>
              <a:t>Insertion at the specified position</a:t>
            </a:r>
          </a:p>
          <a:p>
            <a:endParaRPr lang="en-IN" dirty="0"/>
          </a:p>
        </p:txBody>
      </p:sp>
      <p:sp>
        <p:nvSpPr>
          <p:cNvPr id="4" name="Rectangle 1">
            <a:extLst>
              <a:ext uri="{FF2B5EF4-FFF2-40B4-BE49-F238E27FC236}">
                <a16:creationId xmlns:a16="http://schemas.microsoft.com/office/drawing/2014/main" id="{7D700166-1DC7-BD36-2E27-88F83B97D80D}"/>
              </a:ext>
            </a:extLst>
          </p:cNvPr>
          <p:cNvSpPr>
            <a:spLocks noChangeArrowheads="1"/>
          </p:cNvSpPr>
          <p:nvPr/>
        </p:nvSpPr>
        <p:spPr bwMode="auto">
          <a:xfrm>
            <a:off x="1128888" y="430106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374151"/>
                </a:solidFill>
                <a:effectLst/>
                <a:latin typeface="Söhne"/>
              </a:rPr>
              <a:t>Algorithm:</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1" i="0" u="none" strike="noStrike" cap="none" normalizeH="0" baseline="0">
                <a:ln>
                  <a:noFill/>
                </a:ln>
                <a:solidFill>
                  <a:srgbClr val="374151"/>
                </a:solidFill>
                <a:effectLst/>
                <a:latin typeface="Söhne"/>
              </a:rPr>
              <a:t>Create a new node with the given data.</a:t>
            </a:r>
            <a:endParaRPr kumimoji="0" lang="en-US" altLang="en-US" sz="1200" b="0" i="0" u="none" strike="noStrike" cap="none" normalizeH="0" baseline="0">
              <a:ln>
                <a:noFill/>
              </a:ln>
              <a:solidFill>
                <a:srgbClr val="374151"/>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1" i="0" u="none" strike="noStrike" cap="none" normalizeH="0" baseline="0">
                <a:ln>
                  <a:noFill/>
                </a:ln>
                <a:solidFill>
                  <a:srgbClr val="374151"/>
                </a:solidFill>
                <a:effectLst/>
                <a:latin typeface="Söhne"/>
              </a:rPr>
              <a:t>If the list is empty:</a:t>
            </a:r>
            <a:endParaRPr kumimoji="0" lang="en-US" altLang="en-US" sz="1200" b="0" i="0" u="none" strike="noStrike" cap="none" normalizeH="0" baseline="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374151"/>
                </a:solidFill>
                <a:effectLst/>
                <a:latin typeface="Söhne"/>
              </a:rPr>
              <a:t>Set both the </a:t>
            </a:r>
            <a:r>
              <a:rPr kumimoji="0" lang="en-US" altLang="en-US" b="1" i="0" u="none" strike="noStrike" cap="none" normalizeH="0" baseline="0">
                <a:ln>
                  <a:noFill/>
                </a:ln>
                <a:solidFill>
                  <a:srgbClr val="374151"/>
                </a:solidFill>
                <a:effectLst/>
                <a:latin typeface="Söhne Mono"/>
              </a:rPr>
              <a:t>next</a:t>
            </a:r>
            <a:r>
              <a:rPr kumimoji="0" lang="en-US" altLang="en-US" sz="1200" b="0" i="0" u="none" strike="noStrike" cap="none" normalizeH="0" baseline="0">
                <a:ln>
                  <a:noFill/>
                </a:ln>
                <a:solidFill>
                  <a:srgbClr val="374151"/>
                </a:solidFill>
                <a:effectLst/>
                <a:latin typeface="Söhne"/>
              </a:rPr>
              <a:t> and </a:t>
            </a:r>
            <a:r>
              <a:rPr kumimoji="0" lang="en-US" altLang="en-US" b="1" i="0" u="none" strike="noStrike" cap="none" normalizeH="0" baseline="0">
                <a:ln>
                  <a:noFill/>
                </a:ln>
                <a:solidFill>
                  <a:srgbClr val="374151"/>
                </a:solidFill>
                <a:effectLst/>
                <a:latin typeface="Söhne Mono"/>
              </a:rPr>
              <a:t>previous</a:t>
            </a:r>
            <a:r>
              <a:rPr kumimoji="0" lang="en-US" altLang="en-US" sz="1200" b="0" i="0" u="none" strike="noStrike" cap="none" normalizeH="0" baseline="0">
                <a:ln>
                  <a:noFill/>
                </a:ln>
                <a:solidFill>
                  <a:srgbClr val="374151"/>
                </a:solidFill>
                <a:effectLst/>
                <a:latin typeface="Söhne"/>
              </a:rPr>
              <a:t> pointers of the new node to itself.</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374151"/>
                </a:solidFill>
                <a:effectLst/>
                <a:latin typeface="Söhne"/>
              </a:rPr>
              <a:t>Set the head and tail to the new node.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1" i="0" u="none" strike="noStrike" cap="none" normalizeH="0" baseline="0">
                <a:ln>
                  <a:noFill/>
                </a:ln>
                <a:solidFill>
                  <a:srgbClr val="374151"/>
                </a:solidFill>
                <a:effectLst/>
                <a:latin typeface="Söhne"/>
              </a:rPr>
              <a:t>If the specified position is 0:</a:t>
            </a:r>
            <a:endParaRPr kumimoji="0" lang="en-US" altLang="en-US" sz="1200" b="0" i="0" u="none" strike="noStrike" cap="none" normalizeH="0" baseline="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374151"/>
                </a:solidFill>
                <a:effectLst/>
                <a:latin typeface="Söhne"/>
              </a:rPr>
              <a:t>If the list has only one node, set the head and tail to the new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374151"/>
                </a:solidFill>
                <a:effectLst/>
                <a:latin typeface="Söhne"/>
              </a:rPr>
              <a:t>Otherwise, set the </a:t>
            </a:r>
            <a:r>
              <a:rPr kumimoji="0" lang="en-US" altLang="en-US" b="1" i="0" u="none" strike="noStrike" cap="none" normalizeH="0" baseline="0">
                <a:ln>
                  <a:noFill/>
                </a:ln>
                <a:solidFill>
                  <a:srgbClr val="374151"/>
                </a:solidFill>
                <a:effectLst/>
                <a:latin typeface="Söhne Mono"/>
              </a:rPr>
              <a:t>next</a:t>
            </a:r>
            <a:r>
              <a:rPr kumimoji="0" lang="en-US" altLang="en-US" sz="1200" b="0" i="0" u="none" strike="noStrike" cap="none" normalizeH="0" baseline="0">
                <a:ln>
                  <a:noFill/>
                </a:ln>
                <a:solidFill>
                  <a:srgbClr val="374151"/>
                </a:solidFill>
                <a:effectLst/>
                <a:latin typeface="Söhne"/>
              </a:rPr>
              <a:t> pointer of the new node to the head.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374151"/>
                </a:solidFill>
                <a:effectLst/>
                <a:latin typeface="Söhne"/>
              </a:rPr>
              <a:t>Set the </a:t>
            </a:r>
            <a:r>
              <a:rPr kumimoji="0" lang="en-US" altLang="en-US" b="1" i="0" u="none" strike="noStrike" cap="none" normalizeH="0" baseline="0">
                <a:ln>
                  <a:noFill/>
                </a:ln>
                <a:solidFill>
                  <a:srgbClr val="374151"/>
                </a:solidFill>
                <a:effectLst/>
                <a:latin typeface="Söhne Mono"/>
              </a:rPr>
              <a:t>previous</a:t>
            </a:r>
            <a:r>
              <a:rPr kumimoji="0" lang="en-US" altLang="en-US" sz="1200" b="0" i="0" u="none" strike="noStrike" cap="none" normalizeH="0" baseline="0">
                <a:ln>
                  <a:noFill/>
                </a:ln>
                <a:solidFill>
                  <a:srgbClr val="374151"/>
                </a:solidFill>
                <a:effectLst/>
                <a:latin typeface="Söhne"/>
              </a:rPr>
              <a:t> pointer of the new node to the current tail.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374151"/>
                </a:solidFill>
                <a:effectLst/>
                <a:latin typeface="Söhne"/>
              </a:rPr>
              <a:t>Update the </a:t>
            </a:r>
            <a:r>
              <a:rPr kumimoji="0" lang="en-US" altLang="en-US" b="1" i="0" u="none" strike="noStrike" cap="none" normalizeH="0" baseline="0">
                <a:ln>
                  <a:noFill/>
                </a:ln>
                <a:solidFill>
                  <a:srgbClr val="374151"/>
                </a:solidFill>
                <a:effectLst/>
                <a:latin typeface="Söhne Mono"/>
              </a:rPr>
              <a:t>next</a:t>
            </a:r>
            <a:r>
              <a:rPr kumimoji="0" lang="en-US" altLang="en-US" sz="1200" b="0" i="0" u="none" strike="noStrike" cap="none" normalizeH="0" baseline="0">
                <a:ln>
                  <a:noFill/>
                </a:ln>
                <a:solidFill>
                  <a:srgbClr val="374151"/>
                </a:solidFill>
                <a:effectLst/>
                <a:latin typeface="Söhne"/>
              </a:rPr>
              <a:t> pointer of the current tail to point to the new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374151"/>
                </a:solidFill>
                <a:effectLst/>
                <a:latin typeface="Söhne"/>
              </a:rPr>
              <a:t>Update the </a:t>
            </a:r>
            <a:r>
              <a:rPr kumimoji="0" lang="en-US" altLang="en-US" b="1" i="0" u="none" strike="noStrike" cap="none" normalizeH="0" baseline="0">
                <a:ln>
                  <a:noFill/>
                </a:ln>
                <a:solidFill>
                  <a:srgbClr val="374151"/>
                </a:solidFill>
                <a:effectLst/>
                <a:latin typeface="Söhne Mono"/>
              </a:rPr>
              <a:t>previous</a:t>
            </a:r>
            <a:r>
              <a:rPr kumimoji="0" lang="en-US" altLang="en-US" sz="1200" b="0" i="0" u="none" strike="noStrike" cap="none" normalizeH="0" baseline="0">
                <a:ln>
                  <a:noFill/>
                </a:ln>
                <a:solidFill>
                  <a:srgbClr val="374151"/>
                </a:solidFill>
                <a:effectLst/>
                <a:latin typeface="Söhne"/>
              </a:rPr>
              <a:t> pointer of the head to point to the new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374151"/>
                </a:solidFill>
                <a:effectLst/>
                <a:latin typeface="Söhne"/>
              </a:rPr>
              <a:t>Update the head to the new node.</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1" i="0" u="none" strike="noStrike" cap="none" normalizeH="0" baseline="0">
                <a:ln>
                  <a:noFill/>
                </a:ln>
                <a:solidFill>
                  <a:srgbClr val="374151"/>
                </a:solidFill>
                <a:effectLst/>
                <a:latin typeface="Söhne"/>
              </a:rPr>
              <a:t>If the specified position is greater than 0:</a:t>
            </a:r>
            <a:endParaRPr kumimoji="0" lang="en-US" altLang="en-US" sz="1200" b="0" i="0" u="none" strike="noStrike" cap="none" normalizeH="0" baseline="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374151"/>
                </a:solidFill>
                <a:effectLst/>
                <a:latin typeface="Söhne"/>
              </a:rPr>
              <a:t>Traverse the list to find the node at the specified position - 1.</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374151"/>
                </a:solidFill>
                <a:effectLst/>
                <a:latin typeface="Söhne"/>
              </a:rPr>
              <a:t>If the traversal reaches the head, print an error message as the position exceeds the size of the list.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374151"/>
                </a:solidFill>
                <a:effectLst/>
                <a:latin typeface="Söhne"/>
              </a:rPr>
              <a:t>Set the </a:t>
            </a:r>
            <a:r>
              <a:rPr kumimoji="0" lang="en-US" altLang="en-US" b="1" i="0" u="none" strike="noStrike" cap="none" normalizeH="0" baseline="0">
                <a:ln>
                  <a:noFill/>
                </a:ln>
                <a:solidFill>
                  <a:srgbClr val="374151"/>
                </a:solidFill>
                <a:effectLst/>
                <a:latin typeface="Söhne Mono"/>
              </a:rPr>
              <a:t>next</a:t>
            </a:r>
            <a:r>
              <a:rPr kumimoji="0" lang="en-US" altLang="en-US" sz="1200" b="0" i="0" u="none" strike="noStrike" cap="none" normalizeH="0" baseline="0">
                <a:ln>
                  <a:noFill/>
                </a:ln>
                <a:solidFill>
                  <a:srgbClr val="374151"/>
                </a:solidFill>
                <a:effectLst/>
                <a:latin typeface="Söhne"/>
              </a:rPr>
              <a:t> pointer of the new node to the next node of the found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374151"/>
                </a:solidFill>
                <a:effectLst/>
                <a:latin typeface="Söhne"/>
              </a:rPr>
              <a:t>Set the </a:t>
            </a:r>
            <a:r>
              <a:rPr kumimoji="0" lang="en-US" altLang="en-US" b="1" i="0" u="none" strike="noStrike" cap="none" normalizeH="0" baseline="0">
                <a:ln>
                  <a:noFill/>
                </a:ln>
                <a:solidFill>
                  <a:srgbClr val="374151"/>
                </a:solidFill>
                <a:effectLst/>
                <a:latin typeface="Söhne Mono"/>
              </a:rPr>
              <a:t>previous</a:t>
            </a:r>
            <a:r>
              <a:rPr kumimoji="0" lang="en-US" altLang="en-US" sz="1200" b="0" i="0" u="none" strike="noStrike" cap="none" normalizeH="0" baseline="0">
                <a:ln>
                  <a:noFill/>
                </a:ln>
                <a:solidFill>
                  <a:srgbClr val="374151"/>
                </a:solidFill>
                <a:effectLst/>
                <a:latin typeface="Söhne"/>
              </a:rPr>
              <a:t> pointer of the new node to the found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374151"/>
                </a:solidFill>
                <a:effectLst/>
                <a:latin typeface="Söhne"/>
              </a:rPr>
              <a:t>Update the </a:t>
            </a:r>
            <a:r>
              <a:rPr kumimoji="0" lang="en-US" altLang="en-US" b="1" i="0" u="none" strike="noStrike" cap="none" normalizeH="0" baseline="0">
                <a:ln>
                  <a:noFill/>
                </a:ln>
                <a:solidFill>
                  <a:srgbClr val="374151"/>
                </a:solidFill>
                <a:effectLst/>
                <a:latin typeface="Söhne Mono"/>
              </a:rPr>
              <a:t>next</a:t>
            </a:r>
            <a:r>
              <a:rPr kumimoji="0" lang="en-US" altLang="en-US" sz="1200" b="0" i="0" u="none" strike="noStrike" cap="none" normalizeH="0" baseline="0">
                <a:ln>
                  <a:noFill/>
                </a:ln>
                <a:solidFill>
                  <a:srgbClr val="374151"/>
                </a:solidFill>
                <a:effectLst/>
                <a:latin typeface="Söhne"/>
              </a:rPr>
              <a:t> pointer of the found node to point to the new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374151"/>
                </a:solidFill>
                <a:effectLst/>
                <a:latin typeface="Söhne"/>
              </a:rPr>
              <a:t>Update the </a:t>
            </a:r>
            <a:r>
              <a:rPr kumimoji="0" lang="en-US" altLang="en-US" b="1" i="0" u="none" strike="noStrike" cap="none" normalizeH="0" baseline="0">
                <a:ln>
                  <a:noFill/>
                </a:ln>
                <a:solidFill>
                  <a:srgbClr val="374151"/>
                </a:solidFill>
                <a:effectLst/>
                <a:latin typeface="Söhne Mono"/>
              </a:rPr>
              <a:t>previous</a:t>
            </a:r>
            <a:r>
              <a:rPr kumimoji="0" lang="en-US" altLang="en-US" sz="1200" b="0" i="0" u="none" strike="noStrike" cap="none" normalizeH="0" baseline="0">
                <a:ln>
                  <a:noFill/>
                </a:ln>
                <a:solidFill>
                  <a:srgbClr val="374151"/>
                </a:solidFill>
                <a:effectLst/>
                <a:latin typeface="Söhne"/>
              </a:rPr>
              <a:t> pointer of the next node of the found node to point to the new node.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4517082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613CB-5658-A624-8B84-D74B6234963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F76097D-1118-F2E3-21BA-A79EE8A31B35}"/>
              </a:ext>
            </a:extLst>
          </p:cNvPr>
          <p:cNvPicPr>
            <a:picLocks noGrp="1" noChangeAspect="1"/>
          </p:cNvPicPr>
          <p:nvPr>
            <p:ph idx="1"/>
          </p:nvPr>
        </p:nvPicPr>
        <p:blipFill>
          <a:blip r:embed="rId2"/>
          <a:stretch>
            <a:fillRect/>
          </a:stretch>
        </p:blipFill>
        <p:spPr>
          <a:xfrm>
            <a:off x="1151468" y="1828800"/>
            <a:ext cx="7187670" cy="4312356"/>
          </a:xfrm>
        </p:spPr>
      </p:pic>
    </p:spTree>
    <p:extLst>
      <p:ext uri="{BB962C8B-B14F-4D97-AF65-F5344CB8AC3E}">
        <p14:creationId xmlns:p14="http://schemas.microsoft.com/office/powerpoint/2010/main" val="319741519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4569E-1C93-84FD-AA0B-BB0B89A2EC9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C89A2EF-7E4D-D306-0303-63E4DBFCB412}"/>
              </a:ext>
            </a:extLst>
          </p:cNvPr>
          <p:cNvPicPr>
            <a:picLocks noGrp="1" noChangeAspect="1"/>
          </p:cNvPicPr>
          <p:nvPr>
            <p:ph idx="1"/>
          </p:nvPr>
        </p:nvPicPr>
        <p:blipFill>
          <a:blip r:embed="rId2"/>
          <a:stretch>
            <a:fillRect/>
          </a:stretch>
        </p:blipFill>
        <p:spPr>
          <a:xfrm>
            <a:off x="838200" y="1806222"/>
            <a:ext cx="8524875" cy="4538133"/>
          </a:xfrm>
        </p:spPr>
      </p:pic>
    </p:spTree>
    <p:extLst>
      <p:ext uri="{BB962C8B-B14F-4D97-AF65-F5344CB8AC3E}">
        <p14:creationId xmlns:p14="http://schemas.microsoft.com/office/powerpoint/2010/main" val="11313584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50647-6C20-1E74-AAC1-95FBDC75CE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744225E-7F92-7095-7DA8-76CB811BAD00}"/>
              </a:ext>
            </a:extLst>
          </p:cNvPr>
          <p:cNvSpPr>
            <a:spLocks noGrp="1"/>
          </p:cNvSpPr>
          <p:nvPr>
            <p:ph idx="1"/>
          </p:nvPr>
        </p:nvSpPr>
        <p:spPr/>
        <p:txBody>
          <a:bodyPr/>
          <a:lstStyle/>
          <a:p>
            <a:r>
              <a:rPr lang="en-US" b="1" dirty="0"/>
              <a:t>Deletion from the beginning</a:t>
            </a:r>
          </a:p>
        </p:txBody>
      </p:sp>
      <p:sp>
        <p:nvSpPr>
          <p:cNvPr id="4" name="Rectangle 1">
            <a:extLst>
              <a:ext uri="{FF2B5EF4-FFF2-40B4-BE49-F238E27FC236}">
                <a16:creationId xmlns:a16="http://schemas.microsoft.com/office/drawing/2014/main" id="{9ADD21E4-2B47-95E1-8E4C-3672FA1C90D7}"/>
              </a:ext>
            </a:extLst>
          </p:cNvPr>
          <p:cNvSpPr>
            <a:spLocks noChangeArrowheads="1"/>
          </p:cNvSpPr>
          <p:nvPr/>
        </p:nvSpPr>
        <p:spPr bwMode="auto">
          <a:xfrm>
            <a:off x="1399822" y="2251674"/>
            <a:ext cx="8806322" cy="400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374151"/>
                </a:solidFill>
                <a:effectLst/>
                <a:latin typeface="Söhne"/>
              </a:rPr>
              <a:t>Algorithm:</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400" b="1" i="0" u="none" strike="noStrike" cap="none" normalizeH="0" baseline="0" dirty="0">
                <a:ln>
                  <a:noFill/>
                </a:ln>
                <a:solidFill>
                  <a:srgbClr val="374151"/>
                </a:solidFill>
                <a:effectLst/>
                <a:latin typeface="Söhne"/>
              </a:rPr>
              <a:t>Check if the list is empty. If true, print an error message and return.</a:t>
            </a:r>
            <a:endParaRPr kumimoji="0" lang="en-US" altLang="en-US" sz="2400" b="0" i="0" u="none" strike="noStrike" cap="none" normalizeH="0" baseline="0" dirty="0">
              <a:ln>
                <a:noFill/>
              </a:ln>
              <a:solidFill>
                <a:srgbClr val="374151"/>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400" b="1" i="0" u="none" strike="noStrike" cap="none" normalizeH="0" baseline="0" dirty="0">
                <a:ln>
                  <a:noFill/>
                </a:ln>
                <a:solidFill>
                  <a:srgbClr val="374151"/>
                </a:solidFill>
                <a:effectLst/>
                <a:latin typeface="Söhne"/>
              </a:rPr>
              <a:t>If the list has only one node:</a:t>
            </a:r>
            <a:endParaRPr kumimoji="0" lang="en-US" altLang="en-US" sz="2400" b="0" i="0" u="none" strike="noStrike" cap="none" normalizeH="0" baseline="0" dirty="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374151"/>
                </a:solidFill>
                <a:effectLst/>
                <a:latin typeface="Söhne"/>
              </a:rPr>
              <a:t>Set both the head and tail to null.</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400" b="1" i="0" u="none" strike="noStrike" cap="none" normalizeH="0" baseline="0" dirty="0">
                <a:ln>
                  <a:noFill/>
                </a:ln>
                <a:solidFill>
                  <a:srgbClr val="374151"/>
                </a:solidFill>
                <a:effectLst/>
                <a:latin typeface="Söhne"/>
              </a:rPr>
              <a:t>Otherwise:</a:t>
            </a:r>
            <a:endParaRPr kumimoji="0" lang="en-US" altLang="en-US" sz="2400" b="0" i="0" u="none" strike="noStrike" cap="none" normalizeH="0" baseline="0" dirty="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374151"/>
                </a:solidFill>
                <a:effectLst/>
                <a:latin typeface="Söhne"/>
              </a:rPr>
              <a:t>Set the </a:t>
            </a:r>
            <a:r>
              <a:rPr kumimoji="0" lang="en-US" altLang="en-US" sz="3600" b="1" i="0" u="none" strike="noStrike" cap="none" normalizeH="0" baseline="0" dirty="0">
                <a:ln>
                  <a:noFill/>
                </a:ln>
                <a:solidFill>
                  <a:srgbClr val="374151"/>
                </a:solidFill>
                <a:effectLst/>
                <a:latin typeface="Söhne Mono"/>
              </a:rPr>
              <a:t>next</a:t>
            </a:r>
            <a:r>
              <a:rPr kumimoji="0" lang="en-US" altLang="en-US" sz="2400" b="0" i="0" u="none" strike="noStrike" cap="none" normalizeH="0" baseline="0" dirty="0">
                <a:ln>
                  <a:noFill/>
                </a:ln>
                <a:solidFill>
                  <a:srgbClr val="374151"/>
                </a:solidFill>
                <a:effectLst/>
                <a:latin typeface="Söhne"/>
              </a:rPr>
              <a:t> pointer of the head's next node to the current tail.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374151"/>
                </a:solidFill>
                <a:effectLst/>
                <a:latin typeface="Söhne"/>
              </a:rPr>
              <a:t>Set the </a:t>
            </a:r>
            <a:r>
              <a:rPr kumimoji="0" lang="en-US" altLang="en-US" sz="3600" b="1" i="0" u="none" strike="noStrike" cap="none" normalizeH="0" baseline="0" dirty="0">
                <a:ln>
                  <a:noFill/>
                </a:ln>
                <a:solidFill>
                  <a:srgbClr val="374151"/>
                </a:solidFill>
                <a:effectLst/>
                <a:latin typeface="Söhne Mono"/>
              </a:rPr>
              <a:t>previous</a:t>
            </a:r>
            <a:r>
              <a:rPr kumimoji="0" lang="en-US" altLang="en-US" sz="2400" b="0" i="0" u="none" strike="noStrike" cap="none" normalizeH="0" baseline="0" dirty="0">
                <a:ln>
                  <a:noFill/>
                </a:ln>
                <a:solidFill>
                  <a:srgbClr val="374151"/>
                </a:solidFill>
                <a:effectLst/>
                <a:latin typeface="Söhne"/>
              </a:rPr>
              <a:t> pointer of the tail to the head's next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374151"/>
                </a:solidFill>
                <a:effectLst/>
                <a:latin typeface="Söhne"/>
              </a:rPr>
              <a:t>Update the head to the head's next node.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850229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3253B-D195-9A1A-EB8C-20F13CCC338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7C94CC0-DF8C-EE94-6EF3-8FD136371353}"/>
              </a:ext>
            </a:extLst>
          </p:cNvPr>
          <p:cNvPicPr>
            <a:picLocks noGrp="1" noChangeAspect="1"/>
          </p:cNvPicPr>
          <p:nvPr>
            <p:ph idx="1"/>
          </p:nvPr>
        </p:nvPicPr>
        <p:blipFill>
          <a:blip r:embed="rId2"/>
          <a:stretch>
            <a:fillRect/>
          </a:stretch>
        </p:blipFill>
        <p:spPr>
          <a:xfrm>
            <a:off x="1072444" y="1837443"/>
            <a:ext cx="7114293" cy="4563356"/>
          </a:xfrm>
        </p:spPr>
      </p:pic>
    </p:spTree>
    <p:extLst>
      <p:ext uri="{BB962C8B-B14F-4D97-AF65-F5344CB8AC3E}">
        <p14:creationId xmlns:p14="http://schemas.microsoft.com/office/powerpoint/2010/main" val="202684203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E1E02-229D-A68B-A71B-8F77B76B8D1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47E0EB7-D2D6-8FF7-BE13-87C4A335952D}"/>
              </a:ext>
            </a:extLst>
          </p:cNvPr>
          <p:cNvSpPr>
            <a:spLocks noGrp="1"/>
          </p:cNvSpPr>
          <p:nvPr>
            <p:ph idx="1"/>
          </p:nvPr>
        </p:nvSpPr>
        <p:spPr/>
        <p:txBody>
          <a:bodyPr/>
          <a:lstStyle/>
          <a:p>
            <a:r>
              <a:rPr lang="en-US" b="1" dirty="0"/>
              <a:t>Deletion from the end</a:t>
            </a:r>
          </a:p>
          <a:p>
            <a:endParaRPr lang="en-IN" b="1" dirty="0"/>
          </a:p>
        </p:txBody>
      </p:sp>
      <p:sp>
        <p:nvSpPr>
          <p:cNvPr id="4" name="Rectangle 1">
            <a:extLst>
              <a:ext uri="{FF2B5EF4-FFF2-40B4-BE49-F238E27FC236}">
                <a16:creationId xmlns:a16="http://schemas.microsoft.com/office/drawing/2014/main" id="{79D498C8-69D4-080B-8936-C07A71505AF8}"/>
              </a:ext>
            </a:extLst>
          </p:cNvPr>
          <p:cNvSpPr>
            <a:spLocks noChangeArrowheads="1"/>
          </p:cNvSpPr>
          <p:nvPr/>
        </p:nvSpPr>
        <p:spPr bwMode="auto">
          <a:xfrm>
            <a:off x="1027290" y="2415987"/>
            <a:ext cx="7740581" cy="3170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74151"/>
                </a:solidFill>
                <a:effectLst/>
                <a:latin typeface="Söhne"/>
              </a:rPr>
              <a:t>Algorithm:</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rgbClr val="374151"/>
                </a:solidFill>
                <a:effectLst/>
                <a:latin typeface="Söhne"/>
              </a:rPr>
              <a:t>Check if the list is empty. If true, print an error message and return.</a:t>
            </a:r>
            <a:endParaRPr kumimoji="0" lang="en-US" altLang="en-US" b="0" i="0" u="none" strike="noStrike" cap="none" normalizeH="0" baseline="0" dirty="0">
              <a:ln>
                <a:noFill/>
              </a:ln>
              <a:solidFill>
                <a:srgbClr val="374151"/>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rgbClr val="374151"/>
                </a:solidFill>
                <a:effectLst/>
                <a:latin typeface="Söhne"/>
              </a:rPr>
              <a:t>If the list has only one node:</a:t>
            </a:r>
            <a:endParaRPr kumimoji="0" lang="en-US" altLang="en-US" b="0" i="0" u="none" strike="noStrike" cap="none" normalizeH="0" baseline="0" dirty="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374151"/>
                </a:solidFill>
                <a:effectLst/>
                <a:latin typeface="Söhne"/>
              </a:rPr>
              <a:t>Set both the head and tail to null.</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rgbClr val="374151"/>
                </a:solidFill>
                <a:effectLst/>
                <a:latin typeface="Söhne"/>
              </a:rPr>
              <a:t>Otherwise:</a:t>
            </a:r>
            <a:endParaRPr kumimoji="0" lang="en-US" altLang="en-US" b="0" i="0" u="none" strike="noStrike" cap="none" normalizeH="0" baseline="0" dirty="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374151"/>
                </a:solidFill>
                <a:effectLst/>
                <a:latin typeface="Söhne"/>
              </a:rPr>
              <a:t>Set the </a:t>
            </a:r>
            <a:r>
              <a:rPr kumimoji="0" lang="en-US" altLang="en-US" sz="2800" b="1" i="0" u="none" strike="noStrike" cap="none" normalizeH="0" baseline="0" dirty="0">
                <a:ln>
                  <a:noFill/>
                </a:ln>
                <a:solidFill>
                  <a:srgbClr val="374151"/>
                </a:solidFill>
                <a:effectLst/>
                <a:latin typeface="Söhne Mono"/>
              </a:rPr>
              <a:t>previous</a:t>
            </a:r>
            <a:r>
              <a:rPr kumimoji="0" lang="en-US" altLang="en-US" b="0" i="0" u="none" strike="noStrike" cap="none" normalizeH="0" baseline="0" dirty="0">
                <a:ln>
                  <a:noFill/>
                </a:ln>
                <a:solidFill>
                  <a:srgbClr val="374151"/>
                </a:solidFill>
                <a:effectLst/>
                <a:latin typeface="Söhne"/>
              </a:rPr>
              <a:t> pointer of the tail's previous node to the current head.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374151"/>
                </a:solidFill>
                <a:effectLst/>
                <a:latin typeface="Söhne"/>
              </a:rPr>
              <a:t>Set the </a:t>
            </a:r>
            <a:r>
              <a:rPr kumimoji="0" lang="en-US" altLang="en-US" sz="2800" b="1" i="0" u="none" strike="noStrike" cap="none" normalizeH="0" baseline="0" dirty="0">
                <a:ln>
                  <a:noFill/>
                </a:ln>
                <a:solidFill>
                  <a:srgbClr val="374151"/>
                </a:solidFill>
                <a:effectLst/>
                <a:latin typeface="Söhne Mono"/>
              </a:rPr>
              <a:t>next</a:t>
            </a:r>
            <a:r>
              <a:rPr kumimoji="0" lang="en-US" altLang="en-US" b="0" i="0" u="none" strike="noStrike" cap="none" normalizeH="0" baseline="0" dirty="0">
                <a:ln>
                  <a:noFill/>
                </a:ln>
                <a:solidFill>
                  <a:srgbClr val="374151"/>
                </a:solidFill>
                <a:effectLst/>
                <a:latin typeface="Söhne"/>
              </a:rPr>
              <a:t> pointer of the current head to the tail's previous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374151"/>
                </a:solidFill>
                <a:effectLst/>
                <a:latin typeface="Söhne"/>
              </a:rPr>
              <a:t>Update the tail to the tail's previous node.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627152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5E920-923A-2C4C-AE1A-365AB23C20B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4D90013-4E65-37E4-4147-26D5CE3F002C}"/>
              </a:ext>
            </a:extLst>
          </p:cNvPr>
          <p:cNvPicPr>
            <a:picLocks noGrp="1" noChangeAspect="1"/>
          </p:cNvPicPr>
          <p:nvPr>
            <p:ph idx="1"/>
          </p:nvPr>
        </p:nvPicPr>
        <p:blipFill>
          <a:blip r:embed="rId2"/>
          <a:stretch>
            <a:fillRect/>
          </a:stretch>
        </p:blipFill>
        <p:spPr>
          <a:xfrm>
            <a:off x="838200" y="1941688"/>
            <a:ext cx="7118703" cy="4255911"/>
          </a:xfrm>
        </p:spPr>
      </p:pic>
    </p:spTree>
    <p:extLst>
      <p:ext uri="{BB962C8B-B14F-4D97-AF65-F5344CB8AC3E}">
        <p14:creationId xmlns:p14="http://schemas.microsoft.com/office/powerpoint/2010/main" val="173721906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91DC1-5E6B-6CC9-BAF6-783359FE9BB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268ECB0-4A92-8646-67D5-8AC7319BD494}"/>
              </a:ext>
            </a:extLst>
          </p:cNvPr>
          <p:cNvSpPr>
            <a:spLocks noGrp="1"/>
          </p:cNvSpPr>
          <p:nvPr>
            <p:ph idx="1"/>
          </p:nvPr>
        </p:nvSpPr>
        <p:spPr/>
        <p:txBody>
          <a:bodyPr/>
          <a:lstStyle/>
          <a:p>
            <a:r>
              <a:rPr lang="en-US" b="1" dirty="0"/>
              <a:t>Delete from an specified position</a:t>
            </a:r>
          </a:p>
          <a:p>
            <a:endParaRPr lang="en-IN" b="1" dirty="0"/>
          </a:p>
        </p:txBody>
      </p:sp>
      <p:sp>
        <p:nvSpPr>
          <p:cNvPr id="4" name="Rectangle 1">
            <a:extLst>
              <a:ext uri="{FF2B5EF4-FFF2-40B4-BE49-F238E27FC236}">
                <a16:creationId xmlns:a16="http://schemas.microsoft.com/office/drawing/2014/main" id="{FA9A5944-E922-9F0F-452F-403E74DD50B4}"/>
              </a:ext>
            </a:extLst>
          </p:cNvPr>
          <p:cNvSpPr>
            <a:spLocks noChangeArrowheads="1"/>
          </p:cNvSpPr>
          <p:nvPr/>
        </p:nvSpPr>
        <p:spPr bwMode="auto">
          <a:xfrm>
            <a:off x="1128888" y="2052242"/>
            <a:ext cx="9321783" cy="412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374151"/>
                </a:solidFill>
                <a:effectLst/>
                <a:latin typeface="Söhne"/>
              </a:rPr>
              <a:t>Algorithm:</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rgbClr val="374151"/>
                </a:solidFill>
                <a:effectLst/>
                <a:latin typeface="Söhne"/>
              </a:rPr>
              <a:t>Check if the list is empty. If true, print an error message and return.</a:t>
            </a:r>
            <a:endParaRPr kumimoji="0" lang="en-US" altLang="en-US" sz="1600" b="0" i="0" u="none" strike="noStrike" cap="none" normalizeH="0" baseline="0" dirty="0">
              <a:ln>
                <a:noFill/>
              </a:ln>
              <a:solidFill>
                <a:srgbClr val="374151"/>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rgbClr val="374151"/>
                </a:solidFill>
                <a:effectLst/>
                <a:latin typeface="Söhne"/>
              </a:rPr>
              <a:t>If the specified position is 0:</a:t>
            </a:r>
            <a:endParaRPr kumimoji="0" lang="en-US" altLang="en-US" sz="1600" b="0" i="0" u="none" strike="noStrike" cap="none" normalizeH="0" baseline="0" dirty="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If the list has only one node, set both the head and tail to null.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Otherwise, set the </a:t>
            </a:r>
            <a:r>
              <a:rPr kumimoji="0" lang="en-US" altLang="en-US" sz="2400" b="1" i="0" u="none" strike="noStrike" cap="none" normalizeH="0" baseline="0" dirty="0">
                <a:ln>
                  <a:noFill/>
                </a:ln>
                <a:solidFill>
                  <a:srgbClr val="374151"/>
                </a:solidFill>
                <a:effectLst/>
                <a:latin typeface="Söhne Mono"/>
              </a:rPr>
              <a:t>next</a:t>
            </a:r>
            <a:r>
              <a:rPr kumimoji="0" lang="en-US" altLang="en-US" sz="1600" b="0" i="0" u="none" strike="noStrike" cap="none" normalizeH="0" baseline="0" dirty="0">
                <a:ln>
                  <a:noFill/>
                </a:ln>
                <a:solidFill>
                  <a:srgbClr val="374151"/>
                </a:solidFill>
                <a:effectLst/>
                <a:latin typeface="Söhne"/>
              </a:rPr>
              <a:t> pointer of the head's next node to the current tail.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Set the </a:t>
            </a:r>
            <a:r>
              <a:rPr kumimoji="0" lang="en-US" altLang="en-US" sz="2400" b="1" i="0" u="none" strike="noStrike" cap="none" normalizeH="0" baseline="0" dirty="0">
                <a:ln>
                  <a:noFill/>
                </a:ln>
                <a:solidFill>
                  <a:srgbClr val="374151"/>
                </a:solidFill>
                <a:effectLst/>
                <a:latin typeface="Söhne Mono"/>
              </a:rPr>
              <a:t>previous</a:t>
            </a:r>
            <a:r>
              <a:rPr kumimoji="0" lang="en-US" altLang="en-US" sz="1600" b="0" i="0" u="none" strike="noStrike" cap="none" normalizeH="0" baseline="0" dirty="0">
                <a:ln>
                  <a:noFill/>
                </a:ln>
                <a:solidFill>
                  <a:srgbClr val="374151"/>
                </a:solidFill>
                <a:effectLst/>
                <a:latin typeface="Söhne"/>
              </a:rPr>
              <a:t> pointer of the tail to the head's next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Update the head to the head's next node.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rgbClr val="374151"/>
                </a:solidFill>
                <a:effectLst/>
                <a:latin typeface="Söhne"/>
              </a:rPr>
              <a:t>If the specified position is greater than 0:</a:t>
            </a:r>
            <a:endParaRPr kumimoji="0" lang="en-US" altLang="en-US" sz="1600" b="0" i="0" u="none" strike="noStrike" cap="none" normalizeH="0" baseline="0" dirty="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Traverse the list to find the node at the specified position.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If the traversal reaches the head, print an error message as the position exceeds the size of the list.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Set the </a:t>
            </a:r>
            <a:r>
              <a:rPr kumimoji="0" lang="en-US" altLang="en-US" sz="2400" b="1" i="0" u="none" strike="noStrike" cap="none" normalizeH="0" baseline="0" dirty="0">
                <a:ln>
                  <a:noFill/>
                </a:ln>
                <a:solidFill>
                  <a:srgbClr val="374151"/>
                </a:solidFill>
                <a:effectLst/>
                <a:latin typeface="Söhne Mono"/>
              </a:rPr>
              <a:t>next</a:t>
            </a:r>
            <a:r>
              <a:rPr kumimoji="0" lang="en-US" altLang="en-US" sz="1600" b="0" i="0" u="none" strike="noStrike" cap="none" normalizeH="0" baseline="0" dirty="0">
                <a:ln>
                  <a:noFill/>
                </a:ln>
                <a:solidFill>
                  <a:srgbClr val="374151"/>
                </a:solidFill>
                <a:effectLst/>
                <a:latin typeface="Söhne"/>
              </a:rPr>
              <a:t> pointer of the found node's previous node to the next node of the found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Söhne"/>
              </a:rPr>
              <a:t>Set the </a:t>
            </a:r>
            <a:r>
              <a:rPr kumimoji="0" lang="en-US" altLang="en-US" sz="2400" b="1" i="0" u="none" strike="noStrike" cap="none" normalizeH="0" baseline="0" dirty="0">
                <a:ln>
                  <a:noFill/>
                </a:ln>
                <a:solidFill>
                  <a:srgbClr val="374151"/>
                </a:solidFill>
                <a:effectLst/>
                <a:latin typeface="Söhne Mono"/>
              </a:rPr>
              <a:t>previous</a:t>
            </a:r>
            <a:r>
              <a:rPr kumimoji="0" lang="en-US" altLang="en-US" sz="1600" b="0" i="0" u="none" strike="noStrike" cap="none" normalizeH="0" baseline="0" dirty="0">
                <a:ln>
                  <a:noFill/>
                </a:ln>
                <a:solidFill>
                  <a:srgbClr val="374151"/>
                </a:solidFill>
                <a:effectLst/>
                <a:latin typeface="Söhne"/>
              </a:rPr>
              <a:t> pointer of the next node of the found node to the previous node of the found node.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585894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0A819-386E-1FB7-E99C-16F4AFB8735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05C797A-3152-0A28-6054-46C85B6BF6ED}"/>
              </a:ext>
            </a:extLst>
          </p:cNvPr>
          <p:cNvPicPr>
            <a:picLocks noGrp="1" noChangeAspect="1"/>
          </p:cNvPicPr>
          <p:nvPr>
            <p:ph idx="1"/>
          </p:nvPr>
        </p:nvPicPr>
        <p:blipFill>
          <a:blip r:embed="rId2"/>
          <a:stretch>
            <a:fillRect/>
          </a:stretch>
        </p:blipFill>
        <p:spPr>
          <a:xfrm>
            <a:off x="1275644" y="1873955"/>
            <a:ext cx="7563556" cy="3984977"/>
          </a:xfrm>
        </p:spPr>
      </p:pic>
    </p:spTree>
    <p:extLst>
      <p:ext uri="{BB962C8B-B14F-4D97-AF65-F5344CB8AC3E}">
        <p14:creationId xmlns:p14="http://schemas.microsoft.com/office/powerpoint/2010/main" val="425740723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F1360-2A3E-CB1A-92AC-045AB0CB988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3B36845-5F2C-D609-461C-BAB0685F9EBA}"/>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E993295A-72FA-516B-A58B-354262EEDFCB}"/>
              </a:ext>
            </a:extLst>
          </p:cNvPr>
          <p:cNvPicPr>
            <a:picLocks noChangeAspect="1"/>
          </p:cNvPicPr>
          <p:nvPr/>
        </p:nvPicPr>
        <p:blipFill>
          <a:blip r:embed="rId2"/>
          <a:stretch>
            <a:fillRect/>
          </a:stretch>
        </p:blipFill>
        <p:spPr>
          <a:xfrm>
            <a:off x="838200" y="1825625"/>
            <a:ext cx="8215665" cy="4097867"/>
          </a:xfrm>
          <a:prstGeom prst="rect">
            <a:avLst/>
          </a:prstGeom>
        </p:spPr>
      </p:pic>
    </p:spTree>
    <p:extLst>
      <p:ext uri="{BB962C8B-B14F-4D97-AF65-F5344CB8AC3E}">
        <p14:creationId xmlns:p14="http://schemas.microsoft.com/office/powerpoint/2010/main" val="351652370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A6D33-0E9D-FB4F-9AEF-AB807963C72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8F61125-2A50-B033-3761-17E3406881F7}"/>
              </a:ext>
            </a:extLst>
          </p:cNvPr>
          <p:cNvSpPr>
            <a:spLocks noGrp="1"/>
          </p:cNvSpPr>
          <p:nvPr>
            <p:ph idx="1"/>
          </p:nvPr>
        </p:nvSpPr>
        <p:spPr/>
        <p:txBody>
          <a:bodyPr>
            <a:normAutofit/>
          </a:bodyPr>
          <a:lstStyle/>
          <a:p>
            <a:pPr marL="0" indent="0">
              <a:buNone/>
            </a:pPr>
            <a:r>
              <a:rPr lang="en-US" sz="3600" b="1" dirty="0"/>
              <a:t>Skip list</a:t>
            </a:r>
          </a:p>
          <a:p>
            <a:r>
              <a:rPr lang="en-US" sz="2400" dirty="0"/>
              <a:t>Linked lists have one serious drawback: They require sequential scanning to search a element. The search starts from the beginning of the list and stops when either a element is found or the end of the list is reached without finding this element.</a:t>
            </a:r>
          </a:p>
          <a:p>
            <a:r>
              <a:rPr lang="en-US" sz="2400" dirty="0"/>
              <a:t>Ordering elements on the list can speed up searching, but a sequential search is still required. Therefore, we may think about lists that allow for skipping certain nodes to avoid sequential processing.</a:t>
            </a:r>
          </a:p>
          <a:p>
            <a:r>
              <a:rPr lang="en-US" sz="2400" dirty="0"/>
              <a:t> </a:t>
            </a:r>
            <a:r>
              <a:rPr lang="en-US" sz="2400" b="1" dirty="0">
                <a:solidFill>
                  <a:srgbClr val="FF0000"/>
                </a:solidFill>
              </a:rPr>
              <a:t>A skip list </a:t>
            </a:r>
            <a:r>
              <a:rPr lang="en-US" sz="2400" dirty="0"/>
              <a:t>is an interesting variant of the linked list </a:t>
            </a:r>
            <a:r>
              <a:rPr lang="en-US" dirty="0"/>
              <a:t>that </a:t>
            </a:r>
            <a:r>
              <a:rPr lang="en-US" sz="2400" dirty="0"/>
              <a:t>maintains a sorted collection of elements with efficient search, insertion, and deletion operations</a:t>
            </a:r>
            <a:r>
              <a:rPr lang="en-US" sz="2000" b="0" i="0" dirty="0">
                <a:solidFill>
                  <a:srgbClr val="374151"/>
                </a:solidFill>
                <a:effectLst/>
                <a:latin typeface="Söhne"/>
              </a:rPr>
              <a:t>.</a:t>
            </a:r>
            <a:endParaRPr lang="en-IN" sz="3600" b="1" dirty="0"/>
          </a:p>
        </p:txBody>
      </p:sp>
    </p:spTree>
    <p:extLst>
      <p:ext uri="{BB962C8B-B14F-4D97-AF65-F5344CB8AC3E}">
        <p14:creationId xmlns:p14="http://schemas.microsoft.com/office/powerpoint/2010/main" val="82096418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D9B60-A134-B937-8410-F55286747C0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B4B0208-BD9C-C122-5E42-F657FB0CAD46}"/>
              </a:ext>
            </a:extLst>
          </p:cNvPr>
          <p:cNvSpPr>
            <a:spLocks noGrp="1"/>
          </p:cNvSpPr>
          <p:nvPr>
            <p:ph idx="1"/>
          </p:nvPr>
        </p:nvSpPr>
        <p:spPr/>
        <p:txBody>
          <a:bodyPr/>
          <a:lstStyle/>
          <a:p>
            <a:r>
              <a:rPr lang="en-US" dirty="0"/>
              <a:t>In a skip list of n nodes, </a:t>
            </a:r>
          </a:p>
          <a:p>
            <a:pPr>
              <a:buFont typeface="Wingdings" panose="05000000000000000000" pitchFamily="2" charset="2"/>
              <a:buChar char="ü"/>
            </a:pPr>
            <a:r>
              <a:rPr lang="en-US" dirty="0"/>
              <a:t>Half of the nodes have just one reference field, </a:t>
            </a:r>
          </a:p>
          <a:p>
            <a:pPr>
              <a:buFont typeface="Wingdings" panose="05000000000000000000" pitchFamily="2" charset="2"/>
              <a:buChar char="ü"/>
            </a:pPr>
            <a:r>
              <a:rPr lang="en-US" dirty="0"/>
              <a:t>one-fourth of the nodes have two reference fields, </a:t>
            </a:r>
          </a:p>
          <a:p>
            <a:pPr>
              <a:buFont typeface="Wingdings" panose="05000000000000000000" pitchFamily="2" charset="2"/>
              <a:buChar char="ü"/>
            </a:pPr>
            <a:r>
              <a:rPr lang="en-US" dirty="0"/>
              <a:t>one-eighth of the nodes have three reference fields, and so on. </a:t>
            </a:r>
          </a:p>
          <a:p>
            <a:r>
              <a:rPr lang="en-US" dirty="0"/>
              <a:t>The number of reference fields indicates the level of each node,</a:t>
            </a:r>
          </a:p>
          <a:p>
            <a:pPr marL="0" indent="0">
              <a:buNone/>
            </a:pPr>
            <a:endParaRPr lang="en-IN" dirty="0"/>
          </a:p>
        </p:txBody>
      </p:sp>
      <p:pic>
        <p:nvPicPr>
          <p:cNvPr id="5" name="Picture 4">
            <a:extLst>
              <a:ext uri="{FF2B5EF4-FFF2-40B4-BE49-F238E27FC236}">
                <a16:creationId xmlns:a16="http://schemas.microsoft.com/office/drawing/2014/main" id="{DEE8319B-4D82-BC31-12B9-82D21A57596D}"/>
              </a:ext>
            </a:extLst>
          </p:cNvPr>
          <p:cNvPicPr>
            <a:picLocks noChangeAspect="1"/>
          </p:cNvPicPr>
          <p:nvPr/>
        </p:nvPicPr>
        <p:blipFill>
          <a:blip r:embed="rId2"/>
          <a:stretch>
            <a:fillRect/>
          </a:stretch>
        </p:blipFill>
        <p:spPr>
          <a:xfrm>
            <a:off x="564445" y="4278489"/>
            <a:ext cx="9776178" cy="2033411"/>
          </a:xfrm>
          <a:prstGeom prst="rect">
            <a:avLst/>
          </a:prstGeom>
        </p:spPr>
      </p:pic>
    </p:spTree>
    <p:extLst>
      <p:ext uri="{BB962C8B-B14F-4D97-AF65-F5344CB8AC3E}">
        <p14:creationId xmlns:p14="http://schemas.microsoft.com/office/powerpoint/2010/main" val="331008734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78011-2D8C-3BE0-0CBC-F05DDBC6B4B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E086718-21A0-C97E-BF25-89E5BD6EBE39}"/>
              </a:ext>
            </a:extLst>
          </p:cNvPr>
          <p:cNvSpPr>
            <a:spLocks noGrp="1"/>
          </p:cNvSpPr>
          <p:nvPr>
            <p:ph idx="1"/>
          </p:nvPr>
        </p:nvSpPr>
        <p:spPr/>
        <p:txBody>
          <a:bodyPr/>
          <a:lstStyle/>
          <a:p>
            <a:r>
              <a:rPr lang="en-US" dirty="0"/>
              <a:t>For 15 elements, the required number of nodes on </a:t>
            </a:r>
          </a:p>
          <a:p>
            <a:pPr marL="514350" indent="-514350">
              <a:buFont typeface="+mj-lt"/>
              <a:buAutoNum type="arabicPeriod"/>
            </a:pPr>
            <a:r>
              <a:rPr lang="en-US" dirty="0"/>
              <a:t>level one is eight, </a:t>
            </a:r>
          </a:p>
          <a:p>
            <a:pPr marL="514350" indent="-514350">
              <a:buFont typeface="+mj-lt"/>
              <a:buAutoNum type="arabicPeriod"/>
            </a:pPr>
            <a:r>
              <a:rPr lang="en-US" dirty="0"/>
              <a:t>on level two is four, </a:t>
            </a:r>
          </a:p>
          <a:p>
            <a:pPr marL="514350" indent="-514350">
              <a:buFont typeface="+mj-lt"/>
              <a:buAutoNum type="arabicPeriod"/>
            </a:pPr>
            <a:r>
              <a:rPr lang="en-US" dirty="0"/>
              <a:t>on level three is two, </a:t>
            </a:r>
          </a:p>
          <a:p>
            <a:pPr marL="514350" indent="-514350">
              <a:buFont typeface="+mj-lt"/>
              <a:buAutoNum type="arabicPeriod"/>
            </a:pPr>
            <a:r>
              <a:rPr lang="en-US" dirty="0"/>
              <a:t>and in level four is one. </a:t>
            </a:r>
          </a:p>
          <a:p>
            <a:r>
              <a:rPr lang="en-US" dirty="0"/>
              <a:t>Each time a node is inserted, a random number r between 1 and 15 is generated, and if r &lt; 9, then a node of level one is inserted. If r &lt; 13, a second-level node is inserted, if r &lt; 15, it is a third-level node, and if r = 15, the node of level four is generated and inserted</a:t>
            </a:r>
            <a:endParaRPr lang="en-IN" dirty="0"/>
          </a:p>
        </p:txBody>
      </p:sp>
    </p:spTree>
    <p:extLst>
      <p:ext uri="{BB962C8B-B14F-4D97-AF65-F5344CB8AC3E}">
        <p14:creationId xmlns:p14="http://schemas.microsoft.com/office/powerpoint/2010/main" val="42787078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4D391-917A-511D-DE80-6CB3D3ADE49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1249FAE-3D68-F537-DD9A-7D22617E440C}"/>
              </a:ext>
            </a:extLst>
          </p:cNvPr>
          <p:cNvSpPr>
            <a:spLocks noGrp="1"/>
          </p:cNvSpPr>
          <p:nvPr>
            <p:ph idx="1"/>
          </p:nvPr>
        </p:nvSpPr>
        <p:spPr/>
        <p:txBody>
          <a:bodyPr/>
          <a:lstStyle/>
          <a:p>
            <a:r>
              <a:rPr lang="en-US" dirty="0"/>
              <a:t>if we look for number 16 in the list in Figure b, then level four is tried first, which is unsuccessful because the first node on this level has 28. </a:t>
            </a:r>
          </a:p>
          <a:p>
            <a:r>
              <a:rPr lang="en-US" dirty="0"/>
              <a:t>Next, we try the third-level </a:t>
            </a:r>
            <a:r>
              <a:rPr lang="en-US" dirty="0" err="1"/>
              <a:t>sublist</a:t>
            </a:r>
            <a:r>
              <a:rPr lang="en-US" dirty="0"/>
              <a:t> starting from the root: It first leads to 8 and then to 17. Hence, we try the second-level </a:t>
            </a:r>
            <a:r>
              <a:rPr lang="en-US" dirty="0" err="1"/>
              <a:t>sublist</a:t>
            </a:r>
            <a:r>
              <a:rPr lang="en-US" dirty="0"/>
              <a:t> that originates in the node holding 8: It leads to 10 and then again to 17.</a:t>
            </a:r>
          </a:p>
          <a:p>
            <a:r>
              <a:rPr lang="en-US" dirty="0"/>
              <a:t> The last try is by starting the first-level </a:t>
            </a:r>
            <a:r>
              <a:rPr lang="en-US" dirty="0" err="1"/>
              <a:t>sublist</a:t>
            </a:r>
            <a:r>
              <a:rPr lang="en-US" dirty="0"/>
              <a:t>, which begins in node 10; this </a:t>
            </a:r>
            <a:r>
              <a:rPr lang="en-US" dirty="0" err="1"/>
              <a:t>sublist’s</a:t>
            </a:r>
            <a:r>
              <a:rPr lang="en-US" dirty="0"/>
              <a:t> first node has 12, the next number is 17, and because there is no lower level, the search is pronounced unsuccessful</a:t>
            </a:r>
            <a:endParaRPr lang="en-IN" dirty="0"/>
          </a:p>
        </p:txBody>
      </p:sp>
    </p:spTree>
    <p:extLst>
      <p:ext uri="{BB962C8B-B14F-4D97-AF65-F5344CB8AC3E}">
        <p14:creationId xmlns:p14="http://schemas.microsoft.com/office/powerpoint/2010/main" val="107987936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90BC2-FB55-5751-C9F1-8C02DC6448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8B4BC0C-E1FA-784D-25A1-EEEDC26D5F6B}"/>
              </a:ext>
            </a:extLst>
          </p:cNvPr>
          <p:cNvSpPr>
            <a:spLocks noGrp="1"/>
          </p:cNvSpPr>
          <p:nvPr>
            <p:ph idx="1"/>
          </p:nvPr>
        </p:nvSpPr>
        <p:spPr>
          <a:xfrm>
            <a:off x="838200" y="1836914"/>
            <a:ext cx="10515600" cy="4351338"/>
          </a:xfrm>
        </p:spPr>
        <p:txBody>
          <a:bodyPr/>
          <a:lstStyle/>
          <a:p>
            <a:r>
              <a:rPr lang="en-US" b="1" dirty="0"/>
              <a:t>Representation of node </a:t>
            </a:r>
          </a:p>
          <a:p>
            <a:endParaRPr lang="en-IN" b="1" dirty="0"/>
          </a:p>
        </p:txBody>
      </p:sp>
      <p:pic>
        <p:nvPicPr>
          <p:cNvPr id="5" name="Picture 4">
            <a:extLst>
              <a:ext uri="{FF2B5EF4-FFF2-40B4-BE49-F238E27FC236}">
                <a16:creationId xmlns:a16="http://schemas.microsoft.com/office/drawing/2014/main" id="{746C122F-DA6E-8873-FA44-B614796B47E1}"/>
              </a:ext>
            </a:extLst>
          </p:cNvPr>
          <p:cNvPicPr>
            <a:picLocks noChangeAspect="1"/>
          </p:cNvPicPr>
          <p:nvPr/>
        </p:nvPicPr>
        <p:blipFill>
          <a:blip r:embed="rId2"/>
          <a:stretch>
            <a:fillRect/>
          </a:stretch>
        </p:blipFill>
        <p:spPr>
          <a:xfrm>
            <a:off x="838200" y="2372542"/>
            <a:ext cx="6430609" cy="3284008"/>
          </a:xfrm>
          <a:prstGeom prst="rect">
            <a:avLst/>
          </a:prstGeom>
        </p:spPr>
      </p:pic>
    </p:spTree>
    <p:extLst>
      <p:ext uri="{BB962C8B-B14F-4D97-AF65-F5344CB8AC3E}">
        <p14:creationId xmlns:p14="http://schemas.microsoft.com/office/powerpoint/2010/main" val="327168157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49BCD-89C0-792C-7425-28F03EA0689A}"/>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1E541F56-07C8-7766-7A67-9F30FE757839}"/>
              </a:ext>
            </a:extLst>
          </p:cNvPr>
          <p:cNvSpPr>
            <a:spLocks noGrp="1"/>
          </p:cNvSpPr>
          <p:nvPr>
            <p:ph idx="1"/>
          </p:nvPr>
        </p:nvSpPr>
        <p:spPr/>
        <p:txBody>
          <a:bodyPr>
            <a:normAutofit fontScale="77500" lnSpcReduction="20000"/>
          </a:bodyPr>
          <a:lstStyle/>
          <a:p>
            <a:pPr algn="just"/>
            <a:r>
              <a:rPr lang="en-US" sz="3200" b="1" i="0" dirty="0">
                <a:solidFill>
                  <a:srgbClr val="610B38"/>
                </a:solidFill>
                <a:effectLst/>
                <a:latin typeface="erdana"/>
              </a:rPr>
              <a:t>Advantages of the Skip list</a:t>
            </a:r>
          </a:p>
          <a:p>
            <a:pPr algn="just">
              <a:buFont typeface="+mj-lt"/>
              <a:buAutoNum type="arabicPeriod"/>
            </a:pPr>
            <a:r>
              <a:rPr lang="en-US" b="0" i="0" dirty="0">
                <a:solidFill>
                  <a:srgbClr val="000000"/>
                </a:solidFill>
                <a:effectLst/>
                <a:latin typeface="inter-regular"/>
              </a:rPr>
              <a:t>If you want to insert a new node in the skip list, then it will insert the node very fast because there are no rotations in the skip list.</a:t>
            </a:r>
          </a:p>
          <a:p>
            <a:pPr algn="just">
              <a:buFont typeface="+mj-lt"/>
              <a:buAutoNum type="arabicPeriod"/>
            </a:pPr>
            <a:r>
              <a:rPr lang="en-US" b="0" i="0" dirty="0">
                <a:solidFill>
                  <a:srgbClr val="000000"/>
                </a:solidFill>
                <a:effectLst/>
                <a:latin typeface="inter-regular"/>
              </a:rPr>
              <a:t>The skip list is simple to implement as compared to the hash table and the binary search tree.</a:t>
            </a:r>
          </a:p>
          <a:p>
            <a:pPr algn="just">
              <a:buFont typeface="+mj-lt"/>
              <a:buAutoNum type="arabicPeriod"/>
            </a:pPr>
            <a:r>
              <a:rPr lang="en-US" b="0" i="0" dirty="0">
                <a:solidFill>
                  <a:srgbClr val="000000"/>
                </a:solidFill>
                <a:effectLst/>
                <a:latin typeface="inter-regular"/>
              </a:rPr>
              <a:t>It is very simple to find a node in the list because it stores the nodes in sorted form.</a:t>
            </a:r>
          </a:p>
          <a:p>
            <a:pPr algn="just">
              <a:buFont typeface="+mj-lt"/>
              <a:buAutoNum type="arabicPeriod"/>
            </a:pPr>
            <a:r>
              <a:rPr lang="en-US" b="0" i="0" dirty="0">
                <a:solidFill>
                  <a:srgbClr val="000000"/>
                </a:solidFill>
                <a:effectLst/>
                <a:latin typeface="inter-regular"/>
              </a:rPr>
              <a:t>The skip list algorithm can be modified very easily in a more specific structure, such as indexable skip lists, trees, or priority queues.</a:t>
            </a:r>
          </a:p>
          <a:p>
            <a:pPr algn="just">
              <a:buFont typeface="+mj-lt"/>
              <a:buAutoNum type="arabicPeriod"/>
            </a:pPr>
            <a:r>
              <a:rPr lang="en-US" b="0" i="0" dirty="0">
                <a:solidFill>
                  <a:srgbClr val="000000"/>
                </a:solidFill>
                <a:effectLst/>
                <a:latin typeface="inter-regular"/>
              </a:rPr>
              <a:t>The skip list is a robust and reliable list.</a:t>
            </a:r>
          </a:p>
          <a:p>
            <a:pPr algn="just"/>
            <a:r>
              <a:rPr lang="en-US" b="1" i="0" dirty="0">
                <a:solidFill>
                  <a:srgbClr val="610B38"/>
                </a:solidFill>
                <a:effectLst/>
                <a:latin typeface="erdana"/>
              </a:rPr>
              <a:t>Disadvantages of the Skip list</a:t>
            </a:r>
          </a:p>
          <a:p>
            <a:pPr algn="just">
              <a:buFont typeface="+mj-lt"/>
              <a:buAutoNum type="arabicPeriod"/>
            </a:pPr>
            <a:r>
              <a:rPr lang="en-US" b="0" i="0" dirty="0">
                <a:solidFill>
                  <a:srgbClr val="000000"/>
                </a:solidFill>
                <a:effectLst/>
                <a:latin typeface="inter-regular"/>
              </a:rPr>
              <a:t>It requires more memory than the balanced tree.</a:t>
            </a:r>
          </a:p>
          <a:p>
            <a:pPr algn="just">
              <a:buFont typeface="+mj-lt"/>
              <a:buAutoNum type="arabicPeriod"/>
            </a:pPr>
            <a:r>
              <a:rPr lang="en-US" b="0" i="0" dirty="0">
                <a:solidFill>
                  <a:srgbClr val="000000"/>
                </a:solidFill>
                <a:effectLst/>
                <a:latin typeface="inter-regular"/>
              </a:rPr>
              <a:t>Reverse searching is not allowed.</a:t>
            </a:r>
          </a:p>
          <a:p>
            <a:pPr algn="just">
              <a:buFont typeface="+mj-lt"/>
              <a:buAutoNum type="arabicPeriod"/>
            </a:pPr>
            <a:r>
              <a:rPr lang="en-US" b="0" i="0" dirty="0">
                <a:solidFill>
                  <a:srgbClr val="000000"/>
                </a:solidFill>
                <a:effectLst/>
                <a:latin typeface="inter-regular"/>
              </a:rPr>
              <a:t>The skip list searches the node much slower than the linked list</a:t>
            </a:r>
            <a:endParaRPr lang="en-US" b="1" dirty="0">
              <a:solidFill>
                <a:srgbClr val="000000"/>
              </a:solidFill>
              <a:latin typeface="inter-regular"/>
            </a:endParaRPr>
          </a:p>
          <a:p>
            <a:pPr marL="0" indent="0" algn="just">
              <a:buNone/>
            </a:pPr>
            <a:endParaRPr lang="en-US" b="1" i="0" dirty="0">
              <a:solidFill>
                <a:srgbClr val="000000"/>
              </a:solidFill>
              <a:effectLst/>
              <a:latin typeface="inter-regular"/>
            </a:endParaRPr>
          </a:p>
          <a:p>
            <a:pPr algn="just">
              <a:buFont typeface="+mj-lt"/>
              <a:buAutoNum type="arabicPeriod"/>
            </a:pPr>
            <a:endParaRPr lang="en-US" b="0" i="0" dirty="0">
              <a:solidFill>
                <a:srgbClr val="000000"/>
              </a:solidFill>
              <a:effectLst/>
              <a:latin typeface="inter-regular"/>
            </a:endParaRPr>
          </a:p>
          <a:p>
            <a:endParaRPr lang="en-IN" dirty="0"/>
          </a:p>
        </p:txBody>
      </p:sp>
    </p:spTree>
    <p:extLst>
      <p:ext uri="{BB962C8B-B14F-4D97-AF65-F5344CB8AC3E}">
        <p14:creationId xmlns:p14="http://schemas.microsoft.com/office/powerpoint/2010/main" val="320597493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A238F-0CEB-398D-AA00-8D6AD1555E07}"/>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07380E2-F339-72D0-987C-168F5FC1DB94}"/>
              </a:ext>
            </a:extLst>
          </p:cNvPr>
          <p:cNvSpPr>
            <a:spLocks noGrp="1"/>
          </p:cNvSpPr>
          <p:nvPr>
            <p:ph idx="1"/>
          </p:nvPr>
        </p:nvSpPr>
        <p:spPr>
          <a:xfrm>
            <a:off x="716844" y="1690688"/>
            <a:ext cx="10515600" cy="4351338"/>
          </a:xfrm>
        </p:spPr>
        <p:txBody>
          <a:bodyPr/>
          <a:lstStyle/>
          <a:p>
            <a:pPr marL="0" indent="0" algn="just">
              <a:buNone/>
            </a:pPr>
            <a:r>
              <a:rPr lang="en-US" b="1" i="0" dirty="0">
                <a:solidFill>
                  <a:srgbClr val="000000"/>
                </a:solidFill>
                <a:effectLst/>
                <a:latin typeface="inter-regular"/>
              </a:rPr>
              <a:t>Applications of skip list</a:t>
            </a:r>
          </a:p>
          <a:p>
            <a:pPr marL="0" indent="0">
              <a:buNone/>
            </a:pPr>
            <a:endParaRPr lang="en-IN" dirty="0"/>
          </a:p>
        </p:txBody>
      </p:sp>
      <p:sp>
        <p:nvSpPr>
          <p:cNvPr id="4" name="Rectangle 1">
            <a:extLst>
              <a:ext uri="{FF2B5EF4-FFF2-40B4-BE49-F238E27FC236}">
                <a16:creationId xmlns:a16="http://schemas.microsoft.com/office/drawing/2014/main" id="{18A48BDF-3849-5654-DDFC-9D5518B5F0B3}"/>
              </a:ext>
            </a:extLst>
          </p:cNvPr>
          <p:cNvSpPr>
            <a:spLocks noChangeArrowheads="1"/>
          </p:cNvSpPr>
          <p:nvPr/>
        </p:nvSpPr>
        <p:spPr bwMode="auto">
          <a:xfrm>
            <a:off x="716844" y="2342531"/>
            <a:ext cx="10021333"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Söhne"/>
              </a:rPr>
              <a:t>Database Indexing:</a:t>
            </a:r>
            <a:r>
              <a:rPr kumimoji="0" lang="en-US" altLang="en-US" sz="1800" b="0" i="0" u="none" strike="noStrike" cap="none" normalizeH="0" baseline="0" dirty="0">
                <a:ln>
                  <a:noFill/>
                </a:ln>
                <a:solidFill>
                  <a:srgbClr val="000000"/>
                </a:solidFill>
                <a:effectLst/>
                <a:latin typeface="Söhne"/>
              </a:rPr>
              <a:t> Efficiently maintains indexes for fast data retrieval in databases.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Söhne"/>
              </a:rPr>
              <a:t>File Systems:</a:t>
            </a:r>
            <a:r>
              <a:rPr kumimoji="0" lang="en-US" altLang="en-US" sz="1800" b="0" i="0" u="none" strike="noStrike" cap="none" normalizeH="0" baseline="0" dirty="0">
                <a:ln>
                  <a:noFill/>
                </a:ln>
                <a:solidFill>
                  <a:srgbClr val="000000"/>
                </a:solidFill>
                <a:effectLst/>
                <a:latin typeface="Söhne"/>
              </a:rPr>
              <a:t> Facilitates quick search and insertion of file entries in file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Söhne"/>
              </a:rPr>
              <a:t>In-Memory Databases:</a:t>
            </a:r>
            <a:r>
              <a:rPr kumimoji="0" lang="en-US" altLang="en-US" sz="1800" b="0" i="0" u="none" strike="noStrike" cap="none" normalizeH="0" baseline="0" dirty="0">
                <a:ln>
                  <a:noFill/>
                </a:ln>
                <a:solidFill>
                  <a:srgbClr val="000000"/>
                </a:solidFill>
                <a:effectLst/>
                <a:latin typeface="Söhne"/>
              </a:rPr>
              <a:t> Stores and indexes data efficiently in main memory for rapid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Söhne"/>
              </a:rPr>
              <a:t>Network Routing Tables:</a:t>
            </a:r>
            <a:r>
              <a:rPr kumimoji="0" lang="en-US" altLang="en-US" sz="1800" b="0" i="0" u="none" strike="noStrike" cap="none" normalizeH="0" baseline="0" dirty="0">
                <a:ln>
                  <a:noFill/>
                </a:ln>
                <a:solidFill>
                  <a:srgbClr val="000000"/>
                </a:solidFill>
                <a:effectLst/>
                <a:latin typeface="Söhne"/>
              </a:rPr>
              <a:t> Used for quick lookups of destination addresses in networking.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Söhne"/>
              </a:rPr>
              <a:t>Search Engines:</a:t>
            </a:r>
            <a:r>
              <a:rPr kumimoji="0" lang="en-US" altLang="en-US" sz="1800" b="0" i="0" u="none" strike="noStrike" cap="none" normalizeH="0" baseline="0" dirty="0">
                <a:ln>
                  <a:noFill/>
                </a:ln>
                <a:solidFill>
                  <a:srgbClr val="000000"/>
                </a:solidFill>
                <a:effectLst/>
                <a:latin typeface="Söhne"/>
              </a:rPr>
              <a:t> Implements sorted indexes for web pages or documents in search engine data structures.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Söhne"/>
              </a:rPr>
              <a:t>Concurrency Control in Databases:</a:t>
            </a:r>
            <a:r>
              <a:rPr kumimoji="0" lang="en-US" altLang="en-US" sz="1800" b="0" i="0" u="none" strike="noStrike" cap="none" normalizeH="0" baseline="0" dirty="0">
                <a:ln>
                  <a:noFill/>
                </a:ln>
                <a:solidFill>
                  <a:srgbClr val="000000"/>
                </a:solidFill>
                <a:effectLst/>
                <a:latin typeface="Söhne"/>
              </a:rPr>
              <a:t> Manages concurrent access to shared data in databases.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Söhne"/>
              </a:rPr>
              <a:t>Cache Data Structures:</a:t>
            </a:r>
            <a:r>
              <a:rPr kumimoji="0" lang="en-US" altLang="en-US" sz="1800" b="0" i="0" u="none" strike="noStrike" cap="none" normalizeH="0" baseline="0" dirty="0">
                <a:ln>
                  <a:noFill/>
                </a:ln>
                <a:solidFill>
                  <a:srgbClr val="000000"/>
                </a:solidFill>
                <a:effectLst/>
                <a:latin typeface="Söhne"/>
              </a:rPr>
              <a:t> Organizes and manages cached items with quick search capabilities.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Söhne"/>
              </a:rPr>
              <a:t>Multilevel Indexing:</a:t>
            </a:r>
            <a:r>
              <a:rPr kumimoji="0" lang="en-US" altLang="en-US" sz="1800" b="0" i="0" u="none" strike="noStrike" cap="none" normalizeH="0" baseline="0" dirty="0">
                <a:ln>
                  <a:noFill/>
                </a:ln>
                <a:solidFill>
                  <a:srgbClr val="000000"/>
                </a:solidFill>
                <a:effectLst/>
                <a:latin typeface="Söhne"/>
              </a:rPr>
              <a:t> Supports hierarchical indexing, especially in document retrieval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Söhne"/>
              </a:rPr>
              <a:t>Priority Queues:</a:t>
            </a:r>
            <a:r>
              <a:rPr kumimoji="0" lang="en-US" altLang="en-US" sz="1800" b="0" i="0" u="none" strike="noStrike" cap="none" normalizeH="0" baseline="0" dirty="0">
                <a:ln>
                  <a:noFill/>
                </a:ln>
                <a:solidFill>
                  <a:srgbClr val="000000"/>
                </a:solidFill>
                <a:effectLst/>
                <a:latin typeface="Söhne"/>
              </a:rPr>
              <a:t> Efficiently manages priority queues with sorted elements based on priority.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0000"/>
                </a:solidFill>
                <a:effectLst/>
                <a:latin typeface="Söhne"/>
              </a:rPr>
              <a:t>Game Development:</a:t>
            </a:r>
            <a:r>
              <a:rPr kumimoji="0" lang="en-US" altLang="en-US" sz="1800" b="0" i="0" u="none" strike="noStrike" cap="none" normalizeH="0" baseline="0" dirty="0">
                <a:ln>
                  <a:noFill/>
                </a:ln>
                <a:solidFill>
                  <a:srgbClr val="000000"/>
                </a:solidFill>
                <a:effectLst/>
                <a:latin typeface="Söhne"/>
              </a:rPr>
              <a:t> Applied in game scenarios for maintaining leaderboards or high-score tables.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rgbClr val="000000"/>
                </a:solidFill>
                <a:effectLst/>
                <a:latin typeface="Söhne"/>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8933188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84C35-B1FE-442C-B645-F59491CB09D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82796B9-40A7-D0EA-1EAD-4EB613DE4E37}"/>
              </a:ext>
            </a:extLst>
          </p:cNvPr>
          <p:cNvSpPr>
            <a:spLocks noGrp="1"/>
          </p:cNvSpPr>
          <p:nvPr>
            <p:ph idx="1"/>
          </p:nvPr>
        </p:nvSpPr>
        <p:spPr/>
        <p:txBody>
          <a:bodyPr/>
          <a:lstStyle/>
          <a:p>
            <a:r>
              <a:rPr lang="en-US" b="1" dirty="0"/>
              <a:t>List in </a:t>
            </a:r>
            <a:r>
              <a:rPr lang="en-US" b="1" dirty="0" err="1"/>
              <a:t>java.util</a:t>
            </a:r>
            <a:r>
              <a:rPr lang="en-US" b="1" dirty="0"/>
              <a:t>:</a:t>
            </a:r>
          </a:p>
          <a:p>
            <a:pPr marL="514350" indent="-514350">
              <a:buFont typeface="+mj-lt"/>
              <a:buAutoNum type="arabicPeriod"/>
            </a:pPr>
            <a:r>
              <a:rPr lang="en-US" dirty="0"/>
              <a:t>LinkedList</a:t>
            </a:r>
          </a:p>
          <a:p>
            <a:pPr marL="514350" indent="-514350">
              <a:buFont typeface="+mj-lt"/>
              <a:buAutoNum type="arabicPeriod"/>
            </a:pPr>
            <a:r>
              <a:rPr lang="en-US" dirty="0" err="1"/>
              <a:t>ArrayList</a:t>
            </a:r>
            <a:endParaRPr lang="en-US" dirty="0"/>
          </a:p>
          <a:p>
            <a:pPr marL="0" indent="0">
              <a:buNone/>
            </a:pPr>
            <a:r>
              <a:rPr lang="en-US" b="1" dirty="0"/>
              <a:t>LinkedList</a:t>
            </a:r>
          </a:p>
          <a:p>
            <a:r>
              <a:rPr lang="en-US" dirty="0"/>
              <a:t>The LinkedList class in the </a:t>
            </a:r>
            <a:r>
              <a:rPr lang="en-US" dirty="0" err="1"/>
              <a:t>java.util</a:t>
            </a:r>
            <a:r>
              <a:rPr lang="en-US" dirty="0"/>
              <a:t> package is an implementation of various operations on the nodes of a linked list. The LinkedList class implements a list as a generic doubly linked list with references to the head and to the tail.</a:t>
            </a:r>
            <a:endParaRPr lang="en-IN" b="1" dirty="0"/>
          </a:p>
        </p:txBody>
      </p:sp>
    </p:spTree>
    <p:extLst>
      <p:ext uri="{BB962C8B-B14F-4D97-AF65-F5344CB8AC3E}">
        <p14:creationId xmlns:p14="http://schemas.microsoft.com/office/powerpoint/2010/main" val="121521798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E2704-AE11-5950-57D7-CFCF44BBD31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C709D0A-48E4-D72D-1514-AADA31C0B63D}"/>
              </a:ext>
            </a:extLst>
          </p:cNvPr>
          <p:cNvPicPr>
            <a:picLocks noGrp="1" noChangeAspect="1"/>
          </p:cNvPicPr>
          <p:nvPr>
            <p:ph idx="1"/>
          </p:nvPr>
        </p:nvPicPr>
        <p:blipFill>
          <a:blip r:embed="rId2"/>
          <a:stretch>
            <a:fillRect/>
          </a:stretch>
        </p:blipFill>
        <p:spPr>
          <a:xfrm>
            <a:off x="838200" y="920044"/>
            <a:ext cx="8621889" cy="5937956"/>
          </a:xfrm>
        </p:spPr>
      </p:pic>
    </p:spTree>
    <p:extLst>
      <p:ext uri="{BB962C8B-B14F-4D97-AF65-F5344CB8AC3E}">
        <p14:creationId xmlns:p14="http://schemas.microsoft.com/office/powerpoint/2010/main" val="255605643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578B6-C48F-8C96-8F80-E32C060ABE9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9C6BFE6-1F67-536F-EAFE-BFE98BD6AA51}"/>
              </a:ext>
            </a:extLst>
          </p:cNvPr>
          <p:cNvPicPr>
            <a:picLocks noGrp="1" noChangeAspect="1"/>
          </p:cNvPicPr>
          <p:nvPr>
            <p:ph idx="1"/>
          </p:nvPr>
        </p:nvPicPr>
        <p:blipFill>
          <a:blip r:embed="rId2"/>
          <a:stretch>
            <a:fillRect/>
          </a:stretch>
        </p:blipFill>
        <p:spPr>
          <a:xfrm>
            <a:off x="838200" y="746918"/>
            <a:ext cx="6784622" cy="5834504"/>
          </a:xfrm>
        </p:spPr>
      </p:pic>
    </p:spTree>
    <p:extLst>
      <p:ext uri="{BB962C8B-B14F-4D97-AF65-F5344CB8AC3E}">
        <p14:creationId xmlns:p14="http://schemas.microsoft.com/office/powerpoint/2010/main" val="245756470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E6FE7-BC27-6A8E-C606-20CAFE3113B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B5A24CB-5C71-F9BE-5E7F-34E30AA497F2}"/>
              </a:ext>
            </a:extLst>
          </p:cNvPr>
          <p:cNvPicPr>
            <a:picLocks noGrp="1" noChangeAspect="1"/>
          </p:cNvPicPr>
          <p:nvPr>
            <p:ph idx="1"/>
          </p:nvPr>
        </p:nvPicPr>
        <p:blipFill>
          <a:blip r:embed="rId2"/>
          <a:stretch>
            <a:fillRect/>
          </a:stretch>
        </p:blipFill>
        <p:spPr>
          <a:xfrm>
            <a:off x="838200" y="2144007"/>
            <a:ext cx="7436908" cy="4348868"/>
          </a:xfrm>
        </p:spPr>
      </p:pic>
      <p:sp>
        <p:nvSpPr>
          <p:cNvPr id="7" name="TextBox 6">
            <a:extLst>
              <a:ext uri="{FF2B5EF4-FFF2-40B4-BE49-F238E27FC236}">
                <a16:creationId xmlns:a16="http://schemas.microsoft.com/office/drawing/2014/main" id="{19DCD4E3-1FAC-543D-E4A9-AAE9B6057278}"/>
              </a:ext>
            </a:extLst>
          </p:cNvPr>
          <p:cNvSpPr txBox="1"/>
          <p:nvPr/>
        </p:nvSpPr>
        <p:spPr>
          <a:xfrm>
            <a:off x="838200" y="1732681"/>
            <a:ext cx="7109178" cy="369332"/>
          </a:xfrm>
          <a:prstGeom prst="rect">
            <a:avLst/>
          </a:prstGeom>
          <a:noFill/>
        </p:spPr>
        <p:txBody>
          <a:bodyPr wrap="square">
            <a:spAutoFit/>
          </a:bodyPr>
          <a:lstStyle/>
          <a:p>
            <a:r>
              <a:rPr lang="en-US" b="1" dirty="0"/>
              <a:t>A program demonstrating the operation of LinkedList methods</a:t>
            </a:r>
            <a:r>
              <a:rPr lang="en-US" dirty="0"/>
              <a:t>.</a:t>
            </a:r>
            <a:endParaRPr lang="en-IN" dirty="0"/>
          </a:p>
        </p:txBody>
      </p:sp>
    </p:spTree>
    <p:extLst>
      <p:ext uri="{BB962C8B-B14F-4D97-AF65-F5344CB8AC3E}">
        <p14:creationId xmlns:p14="http://schemas.microsoft.com/office/powerpoint/2010/main" val="398748754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C3B11-A884-089B-D20A-7477DD06E5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468789A-61C0-EF18-B68B-CC075A8A5475}"/>
              </a:ext>
            </a:extLst>
          </p:cNvPr>
          <p:cNvSpPr>
            <a:spLocks noGrp="1"/>
          </p:cNvSpPr>
          <p:nvPr>
            <p:ph idx="1"/>
          </p:nvPr>
        </p:nvSpPr>
        <p:spPr/>
        <p:txBody>
          <a:bodyPr>
            <a:normAutofit/>
          </a:bodyPr>
          <a:lstStyle/>
          <a:p>
            <a:pPr marL="0" indent="0">
              <a:buNone/>
            </a:pPr>
            <a:r>
              <a:rPr lang="en-US" sz="3200" b="1" dirty="0" err="1"/>
              <a:t>ArrayList</a:t>
            </a:r>
            <a:endParaRPr lang="en-US" sz="3200" b="1" dirty="0"/>
          </a:p>
          <a:p>
            <a:r>
              <a:rPr lang="en-US" sz="2000" dirty="0"/>
              <a:t>The </a:t>
            </a:r>
            <a:r>
              <a:rPr lang="en-US" sz="2000" dirty="0" err="1"/>
              <a:t>ArrayList</a:t>
            </a:r>
            <a:r>
              <a:rPr lang="en-US" sz="2000" dirty="0"/>
              <a:t> class is an array implementation of a list. </a:t>
            </a:r>
          </a:p>
          <a:p>
            <a:r>
              <a:rPr lang="en-US" sz="2000" dirty="0"/>
              <a:t>For all practical purposes it is an </a:t>
            </a:r>
            <a:r>
              <a:rPr lang="en-US" sz="2000" dirty="0" err="1"/>
              <a:t>equavalent</a:t>
            </a:r>
            <a:r>
              <a:rPr lang="en-US" sz="2000" dirty="0"/>
              <a:t> of the class Vector except that the methods in the Vector class are synchronized, whereas methods in the </a:t>
            </a:r>
            <a:r>
              <a:rPr lang="en-US" sz="2000" dirty="0" err="1"/>
              <a:t>ArrayList</a:t>
            </a:r>
            <a:r>
              <a:rPr lang="en-US" sz="2000" dirty="0"/>
              <a:t> class are not. </a:t>
            </a:r>
          </a:p>
          <a:p>
            <a:r>
              <a:rPr lang="en-US" sz="2000" dirty="0"/>
              <a:t>Like a vector, an array list is a flexible array that is automatically extended when required by insertion operations</a:t>
            </a:r>
          </a:p>
          <a:p>
            <a:endParaRPr lang="en-IN" sz="3200" b="1" dirty="0"/>
          </a:p>
        </p:txBody>
      </p:sp>
    </p:spTree>
    <p:extLst>
      <p:ext uri="{BB962C8B-B14F-4D97-AF65-F5344CB8AC3E}">
        <p14:creationId xmlns:p14="http://schemas.microsoft.com/office/powerpoint/2010/main" val="253227143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D93EB-CB3D-53AB-938D-90287C50067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DA63A9C-7EE6-BB44-7814-3B7CB715F5D6}"/>
              </a:ext>
            </a:extLst>
          </p:cNvPr>
          <p:cNvPicPr>
            <a:picLocks noGrp="1" noChangeAspect="1"/>
          </p:cNvPicPr>
          <p:nvPr>
            <p:ph idx="1"/>
          </p:nvPr>
        </p:nvPicPr>
        <p:blipFill>
          <a:blip r:embed="rId2"/>
          <a:stretch>
            <a:fillRect/>
          </a:stretch>
        </p:blipFill>
        <p:spPr>
          <a:xfrm>
            <a:off x="982133" y="1690688"/>
            <a:ext cx="7258756" cy="4890734"/>
          </a:xfrm>
        </p:spPr>
      </p:pic>
    </p:spTree>
    <p:extLst>
      <p:ext uri="{BB962C8B-B14F-4D97-AF65-F5344CB8AC3E}">
        <p14:creationId xmlns:p14="http://schemas.microsoft.com/office/powerpoint/2010/main" val="233344164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25419-5471-4EBF-86CC-A83696DA4BC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1BD7157-D9BE-5C34-176E-973E00B78A67}"/>
              </a:ext>
            </a:extLst>
          </p:cNvPr>
          <p:cNvPicPr>
            <a:picLocks noGrp="1" noChangeAspect="1"/>
          </p:cNvPicPr>
          <p:nvPr>
            <p:ph idx="1"/>
          </p:nvPr>
        </p:nvPicPr>
        <p:blipFill>
          <a:blip r:embed="rId2"/>
          <a:stretch>
            <a:fillRect/>
          </a:stretch>
        </p:blipFill>
        <p:spPr>
          <a:xfrm>
            <a:off x="838200" y="1690688"/>
            <a:ext cx="6307667" cy="4992334"/>
          </a:xfrm>
        </p:spPr>
      </p:pic>
    </p:spTree>
    <p:extLst>
      <p:ext uri="{BB962C8B-B14F-4D97-AF65-F5344CB8AC3E}">
        <p14:creationId xmlns:p14="http://schemas.microsoft.com/office/powerpoint/2010/main" val="266263312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43059-5296-17DC-2781-3442F4679DB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5968597-FBDE-B465-F4B6-BD52E6E33309}"/>
              </a:ext>
            </a:extLst>
          </p:cNvPr>
          <p:cNvPicPr>
            <a:picLocks noGrp="1" noChangeAspect="1"/>
          </p:cNvPicPr>
          <p:nvPr>
            <p:ph idx="1"/>
          </p:nvPr>
        </p:nvPicPr>
        <p:blipFill>
          <a:blip r:embed="rId2"/>
          <a:stretch>
            <a:fillRect/>
          </a:stretch>
        </p:blipFill>
        <p:spPr>
          <a:xfrm>
            <a:off x="1338614" y="2135276"/>
            <a:ext cx="6105525" cy="4048125"/>
          </a:xfrm>
        </p:spPr>
      </p:pic>
      <p:sp>
        <p:nvSpPr>
          <p:cNvPr id="7" name="TextBox 6">
            <a:extLst>
              <a:ext uri="{FF2B5EF4-FFF2-40B4-BE49-F238E27FC236}">
                <a16:creationId xmlns:a16="http://schemas.microsoft.com/office/drawing/2014/main" id="{EFFB342B-73B9-3075-B0A3-AA86B0D26CB2}"/>
              </a:ext>
            </a:extLst>
          </p:cNvPr>
          <p:cNvSpPr txBox="1"/>
          <p:nvPr/>
        </p:nvSpPr>
        <p:spPr>
          <a:xfrm>
            <a:off x="1049866" y="1690688"/>
            <a:ext cx="6096000" cy="369332"/>
          </a:xfrm>
          <a:prstGeom prst="rect">
            <a:avLst/>
          </a:prstGeom>
          <a:noFill/>
        </p:spPr>
        <p:txBody>
          <a:bodyPr wrap="square">
            <a:spAutoFit/>
          </a:bodyPr>
          <a:lstStyle/>
          <a:p>
            <a:r>
              <a:rPr lang="en-US" dirty="0"/>
              <a:t>program demonstrating the operation of </a:t>
            </a:r>
            <a:r>
              <a:rPr lang="en-US" dirty="0" err="1"/>
              <a:t>ArrayList</a:t>
            </a:r>
            <a:r>
              <a:rPr lang="en-US" dirty="0"/>
              <a:t> methods</a:t>
            </a:r>
            <a:endParaRPr lang="en-IN" dirty="0"/>
          </a:p>
        </p:txBody>
      </p:sp>
    </p:spTree>
    <p:extLst>
      <p:ext uri="{BB962C8B-B14F-4D97-AF65-F5344CB8AC3E}">
        <p14:creationId xmlns:p14="http://schemas.microsoft.com/office/powerpoint/2010/main" val="22609373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6479</TotalTime>
  <Words>6730</Words>
  <Application>Microsoft Office PowerPoint</Application>
  <PresentationFormat>Widescreen</PresentationFormat>
  <Paragraphs>531</Paragraphs>
  <Slides>112</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112</vt:i4>
      </vt:variant>
    </vt:vector>
  </HeadingPairs>
  <TitlesOfParts>
    <vt:vector size="128" baseType="lpstr">
      <vt:lpstr>Arial</vt:lpstr>
      <vt:lpstr>Calibri</vt:lpstr>
      <vt:lpstr>Calibri Light</vt:lpstr>
      <vt:lpstr>erdana</vt:lpstr>
      <vt:lpstr>inter-regular</vt:lpstr>
      <vt:lpstr>Nunito</vt:lpstr>
      <vt:lpstr>Poppins</vt:lpstr>
      <vt:lpstr>Roboto</vt:lpstr>
      <vt:lpstr>Segoe UI</vt:lpstr>
      <vt:lpstr>Söhne</vt:lpstr>
      <vt:lpstr>Söhne Mono</vt:lpstr>
      <vt:lpstr>Symbol</vt:lpstr>
      <vt:lpstr>Ubuntu Mono</vt:lpstr>
      <vt:lpstr>var(--font-secondary)</vt:lpstr>
      <vt:lpstr>Wingdings</vt:lpstr>
      <vt:lpstr>Office Theme</vt:lpstr>
      <vt:lpstr>LINKED LISTS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LINKED LISTS</dc:title>
  <dc:creator>bibek gautam</dc:creator>
  <cp:lastModifiedBy>Sunishtha Tuladhar</cp:lastModifiedBy>
  <cp:revision>56</cp:revision>
  <dcterms:created xsi:type="dcterms:W3CDTF">2023-12-20T16:43:50Z</dcterms:created>
  <dcterms:modified xsi:type="dcterms:W3CDTF">2025-03-23T14:42:33Z</dcterms:modified>
</cp:coreProperties>
</file>